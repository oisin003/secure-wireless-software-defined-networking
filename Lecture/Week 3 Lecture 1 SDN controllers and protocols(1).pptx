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1"/>
  </p:sldMasterIdLst>
  <p:notesMasterIdLst>
    <p:notesMasterId r:id="rId39"/>
  </p:notesMasterIdLst>
  <p:sldIdLst>
    <p:sldId id="258" r:id="rId2"/>
    <p:sldId id="296" r:id="rId3"/>
    <p:sldId id="297" r:id="rId4"/>
    <p:sldId id="298" r:id="rId5"/>
    <p:sldId id="299" r:id="rId6"/>
    <p:sldId id="300" r:id="rId7"/>
    <p:sldId id="324" r:id="rId8"/>
    <p:sldId id="325" r:id="rId9"/>
    <p:sldId id="326" r:id="rId10"/>
    <p:sldId id="327" r:id="rId11"/>
    <p:sldId id="301" r:id="rId12"/>
    <p:sldId id="309" r:id="rId13"/>
    <p:sldId id="311" r:id="rId14"/>
    <p:sldId id="314" r:id="rId15"/>
    <p:sldId id="316" r:id="rId16"/>
    <p:sldId id="317" r:id="rId17"/>
    <p:sldId id="319" r:id="rId18"/>
    <p:sldId id="321" r:id="rId19"/>
    <p:sldId id="322" r:id="rId20"/>
    <p:sldId id="323" r:id="rId21"/>
    <p:sldId id="340" r:id="rId22"/>
    <p:sldId id="344" r:id="rId23"/>
    <p:sldId id="341" r:id="rId24"/>
    <p:sldId id="342" r:id="rId25"/>
    <p:sldId id="343" r:id="rId26"/>
    <p:sldId id="329" r:id="rId27"/>
    <p:sldId id="330" r:id="rId28"/>
    <p:sldId id="331" r:id="rId29"/>
    <p:sldId id="328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1BE27-2A40-4C5E-9400-E769555E6353}" v="64" dt="2025-09-29T12:13:46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24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m Ghafoor" userId="b484e196-97e0-4a37-9647-714f4ebb2ce2" providerId="ADAL" clId="{9251BE27-2A40-4C5E-9400-E769555E6353}"/>
    <pc:docChg chg="undo custSel addSld modSld sldOrd">
      <pc:chgData name="Saim Ghafoor" userId="b484e196-97e0-4a37-9647-714f4ebb2ce2" providerId="ADAL" clId="{9251BE27-2A40-4C5E-9400-E769555E6353}" dt="2025-09-29T12:13:46.430" v="286" actId="20577"/>
      <pc:docMkLst>
        <pc:docMk/>
      </pc:docMkLst>
      <pc:sldChg chg="modSp mod">
        <pc:chgData name="Saim Ghafoor" userId="b484e196-97e0-4a37-9647-714f4ebb2ce2" providerId="ADAL" clId="{9251BE27-2A40-4C5E-9400-E769555E6353}" dt="2025-09-28T21:04:43.801" v="32" actId="20577"/>
        <pc:sldMkLst>
          <pc:docMk/>
          <pc:sldMk cId="227359723" sldId="300"/>
        </pc:sldMkLst>
        <pc:spChg chg="mod">
          <ac:chgData name="Saim Ghafoor" userId="b484e196-97e0-4a37-9647-714f4ebb2ce2" providerId="ADAL" clId="{9251BE27-2A40-4C5E-9400-E769555E6353}" dt="2025-09-28T21:04:43.801" v="32" actId="20577"/>
          <ac:spMkLst>
            <pc:docMk/>
            <pc:sldMk cId="227359723" sldId="300"/>
            <ac:spMk id="3" creationId="{20A9F285-AFE2-3B5F-67C9-34EBE317851F}"/>
          </ac:spMkLst>
        </pc:spChg>
      </pc:sldChg>
      <pc:sldChg chg="modSp mod">
        <pc:chgData name="Saim Ghafoor" userId="b484e196-97e0-4a37-9647-714f4ebb2ce2" providerId="ADAL" clId="{9251BE27-2A40-4C5E-9400-E769555E6353}" dt="2025-09-28T21:08:40.900" v="101" actId="20577"/>
        <pc:sldMkLst>
          <pc:docMk/>
          <pc:sldMk cId="3247202568" sldId="316"/>
        </pc:sldMkLst>
        <pc:spChg chg="mod">
          <ac:chgData name="Saim Ghafoor" userId="b484e196-97e0-4a37-9647-714f4ebb2ce2" providerId="ADAL" clId="{9251BE27-2A40-4C5E-9400-E769555E6353}" dt="2025-09-28T21:08:40.900" v="101" actId="20577"/>
          <ac:spMkLst>
            <pc:docMk/>
            <pc:sldMk cId="3247202568" sldId="316"/>
            <ac:spMk id="3" creationId="{2CEE214A-3091-0024-768D-BE2DF10B665B}"/>
          </ac:spMkLst>
        </pc:spChg>
      </pc:sldChg>
      <pc:sldChg chg="modSp mod">
        <pc:chgData name="Saim Ghafoor" userId="b484e196-97e0-4a37-9647-714f4ebb2ce2" providerId="ADAL" clId="{9251BE27-2A40-4C5E-9400-E769555E6353}" dt="2025-09-28T21:06:02.802" v="72" actId="20577"/>
        <pc:sldMkLst>
          <pc:docMk/>
          <pc:sldMk cId="3208879203" sldId="325"/>
        </pc:sldMkLst>
        <pc:spChg chg="mod">
          <ac:chgData name="Saim Ghafoor" userId="b484e196-97e0-4a37-9647-714f4ebb2ce2" providerId="ADAL" clId="{9251BE27-2A40-4C5E-9400-E769555E6353}" dt="2025-09-28T21:06:02.802" v="72" actId="20577"/>
          <ac:spMkLst>
            <pc:docMk/>
            <pc:sldMk cId="3208879203" sldId="325"/>
            <ac:spMk id="3" creationId="{B5CA76B3-7953-275F-B7E0-677949F40811}"/>
          </ac:spMkLst>
        </pc:spChg>
      </pc:sldChg>
      <pc:sldChg chg="modSp mod">
        <pc:chgData name="Saim Ghafoor" userId="b484e196-97e0-4a37-9647-714f4ebb2ce2" providerId="ADAL" clId="{9251BE27-2A40-4C5E-9400-E769555E6353}" dt="2025-09-28T21:06:37.068" v="85" actId="20577"/>
        <pc:sldMkLst>
          <pc:docMk/>
          <pc:sldMk cId="3825324057" sldId="326"/>
        </pc:sldMkLst>
        <pc:spChg chg="mod">
          <ac:chgData name="Saim Ghafoor" userId="b484e196-97e0-4a37-9647-714f4ebb2ce2" providerId="ADAL" clId="{9251BE27-2A40-4C5E-9400-E769555E6353}" dt="2025-09-28T21:06:37.068" v="85" actId="20577"/>
          <ac:spMkLst>
            <pc:docMk/>
            <pc:sldMk cId="3825324057" sldId="326"/>
            <ac:spMk id="3" creationId="{5F896BD0-FFEB-8A53-7D7B-89563F2785E1}"/>
          </ac:spMkLst>
        </pc:spChg>
      </pc:sldChg>
      <pc:sldChg chg="modSp mod ord">
        <pc:chgData name="Saim Ghafoor" userId="b484e196-97e0-4a37-9647-714f4ebb2ce2" providerId="ADAL" clId="{9251BE27-2A40-4C5E-9400-E769555E6353}" dt="2025-09-29T12:00:07.559" v="247"/>
        <pc:sldMkLst>
          <pc:docMk/>
          <pc:sldMk cId="2258254322" sldId="328"/>
        </pc:sldMkLst>
        <pc:spChg chg="mod">
          <ac:chgData name="Saim Ghafoor" userId="b484e196-97e0-4a37-9647-714f4ebb2ce2" providerId="ADAL" clId="{9251BE27-2A40-4C5E-9400-E769555E6353}" dt="2025-09-28T21:10:03.504" v="134" actId="20577"/>
          <ac:spMkLst>
            <pc:docMk/>
            <pc:sldMk cId="2258254322" sldId="328"/>
            <ac:spMk id="3" creationId="{1B0A2B0D-B7DE-DEEA-29E8-658487BFE846}"/>
          </ac:spMkLst>
        </pc:spChg>
      </pc:sldChg>
      <pc:sldChg chg="addSp modSp new mod">
        <pc:chgData name="Saim Ghafoor" userId="b484e196-97e0-4a37-9647-714f4ebb2ce2" providerId="ADAL" clId="{9251BE27-2A40-4C5E-9400-E769555E6353}" dt="2025-09-28T21:13:25.592" v="144"/>
        <pc:sldMkLst>
          <pc:docMk/>
          <pc:sldMk cId="1341629017" sldId="332"/>
        </pc:sldMkLst>
        <pc:spChg chg="mod">
          <ac:chgData name="Saim Ghafoor" userId="b484e196-97e0-4a37-9647-714f4ebb2ce2" providerId="ADAL" clId="{9251BE27-2A40-4C5E-9400-E769555E6353}" dt="2025-09-28T21:13:25.592" v="144"/>
          <ac:spMkLst>
            <pc:docMk/>
            <pc:sldMk cId="1341629017" sldId="332"/>
            <ac:spMk id="3" creationId="{8B0B18CF-8A3C-E058-4DC4-0E8C85200BF7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5" creationId="{D0B05EFB-1B66-16AE-54CA-6276708CA00F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6" creationId="{071FFB59-A2F0-F693-B8ED-D603352CB8C8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8" creationId="{A9928518-3DBB-7200-4408-E9F7CEF5C3D0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9" creationId="{30B6D02F-A23B-BE89-8123-738C7F46BAD1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0" creationId="{32D41F41-4154-DA5A-BAA1-847DA334A0C4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3" creationId="{E24B6569-7C56-3A20-BF31-C1F604EE0853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4" creationId="{EFDE46AA-1817-D76E-19EF-1E9676BD2FFC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5" creationId="{E85A3BDA-52A4-E998-02AD-1B830426969F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6" creationId="{97004003-4CC9-FFEF-C69D-352342C63D17}"/>
          </ac:spMkLst>
        </pc:spChg>
        <pc:spChg chg="add">
          <ac:chgData name="Saim Ghafoor" userId="b484e196-97e0-4a37-9647-714f4ebb2ce2" providerId="ADAL" clId="{9251BE27-2A40-4C5E-9400-E769555E6353}" dt="2025-09-28T21:13:14.911" v="143"/>
          <ac:spMkLst>
            <pc:docMk/>
            <pc:sldMk cId="1341629017" sldId="332"/>
            <ac:spMk id="17" creationId="{C550E06F-23B7-BCF9-D19E-D77F64039B0C}"/>
          </ac:spMkLst>
        </pc:spChg>
      </pc:sldChg>
      <pc:sldChg chg="modSp new">
        <pc:chgData name="Saim Ghafoor" userId="b484e196-97e0-4a37-9647-714f4ebb2ce2" providerId="ADAL" clId="{9251BE27-2A40-4C5E-9400-E769555E6353}" dt="2025-09-28T21:13:35.060" v="146"/>
        <pc:sldMkLst>
          <pc:docMk/>
          <pc:sldMk cId="1440353603" sldId="333"/>
        </pc:sldMkLst>
        <pc:spChg chg="mod">
          <ac:chgData name="Saim Ghafoor" userId="b484e196-97e0-4a37-9647-714f4ebb2ce2" providerId="ADAL" clId="{9251BE27-2A40-4C5E-9400-E769555E6353}" dt="2025-09-28T21:13:35.060" v="146"/>
          <ac:spMkLst>
            <pc:docMk/>
            <pc:sldMk cId="1440353603" sldId="333"/>
            <ac:spMk id="3" creationId="{9715CDFA-DFCC-0562-56BA-FBE9D3560A6F}"/>
          </ac:spMkLst>
        </pc:spChg>
      </pc:sldChg>
      <pc:sldChg chg="modSp new">
        <pc:chgData name="Saim Ghafoor" userId="b484e196-97e0-4a37-9647-714f4ebb2ce2" providerId="ADAL" clId="{9251BE27-2A40-4C5E-9400-E769555E6353}" dt="2025-09-28T21:13:43.558" v="148"/>
        <pc:sldMkLst>
          <pc:docMk/>
          <pc:sldMk cId="2464343941" sldId="334"/>
        </pc:sldMkLst>
        <pc:spChg chg="mod">
          <ac:chgData name="Saim Ghafoor" userId="b484e196-97e0-4a37-9647-714f4ebb2ce2" providerId="ADAL" clId="{9251BE27-2A40-4C5E-9400-E769555E6353}" dt="2025-09-28T21:13:43.558" v="148"/>
          <ac:spMkLst>
            <pc:docMk/>
            <pc:sldMk cId="2464343941" sldId="334"/>
            <ac:spMk id="3" creationId="{0749CB59-66FA-6F8F-D6F5-40CFD19C3701}"/>
          </ac:spMkLst>
        </pc:spChg>
      </pc:sldChg>
      <pc:sldChg chg="modSp new">
        <pc:chgData name="Saim Ghafoor" userId="b484e196-97e0-4a37-9647-714f4ebb2ce2" providerId="ADAL" clId="{9251BE27-2A40-4C5E-9400-E769555E6353}" dt="2025-09-28T21:13:52.715" v="150"/>
        <pc:sldMkLst>
          <pc:docMk/>
          <pc:sldMk cId="1609287522" sldId="335"/>
        </pc:sldMkLst>
        <pc:spChg chg="mod">
          <ac:chgData name="Saim Ghafoor" userId="b484e196-97e0-4a37-9647-714f4ebb2ce2" providerId="ADAL" clId="{9251BE27-2A40-4C5E-9400-E769555E6353}" dt="2025-09-28T21:13:52.715" v="150"/>
          <ac:spMkLst>
            <pc:docMk/>
            <pc:sldMk cId="1609287522" sldId="335"/>
            <ac:spMk id="3" creationId="{346F6BBA-EB29-BAED-E071-A5B3F359A108}"/>
          </ac:spMkLst>
        </pc:spChg>
      </pc:sldChg>
      <pc:sldChg chg="modSp new">
        <pc:chgData name="Saim Ghafoor" userId="b484e196-97e0-4a37-9647-714f4ebb2ce2" providerId="ADAL" clId="{9251BE27-2A40-4C5E-9400-E769555E6353}" dt="2025-09-28T21:14:00.844" v="152"/>
        <pc:sldMkLst>
          <pc:docMk/>
          <pc:sldMk cId="1258122117" sldId="336"/>
        </pc:sldMkLst>
        <pc:spChg chg="mod">
          <ac:chgData name="Saim Ghafoor" userId="b484e196-97e0-4a37-9647-714f4ebb2ce2" providerId="ADAL" clId="{9251BE27-2A40-4C5E-9400-E769555E6353}" dt="2025-09-28T21:14:00.844" v="152"/>
          <ac:spMkLst>
            <pc:docMk/>
            <pc:sldMk cId="1258122117" sldId="336"/>
            <ac:spMk id="3" creationId="{DCAE23A3-F86C-479C-A8E6-262B692E8D98}"/>
          </ac:spMkLst>
        </pc:spChg>
      </pc:sldChg>
      <pc:sldChg chg="modSp new">
        <pc:chgData name="Saim Ghafoor" userId="b484e196-97e0-4a37-9647-714f4ebb2ce2" providerId="ADAL" clId="{9251BE27-2A40-4C5E-9400-E769555E6353}" dt="2025-09-28T21:14:11.429" v="154"/>
        <pc:sldMkLst>
          <pc:docMk/>
          <pc:sldMk cId="121806043" sldId="337"/>
        </pc:sldMkLst>
        <pc:spChg chg="mod">
          <ac:chgData name="Saim Ghafoor" userId="b484e196-97e0-4a37-9647-714f4ebb2ce2" providerId="ADAL" clId="{9251BE27-2A40-4C5E-9400-E769555E6353}" dt="2025-09-28T21:14:11.429" v="154"/>
          <ac:spMkLst>
            <pc:docMk/>
            <pc:sldMk cId="121806043" sldId="337"/>
            <ac:spMk id="3" creationId="{89C71A37-BF19-7536-1B31-B7752BC49E7C}"/>
          </ac:spMkLst>
        </pc:spChg>
      </pc:sldChg>
      <pc:sldChg chg="modSp new">
        <pc:chgData name="Saim Ghafoor" userId="b484e196-97e0-4a37-9647-714f4ebb2ce2" providerId="ADAL" clId="{9251BE27-2A40-4C5E-9400-E769555E6353}" dt="2025-09-28T21:14:19.549" v="156"/>
        <pc:sldMkLst>
          <pc:docMk/>
          <pc:sldMk cId="1609398434" sldId="338"/>
        </pc:sldMkLst>
        <pc:spChg chg="mod">
          <ac:chgData name="Saim Ghafoor" userId="b484e196-97e0-4a37-9647-714f4ebb2ce2" providerId="ADAL" clId="{9251BE27-2A40-4C5E-9400-E769555E6353}" dt="2025-09-28T21:14:19.549" v="156"/>
          <ac:spMkLst>
            <pc:docMk/>
            <pc:sldMk cId="1609398434" sldId="338"/>
            <ac:spMk id="3" creationId="{499EBFA7-19A0-E5DA-A03B-EC1F4A911A02}"/>
          </ac:spMkLst>
        </pc:spChg>
      </pc:sldChg>
      <pc:sldChg chg="modSp new mod">
        <pc:chgData name="Saim Ghafoor" userId="b484e196-97e0-4a37-9647-714f4ebb2ce2" providerId="ADAL" clId="{9251BE27-2A40-4C5E-9400-E769555E6353}" dt="2025-09-28T21:22:54.660" v="183" actId="20577"/>
        <pc:sldMkLst>
          <pc:docMk/>
          <pc:sldMk cId="3384005594" sldId="339"/>
        </pc:sldMkLst>
        <pc:spChg chg="mod">
          <ac:chgData name="Saim Ghafoor" userId="b484e196-97e0-4a37-9647-714f4ebb2ce2" providerId="ADAL" clId="{9251BE27-2A40-4C5E-9400-E769555E6353}" dt="2025-09-28T21:22:54.660" v="183" actId="20577"/>
          <ac:spMkLst>
            <pc:docMk/>
            <pc:sldMk cId="3384005594" sldId="339"/>
            <ac:spMk id="3" creationId="{8FD48B46-9EE0-B731-9F4C-5E4D28BA3230}"/>
          </ac:spMkLst>
        </pc:spChg>
      </pc:sldChg>
      <pc:sldChg chg="addSp modSp new mod">
        <pc:chgData name="Saim Ghafoor" userId="b484e196-97e0-4a37-9647-714f4ebb2ce2" providerId="ADAL" clId="{9251BE27-2A40-4C5E-9400-E769555E6353}" dt="2025-09-29T12:04:48.644" v="266" actId="1076"/>
        <pc:sldMkLst>
          <pc:docMk/>
          <pc:sldMk cId="125639428" sldId="340"/>
        </pc:sldMkLst>
        <pc:spChg chg="mod">
          <ac:chgData name="Saim Ghafoor" userId="b484e196-97e0-4a37-9647-714f4ebb2ce2" providerId="ADAL" clId="{9251BE27-2A40-4C5E-9400-E769555E6353}" dt="2025-09-29T11:54:57.392" v="192" actId="27636"/>
          <ac:spMkLst>
            <pc:docMk/>
            <pc:sldMk cId="125639428" sldId="340"/>
            <ac:spMk id="2" creationId="{C9799C07-11A8-C1B3-63A3-98C505CF87BC}"/>
          </ac:spMkLst>
        </pc:spChg>
        <pc:spChg chg="mod">
          <ac:chgData name="Saim Ghafoor" userId="b484e196-97e0-4a37-9647-714f4ebb2ce2" providerId="ADAL" clId="{9251BE27-2A40-4C5E-9400-E769555E6353}" dt="2025-09-29T11:55:25.959" v="196" actId="20577"/>
          <ac:spMkLst>
            <pc:docMk/>
            <pc:sldMk cId="125639428" sldId="340"/>
            <ac:spMk id="3" creationId="{4A298906-5C1A-172B-FB10-295ED7730803}"/>
          </ac:spMkLst>
        </pc:spChg>
        <pc:spChg chg="add mod">
          <ac:chgData name="Saim Ghafoor" userId="b484e196-97e0-4a37-9647-714f4ebb2ce2" providerId="ADAL" clId="{9251BE27-2A40-4C5E-9400-E769555E6353}" dt="2025-09-29T12:03:53.716" v="254" actId="1076"/>
          <ac:spMkLst>
            <pc:docMk/>
            <pc:sldMk cId="125639428" sldId="340"/>
            <ac:spMk id="6" creationId="{B1137E5E-D118-8E33-D4E6-338CF7A7C14B}"/>
          </ac:spMkLst>
        </pc:spChg>
        <pc:spChg chg="add mod">
          <ac:chgData name="Saim Ghafoor" userId="b484e196-97e0-4a37-9647-714f4ebb2ce2" providerId="ADAL" clId="{9251BE27-2A40-4C5E-9400-E769555E6353}" dt="2025-09-29T12:04:40.796" v="264" actId="14100"/>
          <ac:spMkLst>
            <pc:docMk/>
            <pc:sldMk cId="125639428" sldId="340"/>
            <ac:spMk id="8" creationId="{1F67159D-0C37-7B18-4040-FECDFDA3B878}"/>
          </ac:spMkLst>
        </pc:spChg>
        <pc:picChg chg="add mod">
          <ac:chgData name="Saim Ghafoor" userId="b484e196-97e0-4a37-9647-714f4ebb2ce2" providerId="ADAL" clId="{9251BE27-2A40-4C5E-9400-E769555E6353}" dt="2025-09-29T12:04:48.644" v="266" actId="1076"/>
          <ac:picMkLst>
            <pc:docMk/>
            <pc:sldMk cId="125639428" sldId="340"/>
            <ac:picMk id="1026" creationId="{79DA3F25-6986-E240-ED2C-229F9C384AB9}"/>
          </ac:picMkLst>
        </pc:picChg>
      </pc:sldChg>
      <pc:sldChg chg="addSp modSp new mod">
        <pc:chgData name="Saim Ghafoor" userId="b484e196-97e0-4a37-9647-714f4ebb2ce2" providerId="ADAL" clId="{9251BE27-2A40-4C5E-9400-E769555E6353}" dt="2025-09-29T12:09:57.067" v="280" actId="20577"/>
        <pc:sldMkLst>
          <pc:docMk/>
          <pc:sldMk cId="143383650" sldId="341"/>
        </pc:sldMkLst>
        <pc:spChg chg="mod">
          <ac:chgData name="Saim Ghafoor" userId="b484e196-97e0-4a37-9647-714f4ebb2ce2" providerId="ADAL" clId="{9251BE27-2A40-4C5E-9400-E769555E6353}" dt="2025-09-29T11:55:59.352" v="203" actId="27636"/>
          <ac:spMkLst>
            <pc:docMk/>
            <pc:sldMk cId="143383650" sldId="341"/>
            <ac:spMk id="2" creationId="{53C56490-903C-880D-865A-11618868D35E}"/>
          </ac:spMkLst>
        </pc:spChg>
        <pc:spChg chg="mod">
          <ac:chgData name="Saim Ghafoor" userId="b484e196-97e0-4a37-9647-714f4ebb2ce2" providerId="ADAL" clId="{9251BE27-2A40-4C5E-9400-E769555E6353}" dt="2025-09-29T11:56:38.512" v="210" actId="20577"/>
          <ac:spMkLst>
            <pc:docMk/>
            <pc:sldMk cId="143383650" sldId="341"/>
            <ac:spMk id="3" creationId="{AE9F2867-9A7F-ECA6-BEB9-E29171A6FCE2}"/>
          </ac:spMkLst>
        </pc:spChg>
        <pc:spChg chg="add mod">
          <ac:chgData name="Saim Ghafoor" userId="b484e196-97e0-4a37-9647-714f4ebb2ce2" providerId="ADAL" clId="{9251BE27-2A40-4C5E-9400-E769555E6353}" dt="2025-09-29T12:07:38.212" v="277" actId="20577"/>
          <ac:spMkLst>
            <pc:docMk/>
            <pc:sldMk cId="143383650" sldId="341"/>
            <ac:spMk id="6" creationId="{F2E954E9-4BF6-7DBD-A1C3-147766CEF91E}"/>
          </ac:spMkLst>
        </pc:spChg>
        <pc:spChg chg="add mod">
          <ac:chgData name="Saim Ghafoor" userId="b484e196-97e0-4a37-9647-714f4ebb2ce2" providerId="ADAL" clId="{9251BE27-2A40-4C5E-9400-E769555E6353}" dt="2025-09-29T12:09:57.067" v="280" actId="20577"/>
          <ac:spMkLst>
            <pc:docMk/>
            <pc:sldMk cId="143383650" sldId="341"/>
            <ac:spMk id="8" creationId="{78E0192D-10E1-686E-BA98-827D39FFDDA1}"/>
          </ac:spMkLst>
        </pc:spChg>
      </pc:sldChg>
      <pc:sldChg chg="addSp modSp new mod">
        <pc:chgData name="Saim Ghafoor" userId="b484e196-97e0-4a37-9647-714f4ebb2ce2" providerId="ADAL" clId="{9251BE27-2A40-4C5E-9400-E769555E6353}" dt="2025-09-29T12:13:46.430" v="286" actId="20577"/>
        <pc:sldMkLst>
          <pc:docMk/>
          <pc:sldMk cId="424115697" sldId="342"/>
        </pc:sldMkLst>
        <pc:spChg chg="mod">
          <ac:chgData name="Saim Ghafoor" userId="b484e196-97e0-4a37-9647-714f4ebb2ce2" providerId="ADAL" clId="{9251BE27-2A40-4C5E-9400-E769555E6353}" dt="2025-09-29T11:56:58.538" v="218" actId="20577"/>
          <ac:spMkLst>
            <pc:docMk/>
            <pc:sldMk cId="424115697" sldId="342"/>
            <ac:spMk id="2" creationId="{C2E9D33B-0407-7D9C-A0C2-8A4F0DA32131}"/>
          </ac:spMkLst>
        </pc:spChg>
        <pc:spChg chg="mod">
          <ac:chgData name="Saim Ghafoor" userId="b484e196-97e0-4a37-9647-714f4ebb2ce2" providerId="ADAL" clId="{9251BE27-2A40-4C5E-9400-E769555E6353}" dt="2025-09-29T11:57:27.016" v="221" actId="20577"/>
          <ac:spMkLst>
            <pc:docMk/>
            <pc:sldMk cId="424115697" sldId="342"/>
            <ac:spMk id="3" creationId="{10CAA587-4C06-B566-201D-EE2150841003}"/>
          </ac:spMkLst>
        </pc:spChg>
        <pc:spChg chg="add mod">
          <ac:chgData name="Saim Ghafoor" userId="b484e196-97e0-4a37-9647-714f4ebb2ce2" providerId="ADAL" clId="{9251BE27-2A40-4C5E-9400-E769555E6353}" dt="2025-09-29T12:13:46.430" v="286" actId="20577"/>
          <ac:spMkLst>
            <pc:docMk/>
            <pc:sldMk cId="424115697" sldId="342"/>
            <ac:spMk id="6" creationId="{534CE049-37C4-97F9-D3D1-5E514544A81B}"/>
          </ac:spMkLst>
        </pc:spChg>
        <pc:spChg chg="add mod">
          <ac:chgData name="Saim Ghafoor" userId="b484e196-97e0-4a37-9647-714f4ebb2ce2" providerId="ADAL" clId="{9251BE27-2A40-4C5E-9400-E769555E6353}" dt="2025-09-29T12:13:44.503" v="285" actId="20577"/>
          <ac:spMkLst>
            <pc:docMk/>
            <pc:sldMk cId="424115697" sldId="342"/>
            <ac:spMk id="8" creationId="{AF760A2B-E8A0-9744-2EAF-A2980AE270AE}"/>
          </ac:spMkLst>
        </pc:spChg>
      </pc:sldChg>
      <pc:sldChg chg="modSp new mod">
        <pc:chgData name="Saim Ghafoor" userId="b484e196-97e0-4a37-9647-714f4ebb2ce2" providerId="ADAL" clId="{9251BE27-2A40-4C5E-9400-E769555E6353}" dt="2025-09-29T11:59:39.057" v="245" actId="20577"/>
        <pc:sldMkLst>
          <pc:docMk/>
          <pc:sldMk cId="1741157518" sldId="343"/>
        </pc:sldMkLst>
        <pc:spChg chg="mod">
          <ac:chgData name="Saim Ghafoor" userId="b484e196-97e0-4a37-9647-714f4ebb2ce2" providerId="ADAL" clId="{9251BE27-2A40-4C5E-9400-E769555E6353}" dt="2025-09-29T11:58:26.692" v="227" actId="20577"/>
          <ac:spMkLst>
            <pc:docMk/>
            <pc:sldMk cId="1741157518" sldId="343"/>
            <ac:spMk id="2" creationId="{FD8DDBB5-7BCA-7F94-7E7E-412B69A84BC7}"/>
          </ac:spMkLst>
        </pc:spChg>
        <pc:spChg chg="mod">
          <ac:chgData name="Saim Ghafoor" userId="b484e196-97e0-4a37-9647-714f4ebb2ce2" providerId="ADAL" clId="{9251BE27-2A40-4C5E-9400-E769555E6353}" dt="2025-09-29T11:59:39.057" v="245" actId="20577"/>
          <ac:spMkLst>
            <pc:docMk/>
            <pc:sldMk cId="1741157518" sldId="343"/>
            <ac:spMk id="3" creationId="{3F5E6AAB-7D11-D3DB-88AF-0D396F9A13A4}"/>
          </ac:spMkLst>
        </pc:spChg>
      </pc:sldChg>
      <pc:sldChg chg="addSp modSp new">
        <pc:chgData name="Saim Ghafoor" userId="b484e196-97e0-4a37-9647-714f4ebb2ce2" providerId="ADAL" clId="{9251BE27-2A40-4C5E-9400-E769555E6353}" dt="2025-09-29T12:05:41.403" v="274" actId="1076"/>
        <pc:sldMkLst>
          <pc:docMk/>
          <pc:sldMk cId="807783183" sldId="344"/>
        </pc:sldMkLst>
        <pc:picChg chg="add mod">
          <ac:chgData name="Saim Ghafoor" userId="b484e196-97e0-4a37-9647-714f4ebb2ce2" providerId="ADAL" clId="{9251BE27-2A40-4C5E-9400-E769555E6353}" dt="2025-09-29T12:05:30.186" v="272" actId="14100"/>
          <ac:picMkLst>
            <pc:docMk/>
            <pc:sldMk cId="807783183" sldId="344"/>
            <ac:picMk id="2050" creationId="{FBA087D1-6DCF-4D4C-BEBB-E00B093C1A07}"/>
          </ac:picMkLst>
        </pc:picChg>
        <pc:picChg chg="add mod">
          <ac:chgData name="Saim Ghafoor" userId="b484e196-97e0-4a37-9647-714f4ebb2ce2" providerId="ADAL" clId="{9251BE27-2A40-4C5E-9400-E769555E6353}" dt="2025-09-29T12:05:41.403" v="274" actId="1076"/>
          <ac:picMkLst>
            <pc:docMk/>
            <pc:sldMk cId="807783183" sldId="344"/>
            <ac:picMk id="2052" creationId="{18E822DF-929C-E8B0-E232-FC373A403634}"/>
          </ac:picMkLst>
        </pc:picChg>
      </pc:sldChg>
    </pc:docChg>
  </pc:docChgLst>
  <pc:docChgLst>
    <pc:chgData name="Saim Ghafoor" userId="b484e196-97e0-4a37-9647-714f4ebb2ce2" providerId="ADAL" clId="{630596F0-8938-4DAB-B3E3-73726D1405C6}"/>
    <pc:docChg chg="undo custSel addSld modSld">
      <pc:chgData name="Saim Ghafoor" userId="b484e196-97e0-4a37-9647-714f4ebb2ce2" providerId="ADAL" clId="{630596F0-8938-4DAB-B3E3-73726D1405C6}" dt="2024-09-30T12:16:17.312" v="112"/>
      <pc:docMkLst>
        <pc:docMk/>
      </pc:docMkLst>
      <pc:sldChg chg="modSp mod">
        <pc:chgData name="Saim Ghafoor" userId="b484e196-97e0-4a37-9647-714f4ebb2ce2" providerId="ADAL" clId="{630596F0-8938-4DAB-B3E3-73726D1405C6}" dt="2024-09-30T11:27:39.186" v="25" actId="20577"/>
        <pc:sldMkLst>
          <pc:docMk/>
          <pc:sldMk cId="3823435876" sldId="299"/>
        </pc:sldMkLst>
      </pc:sldChg>
      <pc:sldChg chg="modSp mod">
        <pc:chgData name="Saim Ghafoor" userId="b484e196-97e0-4a37-9647-714f4ebb2ce2" providerId="ADAL" clId="{630596F0-8938-4DAB-B3E3-73726D1405C6}" dt="2024-09-30T11:32:43.702" v="27" actId="27636"/>
        <pc:sldMkLst>
          <pc:docMk/>
          <pc:sldMk cId="3498974145" sldId="314"/>
        </pc:sldMkLst>
      </pc:sldChg>
      <pc:sldChg chg="modSp mod">
        <pc:chgData name="Saim Ghafoor" userId="b484e196-97e0-4a37-9647-714f4ebb2ce2" providerId="ADAL" clId="{630596F0-8938-4DAB-B3E3-73726D1405C6}" dt="2024-09-30T11:33:04.523" v="28" actId="33524"/>
        <pc:sldMkLst>
          <pc:docMk/>
          <pc:sldMk cId="3247202568" sldId="316"/>
        </pc:sldMkLst>
      </pc:sldChg>
      <pc:sldChg chg="modSp mod">
        <pc:chgData name="Saim Ghafoor" userId="b484e196-97e0-4a37-9647-714f4ebb2ce2" providerId="ADAL" clId="{630596F0-8938-4DAB-B3E3-73726D1405C6}" dt="2024-09-29T21:58:46.718" v="21" actId="20577"/>
        <pc:sldMkLst>
          <pc:docMk/>
          <pc:sldMk cId="3208879203" sldId="325"/>
        </pc:sldMkLst>
      </pc:sldChg>
      <pc:sldChg chg="modSp new mod">
        <pc:chgData name="Saim Ghafoor" userId="b484e196-97e0-4a37-9647-714f4ebb2ce2" providerId="ADAL" clId="{630596F0-8938-4DAB-B3E3-73726D1405C6}" dt="2024-09-30T12:04:29.722" v="74" actId="6549"/>
        <pc:sldMkLst>
          <pc:docMk/>
          <pc:sldMk cId="2258254322" sldId="328"/>
        </pc:sldMkLst>
      </pc:sldChg>
      <pc:sldChg chg="addSp delSp modSp new mod">
        <pc:chgData name="Saim Ghafoor" userId="b484e196-97e0-4a37-9647-714f4ebb2ce2" providerId="ADAL" clId="{630596F0-8938-4DAB-B3E3-73726D1405C6}" dt="2024-09-30T12:07:56.949" v="103" actId="1076"/>
        <pc:sldMkLst>
          <pc:docMk/>
          <pc:sldMk cId="3378664068" sldId="329"/>
        </pc:sldMkLst>
      </pc:sldChg>
      <pc:sldChg chg="modSp new mod">
        <pc:chgData name="Saim Ghafoor" userId="b484e196-97e0-4a37-9647-714f4ebb2ce2" providerId="ADAL" clId="{630596F0-8938-4DAB-B3E3-73726D1405C6}" dt="2024-09-30T12:08:36.514" v="110" actId="12"/>
        <pc:sldMkLst>
          <pc:docMk/>
          <pc:sldMk cId="242422267" sldId="330"/>
        </pc:sldMkLst>
      </pc:sldChg>
      <pc:sldChg chg="addSp new">
        <pc:chgData name="Saim Ghafoor" userId="b484e196-97e0-4a37-9647-714f4ebb2ce2" providerId="ADAL" clId="{630596F0-8938-4DAB-B3E3-73726D1405C6}" dt="2024-09-30T12:16:17.312" v="112"/>
        <pc:sldMkLst>
          <pc:docMk/>
          <pc:sldMk cId="227216695" sldId="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E251D-97B3-4F06-8608-3B1ADED79B1C}" type="datetimeFigureOut">
              <a:rPr lang="en-IE" smtClean="0"/>
              <a:t>29/09/2025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9E036-CB38-4818-B98A-A61A334C21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373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99CB-097C-43EE-A431-947AC48716A2}" type="datetime1">
              <a:rPr lang="en-IE" smtClean="0"/>
              <a:t>29/09/2025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EAB048-1430-021B-2759-074D69B957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74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76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8117-D664-4E2D-9408-186A140B80A9}" type="datetime1">
              <a:rPr lang="en-IE" smtClean="0"/>
              <a:t>29/09/2025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95B540A-76F2-9F11-F76B-CD27369419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86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2941C-CF16-4A91-AE1A-394E81D44B9B}" type="datetime1">
              <a:rPr lang="en-IE" smtClean="0"/>
              <a:t>29/09/2025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80BC55A-75CD-FE86-29A2-98F9234E22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3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97348-66EB-408C-B7A1-5695F146ADBB}" type="datetime1">
              <a:rPr lang="en-IE" smtClean="0"/>
              <a:t>29/09/2025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B927039-E6F2-98D2-98D8-C92E15B961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0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9317"/>
            <a:ext cx="10515600" cy="10013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7448-EB36-439D-ADDB-D0DEC8AFB401}" type="datetime1">
              <a:rPr lang="en-IE" smtClean="0"/>
              <a:t>29/09/2025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B0ACAE4-9916-2891-2FCA-8BCFC2632E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56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68B2-BE61-41D6-A4A2-6D6CEB2568E8}" type="datetime1">
              <a:rPr lang="en-IE" smtClean="0"/>
              <a:t>29/09/2025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0081418-F292-7738-345E-219AB33C3E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11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5FFB-5FF6-4ADC-8677-3FC14F81D088}" type="datetime1">
              <a:rPr lang="en-IE" smtClean="0"/>
              <a:t>29/09/2025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D084589-1256-E4A8-E2AE-8D999BA023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63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8D22-7169-4CF4-9F24-94A75CB2DBEB}" type="datetime1">
              <a:rPr lang="en-IE" smtClean="0"/>
              <a:t>29/09/2025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C2AA21B-026B-0686-31C6-6B5B616D7E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44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AA7-8438-4772-BEB8-0583497DA7D9}" type="datetime1">
              <a:rPr lang="en-IE" smtClean="0"/>
              <a:t>29/09/2025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875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330C9-6590-4B3E-B108-589288FAF5C1}" type="datetime1">
              <a:rPr lang="en-IE" smtClean="0"/>
              <a:t>29/09/2025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DA62BC7-E45D-887B-395E-4FC38EA0A0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2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75249"/>
            <a:ext cx="2628900" cy="5501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75249"/>
            <a:ext cx="7734300" cy="5501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6D73-3C56-41FD-B7D7-3E149B2813CC}" type="datetime1">
              <a:rPr lang="en-IE" smtClean="0"/>
              <a:t>29/09/2025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7A264A7-82AF-FC79-66B3-D610D221CE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9236" cy="5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95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58962"/>
            <a:ext cx="10515600" cy="93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B1DF792-0369-4765-AFD7-4B4452DD5E3F}" type="datetime1">
              <a:rPr lang="en-IE" smtClean="0"/>
              <a:t>29/09/2025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DADDF82-8990-4558-84CF-42B3CAB7C69C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948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networking.org/software-defined-standards/specifications/" TargetMode="External"/><Relationship Id="rId2" Type="http://schemas.openxmlformats.org/officeDocument/2006/relationships/hyperlink" Target="https://sdn.ieee.org/standardiz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UCI-hLzTTM" TargetMode="External"/><Relationship Id="rId2" Type="http://schemas.openxmlformats.org/officeDocument/2006/relationships/hyperlink" Target="https://www.cisco.com/c/en/us/products/collateral/cloud-systems-management/application-policy-infrastructure-controller-apic/datasheet-c78-73971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hyperlink" Target="https://www.cisco.com/c/en/us/td/docs/switches/datacenter/aci/apic/server/m4-l4-server/APIC-M4-L4-Server/m_overview.html" TargetMode="External"/><Relationship Id="rId4" Type="http://schemas.openxmlformats.org/officeDocument/2006/relationships/hyperlink" Target="https://www.youtube.com/watch?v=2YeVFPU8Lu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niper.net/content/dam/www/assets/datasheets/us/en/sdn-management-operations/cloud-native-contrail-networking-datasheet.pdf" TargetMode="External"/><Relationship Id="rId2" Type="http://schemas.openxmlformats.org/officeDocument/2006/relationships/hyperlink" Target="https://www.juniper.net/us/en/products/sdn-and-orchestration/contrail/cloud-native-contrail-networking-datashee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uniper.net/content/dam/www/assets/white-papers/us/en/contrail-architecture.pdf" TargetMode="External"/><Relationship Id="rId4" Type="http://schemas.openxmlformats.org/officeDocument/2006/relationships/hyperlink" Target="https://www.juniper.net/us/en/products/sdn-and-orchestration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docs.broadcom.com/us/en/vmware-cis/nsx/vmware-nsx/4-1/installation-guide/installing-nsx-manager-cluster-on-vsphere/install-nsx-manager-and-available-appliances.html" TargetMode="External"/><Relationship Id="rId2" Type="http://schemas.openxmlformats.org/officeDocument/2006/relationships/hyperlink" Target="https://www.vmware.com/docs/vmware-nsx-datashee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mware.com/products/cloud-infrastructure/nsx" TargetMode="External"/><Relationship Id="rId4" Type="http://schemas.openxmlformats.org/officeDocument/2006/relationships/hyperlink" Target="https://www.virtualizationhowto.com/2020/06/vmware-nsx-home-lab-setup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zure-local/concepts/software-defined-networking-23h2?view=azloc-2509" TargetMode="External"/><Relationship Id="rId2" Type="http://schemas.openxmlformats.org/officeDocument/2006/relationships/hyperlink" Target="https://docs.azure.cn/en-us/azure-local/concepts/network-controller-overview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xrdocs.io/design/blogs/latest-cisco-sdn-controllersage-overlay-networks-in-an-ahv-cluster-37936" TargetMode="External"/><Relationship Id="rId2" Type="http://schemas.openxmlformats.org/officeDocument/2006/relationships/hyperlink" Target="https://next.nutanix.com/community-blog-154/integrating-contrail-sdn-controller-to-manage-overlay-networks-in-an-ahv-cluster-37936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isco.com/c/en/us/products/collateral/cloud-systems-management/application-policy-infrastructure-controller-apic/datasheet-c78-739715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6520"/>
            <a:ext cx="9144000" cy="1376363"/>
          </a:xfrm>
        </p:spPr>
        <p:txBody>
          <a:bodyPr>
            <a:normAutofit fontScale="90000"/>
          </a:bodyPr>
          <a:lstStyle/>
          <a:p>
            <a:r>
              <a:rPr lang="en-IE" dirty="0"/>
              <a:t>Secure Wireless and Software Defined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IE" dirty="0"/>
              <a:t>Lecture 3-1</a:t>
            </a:r>
          </a:p>
          <a:p>
            <a:r>
              <a:rPr lang="en-IE" dirty="0"/>
              <a:t>SDN Controllers and protocols</a:t>
            </a:r>
          </a:p>
          <a:p>
            <a:endParaRPr lang="en-IE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24000" y="303288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 err="1"/>
              <a:t>Saim</a:t>
            </a:r>
            <a:r>
              <a:rPr lang="en-IE" dirty="0"/>
              <a:t> </a:t>
            </a:r>
            <a:r>
              <a:rPr lang="en-IE" dirty="0" err="1"/>
              <a:t>Ghafoor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7914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SDN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69826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A Software-Defined Networking (SDN) controller is a central component of SDN architecture. It provides control over the network elements</a:t>
            </a:r>
          </a:p>
          <a:p>
            <a:r>
              <a:rPr lang="en-GB" dirty="0"/>
              <a:t>In networking, there is the Management Plane, Control Plane and Data Plane. An SDN controller provides Management Plane and Control Plane functionalities for the network elements in the domain it manages. </a:t>
            </a:r>
          </a:p>
          <a:p>
            <a:r>
              <a:rPr lang="en-GB" dirty="0"/>
              <a:t>An SDN controller, based on network information and a set of predefined rules and policies, manages the network elements and configures (“programs”) the Data Plane.</a:t>
            </a:r>
            <a:endParaRPr lang="en-IE" dirty="0"/>
          </a:p>
        </p:txBody>
      </p:sp>
      <p:pic>
        <p:nvPicPr>
          <p:cNvPr id="4" name="Picture 4" descr="sdn controller data plane switches">
            <a:extLst>
              <a:ext uri="{FF2B5EF4-FFF2-40B4-BE49-F238E27FC236}">
                <a16:creationId xmlns:a16="http://schemas.microsoft.com/office/drawing/2014/main" id="{94954810-4248-55C6-3C5B-CB810C7E8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794" y="1613566"/>
            <a:ext cx="2974258" cy="330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C208-2D45-8330-54BA-4771A72E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340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C9FC-9FDC-C045-0CEA-F0B42295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3237-26DE-D41B-BA31-F9CC4C2D3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It allows more efficient network management </a:t>
            </a:r>
          </a:p>
          <a:p>
            <a:r>
              <a:rPr lang="en-GB" dirty="0"/>
              <a:t>Changes in network configuration can be applied from a central location.</a:t>
            </a:r>
          </a:p>
          <a:p>
            <a:r>
              <a:rPr lang="en-GB" dirty="0"/>
              <a:t>Other benefits of deploying SDN Controllers</a:t>
            </a:r>
          </a:p>
          <a:p>
            <a:pPr lvl="1"/>
            <a:r>
              <a:rPr lang="en-GB" dirty="0"/>
              <a:t>Provides a single, unified interface allowing network administrators and external applications (e.g. orchestration platforms) to interact (configure and manage) with the network</a:t>
            </a:r>
          </a:p>
          <a:p>
            <a:pPr lvl="1"/>
            <a:r>
              <a:rPr lang="en-GB" dirty="0"/>
              <a:t>Increases the level of network automation (an SDN controller can automate network management and configuration tasks)</a:t>
            </a:r>
          </a:p>
          <a:p>
            <a:pPr lvl="1"/>
            <a:r>
              <a:rPr lang="en-GB" dirty="0"/>
              <a:t>Optimizes usage of resources (can optimize packet paths to achieve better network efficiency)</a:t>
            </a:r>
          </a:p>
          <a:p>
            <a:pPr lvl="1"/>
            <a:r>
              <a:rPr lang="en-GB" dirty="0"/>
              <a:t>Increases network resilience (e.g. faster reaction to changes in the network, building alternative paths)</a:t>
            </a:r>
          </a:p>
          <a:p>
            <a:pPr lvl="1"/>
            <a:r>
              <a:rPr lang="en-GB" dirty="0"/>
              <a:t>Possible management of physical network devices and software based network elements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40668-F58D-FBA2-B73A-AF72B488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847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B4E-B428-1C46-CA80-501AA78F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BCF5-AF80-0A3C-0129-288894A8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(using API, Northbound) an SDN controller translates the application’s layer requirements (e.g. high-level description of the network configuration) into a configuration specific to the supported network elements.</a:t>
            </a:r>
          </a:p>
          <a:p>
            <a:r>
              <a:rPr lang="en-GB" dirty="0"/>
              <a:t>SDN controllers can manage both physical network devices and software components that execute network functions.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047B-F1D1-3FD2-2A47-B6B7DAEB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700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7A4C-C70B-D4A4-959B-E8B44BFC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41FD6-4834-037D-F645-882B630D4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main functions of an SDN controller include:</a:t>
            </a:r>
          </a:p>
          <a:p>
            <a:pPr lvl="1"/>
            <a:r>
              <a:rPr lang="en-GB" dirty="0"/>
              <a:t>Managing the flow of data in the managed network</a:t>
            </a:r>
          </a:p>
          <a:p>
            <a:pPr lvl="1"/>
            <a:r>
              <a:rPr lang="en-GB" dirty="0"/>
              <a:t>Providing an API for applications and other components (e.g. orchestration platforms) to interact with the network</a:t>
            </a:r>
          </a:p>
          <a:p>
            <a:pPr lvl="1"/>
            <a:r>
              <a:rPr lang="en-GB" dirty="0"/>
              <a:t>Providing visibility into the network, allows monitoring of network performance and detection of problems</a:t>
            </a:r>
          </a:p>
          <a:p>
            <a:pPr lvl="1"/>
            <a:r>
              <a:rPr lang="en-GB" dirty="0"/>
              <a:t>Automating network management tasks, such as provisioning new network elements and reconfiguring network paths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CFFE-1DFD-B5E0-FD0A-501F2F5E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343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AA7D-DE4C-4E52-EACA-864D497C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Controller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9F285-AFE2-3B5F-67C9-34EBE317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An SDN controller is a logically centralised entity typically implemented as a software application running on a server or cluster of servers. </a:t>
            </a:r>
          </a:p>
          <a:p>
            <a:endParaRPr lang="en-GB" dirty="0"/>
          </a:p>
          <a:p>
            <a:r>
              <a:rPr lang="en-GB" dirty="0"/>
              <a:t>It communicates with various network devices (such as switches and routers) and/or software components (realising network functions) through its southbound interfaces, e.g. an API and/or standardised/proprietary protocols. </a:t>
            </a:r>
          </a:p>
          <a:p>
            <a:r>
              <a:rPr lang="en-GB" dirty="0"/>
              <a:t>Examples of protocols include OpenFlow, Open </a:t>
            </a:r>
            <a:r>
              <a:rPr lang="en-GB" dirty="0" err="1"/>
              <a:t>vSwitch</a:t>
            </a:r>
            <a:r>
              <a:rPr lang="en-GB" dirty="0"/>
              <a:t> (OVS) database, NETCONF, P4RT (P4Runtime - protocol-independent runtime APIs for a P4-defined or P4-described data plane) and XMPP (Juniper Contrail). 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4EE8-B55E-09E6-3B49-52A6AD56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35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68D6-1980-C445-6525-26874F6F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0CC8-60D4-D7A7-1A80-1F03AD8C4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1026" name="Picture 2" descr="Control vs Data Plane">
            <a:extLst>
              <a:ext uri="{FF2B5EF4-FFF2-40B4-BE49-F238E27FC236}">
                <a16:creationId xmlns:a16="http://schemas.microsoft.com/office/drawing/2014/main" id="{4CC7A243-8259-6F3E-DA3D-8DF70CBDE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788" y="2046850"/>
            <a:ext cx="7561345" cy="358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0EB9D-7AE7-805A-EA10-9E196A63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855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656C-F338-BF89-34BF-DCF85167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Southbound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A76B3-7953-275F-B7E0-677949F40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SDN controller has to communicate with our network devices in order to program the data plane. This is done through the southbound interface. This is not a physical interface but a software interface, often an API (Application Programming Interface).</a:t>
            </a:r>
          </a:p>
          <a:p>
            <a:r>
              <a:rPr lang="en-GB" dirty="0"/>
              <a:t>An API is a software interface that allows an application to give access to other applications by using pre-defined functions and data structures.</a:t>
            </a:r>
            <a:endParaRPr lang="en-IE" dirty="0"/>
          </a:p>
          <a:p>
            <a:r>
              <a:rPr lang="en-GB" dirty="0"/>
              <a:t>Some popular southbound interfaces are:</a:t>
            </a:r>
          </a:p>
          <a:p>
            <a:pPr lvl="1"/>
            <a:r>
              <a:rPr lang="en-GB" dirty="0"/>
              <a:t>OpenFlow: this is probably the most popular SBI at the moment; it’s an open source protocol from the Open Networking Foundation. There are quite a few network devices and SDN controllers that support OpenFlow.</a:t>
            </a:r>
          </a:p>
          <a:p>
            <a:pPr lvl="1"/>
            <a:r>
              <a:rPr lang="en-GB" dirty="0"/>
              <a:t>Cisco </a:t>
            </a:r>
            <a:r>
              <a:rPr lang="en-GB" dirty="0" err="1"/>
              <a:t>OpFlex</a:t>
            </a:r>
            <a:r>
              <a:rPr lang="en-GB" dirty="0"/>
              <a:t>: This is Cisco’s answer to OpenFlow. It’s also an open source protocol which has been submitted to the IETF for standardisation.</a:t>
            </a:r>
          </a:p>
          <a:p>
            <a:pPr lvl="1"/>
            <a:r>
              <a:rPr lang="en-GB" dirty="0"/>
              <a:t>CLI: Cisco offers APIC-EM, which is an SDN solution for the current generation of routers and switches. It uses protocols that are available on current-generation hardware, like telnet, SSH, and SNMP. (EOL Feb 2024)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526-B17F-A039-843F-6C9B7A8C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0887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DEEC-BA56-BC13-D479-13166B46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Northbound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96BD0-FFEB-8A53-7D7B-89563F278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7724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Used to access the SDN controller itself. </a:t>
            </a:r>
          </a:p>
          <a:p>
            <a:r>
              <a:rPr lang="en-GB" dirty="0"/>
              <a:t>This allows a network administrator to access the SDN to configure it or to retrieve information from it. </a:t>
            </a:r>
          </a:p>
          <a:p>
            <a:r>
              <a:rPr lang="en-GB" dirty="0"/>
              <a:t>This could be done through a GUI, but it also offers an API which allows other applications access to the SDN controller. </a:t>
            </a:r>
          </a:p>
          <a:p>
            <a:r>
              <a:rPr lang="en-GB" dirty="0"/>
              <a:t>Scripts can be used to automate network administration.</a:t>
            </a:r>
          </a:p>
          <a:p>
            <a:r>
              <a:rPr lang="en-GB" dirty="0"/>
              <a:t>Here are some examples:</a:t>
            </a:r>
          </a:p>
          <a:p>
            <a:pPr lvl="1"/>
            <a:r>
              <a:rPr lang="en-GB" dirty="0"/>
              <a:t>List information from all network devices in your network.</a:t>
            </a:r>
          </a:p>
          <a:p>
            <a:pPr lvl="1"/>
            <a:r>
              <a:rPr lang="en-GB" dirty="0"/>
              <a:t>Show the status of all physical interfaces in the network.</a:t>
            </a:r>
          </a:p>
          <a:p>
            <a:pPr lvl="1"/>
            <a:r>
              <a:rPr lang="en-GB" dirty="0"/>
              <a:t>Add a new VLAN on all your switches.</a:t>
            </a:r>
          </a:p>
          <a:p>
            <a:pPr lvl="1"/>
            <a:r>
              <a:rPr lang="en-GB" dirty="0"/>
              <a:t>Show the topology of your entire network.</a:t>
            </a:r>
          </a:p>
          <a:p>
            <a:pPr lvl="1"/>
            <a:r>
              <a:rPr lang="en-GB" dirty="0"/>
              <a:t>Automatically configure IP addresses, routing, and access lists when a new virtual machine is created.</a:t>
            </a:r>
            <a:endParaRPr lang="en-IE" dirty="0"/>
          </a:p>
        </p:txBody>
      </p:sp>
      <p:pic>
        <p:nvPicPr>
          <p:cNvPr id="2050" name="Picture 2" descr="SDN northbound interface api options">
            <a:extLst>
              <a:ext uri="{FF2B5EF4-FFF2-40B4-BE49-F238E27FC236}">
                <a16:creationId xmlns:a16="http://schemas.microsoft.com/office/drawing/2014/main" id="{44A5DE1C-EA23-CE5E-FEBB-831B229DC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719" y="1322466"/>
            <a:ext cx="3093216" cy="346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8D4A2-A8A1-DE4A-DB1D-D69132C2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532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C256-C6BC-31F1-DA59-7266D667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A721-E478-C262-0896-DDB510C3E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3697" cy="43513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SDN controllers typically use a REST API (Representational State Transfer).</a:t>
            </a:r>
          </a:p>
          <a:p>
            <a:r>
              <a:rPr lang="en-GB" dirty="0"/>
              <a:t>The REST API uses HTTP messages to send and receive information between the SDN controller and another application. It uses the same HTTP messages that you use when you browse a webpage on the Internet or when you enter a contact form online:</a:t>
            </a:r>
          </a:p>
          <a:p>
            <a:pPr lvl="1"/>
            <a:r>
              <a:rPr lang="en-GB" dirty="0"/>
              <a:t>HTTP GET: used when we want to retrieve information.</a:t>
            </a:r>
          </a:p>
          <a:p>
            <a:pPr lvl="1"/>
            <a:r>
              <a:rPr lang="en-GB" dirty="0"/>
              <a:t>HTTP POST/PUT: used when we want to upload or update information.</a:t>
            </a:r>
          </a:p>
          <a:p>
            <a:r>
              <a:rPr lang="en-GB" dirty="0"/>
              <a:t>When the SDN controller receives the HTTP GET request, it will reply with an HTTP GET response with the information that was requested. This information is delivered in a common data format. The two most used data formats are:</a:t>
            </a:r>
          </a:p>
          <a:p>
            <a:pPr lvl="1"/>
            <a:r>
              <a:rPr lang="en-GB" dirty="0"/>
              <a:t>JSON (JavaScript Object Notation)</a:t>
            </a:r>
          </a:p>
          <a:p>
            <a:pPr lvl="1"/>
            <a:r>
              <a:rPr lang="en-GB" dirty="0"/>
              <a:t>XML (</a:t>
            </a:r>
            <a:r>
              <a:rPr lang="en-GB" dirty="0" err="1"/>
              <a:t>eXtensible</a:t>
            </a:r>
            <a:r>
              <a:rPr lang="en-GB" dirty="0"/>
              <a:t> Markup Language)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DDFFD-58E4-74DD-86C9-860BD499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93444"/>
            <a:ext cx="3086867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B134D74-5133-3B11-8ABF-1134B4095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186" y="4102237"/>
            <a:ext cx="4396793" cy="237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FF651-7C33-606E-3F2C-EDEB7CAB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912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773A0-6DBC-5152-183F-AA3C9047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Vendor and open-source SDN controllers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8FF5-257E-E808-C9FC-C899B311E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On the market, there are both proprietary and open-source SDN controllers. Below are a few examples of each. </a:t>
            </a:r>
          </a:p>
          <a:p>
            <a:r>
              <a:rPr lang="en-IE" dirty="0"/>
              <a:t>Vendors offering SDN controllers: </a:t>
            </a:r>
          </a:p>
          <a:p>
            <a:pPr lvl="1"/>
            <a:r>
              <a:rPr lang="en-IE" dirty="0"/>
              <a:t>Cisco </a:t>
            </a:r>
          </a:p>
          <a:p>
            <a:pPr lvl="1"/>
            <a:r>
              <a:rPr lang="en-IE" dirty="0"/>
              <a:t>Juniper Networks</a:t>
            </a:r>
          </a:p>
          <a:p>
            <a:pPr lvl="1"/>
            <a:r>
              <a:rPr lang="en-IE" dirty="0"/>
              <a:t>VMware</a:t>
            </a:r>
          </a:p>
          <a:p>
            <a:pPr lvl="1"/>
            <a:r>
              <a:rPr lang="en-IE" dirty="0"/>
              <a:t>Nokia</a:t>
            </a:r>
          </a:p>
          <a:p>
            <a:r>
              <a:rPr lang="en-IE" dirty="0"/>
              <a:t>Open-source SDN controller options: </a:t>
            </a:r>
          </a:p>
          <a:p>
            <a:pPr lvl="1"/>
            <a:r>
              <a:rPr lang="en-IE" dirty="0" err="1"/>
              <a:t>OpenDaylight</a:t>
            </a:r>
            <a:endParaRPr lang="en-IE" dirty="0"/>
          </a:p>
          <a:p>
            <a:pPr lvl="1"/>
            <a:r>
              <a:rPr lang="en-IE" dirty="0"/>
              <a:t>ONOS (Open Network Operating System)</a:t>
            </a:r>
          </a:p>
          <a:p>
            <a:pPr lvl="1"/>
            <a:r>
              <a:rPr lang="en-IE" dirty="0"/>
              <a:t>Tungsten Fabric (open-source version of Juniper Contrail)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AE9F-9DD9-CFFB-1332-08F81D0E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379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31B4-6F31-4284-47C1-14B2FDB4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SDN controllers available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3DF9-982D-6160-B33E-8B0AECD6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NOX/POX</a:t>
            </a:r>
          </a:p>
          <a:p>
            <a:r>
              <a:rPr lang="en-GB" dirty="0"/>
              <a:t>Ryu</a:t>
            </a:r>
          </a:p>
          <a:p>
            <a:r>
              <a:rPr lang="en-GB" dirty="0"/>
              <a:t>Floodlight</a:t>
            </a:r>
          </a:p>
          <a:p>
            <a:r>
              <a:rPr lang="en-GB" dirty="0" err="1"/>
              <a:t>OpenDaylight</a:t>
            </a:r>
            <a:endParaRPr lang="en-GB" dirty="0"/>
          </a:p>
          <a:p>
            <a:r>
              <a:rPr lang="en-GB" dirty="0"/>
              <a:t>Pyretic</a:t>
            </a:r>
          </a:p>
          <a:p>
            <a:r>
              <a:rPr lang="en-GB" dirty="0"/>
              <a:t>Frenetic</a:t>
            </a:r>
          </a:p>
          <a:p>
            <a:r>
              <a:rPr lang="en-GB" dirty="0" err="1"/>
              <a:t>Procera</a:t>
            </a:r>
            <a:endParaRPr lang="en-GB" dirty="0"/>
          </a:p>
          <a:p>
            <a:r>
              <a:rPr lang="en-GB" dirty="0" err="1"/>
              <a:t>RouteFlow</a:t>
            </a:r>
            <a:endParaRPr lang="en-GB" dirty="0"/>
          </a:p>
          <a:p>
            <a:r>
              <a:rPr lang="en-GB" dirty="0"/>
              <a:t>Trema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4B1D7-BDAB-471D-78E1-A192F54BF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3084"/>
            <a:ext cx="5452875" cy="353680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CAE6B-5BD5-3DBF-4B57-4AC307A0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902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2758-3ACC-2384-F51F-E0D7CCD9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NOX: Overview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D649-90B0-575B-7E86-E2319DEEE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" y="1690687"/>
            <a:ext cx="5474110" cy="32035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GB" dirty="0"/>
              <a:t>First Generation OpenFlow Controller</a:t>
            </a:r>
          </a:p>
          <a:p>
            <a:pPr lvl="1"/>
            <a:r>
              <a:rPr lang="en-GB" dirty="0"/>
              <a:t>Open Source, Stable Widely Used</a:t>
            </a:r>
          </a:p>
          <a:p>
            <a:r>
              <a:rPr lang="en-GB" dirty="0"/>
              <a:t>Two flavours of NOX</a:t>
            </a:r>
          </a:p>
          <a:p>
            <a:r>
              <a:rPr lang="en-GB" dirty="0"/>
              <a:t>NOX classic: </a:t>
            </a:r>
            <a:r>
              <a:rPr lang="en-GB" dirty="0" err="1"/>
              <a:t>c++</a:t>
            </a:r>
            <a:r>
              <a:rPr lang="en-GB" dirty="0"/>
              <a:t>/Python. No longer supported</a:t>
            </a:r>
          </a:p>
          <a:p>
            <a:r>
              <a:rPr lang="en-GB" dirty="0"/>
              <a:t>NOX (the new NOX)</a:t>
            </a:r>
          </a:p>
          <a:p>
            <a:pPr lvl="1"/>
            <a:r>
              <a:rPr lang="en-GB" dirty="0"/>
              <a:t>C++ only</a:t>
            </a:r>
          </a:p>
          <a:p>
            <a:pPr lvl="1"/>
            <a:r>
              <a:rPr lang="en-GB" dirty="0"/>
              <a:t>Fast, clear codebase</a:t>
            </a:r>
          </a:p>
          <a:p>
            <a:pPr lvl="1"/>
            <a:r>
              <a:rPr lang="en-GB" dirty="0"/>
              <a:t>Well maintained and supported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F2B3F-CB3A-5429-63E4-6C217FC3FCFB}"/>
              </a:ext>
            </a:extLst>
          </p:cNvPr>
          <p:cNvSpPr txBox="1"/>
          <p:nvPr/>
        </p:nvSpPr>
        <p:spPr>
          <a:xfrm>
            <a:off x="8567225" y="136525"/>
            <a:ext cx="186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www.noxrepo.org</a:t>
            </a:r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451BEB-D6EE-7EA8-21BD-BEDFE03BA719}"/>
              </a:ext>
            </a:extLst>
          </p:cNvPr>
          <p:cNvSpPr txBox="1">
            <a:spLocks/>
          </p:cNvSpPr>
          <p:nvPr/>
        </p:nvSpPr>
        <p:spPr>
          <a:xfrm>
            <a:off x="6560575" y="1684517"/>
            <a:ext cx="4957916" cy="28053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NoX Charactersitics</a:t>
            </a:r>
          </a:p>
          <a:p>
            <a:r>
              <a:rPr lang="en-GB"/>
              <a:t>Users implement control in C++</a:t>
            </a:r>
          </a:p>
          <a:p>
            <a:r>
              <a:rPr lang="en-IE"/>
              <a:t>Supports OpenFlow v1.0</a:t>
            </a:r>
          </a:p>
          <a:p>
            <a:pPr lvl="1"/>
            <a:r>
              <a:rPr lang="en-IE"/>
              <a:t> fork of NOX (CPqD) Supports 1.1., 1.2, 1.3</a:t>
            </a:r>
          </a:p>
          <a:p>
            <a:r>
              <a:rPr lang="en-IE"/>
              <a:t>Programming model</a:t>
            </a:r>
          </a:p>
          <a:p>
            <a:pPr lvl="1"/>
            <a:r>
              <a:rPr lang="en-IE"/>
              <a:t>Controller registers for events</a:t>
            </a:r>
          </a:p>
          <a:p>
            <a:pPr lvl="1"/>
            <a:r>
              <a:rPr lang="en-IE"/>
              <a:t>Programmer writes event handler</a:t>
            </a:r>
          </a:p>
          <a:p>
            <a:endParaRPr lang="en-I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BBA096-862F-8FD6-62C9-833D3D92E04C}"/>
              </a:ext>
            </a:extLst>
          </p:cNvPr>
          <p:cNvSpPr txBox="1">
            <a:spLocks/>
          </p:cNvSpPr>
          <p:nvPr/>
        </p:nvSpPr>
        <p:spPr>
          <a:xfrm>
            <a:off x="1179871" y="5022853"/>
            <a:ext cx="10515600" cy="17434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When to use NOX</a:t>
            </a:r>
          </a:p>
          <a:p>
            <a:pPr lvl="1"/>
            <a:r>
              <a:rPr lang="en-GB" dirty="0"/>
              <a:t>You know C++</a:t>
            </a:r>
          </a:p>
          <a:p>
            <a:pPr lvl="1"/>
            <a:r>
              <a:rPr lang="en-GB" dirty="0"/>
              <a:t>You are willing to use low-level facilities and semantic of </a:t>
            </a:r>
            <a:r>
              <a:rPr lang="en-GB" dirty="0" err="1"/>
              <a:t>OpenFLow</a:t>
            </a:r>
            <a:endParaRPr lang="en-GB" dirty="0"/>
          </a:p>
          <a:p>
            <a:pPr lvl="1"/>
            <a:r>
              <a:rPr lang="en-GB" dirty="0"/>
              <a:t>You need good performance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9FF10F-F9BC-AA1A-ED0B-FE8B019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756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39FC-404E-87F4-6EAD-25079EC9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6" y="215174"/>
            <a:ext cx="10515600" cy="931725"/>
          </a:xfrm>
        </p:spPr>
        <p:txBody>
          <a:bodyPr/>
          <a:lstStyle/>
          <a:p>
            <a:r>
              <a:rPr lang="en-GB" dirty="0"/>
              <a:t>POX: Overview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4701-967C-EB7F-2916-1D336F3A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4" y="1146899"/>
            <a:ext cx="10515600" cy="341035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dirty="0"/>
              <a:t>NOX in Python</a:t>
            </a:r>
          </a:p>
          <a:p>
            <a:r>
              <a:rPr lang="en-GB" dirty="0"/>
              <a:t>Supports OpenFlow v1.0 only</a:t>
            </a:r>
          </a:p>
          <a:p>
            <a:r>
              <a:rPr lang="en-GB" dirty="0"/>
              <a:t>Advantages</a:t>
            </a:r>
          </a:p>
          <a:p>
            <a:pPr lvl="1"/>
            <a:r>
              <a:rPr lang="en-GB" dirty="0"/>
              <a:t>Widely used, maintained, supported</a:t>
            </a:r>
          </a:p>
          <a:p>
            <a:pPr lvl="1"/>
            <a:r>
              <a:rPr lang="en-GB" dirty="0"/>
              <a:t>Relatively easy to read and write code</a:t>
            </a:r>
          </a:p>
          <a:p>
            <a:r>
              <a:rPr lang="en-GB" dirty="0"/>
              <a:t>Disadvantages: Performance</a:t>
            </a:r>
          </a:p>
          <a:p>
            <a:pPr lvl="1"/>
            <a:r>
              <a:rPr lang="en-IE" dirty="0"/>
              <a:t>Will be used in the course (POX or NOX)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64CAC7-03E5-CF62-C49B-D9141DFDB942}"/>
              </a:ext>
            </a:extLst>
          </p:cNvPr>
          <p:cNvSpPr txBox="1">
            <a:spLocks/>
          </p:cNvSpPr>
          <p:nvPr/>
        </p:nvSpPr>
        <p:spPr>
          <a:xfrm>
            <a:off x="1913603" y="4842841"/>
            <a:ext cx="8659761" cy="17365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When to use POX?</a:t>
            </a:r>
          </a:p>
          <a:p>
            <a:r>
              <a:rPr lang="en-GB" dirty="0"/>
              <a:t>If you know (or can learn) python and are not concerned about the controller performance</a:t>
            </a:r>
          </a:p>
          <a:p>
            <a:r>
              <a:rPr lang="en-GB" dirty="0"/>
              <a:t>Rapid prototyping and experimentation</a:t>
            </a:r>
          </a:p>
          <a:p>
            <a:pPr lvl="1"/>
            <a:r>
              <a:rPr lang="en-GB" dirty="0"/>
              <a:t>Research, experimentation, demonstration</a:t>
            </a:r>
          </a:p>
          <a:p>
            <a:pPr lvl="1"/>
            <a:r>
              <a:rPr lang="en-GB" dirty="0"/>
              <a:t>Learning concepts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42B21-729E-BD67-4361-95487A09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8974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B1B7-17A4-5736-165A-4D4AE574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Ryu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E214A-3091-0024-768D-BE2DF10B6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Open-source python controller</a:t>
            </a:r>
          </a:p>
          <a:p>
            <a:pPr lvl="1"/>
            <a:r>
              <a:rPr lang="en-GB" dirty="0"/>
              <a:t>Supports OpenFlow 1.0, 1.2, 1.3, 1.4</a:t>
            </a:r>
            <a:r>
              <a:rPr lang="en-IE" dirty="0"/>
              <a:t>, </a:t>
            </a:r>
            <a:r>
              <a:rPr lang="en-IE" dirty="0" err="1"/>
              <a:t>Nicira</a:t>
            </a:r>
            <a:r>
              <a:rPr lang="en-IE" dirty="0"/>
              <a:t> extensions</a:t>
            </a:r>
          </a:p>
          <a:p>
            <a:pPr lvl="1"/>
            <a:r>
              <a:rPr lang="en-IE" dirty="0"/>
              <a:t>Works with OpenStack</a:t>
            </a:r>
          </a:p>
          <a:p>
            <a:r>
              <a:rPr lang="en-GB" dirty="0"/>
              <a:t>Aims to be an Operating System for SDN</a:t>
            </a:r>
          </a:p>
          <a:p>
            <a:r>
              <a:rPr lang="en-GB" dirty="0"/>
              <a:t>Advantages:</a:t>
            </a:r>
          </a:p>
          <a:p>
            <a:r>
              <a:rPr lang="en-GB" dirty="0"/>
              <a:t>OpenStack Integration, OpenFlow 1.2, 1.3, 1.4</a:t>
            </a:r>
          </a:p>
          <a:p>
            <a:r>
              <a:rPr lang="en-GB" dirty="0"/>
              <a:t>Disadvantage: Performance compared to commercial-grade controllers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A0106-AE7F-35F9-E82B-07051D32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720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C787-ED44-9A8D-4884-E0A7C5F2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Floodlight	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80A1E-3E1F-E2CC-A2AA-34423F27D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1155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GB" dirty="0"/>
              <a:t>Open-source Java controller</a:t>
            </a:r>
          </a:p>
          <a:p>
            <a:pPr lvl="1"/>
            <a:r>
              <a:rPr lang="en-GB" dirty="0"/>
              <a:t>Supports Open Flow 1.0</a:t>
            </a:r>
          </a:p>
          <a:p>
            <a:pPr lvl="1"/>
            <a:r>
              <a:rPr lang="en-GB" dirty="0"/>
              <a:t>Fork from the beacon Java OpenFlow controller</a:t>
            </a:r>
          </a:p>
          <a:p>
            <a:pPr lvl="1"/>
            <a:r>
              <a:rPr lang="en-GB" dirty="0"/>
              <a:t>Maintained by Big Switch Networks</a:t>
            </a:r>
          </a:p>
          <a:p>
            <a:r>
              <a:rPr lang="en-GB" dirty="0"/>
              <a:t>Advantages</a:t>
            </a:r>
          </a:p>
          <a:p>
            <a:pPr lvl="1"/>
            <a:r>
              <a:rPr lang="en-GB" dirty="0"/>
              <a:t>Good documentation</a:t>
            </a:r>
          </a:p>
          <a:p>
            <a:pPr lvl="1"/>
            <a:r>
              <a:rPr lang="en-GB" dirty="0"/>
              <a:t>Integration with REST API</a:t>
            </a:r>
          </a:p>
          <a:p>
            <a:pPr lvl="1"/>
            <a:r>
              <a:rPr lang="en-GB" dirty="0"/>
              <a:t>Production level, </a:t>
            </a:r>
            <a:r>
              <a:rPr lang="en-GB" dirty="0" err="1"/>
              <a:t>openstack</a:t>
            </a:r>
            <a:r>
              <a:rPr lang="en-GB" dirty="0"/>
              <a:t>/Multi-Tenant cloud</a:t>
            </a:r>
          </a:p>
          <a:p>
            <a:r>
              <a:rPr lang="en-GB" dirty="0"/>
              <a:t>Disadvantages:</a:t>
            </a:r>
            <a:r>
              <a:rPr lang="en-IE" dirty="0"/>
              <a:t> Steep Learning Curve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A567DF-B080-8084-7C54-376C12660E1D}"/>
              </a:ext>
            </a:extLst>
          </p:cNvPr>
          <p:cNvSpPr txBox="1">
            <a:spLocks/>
          </p:cNvSpPr>
          <p:nvPr/>
        </p:nvSpPr>
        <p:spPr>
          <a:xfrm>
            <a:off x="7283245" y="1731757"/>
            <a:ext cx="4515465" cy="43513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When to use Floodlight?</a:t>
            </a:r>
          </a:p>
          <a:p>
            <a:r>
              <a:rPr lang="en-GB" dirty="0"/>
              <a:t>You know Java</a:t>
            </a:r>
          </a:p>
          <a:p>
            <a:r>
              <a:rPr lang="en-GB" dirty="0"/>
              <a:t>You need production level performance and support</a:t>
            </a:r>
          </a:p>
          <a:p>
            <a:r>
              <a:rPr lang="en-GB" dirty="0"/>
              <a:t>You will use the RESP API to interact with the controller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011A-2415-AFAA-B80F-18F741EF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923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B09C-ECD9-7852-DF13-4E2980F7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Daylight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48F85-E794-A454-927C-1FE3C39CA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4458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GB" dirty="0"/>
              <a:t>Goal: Common industry supported platform</a:t>
            </a:r>
          </a:p>
          <a:p>
            <a:r>
              <a:rPr lang="en-GB" dirty="0"/>
              <a:t>Robust, extensible open source codebase</a:t>
            </a:r>
          </a:p>
          <a:p>
            <a:r>
              <a:rPr lang="en-GB" dirty="0"/>
              <a:t>Common abstractions for northbound capabilities</a:t>
            </a:r>
          </a:p>
          <a:p>
            <a:r>
              <a:rPr lang="en-GB" dirty="0"/>
              <a:t>Advantages: </a:t>
            </a:r>
          </a:p>
          <a:p>
            <a:pPr lvl="1"/>
            <a:r>
              <a:rPr lang="en-GB" dirty="0"/>
              <a:t>Industry acceptance, integration with OpenStack, cloud applications etc</a:t>
            </a:r>
          </a:p>
          <a:p>
            <a:r>
              <a:rPr lang="en-GB" dirty="0"/>
              <a:t>Disadvantages</a:t>
            </a:r>
          </a:p>
          <a:p>
            <a:pPr lvl="1"/>
            <a:r>
              <a:rPr lang="en-GB" dirty="0"/>
              <a:t>Complex, steep learning curve</a:t>
            </a:r>
          </a:p>
          <a:p>
            <a:pPr lvl="1"/>
            <a:endParaRPr lang="en-GB" dirty="0"/>
          </a:p>
          <a:p>
            <a:r>
              <a:rPr lang="en-GB" dirty="0"/>
              <a:t>Another similar controller: HP VAN (both are based on BEACON controller)</a:t>
            </a:r>
            <a:endParaRPr lang="en-I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6E2215-02A3-67C5-31B3-0581229C717A}"/>
              </a:ext>
            </a:extLst>
          </p:cNvPr>
          <p:cNvSpPr txBox="1">
            <a:spLocks/>
          </p:cNvSpPr>
          <p:nvPr/>
        </p:nvSpPr>
        <p:spPr>
          <a:xfrm>
            <a:off x="6779344" y="1825625"/>
            <a:ext cx="5257800" cy="43513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When to use?</a:t>
            </a:r>
          </a:p>
          <a:p>
            <a:r>
              <a:rPr lang="en-GB" dirty="0"/>
              <a:t>You know Java</a:t>
            </a:r>
          </a:p>
          <a:p>
            <a:r>
              <a:rPr lang="en-GB" dirty="0"/>
              <a:t>You need production-level performance and support</a:t>
            </a:r>
          </a:p>
          <a:p>
            <a:r>
              <a:rPr lang="en-GB" dirty="0"/>
              <a:t>You need support with cloud applications, OpenStack etc. </a:t>
            </a:r>
          </a:p>
          <a:p>
            <a:r>
              <a:rPr lang="en-GB" dirty="0"/>
              <a:t>You need modular functions (plugging different types of functionalities in the same controller)</a:t>
            </a:r>
          </a:p>
          <a:p>
            <a:r>
              <a:rPr lang="en-GB" dirty="0"/>
              <a:t>You need apps already supported by vendors (will discuss)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E5BB2-7CD4-87FA-8502-32928AEF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543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D3F9-3DD6-60AF-124A-E5DEFEE3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evolving existing controllers: </a:t>
            </a:r>
            <a:r>
              <a:rPr lang="en-GB" dirty="0" err="1"/>
              <a:t>LoxiGen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E1D5-A03B-683A-336F-4B0DD434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Generated OF Language-specific bindings</a:t>
            </a:r>
          </a:p>
          <a:p>
            <a:r>
              <a:rPr lang="en-GB" dirty="0"/>
              <a:t>Input: Wire-protocol descriptions</a:t>
            </a:r>
          </a:p>
          <a:p>
            <a:r>
              <a:rPr lang="en-GB" dirty="0"/>
              <a:t>Output: Protocol-specific bindings for different controllers</a:t>
            </a:r>
          </a:p>
          <a:p>
            <a:r>
              <a:rPr lang="en-GB" dirty="0"/>
              <a:t>Generated OpenFlow v1.0-1.3.1+ bindings</a:t>
            </a:r>
          </a:p>
          <a:p>
            <a:pPr lvl="1"/>
            <a:r>
              <a:rPr lang="en-GB" dirty="0"/>
              <a:t>C: for indigo</a:t>
            </a:r>
          </a:p>
          <a:p>
            <a:pPr lvl="1"/>
            <a:r>
              <a:rPr lang="en-GB" dirty="0"/>
              <a:t>Java: for </a:t>
            </a:r>
            <a:r>
              <a:rPr lang="en-GB" dirty="0" err="1"/>
              <a:t>FloodLight</a:t>
            </a:r>
            <a:endParaRPr lang="en-GB" dirty="0"/>
          </a:p>
          <a:p>
            <a:pPr lvl="1"/>
            <a:r>
              <a:rPr lang="en-GB" dirty="0"/>
              <a:t>Python: for </a:t>
            </a:r>
            <a:r>
              <a:rPr lang="en-GB" dirty="0" err="1"/>
              <a:t>OFTest</a:t>
            </a:r>
            <a:endParaRPr lang="en-GB" dirty="0"/>
          </a:p>
          <a:p>
            <a:pPr lvl="1"/>
            <a:r>
              <a:rPr lang="en-GB" dirty="0"/>
              <a:t>Wireshark/Lua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3546-1FBE-D4C3-94ED-E87ECB07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0185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3F79-5CF5-6357-AFE7-104D011A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349388"/>
            <a:ext cx="10515600" cy="931725"/>
          </a:xfrm>
        </p:spPr>
        <p:txBody>
          <a:bodyPr/>
          <a:lstStyle/>
          <a:p>
            <a:r>
              <a:rPr lang="en-GB" dirty="0"/>
              <a:t>Summary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3CB4D-537F-AEAE-3B09-4766139C8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3"/>
            <a:ext cx="10515600" cy="1565326"/>
          </a:xfrm>
        </p:spPr>
        <p:txBody>
          <a:bodyPr/>
          <a:lstStyle/>
          <a:p>
            <a:r>
              <a:rPr lang="en-GB" dirty="0"/>
              <a:t>Choice of controller depends on needs, language etc</a:t>
            </a:r>
          </a:p>
          <a:p>
            <a:r>
              <a:rPr lang="en-GB" dirty="0"/>
              <a:t>Southbound (floodlight provide wide range of these APIs)</a:t>
            </a:r>
          </a:p>
          <a:p>
            <a:r>
              <a:rPr lang="en-GB" dirty="0"/>
              <a:t>Northbound APIs (management, policy)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993EB-58E8-6837-4A82-DB290C8E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82" y="3035966"/>
            <a:ext cx="9327303" cy="322670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CB5E4-0639-2C16-13C4-09FB39A6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7076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EB71-5D64-366E-D670-15898FB8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SDN standard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19EC-6071-9776-AE0C-E2A40FA4E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hlinkClick r:id="rId2"/>
              </a:rPr>
              <a:t>https://sdn.ieee.org/standardization</a:t>
            </a:r>
            <a:r>
              <a:rPr lang="en-IE" dirty="0"/>
              <a:t> </a:t>
            </a:r>
          </a:p>
          <a:p>
            <a:r>
              <a:rPr lang="en-IE" dirty="0">
                <a:hlinkClick r:id="rId3"/>
              </a:rPr>
              <a:t>https://opennetworking.org/software-defined-standards/specifications/</a:t>
            </a:r>
            <a:r>
              <a:rPr lang="en-IE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068EB-1849-965F-19D8-4FFFDD82D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130" y="2690629"/>
            <a:ext cx="5218470" cy="404724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EC53B-F880-8D68-C199-3F924087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5968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9C07-11A8-C1B3-63A3-98C505CF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Cisco – APIC (ACI)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8906-5C1A-172B-FB10-295ED773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b="1" dirty="0"/>
              <a:t>SDN Controller</a:t>
            </a:r>
            <a:r>
              <a:rPr lang="en-IE" dirty="0"/>
              <a:t>: </a:t>
            </a:r>
            <a:r>
              <a:rPr lang="en-IE" b="1" dirty="0"/>
              <a:t>Cisco Application Policy Infrastructure Controller (APIC)</a:t>
            </a:r>
            <a:endParaRPr lang="en-IE" dirty="0"/>
          </a:p>
          <a:p>
            <a:r>
              <a:rPr lang="en-IE" b="1" dirty="0"/>
              <a:t>Role</a:t>
            </a:r>
            <a:r>
              <a:rPr lang="en-IE" dirty="0"/>
              <a:t>: Central controller for </a:t>
            </a:r>
            <a:r>
              <a:rPr lang="en-IE" b="1" dirty="0"/>
              <a:t>ACI fabric</a:t>
            </a:r>
            <a:r>
              <a:rPr lang="en-IE" dirty="0"/>
              <a:t>, policy model, endpoint registry, automation, telemetry.</a:t>
            </a:r>
          </a:p>
          <a:p>
            <a:r>
              <a:rPr lang="en-IE" b="1" dirty="0"/>
              <a:t>Form</a:t>
            </a:r>
            <a:r>
              <a:rPr lang="en-IE" dirty="0"/>
              <a:t>: Hardware appliance (APIC-M4 / L4 servers) or VM form for labs.</a:t>
            </a:r>
          </a:p>
          <a:p>
            <a:r>
              <a:rPr lang="en-IE" b="1" dirty="0"/>
              <a:t>Links</a:t>
            </a:r>
            <a:r>
              <a:rPr lang="en-IE" dirty="0"/>
              <a:t>:</a:t>
            </a:r>
          </a:p>
          <a:p>
            <a:r>
              <a:rPr lang="en-IE" dirty="0">
                <a:hlinkClick r:id="rId2"/>
              </a:rPr>
              <a:t>https://www.cisco.com/c/en/us/products/collateral/cloud-systems-management/application-policy-infrastructure-controller-apic/datasheet-c78-739715.html</a:t>
            </a:r>
            <a:r>
              <a:rPr lang="en-IE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588A7-6E49-21CF-6F19-602D6FDB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21</a:t>
            </a:fld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37E5E-D118-8E33-D4E6-338CF7A7C14B}"/>
              </a:ext>
            </a:extLst>
          </p:cNvPr>
          <p:cNvSpPr txBox="1"/>
          <p:nvPr/>
        </p:nvSpPr>
        <p:spPr>
          <a:xfrm>
            <a:off x="212272" y="598873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https://www.youtube.com/watch?v=IUCI-hLzTTM</a:t>
            </a:r>
            <a:r>
              <a:rPr lang="en-IE" dirty="0"/>
              <a:t> </a:t>
            </a:r>
          </a:p>
          <a:p>
            <a:r>
              <a:rPr lang="en-IE" dirty="0">
                <a:hlinkClick r:id="rId4"/>
              </a:rPr>
              <a:t>https://www.youtube.com/watch?v=2YeVFPU8Lug</a:t>
            </a:r>
            <a:r>
              <a:rPr lang="en-IE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7159D-0C37-7B18-4040-FECDFDA3B878}"/>
              </a:ext>
            </a:extLst>
          </p:cNvPr>
          <p:cNvSpPr txBox="1"/>
          <p:nvPr/>
        </p:nvSpPr>
        <p:spPr>
          <a:xfrm>
            <a:off x="5882174" y="5804992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5"/>
              </a:rPr>
              <a:t>https://www.cisco.com/c/en/us/td/docs/switches/datacenter/aci/apic/server/m4-l4-server/APIC-M4-L4-Server/m_overview.html</a:t>
            </a:r>
            <a:r>
              <a:rPr lang="en-IE" dirty="0"/>
              <a:t> </a:t>
            </a:r>
          </a:p>
        </p:txBody>
      </p:sp>
      <p:pic>
        <p:nvPicPr>
          <p:cNvPr id="1026" name="Picture 2" descr="Building a Cisco ACI Lab | NetworkLife">
            <a:extLst>
              <a:ext uri="{FF2B5EF4-FFF2-40B4-BE49-F238E27FC236}">
                <a16:creationId xmlns:a16="http://schemas.microsoft.com/office/drawing/2014/main" id="{79DA3F25-6986-E240-ED2C-229F9C38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747" y="136525"/>
            <a:ext cx="2437981" cy="139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D8FA-7EB5-6959-0DA4-88042D6E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B774-DEBD-FF89-A87B-35540499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8E33D-CB37-A38D-94C7-DEA6F132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22</a:t>
            </a:fld>
            <a:endParaRPr lang="en-IE"/>
          </a:p>
        </p:txBody>
      </p:sp>
      <p:pic>
        <p:nvPicPr>
          <p:cNvPr id="2050" name="Picture 2" descr="ACI Endpoint Security Groups (ESG): Route-leaking &amp; Shared L3Out. Demo">
            <a:extLst>
              <a:ext uri="{FF2B5EF4-FFF2-40B4-BE49-F238E27FC236}">
                <a16:creationId xmlns:a16="http://schemas.microsoft.com/office/drawing/2014/main" id="{FBA087D1-6DCF-4D4C-BEBB-E00B093C1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44" y="1224823"/>
            <a:ext cx="3525054" cy="264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🔴Cisco APIC M3/L3 Server🔴 📍Chassis : One rack-unit (1RU ...">
            <a:extLst>
              <a:ext uri="{FF2B5EF4-FFF2-40B4-BE49-F238E27FC236}">
                <a16:creationId xmlns:a16="http://schemas.microsoft.com/office/drawing/2014/main" id="{18E822DF-929C-E8B0-E232-FC373A403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504" y="930728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78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6490-903C-880D-865A-11618868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Juniper – Contrail / CN2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2867-9A7F-ECA6-BEB9-E29171A6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b="1" dirty="0"/>
              <a:t>SDN Controller</a:t>
            </a:r>
            <a:r>
              <a:rPr lang="en-IE" dirty="0"/>
              <a:t>: </a:t>
            </a:r>
            <a:r>
              <a:rPr lang="en-IE" b="1" dirty="0"/>
              <a:t>Contrail Controller</a:t>
            </a:r>
            <a:r>
              <a:rPr lang="en-IE" dirty="0"/>
              <a:t> (now </a:t>
            </a:r>
            <a:r>
              <a:rPr lang="en-IE" i="1" dirty="0"/>
              <a:t>Cloud-Native Contrail Networking – CN2</a:t>
            </a:r>
            <a:r>
              <a:rPr lang="en-IE" dirty="0"/>
              <a:t>).</a:t>
            </a:r>
          </a:p>
          <a:p>
            <a:r>
              <a:rPr lang="en-IE" b="1" dirty="0"/>
              <a:t>Role</a:t>
            </a:r>
            <a:r>
              <a:rPr lang="en-IE" dirty="0"/>
              <a:t>: Overlay networking (VXLAN, MPLS), control plane, analytics, automation for </a:t>
            </a:r>
            <a:r>
              <a:rPr lang="en-IE" dirty="0" err="1"/>
              <a:t>multicloud</a:t>
            </a:r>
            <a:r>
              <a:rPr lang="en-IE" dirty="0"/>
              <a:t> and Kubernetes.</a:t>
            </a:r>
          </a:p>
          <a:p>
            <a:r>
              <a:rPr lang="en-IE" b="1" dirty="0"/>
              <a:t>Form</a:t>
            </a:r>
            <a:r>
              <a:rPr lang="en-IE" dirty="0"/>
              <a:t>: Software-only, deployed as VMs or containers (no proprietary hardware).</a:t>
            </a:r>
          </a:p>
          <a:p>
            <a:r>
              <a:rPr lang="en-IE" b="1" dirty="0"/>
              <a:t>Links</a:t>
            </a:r>
            <a:r>
              <a:rPr lang="en-IE" dirty="0"/>
              <a:t>:</a:t>
            </a:r>
          </a:p>
          <a:p>
            <a:r>
              <a:rPr lang="en-IE" dirty="0">
                <a:hlinkClick r:id="rId2"/>
              </a:rPr>
              <a:t>https://www.juniper.net/us/en/products/sdn-and-orchestration/contrail/cloud-native-contrail-networking-datasheet.html</a:t>
            </a:r>
            <a:r>
              <a:rPr lang="en-IE" dirty="0"/>
              <a:t> </a:t>
            </a:r>
          </a:p>
          <a:p>
            <a:r>
              <a:rPr lang="en-IE" dirty="0">
                <a:hlinkClick r:id="rId3"/>
              </a:rPr>
              <a:t>https://www.juniper.net/content/dam/www/assets/datasheets/us/en/sdn-management-operations/cloud-native-contrail-networking-datasheet.pdf</a:t>
            </a:r>
            <a:r>
              <a:rPr lang="en-IE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7D86-6C11-136A-280A-DB55DCF4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23</a:t>
            </a:fld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954E9-4BF6-7DBD-A1C3-147766CEF91E}"/>
              </a:ext>
            </a:extLst>
          </p:cNvPr>
          <p:cNvSpPr txBox="1"/>
          <p:nvPr/>
        </p:nvSpPr>
        <p:spPr>
          <a:xfrm>
            <a:off x="534239" y="6215746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4"/>
              </a:rPr>
              <a:t>https://www.juniper.net/us/en/products/sdn-and-orchestration.html</a:t>
            </a:r>
            <a:r>
              <a:rPr lang="en-IE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0192D-10E1-686E-BA98-827D39FFDDA1}"/>
              </a:ext>
            </a:extLst>
          </p:cNvPr>
          <p:cNvSpPr txBox="1"/>
          <p:nvPr/>
        </p:nvSpPr>
        <p:spPr>
          <a:xfrm>
            <a:off x="6006582" y="609903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5"/>
              </a:rPr>
              <a:t>https://www.juniper.net/content/dam/www/assets/white-papers/us/en/contrail-architecture.pdf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383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D33B-0407-7D9C-A0C2-8A4F0DA3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b="1" dirty="0"/>
              <a:t>VMware – NSX (NSX Manager / Controllers)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A587-4C06-B566-201D-EE2150841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SDN Controller</a:t>
            </a:r>
            <a:r>
              <a:rPr lang="en-IE" dirty="0"/>
              <a:t>:</a:t>
            </a:r>
          </a:p>
          <a:p>
            <a:pPr lvl="1"/>
            <a:r>
              <a:rPr lang="en-IE" b="1" dirty="0"/>
              <a:t>NSX-T Manager</a:t>
            </a:r>
            <a:r>
              <a:rPr lang="en-IE" dirty="0"/>
              <a:t> (cluster of appliances)</a:t>
            </a:r>
          </a:p>
          <a:p>
            <a:pPr lvl="1"/>
            <a:r>
              <a:rPr lang="en-IE" dirty="0"/>
              <a:t>Earlier </a:t>
            </a:r>
            <a:r>
              <a:rPr lang="en-IE" b="1" dirty="0"/>
              <a:t>NSX-V</a:t>
            </a:r>
            <a:r>
              <a:rPr lang="en-IE" dirty="0"/>
              <a:t> had a dedicated “NSX Controller Cluster” (3 VMs).</a:t>
            </a:r>
          </a:p>
          <a:p>
            <a:r>
              <a:rPr lang="en-IE" b="1" dirty="0"/>
              <a:t>Role</a:t>
            </a:r>
            <a:r>
              <a:rPr lang="en-IE" dirty="0"/>
              <a:t>: Provides centralized network control plane, policy, routing, firewall rules, overlays (Geneve, VXLAN).</a:t>
            </a:r>
          </a:p>
          <a:p>
            <a:r>
              <a:rPr lang="en-IE" b="1" dirty="0"/>
              <a:t>Form</a:t>
            </a:r>
            <a:r>
              <a:rPr lang="en-IE" dirty="0"/>
              <a:t>: Virtual appliances (VMs, OVAs).</a:t>
            </a:r>
          </a:p>
          <a:p>
            <a:r>
              <a:rPr lang="en-IE" b="1" dirty="0"/>
              <a:t>Links</a:t>
            </a:r>
            <a:r>
              <a:rPr lang="en-IE" dirty="0"/>
              <a:t>:</a:t>
            </a:r>
          </a:p>
          <a:p>
            <a:pPr lvl="1"/>
            <a:r>
              <a:rPr lang="en-IE" dirty="0">
                <a:hlinkClick r:id="rId2"/>
              </a:rPr>
              <a:t>https://www.vmware.com/docs/vmware-nsx-datasheet</a:t>
            </a:r>
            <a:r>
              <a:rPr lang="en-IE" dirty="0"/>
              <a:t> </a:t>
            </a:r>
          </a:p>
          <a:p>
            <a:pPr lvl="1"/>
            <a:r>
              <a:rPr lang="en-IE" dirty="0">
                <a:hlinkClick r:id="rId3"/>
              </a:rPr>
              <a:t>NSX Manager / Appliances Install Guide</a:t>
            </a:r>
            <a:endParaRPr lang="en-IE" dirty="0"/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207EF-97CE-A8B5-69C2-0D7CDCED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24</a:t>
            </a:fld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4CE049-37C4-97F9-D3D1-5E514544A81B}"/>
              </a:ext>
            </a:extLst>
          </p:cNvPr>
          <p:cNvSpPr txBox="1"/>
          <p:nvPr/>
        </p:nvSpPr>
        <p:spPr>
          <a:xfrm>
            <a:off x="370892" y="61769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4"/>
              </a:rPr>
              <a:t>https://www.virtualizationhowto.com/2020/06/vmware-nsx-home-lab-setup/</a:t>
            </a:r>
            <a:r>
              <a:rPr lang="en-IE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60A2B-E8A0-9744-2EAF-A2980AE270AE}"/>
              </a:ext>
            </a:extLst>
          </p:cNvPr>
          <p:cNvSpPr txBox="1"/>
          <p:nvPr/>
        </p:nvSpPr>
        <p:spPr>
          <a:xfrm>
            <a:off x="5978591" y="585735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5"/>
              </a:rPr>
              <a:t>https://www.vmware.com/products/cloud-infrastructure/nsx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115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DBB5-7BCA-7F94-7E7E-412B69A8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b="1" dirty="0"/>
              <a:t>Microsoft – Network Controller (Windows / Azure Stack HCI)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6AAB-7D11-D3DB-88AF-0D396F9A1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E" b="1" dirty="0"/>
              <a:t>SDN Controller</a:t>
            </a:r>
            <a:r>
              <a:rPr lang="en-IE" dirty="0"/>
              <a:t>: </a:t>
            </a:r>
            <a:r>
              <a:rPr lang="en-IE" b="1" dirty="0"/>
              <a:t>Microsoft Network Controller</a:t>
            </a:r>
            <a:endParaRPr lang="en-IE" dirty="0"/>
          </a:p>
          <a:p>
            <a:r>
              <a:rPr lang="en-IE" b="1" dirty="0"/>
              <a:t>Role</a:t>
            </a:r>
            <a:r>
              <a:rPr lang="en-IE" dirty="0"/>
              <a:t>: SDN controller for </a:t>
            </a:r>
            <a:r>
              <a:rPr lang="en-IE" b="1" dirty="0"/>
              <a:t>Azure Stack HCI / Windows Server</a:t>
            </a:r>
            <a:r>
              <a:rPr lang="en-IE" dirty="0"/>
              <a:t> </a:t>
            </a:r>
            <a:r>
              <a:rPr lang="en-IE" dirty="0" err="1"/>
              <a:t>datacenters</a:t>
            </a:r>
            <a:r>
              <a:rPr lang="en-IE" dirty="0"/>
              <a:t>. Provides centralised management of virtual networks, gateways, firewalls, and policies.</a:t>
            </a:r>
          </a:p>
          <a:p>
            <a:r>
              <a:rPr lang="en-IE" b="1" dirty="0"/>
              <a:t>Form</a:t>
            </a:r>
            <a:r>
              <a:rPr lang="en-IE" dirty="0"/>
              <a:t>: Software role (runs as a clustered service on Windows Server VMs).</a:t>
            </a:r>
          </a:p>
          <a:p>
            <a:r>
              <a:rPr lang="en-IE" b="1" dirty="0"/>
              <a:t>Links</a:t>
            </a:r>
            <a:r>
              <a:rPr lang="en-IE" dirty="0"/>
              <a:t>:</a:t>
            </a:r>
          </a:p>
          <a:p>
            <a:r>
              <a:rPr lang="en-IE" dirty="0">
                <a:hlinkClick r:id="rId2"/>
              </a:rPr>
              <a:t>https://docs.azure.cn/en-us/azure-local/concepts/network-controller-overview</a:t>
            </a:r>
            <a:r>
              <a:rPr lang="en-IE" dirty="0"/>
              <a:t> </a:t>
            </a:r>
          </a:p>
          <a:p>
            <a:r>
              <a:rPr lang="en-IE" dirty="0">
                <a:hlinkClick r:id="rId3"/>
              </a:rPr>
              <a:t>https://learn.microsoft.com/en-us/azure/azure-local/concepts/software-defined-networking-23h2?view=azloc-2509</a:t>
            </a:r>
            <a:r>
              <a:rPr lang="en-IE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203C1-7D6E-B882-CF23-106AA183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1157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DD43-3E54-B681-3929-4B887CBB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A526-7542-48ED-E757-19F5EFC9E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726918"/>
            <a:ext cx="10515600" cy="4351338"/>
          </a:xfrm>
        </p:spPr>
        <p:txBody>
          <a:bodyPr/>
          <a:lstStyle/>
          <a:p>
            <a:r>
              <a:rPr lang="en-GB" dirty="0"/>
              <a:t>SDN Placement Problem </a:t>
            </a:r>
          </a:p>
          <a:p>
            <a:pPr marL="0" indent="0">
              <a:buNone/>
            </a:pPr>
            <a:r>
              <a:rPr lang="en-GB" dirty="0"/>
              <a:t>(1) SDN Controller Placement Problem </a:t>
            </a:r>
          </a:p>
          <a:p>
            <a:pPr marL="0" indent="0">
              <a:buNone/>
            </a:pPr>
            <a:r>
              <a:rPr lang="en-GB" dirty="0"/>
              <a:t>(2) SDN Rule Placement Problem </a:t>
            </a:r>
          </a:p>
          <a:p>
            <a:pPr marL="0" indent="0">
              <a:buNone/>
            </a:pPr>
            <a:r>
              <a:rPr lang="en-GB" dirty="0"/>
              <a:t>(3) SDN Hypervisor Placement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346C0-2F50-A6A8-D86E-5BDE6A39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26</a:t>
            </a:fld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E58D8-8FAB-514B-73A3-73385387EC1D}"/>
              </a:ext>
            </a:extLst>
          </p:cNvPr>
          <p:cNvSpPr txBox="1"/>
          <p:nvPr/>
        </p:nvSpPr>
        <p:spPr>
          <a:xfrm>
            <a:off x="7502236" y="2575119"/>
            <a:ext cx="457892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How many controllers are required </a:t>
            </a:r>
          </a:p>
          <a:p>
            <a:r>
              <a:rPr lang="en-GB" dirty="0"/>
              <a:t>Where to place them </a:t>
            </a:r>
          </a:p>
          <a:p>
            <a:r>
              <a:rPr lang="en-GB" dirty="0"/>
              <a:t>What is the controller domain (switches controlled by each controller)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6711E8-F322-825D-85F4-17130CC7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87" y="4149276"/>
            <a:ext cx="8420026" cy="238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64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66A6-5BC1-F901-5A07-C8451DC7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6FE28-A21A-C146-537B-53129B0BA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SDN Rule Placement Problem </a:t>
            </a:r>
          </a:p>
          <a:p>
            <a:pPr marL="0" indent="0">
              <a:buNone/>
            </a:pPr>
            <a:r>
              <a:rPr lang="en-US" dirty="0"/>
              <a:t>• Different types of rules: access control, routing policy, traffic shaping, or traffic engineering rules such as rules for load balancing </a:t>
            </a:r>
          </a:p>
          <a:p>
            <a:pPr marL="0" indent="0">
              <a:buNone/>
            </a:pPr>
            <a:r>
              <a:rPr lang="en-US" dirty="0"/>
              <a:t>• Real-time decision </a:t>
            </a:r>
          </a:p>
          <a:p>
            <a:pPr marL="0" indent="0">
              <a:buNone/>
            </a:pPr>
            <a:r>
              <a:rPr lang="en-US" dirty="0"/>
              <a:t>• How to handle rule conflicts or policies </a:t>
            </a:r>
          </a:p>
          <a:p>
            <a:pPr marL="0" indent="0">
              <a:buNone/>
            </a:pPr>
            <a:r>
              <a:rPr lang="en-US" dirty="0"/>
              <a:t>• Flow rules installed in a reactive, proactive, or hybrid way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5CBBD-4B64-7A59-63AA-8A82AFF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422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79FE-A1DB-0A6B-632F-090DD411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AC77D-68C5-5EA5-F29D-B5787246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B61C7-9EEB-6608-9AAD-4A515072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28</a:t>
            </a:fld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7A913-ABF5-FB87-19F1-0DD0714EE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865"/>
            <a:ext cx="12192000" cy="44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6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8C5F-63FB-3B62-476A-1B75EB7F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2B0D-B7DE-DEEA-29E8-658487BFE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controllers are required to cover a network?           </a:t>
            </a:r>
          </a:p>
          <a:p>
            <a:r>
              <a:rPr lang="en-US" dirty="0"/>
              <a:t>What is the best placement position for each SDN Controller?          </a:t>
            </a:r>
          </a:p>
          <a:p>
            <a:r>
              <a:rPr lang="en-US" dirty="0"/>
              <a:t>What is the cost of each controller?   </a:t>
            </a:r>
          </a:p>
          <a:p>
            <a:r>
              <a:rPr lang="en-US" dirty="0"/>
              <a:t>What should be the capacity of each controller? </a:t>
            </a:r>
          </a:p>
          <a:p>
            <a:r>
              <a:rPr lang="en-US" dirty="0"/>
              <a:t>How to manage multiple SDN Controllers in the same network? </a:t>
            </a:r>
          </a:p>
          <a:p>
            <a:r>
              <a:rPr lang="en-US" dirty="0"/>
              <a:t>What should be the capacity of each controller? </a:t>
            </a:r>
          </a:p>
          <a:p>
            <a:r>
              <a:rPr lang="en-US" dirty="0"/>
              <a:t>How to manage the rules and network policies in a </a:t>
            </a:r>
            <a:r>
              <a:rPr lang="en-US" dirty="0" err="1"/>
              <a:t>centralised</a:t>
            </a:r>
            <a:r>
              <a:rPr lang="en-US" dirty="0"/>
              <a:t> way? </a:t>
            </a:r>
          </a:p>
          <a:p>
            <a:r>
              <a:rPr lang="en-US" dirty="0"/>
              <a:t>How to deploy </a:t>
            </a:r>
            <a:r>
              <a:rPr lang="en-US" dirty="0" err="1"/>
              <a:t>virtualised</a:t>
            </a:r>
            <a:r>
              <a:rPr lang="en-US" dirty="0"/>
              <a:t> SDN Controllers?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1F2E1-12DA-732B-CA84-32533D10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825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62E2-F7BC-7489-C7B3-59E88E5D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B18CF-8A3C-E058-4DC4-0E8C85200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How many controllers are required to cover a network?</a:t>
            </a:r>
          </a:p>
          <a:p>
            <a:r>
              <a:rPr lang="en-US" dirty="0"/>
              <a:t>Depends on </a:t>
            </a:r>
            <a:r>
              <a:rPr lang="en-US" b="1" dirty="0"/>
              <a:t>network size, topology, traffic load, and fault-tolerance requirements</a:t>
            </a:r>
            <a:r>
              <a:rPr lang="en-US" dirty="0"/>
              <a:t>.</a:t>
            </a:r>
          </a:p>
          <a:p>
            <a:r>
              <a:rPr lang="en-US" dirty="0"/>
              <a:t>Usually:</a:t>
            </a:r>
          </a:p>
          <a:p>
            <a:pPr lvl="1"/>
            <a:r>
              <a:rPr lang="en-US" b="1" dirty="0"/>
              <a:t>Small networks</a:t>
            </a:r>
            <a:r>
              <a:rPr lang="en-US" dirty="0"/>
              <a:t> → 1 controller is enough.</a:t>
            </a:r>
          </a:p>
          <a:p>
            <a:pPr lvl="1"/>
            <a:r>
              <a:rPr lang="en-US" b="1" dirty="0"/>
              <a:t>Medium to large networks</a:t>
            </a:r>
            <a:r>
              <a:rPr lang="en-US" dirty="0"/>
              <a:t> → multiple controllers for </a:t>
            </a:r>
            <a:r>
              <a:rPr lang="en-US" b="1" dirty="0"/>
              <a:t>scalability and redundancy</a:t>
            </a:r>
            <a:r>
              <a:rPr lang="en-US" dirty="0"/>
              <a:t>.</a:t>
            </a:r>
          </a:p>
          <a:p>
            <a:r>
              <a:rPr lang="en-US" b="1" dirty="0"/>
              <a:t>Rule of thumb:</a:t>
            </a:r>
            <a:r>
              <a:rPr lang="en-US" dirty="0"/>
              <a:t> At least </a:t>
            </a:r>
            <a:r>
              <a:rPr lang="en-US" b="1" dirty="0"/>
              <a:t>2 (primary + backup)</a:t>
            </a:r>
            <a:r>
              <a:rPr lang="en-US" dirty="0"/>
              <a:t> for high availability.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E6EC1-AC66-E37C-5AAD-187D08B6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41629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83EF-8B08-FB88-A9B5-DEC63415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CDFA-DFCC-0562-56BA-FBE9D3560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What is the best placement position for each SDN Controller?</a:t>
            </a:r>
          </a:p>
          <a:p>
            <a:r>
              <a:rPr lang="en-US" dirty="0"/>
              <a:t>Place controllers to </a:t>
            </a:r>
            <a:r>
              <a:rPr lang="en-US" b="1" dirty="0"/>
              <a:t>minimize latency</a:t>
            </a:r>
            <a:r>
              <a:rPr lang="en-US" dirty="0"/>
              <a:t> between switches and controllers.</a:t>
            </a:r>
          </a:p>
          <a:p>
            <a:r>
              <a:rPr lang="en-US" dirty="0"/>
              <a:t>Use </a:t>
            </a:r>
            <a:r>
              <a:rPr lang="en-US" b="1" dirty="0"/>
              <a:t>controller placement algorithms</a:t>
            </a:r>
            <a:r>
              <a:rPr lang="en-US" dirty="0"/>
              <a:t> (like k-median, k-center).</a:t>
            </a:r>
          </a:p>
          <a:p>
            <a:r>
              <a:rPr lang="en-US" dirty="0"/>
              <a:t>Typically:</a:t>
            </a:r>
          </a:p>
          <a:p>
            <a:pPr lvl="1"/>
            <a:r>
              <a:rPr lang="en-US" b="1" dirty="0"/>
              <a:t>Distributed, near network core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Close to high-traffic regions</a:t>
            </a:r>
            <a:r>
              <a:rPr lang="en-US" dirty="0"/>
              <a:t>.</a:t>
            </a:r>
          </a:p>
          <a:p>
            <a:r>
              <a:rPr lang="en-US" dirty="0"/>
              <a:t>Controllers should be </a:t>
            </a:r>
            <a:r>
              <a:rPr lang="en-US" b="1" dirty="0"/>
              <a:t>geographically redundant</a:t>
            </a:r>
            <a:r>
              <a:rPr lang="en-US" dirty="0"/>
              <a:t> (different sites) for resilience.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B4C9E-FA14-CA84-F70C-A9944C66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0353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8497-C762-BA1F-C518-FE89672C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CB59-66FA-6F8F-D6F5-40CFD19C3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3. What is the cost of each controller?</a:t>
            </a:r>
          </a:p>
          <a:p>
            <a:r>
              <a:rPr lang="en-IE" dirty="0"/>
              <a:t>Cost depends on </a:t>
            </a:r>
            <a:r>
              <a:rPr lang="en-IE" b="1" dirty="0"/>
              <a:t>type and deployment model</a:t>
            </a:r>
            <a:r>
              <a:rPr lang="en-IE" dirty="0"/>
              <a:t>:</a:t>
            </a:r>
          </a:p>
          <a:p>
            <a:pPr lvl="1"/>
            <a:r>
              <a:rPr lang="en-IE" b="1" dirty="0"/>
              <a:t>Open-source controllers (ONOS, </a:t>
            </a:r>
            <a:r>
              <a:rPr lang="en-IE" b="1" dirty="0" err="1"/>
              <a:t>OpenDaylight</a:t>
            </a:r>
            <a:r>
              <a:rPr lang="en-IE" b="1" dirty="0"/>
              <a:t>, Ryu, Floodlight)</a:t>
            </a:r>
            <a:r>
              <a:rPr lang="en-IE" dirty="0"/>
              <a:t> → software is free, cost is mainly servers.</a:t>
            </a:r>
          </a:p>
          <a:p>
            <a:pPr lvl="1"/>
            <a:r>
              <a:rPr lang="en-IE" b="1" dirty="0"/>
              <a:t>Commercial controllers (VMware NSX, Cisco APIC, HP VAN SDN)</a:t>
            </a:r>
            <a:r>
              <a:rPr lang="en-IE" dirty="0"/>
              <a:t> → license + hardware costs.</a:t>
            </a:r>
          </a:p>
          <a:p>
            <a:r>
              <a:rPr lang="en-IE" dirty="0"/>
              <a:t>Hardware: standard servers or cloud VMs.</a:t>
            </a:r>
          </a:p>
          <a:p>
            <a:r>
              <a:rPr lang="en-IE" dirty="0"/>
              <a:t>Typical cost factors: </a:t>
            </a:r>
            <a:r>
              <a:rPr lang="en-IE" b="1" dirty="0"/>
              <a:t>CPU, RAM, network capacity, license, support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0F7A3-592C-0833-8CFD-E930AE6A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4343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DB6B-4BF3-E9A3-CC4B-9EC08C3E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6BBA-EB29-BAED-E071-A5B3F359A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What should be the capacity of each controller?</a:t>
            </a:r>
          </a:p>
          <a:p>
            <a:r>
              <a:rPr lang="en-US" dirty="0"/>
              <a:t>Capacity = </a:t>
            </a:r>
            <a:r>
              <a:rPr lang="en-US" b="1" dirty="0"/>
              <a:t>number of switches + flow rules it can handle</a:t>
            </a:r>
            <a:r>
              <a:rPr lang="en-US" dirty="0"/>
              <a:t>.</a:t>
            </a:r>
          </a:p>
          <a:p>
            <a:r>
              <a:rPr lang="en-US" dirty="0"/>
              <a:t>Example (rough guidelines):</a:t>
            </a:r>
          </a:p>
          <a:p>
            <a:pPr lvl="1"/>
            <a:r>
              <a:rPr lang="en-US" dirty="0"/>
              <a:t>Commodity server with 8–16 cores, 32–64 GB RAM → </a:t>
            </a:r>
            <a:r>
              <a:rPr lang="en-US" b="1" dirty="0"/>
              <a:t>can manage hundreds of switches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High-performance clusters can manage </a:t>
            </a:r>
            <a:r>
              <a:rPr lang="en-US" b="1" dirty="0"/>
              <a:t>thousands of switches &amp; millions of flows</a:t>
            </a:r>
            <a:r>
              <a:rPr lang="en-US" dirty="0"/>
              <a:t>.</a:t>
            </a:r>
          </a:p>
          <a:p>
            <a:r>
              <a:rPr lang="en-US" dirty="0"/>
              <a:t>Capacity planning must consider </a:t>
            </a:r>
            <a:r>
              <a:rPr lang="en-US" b="1" dirty="0"/>
              <a:t>failover (backup should handle full load if primary fails)</a:t>
            </a:r>
            <a:r>
              <a:rPr lang="en-US" dirty="0"/>
              <a:t>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1B345-92F9-9AF8-BDA0-C4F7084E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287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36E8-A3EC-A04E-E863-31C423F9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23A3-F86C-479C-A8E6-262B692E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How to manage multiple SDN Controllers in the same network?</a:t>
            </a:r>
          </a:p>
          <a:p>
            <a:r>
              <a:rPr lang="en-US" dirty="0"/>
              <a:t>Use </a:t>
            </a:r>
            <a:r>
              <a:rPr lang="en-US" b="1" dirty="0"/>
              <a:t>controller clustering</a:t>
            </a:r>
            <a:r>
              <a:rPr lang="en-US" dirty="0"/>
              <a:t> (ONOS, </a:t>
            </a:r>
            <a:r>
              <a:rPr lang="en-US" dirty="0" err="1"/>
              <a:t>OpenDaylight</a:t>
            </a:r>
            <a:r>
              <a:rPr lang="en-US" dirty="0"/>
              <a:t>) for distributed control.</a:t>
            </a:r>
          </a:p>
          <a:p>
            <a:r>
              <a:rPr lang="en-US" dirty="0"/>
              <a:t>Controllers share </a:t>
            </a:r>
            <a:r>
              <a:rPr lang="en-US" b="1" dirty="0"/>
              <a:t>state and topology information</a:t>
            </a:r>
            <a:r>
              <a:rPr lang="en-US" dirty="0"/>
              <a:t>.</a:t>
            </a:r>
          </a:p>
          <a:p>
            <a:r>
              <a:rPr lang="en-US" b="1" dirty="0"/>
              <a:t>East-West interfaces</a:t>
            </a:r>
            <a:r>
              <a:rPr lang="en-US" dirty="0"/>
              <a:t> allow synchronization.</a:t>
            </a:r>
          </a:p>
          <a:p>
            <a:r>
              <a:rPr lang="en-US" dirty="0"/>
              <a:t>Load-balancing between controllers ensures scalability.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59A8A-E6BB-52C4-1C59-A9D7A3E9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8122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A941-580C-E154-727F-E0CB875A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71A37-BF19-7536-1B31-B7752BC4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How to manage the rules and network policies in a </a:t>
            </a:r>
            <a:r>
              <a:rPr lang="en-US" b="1" dirty="0" err="1"/>
              <a:t>centralised</a:t>
            </a:r>
            <a:r>
              <a:rPr lang="en-US" b="1" dirty="0"/>
              <a:t> way?</a:t>
            </a:r>
          </a:p>
          <a:p>
            <a:r>
              <a:rPr lang="en-US" dirty="0"/>
              <a:t>Use a </a:t>
            </a:r>
            <a:r>
              <a:rPr lang="en-US" b="1" dirty="0"/>
              <a:t>centralized policy engine</a:t>
            </a:r>
            <a:r>
              <a:rPr lang="en-US" dirty="0"/>
              <a:t> on top of controllers.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b="1" dirty="0"/>
              <a:t>Intent-based networking</a:t>
            </a:r>
            <a:r>
              <a:rPr lang="en-US" dirty="0"/>
              <a:t> (ONOS Intent Framework, </a:t>
            </a:r>
            <a:r>
              <a:rPr lang="en-US" dirty="0" err="1"/>
              <a:t>OpenDaylight’s</a:t>
            </a:r>
            <a:r>
              <a:rPr lang="en-US" dirty="0"/>
              <a:t> group-based policy).</a:t>
            </a:r>
          </a:p>
          <a:p>
            <a:pPr lvl="1"/>
            <a:r>
              <a:rPr lang="en-US" b="1" dirty="0"/>
              <a:t>Northbound APIs (REST, </a:t>
            </a:r>
            <a:r>
              <a:rPr lang="en-US" b="1" dirty="0" err="1"/>
              <a:t>gRPC</a:t>
            </a:r>
            <a:r>
              <a:rPr lang="en-US" b="1" dirty="0"/>
              <a:t>)</a:t>
            </a:r>
            <a:r>
              <a:rPr lang="en-US" dirty="0"/>
              <a:t> for applications.</a:t>
            </a:r>
          </a:p>
          <a:p>
            <a:r>
              <a:rPr lang="en-US" dirty="0"/>
              <a:t>Policies defined centrally → translated into </a:t>
            </a:r>
            <a:r>
              <a:rPr lang="en-US" b="1" dirty="0"/>
              <a:t>flow rules</a:t>
            </a:r>
            <a:r>
              <a:rPr lang="en-US" dirty="0"/>
              <a:t> by the controller.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20AB6-9674-D34F-6C23-2D414B92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806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453C-7F7E-DCAC-A130-BE7B007B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BFA7-19A0-E5DA-A03B-EC1F4A91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7. How to deploy virtualised SDN Controllers?</a:t>
            </a:r>
          </a:p>
          <a:p>
            <a:r>
              <a:rPr lang="en-IE" dirty="0"/>
              <a:t>Controllers can run on </a:t>
            </a:r>
            <a:r>
              <a:rPr lang="en-IE" b="1" dirty="0"/>
              <a:t>VMs, containers, or cloud instances</a:t>
            </a:r>
            <a:r>
              <a:rPr lang="en-IE" dirty="0"/>
              <a:t>.</a:t>
            </a:r>
          </a:p>
          <a:p>
            <a:r>
              <a:rPr lang="en-IE" dirty="0"/>
              <a:t>Options:</a:t>
            </a:r>
          </a:p>
          <a:p>
            <a:pPr lvl="1"/>
            <a:r>
              <a:rPr lang="en-IE" b="1" dirty="0"/>
              <a:t>VMware/VirtualBox</a:t>
            </a:r>
            <a:r>
              <a:rPr lang="en-IE" dirty="0"/>
              <a:t> for labs.</a:t>
            </a:r>
          </a:p>
          <a:p>
            <a:pPr lvl="1"/>
            <a:r>
              <a:rPr lang="en-IE" b="1" dirty="0"/>
              <a:t>Docker/Kubernetes</a:t>
            </a:r>
            <a:r>
              <a:rPr lang="en-IE" dirty="0"/>
              <a:t> for production (containerized controllers).</a:t>
            </a:r>
          </a:p>
          <a:p>
            <a:pPr lvl="1"/>
            <a:r>
              <a:rPr lang="en-IE" b="1" dirty="0"/>
              <a:t>Public cloud (AWS, Azure, GCP)</a:t>
            </a:r>
            <a:r>
              <a:rPr lang="en-IE" dirty="0"/>
              <a:t> for elasticity.</a:t>
            </a:r>
          </a:p>
          <a:p>
            <a:r>
              <a:rPr lang="en-IE" dirty="0"/>
              <a:t>Virtualization provides </a:t>
            </a:r>
            <a:r>
              <a:rPr lang="en-IE" b="1" dirty="0"/>
              <a:t>scalability, easy migration, and cost savings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219C-2BA9-D509-6FFD-A6BBBBF9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398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92F2-A1FD-C542-F2B5-39E22AF0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8B46-9EE0-B731-9F4C-5E4D28BA3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hlinkClick r:id="rId2"/>
              </a:rPr>
              <a:t>https://next.nutanix.com/community-blog-154/integrating-contrail-sdn-controller-to-man</a:t>
            </a:r>
          </a:p>
          <a:p>
            <a:r>
              <a:rPr lang="en-IE" dirty="0">
                <a:hlinkClick r:id="rId3"/>
              </a:rPr>
              <a:t>https://xrdocs.io/design/blogs/latest-cisco-sdn-controllersage-overlay-networks-in-an-ahv-cluster-37936</a:t>
            </a:r>
            <a:endParaRPr lang="en-IE" dirty="0"/>
          </a:p>
          <a:p>
            <a:endParaRPr lang="en-IE" dirty="0"/>
          </a:p>
          <a:p>
            <a:r>
              <a:rPr lang="en-IE" dirty="0"/>
              <a:t>Must see.</a:t>
            </a:r>
          </a:p>
          <a:p>
            <a:r>
              <a:rPr lang="en-IE" dirty="0">
                <a:hlinkClick r:id="rId4"/>
              </a:rPr>
              <a:t>https://www.cisco.com/c/en/us/products/collateral/cloud-systems-management/application-policy-infrastructure-controller-apic/datasheet-c78-739715.html</a:t>
            </a:r>
            <a:r>
              <a:rPr lang="en-IE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D5779-4D62-567C-ECC0-244B9BEC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400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2633</Words>
  <Application>Microsoft Office PowerPoint</Application>
  <PresentationFormat>Widescreen</PresentationFormat>
  <Paragraphs>305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Secure Wireless and Software Defined Networks</vt:lpstr>
      <vt:lpstr>SDN Controllers</vt:lpstr>
      <vt:lpstr>Benefits</vt:lpstr>
      <vt:lpstr>PowerPoint Presentation</vt:lpstr>
      <vt:lpstr>PowerPoint Presentation</vt:lpstr>
      <vt:lpstr>Controller working</vt:lpstr>
      <vt:lpstr>PowerPoint Presentation</vt:lpstr>
      <vt:lpstr>Southbound interfaces</vt:lpstr>
      <vt:lpstr>Northbound interface</vt:lpstr>
      <vt:lpstr>REST API</vt:lpstr>
      <vt:lpstr>Vendor and open-source SDN controllers </vt:lpstr>
      <vt:lpstr>Different SDN controllers available</vt:lpstr>
      <vt:lpstr>NOX: Overview</vt:lpstr>
      <vt:lpstr>POX: Overview</vt:lpstr>
      <vt:lpstr>Ryu</vt:lpstr>
      <vt:lpstr>Floodlight </vt:lpstr>
      <vt:lpstr>Open Daylight</vt:lpstr>
      <vt:lpstr>Other evolving existing controllers: LoxiGen</vt:lpstr>
      <vt:lpstr>Summary</vt:lpstr>
      <vt:lpstr>SDN standard</vt:lpstr>
      <vt:lpstr>Cisco – APIC (ACI)</vt:lpstr>
      <vt:lpstr>PowerPoint Presentation</vt:lpstr>
      <vt:lpstr>Juniper – Contrail / CN2</vt:lpstr>
      <vt:lpstr>VMware – NSX (NSX Manager / Controllers)</vt:lpstr>
      <vt:lpstr>Microsoft – Network Controller (Windows / Azure Stack HCI)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LYIT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lyit</dc:creator>
  <cp:lastModifiedBy>Saim Ghafoor</cp:lastModifiedBy>
  <cp:revision>81</cp:revision>
  <dcterms:created xsi:type="dcterms:W3CDTF">2014-10-06T13:03:33Z</dcterms:created>
  <dcterms:modified xsi:type="dcterms:W3CDTF">2025-09-29T12:13:47Z</dcterms:modified>
</cp:coreProperties>
</file>