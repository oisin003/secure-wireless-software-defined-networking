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43"/>
  </p:notesMasterIdLst>
  <p:sldIdLst>
    <p:sldId id="258" r:id="rId2"/>
    <p:sldId id="296" r:id="rId3"/>
    <p:sldId id="323" r:id="rId4"/>
    <p:sldId id="297" r:id="rId5"/>
    <p:sldId id="348" r:id="rId6"/>
    <p:sldId id="375" r:id="rId7"/>
    <p:sldId id="350" r:id="rId8"/>
    <p:sldId id="378" r:id="rId9"/>
    <p:sldId id="349" r:id="rId10"/>
    <p:sldId id="395" r:id="rId11"/>
    <p:sldId id="335" r:id="rId12"/>
    <p:sldId id="325" r:id="rId13"/>
    <p:sldId id="351" r:id="rId14"/>
    <p:sldId id="352" r:id="rId15"/>
    <p:sldId id="332" r:id="rId16"/>
    <p:sldId id="298" r:id="rId17"/>
    <p:sldId id="299" r:id="rId18"/>
    <p:sldId id="353" r:id="rId19"/>
    <p:sldId id="326" r:id="rId20"/>
    <p:sldId id="300" r:id="rId21"/>
    <p:sldId id="301" r:id="rId22"/>
    <p:sldId id="302" r:id="rId23"/>
    <p:sldId id="324" r:id="rId24"/>
    <p:sldId id="304" r:id="rId25"/>
    <p:sldId id="327" r:id="rId26"/>
    <p:sldId id="328" r:id="rId27"/>
    <p:sldId id="329" r:id="rId28"/>
    <p:sldId id="330" r:id="rId29"/>
    <p:sldId id="379" r:id="rId30"/>
    <p:sldId id="361" r:id="rId31"/>
    <p:sldId id="387" r:id="rId32"/>
    <p:sldId id="354" r:id="rId33"/>
    <p:sldId id="355" r:id="rId34"/>
    <p:sldId id="356" r:id="rId35"/>
    <p:sldId id="357" r:id="rId36"/>
    <p:sldId id="358" r:id="rId37"/>
    <p:sldId id="359" r:id="rId38"/>
    <p:sldId id="396" r:id="rId39"/>
    <p:sldId id="333" r:id="rId40"/>
    <p:sldId id="334" r:id="rId41"/>
    <p:sldId id="39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00B4B5-CAE0-4E3D-A46F-CD6BBB28D585}" v="1" dt="2025-10-05T19:44:13.9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m Ghafoor" userId="b484e196-97e0-4a37-9647-714f4ebb2ce2" providerId="ADAL" clId="{D2B1B9EF-7E32-4333-89A4-ACF65D59D0E9}"/>
    <pc:docChg chg="custSel modSld">
      <pc:chgData name="Saim Ghafoor" userId="b484e196-97e0-4a37-9647-714f4ebb2ce2" providerId="ADAL" clId="{D2B1B9EF-7E32-4333-89A4-ACF65D59D0E9}" dt="2024-10-07T06:51:50.602" v="55" actId="20577"/>
      <pc:docMkLst>
        <pc:docMk/>
      </pc:docMkLst>
      <pc:sldChg chg="modSp mod">
        <pc:chgData name="Saim Ghafoor" userId="b484e196-97e0-4a37-9647-714f4ebb2ce2" providerId="ADAL" clId="{D2B1B9EF-7E32-4333-89A4-ACF65D59D0E9}" dt="2024-10-06T15:01:44.648" v="14" actId="14100"/>
        <pc:sldMkLst>
          <pc:docMk/>
          <pc:sldMk cId="3634104737" sldId="299"/>
        </pc:sldMkLst>
      </pc:sldChg>
      <pc:sldChg chg="modSp mod">
        <pc:chgData name="Saim Ghafoor" userId="b484e196-97e0-4a37-9647-714f4ebb2ce2" providerId="ADAL" clId="{D2B1B9EF-7E32-4333-89A4-ACF65D59D0E9}" dt="2024-10-06T15:08:14.789" v="39" actId="33524"/>
        <pc:sldMkLst>
          <pc:docMk/>
          <pc:sldMk cId="154303710" sldId="328"/>
        </pc:sldMkLst>
      </pc:sldChg>
      <pc:sldChg chg="modSp mod">
        <pc:chgData name="Saim Ghafoor" userId="b484e196-97e0-4a37-9647-714f4ebb2ce2" providerId="ADAL" clId="{D2B1B9EF-7E32-4333-89A4-ACF65D59D0E9}" dt="2024-10-07T06:51:50.602" v="55" actId="20577"/>
        <pc:sldMkLst>
          <pc:docMk/>
          <pc:sldMk cId="2303879198" sldId="348"/>
        </pc:sldMkLst>
      </pc:sldChg>
    </pc:docChg>
  </pc:docChgLst>
  <pc:docChgLst>
    <pc:chgData name="Saim Ghafoor" userId="b484e196-97e0-4a37-9647-714f4ebb2ce2" providerId="ADAL" clId="{A700B4B5-CAE0-4E3D-A46F-CD6BBB28D585}"/>
    <pc:docChg chg="undo custSel addSld modSld">
      <pc:chgData name="Saim Ghafoor" userId="b484e196-97e0-4a37-9647-714f4ebb2ce2" providerId="ADAL" clId="{A700B4B5-CAE0-4E3D-A46F-CD6BBB28D585}" dt="2025-10-05T19:46:54.499" v="459" actId="20577"/>
      <pc:docMkLst>
        <pc:docMk/>
      </pc:docMkLst>
      <pc:sldChg chg="modSp mod">
        <pc:chgData name="Saim Ghafoor" userId="b484e196-97e0-4a37-9647-714f4ebb2ce2" providerId="ADAL" clId="{A700B4B5-CAE0-4E3D-A46F-CD6BBB28D585}" dt="2025-10-05T19:20:10.400" v="45" actId="20577"/>
        <pc:sldMkLst>
          <pc:docMk/>
          <pc:sldMk cId="1311664043" sldId="325"/>
        </pc:sldMkLst>
        <pc:spChg chg="mod">
          <ac:chgData name="Saim Ghafoor" userId="b484e196-97e0-4a37-9647-714f4ebb2ce2" providerId="ADAL" clId="{A700B4B5-CAE0-4E3D-A46F-CD6BBB28D585}" dt="2025-10-05T19:20:10.400" v="45" actId="20577"/>
          <ac:spMkLst>
            <pc:docMk/>
            <pc:sldMk cId="1311664043" sldId="325"/>
            <ac:spMk id="3" creationId="{6F4A46D3-1844-07B1-EC5E-49152E174537}"/>
          </ac:spMkLst>
        </pc:spChg>
      </pc:sldChg>
      <pc:sldChg chg="modSp mod">
        <pc:chgData name="Saim Ghafoor" userId="b484e196-97e0-4a37-9647-714f4ebb2ce2" providerId="ADAL" clId="{A700B4B5-CAE0-4E3D-A46F-CD6BBB28D585}" dt="2025-10-05T19:28:47.475" v="52" actId="20577"/>
        <pc:sldMkLst>
          <pc:docMk/>
          <pc:sldMk cId="154303710" sldId="328"/>
        </pc:sldMkLst>
        <pc:spChg chg="mod">
          <ac:chgData name="Saim Ghafoor" userId="b484e196-97e0-4a37-9647-714f4ebb2ce2" providerId="ADAL" clId="{A700B4B5-CAE0-4E3D-A46F-CD6BBB28D585}" dt="2025-10-05T19:28:47.475" v="52" actId="20577"/>
          <ac:spMkLst>
            <pc:docMk/>
            <pc:sldMk cId="154303710" sldId="328"/>
            <ac:spMk id="3" creationId="{96A828CA-4382-3F40-EDC8-74B8ABBD1F49}"/>
          </ac:spMkLst>
        </pc:spChg>
      </pc:sldChg>
      <pc:sldChg chg="modSp mod">
        <pc:chgData name="Saim Ghafoor" userId="b484e196-97e0-4a37-9647-714f4ebb2ce2" providerId="ADAL" clId="{A700B4B5-CAE0-4E3D-A46F-CD6BBB28D585}" dt="2025-10-05T19:29:26.839" v="64" actId="20577"/>
        <pc:sldMkLst>
          <pc:docMk/>
          <pc:sldMk cId="1960505251" sldId="329"/>
        </pc:sldMkLst>
        <pc:spChg chg="mod">
          <ac:chgData name="Saim Ghafoor" userId="b484e196-97e0-4a37-9647-714f4ebb2ce2" providerId="ADAL" clId="{A700B4B5-CAE0-4E3D-A46F-CD6BBB28D585}" dt="2025-10-05T19:29:26.839" v="64" actId="20577"/>
          <ac:spMkLst>
            <pc:docMk/>
            <pc:sldMk cId="1960505251" sldId="329"/>
            <ac:spMk id="3" creationId="{FC50AC05-A013-7138-2682-D2A1DCEFE8C2}"/>
          </ac:spMkLst>
        </pc:spChg>
      </pc:sldChg>
      <pc:sldChg chg="modSp mod">
        <pc:chgData name="Saim Ghafoor" userId="b484e196-97e0-4a37-9647-714f4ebb2ce2" providerId="ADAL" clId="{A700B4B5-CAE0-4E3D-A46F-CD6BBB28D585}" dt="2025-10-05T19:29:41.637" v="76" actId="20577"/>
        <pc:sldMkLst>
          <pc:docMk/>
          <pc:sldMk cId="3563377033" sldId="330"/>
        </pc:sldMkLst>
        <pc:spChg chg="mod">
          <ac:chgData name="Saim Ghafoor" userId="b484e196-97e0-4a37-9647-714f4ebb2ce2" providerId="ADAL" clId="{A700B4B5-CAE0-4E3D-A46F-CD6BBB28D585}" dt="2025-10-05T19:29:41.637" v="76" actId="20577"/>
          <ac:spMkLst>
            <pc:docMk/>
            <pc:sldMk cId="3563377033" sldId="330"/>
            <ac:spMk id="3" creationId="{32935F93-FBAE-D0EA-E50E-8121F044FFB2}"/>
          </ac:spMkLst>
        </pc:spChg>
      </pc:sldChg>
      <pc:sldChg chg="modSp mod">
        <pc:chgData name="Saim Ghafoor" userId="b484e196-97e0-4a37-9647-714f4ebb2ce2" providerId="ADAL" clId="{A700B4B5-CAE0-4E3D-A46F-CD6BBB28D585}" dt="2025-10-05T19:18:37.366" v="33" actId="20577"/>
        <pc:sldMkLst>
          <pc:docMk/>
          <pc:sldMk cId="3334265895" sldId="335"/>
        </pc:sldMkLst>
        <pc:spChg chg="mod">
          <ac:chgData name="Saim Ghafoor" userId="b484e196-97e0-4a37-9647-714f4ebb2ce2" providerId="ADAL" clId="{A700B4B5-CAE0-4E3D-A46F-CD6BBB28D585}" dt="2025-10-05T19:18:37.366" v="33" actId="20577"/>
          <ac:spMkLst>
            <pc:docMk/>
            <pc:sldMk cId="3334265895" sldId="335"/>
            <ac:spMk id="3" creationId="{FF5178CA-80B2-E6B2-D779-D29CB16C9D26}"/>
          </ac:spMkLst>
        </pc:spChg>
      </pc:sldChg>
      <pc:sldChg chg="modSp mod">
        <pc:chgData name="Saim Ghafoor" userId="b484e196-97e0-4a37-9647-714f4ebb2ce2" providerId="ADAL" clId="{A700B4B5-CAE0-4E3D-A46F-CD6BBB28D585}" dt="2025-10-05T19:13:40.051" v="16" actId="20577"/>
        <pc:sldMkLst>
          <pc:docMk/>
          <pc:sldMk cId="2303879198" sldId="348"/>
        </pc:sldMkLst>
        <pc:spChg chg="mod">
          <ac:chgData name="Saim Ghafoor" userId="b484e196-97e0-4a37-9647-714f4ebb2ce2" providerId="ADAL" clId="{A700B4B5-CAE0-4E3D-A46F-CD6BBB28D585}" dt="2025-10-05T19:13:40.051" v="16" actId="20577"/>
          <ac:spMkLst>
            <pc:docMk/>
            <pc:sldMk cId="2303879198" sldId="348"/>
            <ac:spMk id="3" creationId="{00000000-0000-0000-0000-000000000000}"/>
          </ac:spMkLst>
        </pc:spChg>
      </pc:sldChg>
      <pc:sldChg chg="modSp mod">
        <pc:chgData name="Saim Ghafoor" userId="b484e196-97e0-4a37-9647-714f4ebb2ce2" providerId="ADAL" clId="{A700B4B5-CAE0-4E3D-A46F-CD6BBB28D585}" dt="2025-10-05T19:22:32.192" v="50" actId="20577"/>
        <pc:sldMkLst>
          <pc:docMk/>
          <pc:sldMk cId="839742957" sldId="351"/>
        </pc:sldMkLst>
        <pc:spChg chg="mod">
          <ac:chgData name="Saim Ghafoor" userId="b484e196-97e0-4a37-9647-714f4ebb2ce2" providerId="ADAL" clId="{A700B4B5-CAE0-4E3D-A46F-CD6BBB28D585}" dt="2025-10-05T19:22:32.192" v="50" actId="20577"/>
          <ac:spMkLst>
            <pc:docMk/>
            <pc:sldMk cId="839742957" sldId="351"/>
            <ac:spMk id="6" creationId="{00000000-0000-0000-0000-000000000000}"/>
          </ac:spMkLst>
        </pc:spChg>
      </pc:sldChg>
      <pc:sldChg chg="modSp mod">
        <pc:chgData name="Saim Ghafoor" userId="b484e196-97e0-4a37-9647-714f4ebb2ce2" providerId="ADAL" clId="{A700B4B5-CAE0-4E3D-A46F-CD6BBB28D585}" dt="2025-10-05T19:13:55.670" v="17" actId="20577"/>
        <pc:sldMkLst>
          <pc:docMk/>
          <pc:sldMk cId="3422400227" sldId="375"/>
        </pc:sldMkLst>
        <pc:spChg chg="mod">
          <ac:chgData name="Saim Ghafoor" userId="b484e196-97e0-4a37-9647-714f4ebb2ce2" providerId="ADAL" clId="{A700B4B5-CAE0-4E3D-A46F-CD6BBB28D585}" dt="2025-10-05T19:13:55.670" v="17" actId="20577"/>
          <ac:spMkLst>
            <pc:docMk/>
            <pc:sldMk cId="3422400227" sldId="375"/>
            <ac:spMk id="3" creationId="{00000000-0000-0000-0000-000000000000}"/>
          </ac:spMkLst>
        </pc:spChg>
      </pc:sldChg>
      <pc:sldChg chg="modSp mod">
        <pc:chgData name="Saim Ghafoor" userId="b484e196-97e0-4a37-9647-714f4ebb2ce2" providerId="ADAL" clId="{A700B4B5-CAE0-4E3D-A46F-CD6BBB28D585}" dt="2025-10-05T19:36:11.537" v="85" actId="20577"/>
        <pc:sldMkLst>
          <pc:docMk/>
          <pc:sldMk cId="1538853546" sldId="396"/>
        </pc:sldMkLst>
        <pc:spChg chg="mod">
          <ac:chgData name="Saim Ghafoor" userId="b484e196-97e0-4a37-9647-714f4ebb2ce2" providerId="ADAL" clId="{A700B4B5-CAE0-4E3D-A46F-CD6BBB28D585}" dt="2025-10-05T19:36:11.537" v="85" actId="20577"/>
          <ac:spMkLst>
            <pc:docMk/>
            <pc:sldMk cId="1538853546" sldId="396"/>
            <ac:spMk id="3" creationId="{D16985B4-68A7-1FE7-EAAE-650C6522BA91}"/>
          </ac:spMkLst>
        </pc:spChg>
      </pc:sldChg>
      <pc:sldChg chg="modSp new mod">
        <pc:chgData name="Saim Ghafoor" userId="b484e196-97e0-4a37-9647-714f4ebb2ce2" providerId="ADAL" clId="{A700B4B5-CAE0-4E3D-A46F-CD6BBB28D585}" dt="2025-10-05T19:46:54.499" v="459" actId="20577"/>
        <pc:sldMkLst>
          <pc:docMk/>
          <pc:sldMk cId="1587662986" sldId="397"/>
        </pc:sldMkLst>
        <pc:spChg chg="mod">
          <ac:chgData name="Saim Ghafoor" userId="b484e196-97e0-4a37-9647-714f4ebb2ce2" providerId="ADAL" clId="{A700B4B5-CAE0-4E3D-A46F-CD6BBB28D585}" dt="2025-10-05T19:46:54.499" v="459" actId="20577"/>
          <ac:spMkLst>
            <pc:docMk/>
            <pc:sldMk cId="1587662986" sldId="397"/>
            <ac:spMk id="3" creationId="{F942CF61-883D-5BA9-3E82-10C3D497DC9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BE251D-97B3-4F06-8608-3B1ADED79B1C}" type="datetimeFigureOut">
              <a:rPr lang="en-IE" smtClean="0"/>
              <a:t>05/10/2025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49E036-CB38-4818-B98A-A61A334C2102}" type="slidenum">
              <a:rPr lang="en-IE" smtClean="0"/>
              <a:t>‹#›</a:t>
            </a:fld>
            <a:endParaRPr lang="en-IE"/>
          </a:p>
        </p:txBody>
      </p:sp>
    </p:spTree>
    <p:extLst>
      <p:ext uri="{BB962C8B-B14F-4D97-AF65-F5344CB8AC3E}">
        <p14:creationId xmlns:p14="http://schemas.microsoft.com/office/powerpoint/2010/main" val="100373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a:t>OpenFlow</a:t>
            </a:r>
            <a:r>
              <a:rPr lang="en-US" altLang="ko-KR" baseline="0" dirty="0"/>
              <a:t> </a:t>
            </a:r>
            <a:r>
              <a:rPr lang="en-US" altLang="ko-KR" dirty="0"/>
              <a:t>1.5</a:t>
            </a:r>
          </a:p>
          <a:p>
            <a:r>
              <a:rPr lang="en-US" altLang="ko-KR" dirty="0"/>
              <a:t>Egress table: In previous versions of the specification, all processing was done in the context of the input port.</a:t>
            </a:r>
          </a:p>
          <a:p>
            <a:r>
              <a:rPr lang="en-US" altLang="ko-KR" dirty="0"/>
              <a:t>Version 1.5 introduces Egress Tables, enabling processing to be done in the context of the output port</a:t>
            </a:r>
          </a:p>
          <a:p>
            <a:r>
              <a:rPr lang="en-US" altLang="ko-KR" dirty="0"/>
              <a:t>(EXT-306). When a packet is output to a port, it will start processing at the first egress table where</a:t>
            </a:r>
          </a:p>
          <a:p>
            <a:r>
              <a:rPr lang="en-US" altLang="ko-KR" dirty="0"/>
              <a:t>flow entries can define processing and redirect the packet to other egress tables.</a:t>
            </a:r>
          </a:p>
          <a:p>
            <a:endParaRPr lang="en-US" altLang="ko-KR" dirty="0"/>
          </a:p>
          <a:p>
            <a:r>
              <a:rPr lang="en-US" altLang="ko-KR" dirty="0"/>
              <a:t>Packet Type Aware Pipeline: In previous versions of the specification, all packets must be Ethernet packets. Version 1.5 introduces a packet aware pipeline, enabling processing of other types of packets, such as IP packets or PPP packets (EXT-112). A new OXM pipeline field identifies the packet type. The packet type is defined in an extensible manner, it uses multiple namespaces defined by other standard and allow experimenter packet types.</a:t>
            </a:r>
          </a:p>
          <a:p>
            <a:endParaRPr lang="en-US" altLang="ko-KR" dirty="0"/>
          </a:p>
          <a:p>
            <a:r>
              <a:rPr lang="en-US" altLang="ko-KR" dirty="0"/>
              <a:t>Flow Entry Statistic Trigger: Polling flow entry statistics can induce high overhead and utilization for the switch. A new statistics trigger mechanism enable statistics to be automatically sent to the controller based on various statistics thresholds.</a:t>
            </a:r>
          </a:p>
          <a:p>
            <a:endParaRPr lang="ko-KR" altLang="en-US" dirty="0"/>
          </a:p>
        </p:txBody>
      </p:sp>
      <p:sp>
        <p:nvSpPr>
          <p:cNvPr id="4" name="슬라이드 번호 개체 틀 3"/>
          <p:cNvSpPr>
            <a:spLocks noGrp="1"/>
          </p:cNvSpPr>
          <p:nvPr>
            <p:ph type="sldNum" sz="quarter" idx="10"/>
          </p:nvPr>
        </p:nvSpPr>
        <p:spPr/>
        <p:txBody>
          <a:bodyPr/>
          <a:lstStyle/>
          <a:p>
            <a:fld id="{84D8E0D0-ED37-47D0-A668-730BD6EF3151}" type="slidenum">
              <a:rPr lang="ko-KR" altLang="en-US" smtClean="0"/>
              <a:t>5</a:t>
            </a:fld>
            <a:endParaRPr lang="ko-KR" altLang="en-US"/>
          </a:p>
        </p:txBody>
      </p:sp>
    </p:spTree>
    <p:extLst>
      <p:ext uri="{BB962C8B-B14F-4D97-AF65-F5344CB8AC3E}">
        <p14:creationId xmlns:p14="http://schemas.microsoft.com/office/powerpoint/2010/main" val="1018388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84D8E0D0-ED37-47D0-A668-730BD6EF3151}" type="slidenum">
              <a:rPr lang="ko-KR" altLang="en-US" smtClean="0"/>
              <a:t>10</a:t>
            </a:fld>
            <a:endParaRPr lang="ko-KR" altLang="en-US"/>
          </a:p>
        </p:txBody>
      </p:sp>
    </p:spTree>
    <p:extLst>
      <p:ext uri="{BB962C8B-B14F-4D97-AF65-F5344CB8AC3E}">
        <p14:creationId xmlns:p14="http://schemas.microsoft.com/office/powerpoint/2010/main" val="192165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a:t>OpenFlow</a:t>
            </a:r>
            <a:r>
              <a:rPr lang="en-US" altLang="ko-KR" baseline="0" dirty="0"/>
              <a:t> Switch </a:t>
            </a:r>
            <a:r>
              <a:rPr lang="ko-KR" altLang="en-US" baseline="0" dirty="0"/>
              <a:t>포트의 </a:t>
            </a:r>
            <a:r>
              <a:rPr lang="en-US" altLang="ko-KR" baseline="0" dirty="0"/>
              <a:t>status </a:t>
            </a:r>
            <a:r>
              <a:rPr lang="ko-KR" altLang="en-US" baseline="0" dirty="0"/>
              <a:t>정보를 스위치에서 </a:t>
            </a:r>
            <a:r>
              <a:rPr lang="en-US" altLang="ko-KR" baseline="0" dirty="0"/>
              <a:t>Controller</a:t>
            </a:r>
            <a:r>
              <a:rPr lang="ko-KR" altLang="en-US" baseline="0" dirty="0"/>
              <a:t>에 보내면서 </a:t>
            </a:r>
            <a:r>
              <a:rPr lang="en-US" altLang="ko-KR" baseline="0" dirty="0"/>
              <a:t>Topology Discovery</a:t>
            </a:r>
            <a:r>
              <a:rPr lang="ko-KR" altLang="en-US" baseline="0" dirty="0"/>
              <a:t>가 이루어진다</a:t>
            </a:r>
            <a:r>
              <a:rPr lang="en-US" altLang="ko-KR" baseline="0" dirty="0"/>
              <a:t>.</a:t>
            </a:r>
          </a:p>
          <a:p>
            <a:pPr marL="228600" indent="-228600">
              <a:buAutoNum type="arabicPeriod"/>
            </a:pPr>
            <a:r>
              <a:rPr lang="ko-KR" altLang="en-US" baseline="0" dirty="0"/>
              <a:t>스위치의 포트가 </a:t>
            </a:r>
            <a:r>
              <a:rPr lang="en-US" altLang="ko-KR" baseline="0" dirty="0"/>
              <a:t>Down</a:t>
            </a:r>
            <a:r>
              <a:rPr lang="ko-KR" altLang="en-US" baseline="0" dirty="0"/>
              <a:t>에서 </a:t>
            </a:r>
            <a:r>
              <a:rPr lang="en-US" altLang="ko-KR" baseline="0" dirty="0"/>
              <a:t>Up</a:t>
            </a:r>
            <a:r>
              <a:rPr lang="ko-KR" altLang="en-US" baseline="0" dirty="0"/>
              <a:t>으로 변경된다</a:t>
            </a:r>
            <a:r>
              <a:rPr lang="en-US" altLang="ko-KR" baseline="0" dirty="0"/>
              <a:t>.</a:t>
            </a:r>
          </a:p>
          <a:p>
            <a:pPr marL="228600" indent="-228600">
              <a:buAutoNum type="arabicPeriod"/>
            </a:pPr>
            <a:r>
              <a:rPr lang="ko-KR" altLang="en-US" baseline="0" dirty="0"/>
              <a:t>이 포트의 변경 사항을 </a:t>
            </a:r>
            <a:r>
              <a:rPr lang="en-US" altLang="ko-KR" baseline="0" dirty="0"/>
              <a:t>Switch</a:t>
            </a:r>
            <a:r>
              <a:rPr lang="ko-KR" altLang="en-US" baseline="0" dirty="0"/>
              <a:t>에서 </a:t>
            </a:r>
            <a:r>
              <a:rPr lang="en-US" altLang="ko-KR" baseline="0" dirty="0"/>
              <a:t>Controller</a:t>
            </a:r>
            <a:r>
              <a:rPr lang="ko-KR" altLang="en-US" baseline="0" dirty="0"/>
              <a:t>에 보낸다</a:t>
            </a:r>
            <a:r>
              <a:rPr lang="en-US" altLang="ko-KR" baseline="0" dirty="0"/>
              <a:t>.</a:t>
            </a:r>
          </a:p>
          <a:p>
            <a:pPr marL="228600" indent="-228600">
              <a:buAutoNum type="arabicPeriod"/>
            </a:pPr>
            <a:r>
              <a:rPr lang="en-US" altLang="ko-KR" baseline="0" dirty="0"/>
              <a:t>Controller</a:t>
            </a:r>
            <a:r>
              <a:rPr lang="ko-KR" altLang="en-US" baseline="0" dirty="0"/>
              <a:t>는 </a:t>
            </a:r>
            <a:r>
              <a:rPr lang="en-US" altLang="ko-KR" baseline="0" dirty="0"/>
              <a:t>LLDP</a:t>
            </a:r>
            <a:r>
              <a:rPr lang="ko-KR" altLang="en-US" baseline="0" dirty="0"/>
              <a:t>가 </a:t>
            </a:r>
            <a:r>
              <a:rPr lang="en-US" altLang="ko-KR" baseline="0" dirty="0"/>
              <a:t>Switch</a:t>
            </a:r>
            <a:r>
              <a:rPr lang="ko-KR" altLang="en-US" baseline="0" dirty="0"/>
              <a:t>의 변경된 포트를 통해 전송되도록 </a:t>
            </a:r>
            <a:r>
              <a:rPr lang="en-US" altLang="ko-KR" baseline="0" dirty="0"/>
              <a:t>Packet Out Message</a:t>
            </a:r>
            <a:r>
              <a:rPr lang="ko-KR" altLang="en-US" baseline="0" dirty="0"/>
              <a:t>로 생성하여 전송한다</a:t>
            </a:r>
            <a:r>
              <a:rPr lang="en-US" altLang="ko-KR" baseline="0" dirty="0"/>
              <a:t>.</a:t>
            </a:r>
          </a:p>
          <a:p>
            <a:pPr marL="228600" indent="-228600">
              <a:buAutoNum type="arabicPeriod"/>
            </a:pPr>
            <a:r>
              <a:rPr lang="ko-KR" altLang="en-US" baseline="0" dirty="0"/>
              <a:t>이것을 수신한 </a:t>
            </a:r>
            <a:r>
              <a:rPr lang="en-US" altLang="ko-KR" baseline="0" dirty="0"/>
              <a:t>Switch</a:t>
            </a:r>
            <a:r>
              <a:rPr lang="ko-KR" altLang="en-US" baseline="0" dirty="0"/>
              <a:t>는 </a:t>
            </a:r>
            <a:r>
              <a:rPr lang="en-US" altLang="ko-KR" baseline="0" dirty="0"/>
              <a:t>Packet Out Message</a:t>
            </a:r>
            <a:r>
              <a:rPr lang="ko-KR" altLang="en-US" baseline="0" dirty="0"/>
              <a:t>에 담긴 </a:t>
            </a:r>
            <a:r>
              <a:rPr lang="en-US" altLang="ko-KR" baseline="0" dirty="0"/>
              <a:t>LLDP</a:t>
            </a:r>
            <a:r>
              <a:rPr lang="ko-KR" altLang="en-US" baseline="0" dirty="0"/>
              <a:t>를 인접한 </a:t>
            </a:r>
            <a:r>
              <a:rPr lang="en-US" altLang="ko-KR" baseline="0" dirty="0"/>
              <a:t>Switch</a:t>
            </a:r>
            <a:r>
              <a:rPr lang="ko-KR" altLang="en-US" baseline="0" dirty="0"/>
              <a:t>에 전달한다</a:t>
            </a:r>
            <a:r>
              <a:rPr lang="en-US" altLang="ko-KR" baseline="0" dirty="0"/>
              <a:t>.</a:t>
            </a:r>
          </a:p>
          <a:p>
            <a:pPr marL="228600" indent="-228600">
              <a:buAutoNum type="arabicPeriod"/>
            </a:pPr>
            <a:r>
              <a:rPr lang="en-US" altLang="ko-KR" baseline="0" dirty="0"/>
              <a:t>LLDP</a:t>
            </a:r>
            <a:r>
              <a:rPr lang="ko-KR" altLang="en-US" baseline="0" dirty="0"/>
              <a:t>를 받은 인접한 </a:t>
            </a:r>
            <a:r>
              <a:rPr lang="en-US" altLang="ko-KR" baseline="0" dirty="0"/>
              <a:t>Switch</a:t>
            </a:r>
            <a:r>
              <a:rPr lang="ko-KR" altLang="en-US" baseline="0" dirty="0"/>
              <a:t>는 해당 </a:t>
            </a:r>
            <a:r>
              <a:rPr lang="en-US" altLang="ko-KR" baseline="0" dirty="0"/>
              <a:t>LLDP</a:t>
            </a:r>
            <a:r>
              <a:rPr lang="ko-KR" altLang="en-US" baseline="0" dirty="0"/>
              <a:t>를 어떻게 처리해야 할지를 모르기 때문에 이 </a:t>
            </a:r>
            <a:r>
              <a:rPr lang="en-US" altLang="ko-KR" baseline="0" dirty="0"/>
              <a:t>Packet</a:t>
            </a:r>
            <a:r>
              <a:rPr lang="ko-KR" altLang="en-US" baseline="0" dirty="0"/>
              <a:t>을 </a:t>
            </a:r>
            <a:r>
              <a:rPr lang="en-US" altLang="ko-KR" baseline="0" dirty="0"/>
              <a:t>Controller</a:t>
            </a:r>
            <a:r>
              <a:rPr lang="ko-KR" altLang="en-US" baseline="0" dirty="0"/>
              <a:t>에 </a:t>
            </a:r>
            <a:r>
              <a:rPr lang="en-US" altLang="ko-KR" baseline="0" dirty="0"/>
              <a:t>Packet In Message </a:t>
            </a:r>
            <a:r>
              <a:rPr lang="ko-KR" altLang="en-US" baseline="0" dirty="0"/>
              <a:t>형태로 보낸다</a:t>
            </a:r>
            <a:r>
              <a:rPr lang="en-US" altLang="ko-KR" baseline="0" dirty="0"/>
              <a:t>.</a:t>
            </a:r>
          </a:p>
          <a:p>
            <a:pPr marL="228600" indent="-228600">
              <a:buAutoNum type="arabicPeriod"/>
            </a:pPr>
            <a:r>
              <a:rPr lang="en-US" altLang="ko-KR" baseline="0" dirty="0"/>
              <a:t>Controller</a:t>
            </a:r>
            <a:r>
              <a:rPr lang="ko-KR" altLang="en-US" baseline="0" dirty="0"/>
              <a:t>는 이를 통해 스위치 간 연결 정보를 확인한다</a:t>
            </a:r>
            <a:r>
              <a:rPr lang="en-US" altLang="ko-KR" baseline="0" dirty="0"/>
              <a:t>.</a:t>
            </a:r>
          </a:p>
          <a:p>
            <a:pPr marL="228600" indent="-228600">
              <a:buAutoNum type="arabicPeriod"/>
            </a:pPr>
            <a:endParaRPr lang="ko-KR" altLang="en-US" dirty="0"/>
          </a:p>
        </p:txBody>
      </p:sp>
      <p:sp>
        <p:nvSpPr>
          <p:cNvPr id="4" name="슬라이드 번호 개체 틀 3"/>
          <p:cNvSpPr>
            <a:spLocks noGrp="1"/>
          </p:cNvSpPr>
          <p:nvPr>
            <p:ph type="sldNum" sz="quarter" idx="10"/>
          </p:nvPr>
        </p:nvSpPr>
        <p:spPr/>
        <p:txBody>
          <a:bodyPr/>
          <a:lstStyle/>
          <a:p>
            <a:fld id="{84D8E0D0-ED37-47D0-A668-730BD6EF3151}" type="slidenum">
              <a:rPr lang="ko-KR" altLang="en-US" smtClean="0"/>
              <a:t>31</a:t>
            </a:fld>
            <a:endParaRPr lang="ko-KR" altLang="en-US"/>
          </a:p>
        </p:txBody>
      </p:sp>
    </p:spTree>
    <p:extLst>
      <p:ext uri="{BB962C8B-B14F-4D97-AF65-F5344CB8AC3E}">
        <p14:creationId xmlns:p14="http://schemas.microsoft.com/office/powerpoint/2010/main" val="2897606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E"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7453053A-3639-4F6C-B29A-6D46660A6CFE}" type="datetime1">
              <a:rPr lang="en-IE" smtClean="0"/>
              <a:t>05/10/2025</a:t>
            </a:fld>
            <a:endParaRPr lang="en-IE" dirty="0"/>
          </a:p>
        </p:txBody>
      </p:sp>
      <p:sp>
        <p:nvSpPr>
          <p:cNvPr id="5" name="Footer Placeholder 4"/>
          <p:cNvSpPr>
            <a:spLocks noGrp="1"/>
          </p:cNvSpPr>
          <p:nvPr>
            <p:ph type="ftr" sz="quarter" idx="11"/>
          </p:nvPr>
        </p:nvSpPr>
        <p:spPr/>
        <p:txBody>
          <a:bodyPr/>
          <a:lstStyle/>
          <a:p>
            <a:r>
              <a:rPr lang="en-US"/>
              <a:t>Department of Computing © Saim Ghafoor 2024</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832766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EB467EFF-735B-4AB2-8B2B-DC36E4D3C9DF}" type="datetime1">
              <a:rPr lang="en-IE" smtClean="0"/>
              <a:t>05/10/2025</a:t>
            </a:fld>
            <a:endParaRPr lang="en-IE"/>
          </a:p>
        </p:txBody>
      </p:sp>
      <p:sp>
        <p:nvSpPr>
          <p:cNvPr id="5" name="Footer Placeholder 4"/>
          <p:cNvSpPr>
            <a:spLocks noGrp="1"/>
          </p:cNvSpPr>
          <p:nvPr>
            <p:ph type="ftr" sz="quarter" idx="11"/>
          </p:nvPr>
        </p:nvSpPr>
        <p:spPr/>
        <p:txBody>
          <a:bodyPr/>
          <a:lstStyle/>
          <a:p>
            <a:r>
              <a:rPr lang="en-US"/>
              <a:t>Department of Computing © Saim Ghafoor 2024</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4203863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E"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52CF32-0EDE-434C-A4E5-8DE92B44F0CA}" type="datetime1">
              <a:rPr lang="en-IE" smtClean="0"/>
              <a:t>05/10/2025</a:t>
            </a:fld>
            <a:endParaRPr lang="en-IE"/>
          </a:p>
        </p:txBody>
      </p:sp>
      <p:sp>
        <p:nvSpPr>
          <p:cNvPr id="5" name="Footer Placeholder 4"/>
          <p:cNvSpPr>
            <a:spLocks noGrp="1"/>
          </p:cNvSpPr>
          <p:nvPr>
            <p:ph type="ftr" sz="quarter" idx="11"/>
          </p:nvPr>
        </p:nvSpPr>
        <p:spPr/>
        <p:txBody>
          <a:bodyPr/>
          <a:lstStyle/>
          <a:p>
            <a:r>
              <a:rPr lang="en-US"/>
              <a:t>Department of Computing © Saim Ghafoor 2024</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56537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BBE28BF7-67BC-4CDA-A36E-541DEE782591}" type="datetime1">
              <a:rPr lang="en-IE" smtClean="0"/>
              <a:t>05/10/2025</a:t>
            </a:fld>
            <a:endParaRPr lang="en-IE"/>
          </a:p>
        </p:txBody>
      </p:sp>
      <p:sp>
        <p:nvSpPr>
          <p:cNvPr id="6" name="Footer Placeholder 5"/>
          <p:cNvSpPr>
            <a:spLocks noGrp="1"/>
          </p:cNvSpPr>
          <p:nvPr>
            <p:ph type="ftr" sz="quarter" idx="11"/>
          </p:nvPr>
        </p:nvSpPr>
        <p:spPr/>
        <p:txBody>
          <a:bodyPr/>
          <a:lstStyle/>
          <a:p>
            <a:r>
              <a:rPr lang="en-US"/>
              <a:t>Department of Computing © Saim Ghafoor 2024</a:t>
            </a:r>
            <a:endParaRPr lang="en-IE" dirty="0"/>
          </a:p>
        </p:txBody>
      </p:sp>
      <p:sp>
        <p:nvSpPr>
          <p:cNvPr id="7" name="Slide Number Placeholder 6"/>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1813901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689317"/>
            <a:ext cx="10515600" cy="1001371"/>
          </a:xfrm>
        </p:spPr>
        <p:txBody>
          <a:bodyPr/>
          <a:lstStyle/>
          <a:p>
            <a:r>
              <a:rPr lang="en-US"/>
              <a:t>Click to edit Master title style</a:t>
            </a:r>
            <a:endParaRPr lang="en-I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242540AE-48E5-46E9-8964-A381E3E01C1C}" type="datetime1">
              <a:rPr lang="en-IE" smtClean="0"/>
              <a:t>05/10/2025</a:t>
            </a:fld>
            <a:endParaRPr lang="en-IE"/>
          </a:p>
        </p:txBody>
      </p:sp>
      <p:sp>
        <p:nvSpPr>
          <p:cNvPr id="8" name="Footer Placeholder 7"/>
          <p:cNvSpPr>
            <a:spLocks noGrp="1"/>
          </p:cNvSpPr>
          <p:nvPr>
            <p:ph type="ftr" sz="quarter" idx="11"/>
          </p:nvPr>
        </p:nvSpPr>
        <p:spPr/>
        <p:txBody>
          <a:bodyPr/>
          <a:lstStyle/>
          <a:p>
            <a:r>
              <a:rPr lang="en-US"/>
              <a:t>Department of Computing © Saim Ghafoor 2024</a:t>
            </a:r>
            <a:endParaRPr lang="en-IE" dirty="0"/>
          </a:p>
        </p:txBody>
      </p:sp>
      <p:sp>
        <p:nvSpPr>
          <p:cNvPr id="9" name="Slide Number Placeholder 8"/>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2058568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FFF77F13-0BDF-4433-B00D-1985843548B5}" type="datetime1">
              <a:rPr lang="en-IE" smtClean="0"/>
              <a:t>05/10/2025</a:t>
            </a:fld>
            <a:endParaRPr lang="en-IE"/>
          </a:p>
        </p:txBody>
      </p:sp>
      <p:sp>
        <p:nvSpPr>
          <p:cNvPr id="4" name="Footer Placeholder 3"/>
          <p:cNvSpPr>
            <a:spLocks noGrp="1"/>
          </p:cNvSpPr>
          <p:nvPr>
            <p:ph type="ftr" sz="quarter" idx="11"/>
          </p:nvPr>
        </p:nvSpPr>
        <p:spPr/>
        <p:txBody>
          <a:bodyPr/>
          <a:lstStyle/>
          <a:p>
            <a:r>
              <a:rPr lang="en-US"/>
              <a:t>Department of Computing © Saim Ghafoor 2024</a:t>
            </a:r>
            <a:endParaRPr lang="en-IE" dirty="0"/>
          </a:p>
        </p:txBody>
      </p:sp>
      <p:sp>
        <p:nvSpPr>
          <p:cNvPr id="5" name="Slide Number Placeholder 4"/>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732119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302193-DCEC-4FC3-ABED-9DBC585268FF}" type="datetime1">
              <a:rPr lang="en-IE" smtClean="0"/>
              <a:t>05/10/2025</a:t>
            </a:fld>
            <a:endParaRPr lang="en-IE"/>
          </a:p>
        </p:txBody>
      </p:sp>
      <p:sp>
        <p:nvSpPr>
          <p:cNvPr id="3" name="Footer Placeholder 2"/>
          <p:cNvSpPr>
            <a:spLocks noGrp="1"/>
          </p:cNvSpPr>
          <p:nvPr>
            <p:ph type="ftr" sz="quarter" idx="11"/>
          </p:nvPr>
        </p:nvSpPr>
        <p:spPr/>
        <p:txBody>
          <a:bodyPr/>
          <a:lstStyle/>
          <a:p>
            <a:r>
              <a:rPr lang="en-US"/>
              <a:t>Department of Computing © Saim Ghafoor 2024</a:t>
            </a:r>
            <a:endParaRPr lang="en-IE" dirty="0"/>
          </a:p>
        </p:txBody>
      </p:sp>
      <p:sp>
        <p:nvSpPr>
          <p:cNvPr id="4" name="Slide Number Placeholder 3"/>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399631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I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0D6B320-D643-48A4-A3C3-2872E3C70939}" type="datetime1">
              <a:rPr lang="en-IE" smtClean="0"/>
              <a:t>05/10/2025</a:t>
            </a:fld>
            <a:endParaRPr lang="en-IE"/>
          </a:p>
        </p:txBody>
      </p:sp>
      <p:sp>
        <p:nvSpPr>
          <p:cNvPr id="6" name="Footer Placeholder 5"/>
          <p:cNvSpPr>
            <a:spLocks noGrp="1"/>
          </p:cNvSpPr>
          <p:nvPr>
            <p:ph type="ftr" sz="quarter" idx="11"/>
          </p:nvPr>
        </p:nvSpPr>
        <p:spPr/>
        <p:txBody>
          <a:bodyPr/>
          <a:lstStyle/>
          <a:p>
            <a:r>
              <a:rPr lang="en-US"/>
              <a:t>Department of Computing © Saim Ghafoor 2024</a:t>
            </a:r>
            <a:endParaRPr lang="en-IE" dirty="0"/>
          </a:p>
        </p:txBody>
      </p:sp>
      <p:sp>
        <p:nvSpPr>
          <p:cNvPr id="7" name="Slide Number Placeholder 6"/>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1881443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I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7516F4-E565-4CB6-A245-8162CD654D53}" type="datetime1">
              <a:rPr lang="en-IE" smtClean="0"/>
              <a:t>05/10/2025</a:t>
            </a:fld>
            <a:endParaRPr lang="en-IE"/>
          </a:p>
        </p:txBody>
      </p:sp>
      <p:sp>
        <p:nvSpPr>
          <p:cNvPr id="6" name="Footer Placeholder 5"/>
          <p:cNvSpPr>
            <a:spLocks noGrp="1"/>
          </p:cNvSpPr>
          <p:nvPr>
            <p:ph type="ftr" sz="quarter" idx="11"/>
          </p:nvPr>
        </p:nvSpPr>
        <p:spPr/>
        <p:txBody>
          <a:bodyPr/>
          <a:lstStyle/>
          <a:p>
            <a:r>
              <a:rPr lang="en-US"/>
              <a:t>Department of Computing © Saim Ghafoor 2024</a:t>
            </a:r>
            <a:endParaRPr lang="en-IE" dirty="0"/>
          </a:p>
        </p:txBody>
      </p:sp>
      <p:sp>
        <p:nvSpPr>
          <p:cNvPr id="7" name="Slide Number Placeholder 6"/>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648759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ADB07371-D9FC-406B-A473-8EE72FE5DA02}" type="datetime1">
              <a:rPr lang="en-IE" smtClean="0"/>
              <a:t>05/10/2025</a:t>
            </a:fld>
            <a:endParaRPr lang="en-IE"/>
          </a:p>
        </p:txBody>
      </p:sp>
      <p:sp>
        <p:nvSpPr>
          <p:cNvPr id="5" name="Footer Placeholder 4"/>
          <p:cNvSpPr>
            <a:spLocks noGrp="1"/>
          </p:cNvSpPr>
          <p:nvPr>
            <p:ph type="ftr" sz="quarter" idx="11"/>
          </p:nvPr>
        </p:nvSpPr>
        <p:spPr/>
        <p:txBody>
          <a:bodyPr/>
          <a:lstStyle/>
          <a:p>
            <a:r>
              <a:rPr lang="en-US"/>
              <a:t>Department of Computing © Saim Ghafoor 2024</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104720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75249"/>
            <a:ext cx="2628900" cy="5501714"/>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838200" y="675249"/>
            <a:ext cx="7734300" cy="55017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24A0448E-9965-4642-9F4D-E2613492ACAB}" type="datetime1">
              <a:rPr lang="en-IE" smtClean="0"/>
              <a:t>05/10/2025</a:t>
            </a:fld>
            <a:endParaRPr lang="en-IE"/>
          </a:p>
        </p:txBody>
      </p:sp>
      <p:sp>
        <p:nvSpPr>
          <p:cNvPr id="5" name="Footer Placeholder 4"/>
          <p:cNvSpPr>
            <a:spLocks noGrp="1"/>
          </p:cNvSpPr>
          <p:nvPr>
            <p:ph type="ftr" sz="quarter" idx="11"/>
          </p:nvPr>
        </p:nvSpPr>
        <p:spPr/>
        <p:txBody>
          <a:bodyPr/>
          <a:lstStyle/>
          <a:p>
            <a:r>
              <a:rPr lang="en-US"/>
              <a:t>Department of Computing © Saim Ghafoor 2024</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2454958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758962"/>
            <a:ext cx="10515600" cy="931725"/>
          </a:xfrm>
          <a:prstGeom prst="rect">
            <a:avLst/>
          </a:prstGeom>
        </p:spPr>
        <p:txBody>
          <a:bodyPr vert="horz" lIns="91440" tIns="45720" rIns="91440" bIns="45720" rtlCol="0" anchor="ctr">
            <a:normAutofit/>
          </a:bodyPr>
          <a:lstStyle/>
          <a:p>
            <a:r>
              <a:rPr lang="en-US" dirty="0"/>
              <a:t>Click to edit Master title style</a:t>
            </a:r>
            <a:endParaRPr lang="en-IE"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fld id="{954EB184-4408-4DB1-B261-3813105C7069}" type="datetime1">
              <a:rPr lang="en-IE" smtClean="0"/>
              <a:t>05/10/2025</a:t>
            </a:fld>
            <a:endParaRPr lang="en-I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r>
              <a:rPr lang="en-US"/>
              <a:t>Department of Computing © Saim Ghafoor 2024</a:t>
            </a:r>
            <a:endParaRPr lang="en-IE"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4DADDF82-8990-4558-84CF-42B3CAB7C69C}" type="slidenum">
              <a:rPr lang="en-IE" smtClean="0"/>
              <a:pPr/>
              <a:t>‹#›</a:t>
            </a:fld>
            <a:endParaRPr lang="en-IE"/>
          </a:p>
        </p:txBody>
      </p:sp>
    </p:spTree>
    <p:extLst>
      <p:ext uri="{BB962C8B-B14F-4D97-AF65-F5344CB8AC3E}">
        <p14:creationId xmlns:p14="http://schemas.microsoft.com/office/powerpoint/2010/main" val="3869486882"/>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opennetworking.org/wp-content/uploads/2014/10/openflow-switch-v1.5.1.pdf"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internetassignednumbersauthority.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56520"/>
            <a:ext cx="9144000" cy="1376363"/>
          </a:xfrm>
        </p:spPr>
        <p:txBody>
          <a:bodyPr/>
          <a:lstStyle/>
          <a:p>
            <a:r>
              <a:rPr lang="en-IE" dirty="0"/>
              <a:t>SDN and WN security</a:t>
            </a:r>
          </a:p>
        </p:txBody>
      </p:sp>
      <p:sp>
        <p:nvSpPr>
          <p:cNvPr id="3" name="Subtitle 2"/>
          <p:cNvSpPr>
            <a:spLocks noGrp="1"/>
          </p:cNvSpPr>
          <p:nvPr>
            <p:ph type="subTitle" idx="1"/>
          </p:nvPr>
        </p:nvSpPr>
        <p:spPr>
          <a:xfrm>
            <a:off x="1524000" y="4079875"/>
            <a:ext cx="9144000" cy="1655762"/>
          </a:xfrm>
        </p:spPr>
        <p:txBody>
          <a:bodyPr>
            <a:normAutofit/>
          </a:bodyPr>
          <a:lstStyle/>
          <a:p>
            <a:r>
              <a:rPr lang="en-IE" dirty="0"/>
              <a:t>Lecture 4</a:t>
            </a:r>
          </a:p>
          <a:p>
            <a:r>
              <a:rPr lang="en-IE" dirty="0"/>
              <a:t>The control plane:</a:t>
            </a:r>
          </a:p>
          <a:p>
            <a:r>
              <a:rPr lang="en-IE" dirty="0"/>
              <a:t>Open Flow and controllers </a:t>
            </a:r>
          </a:p>
        </p:txBody>
      </p:sp>
      <p:sp>
        <p:nvSpPr>
          <p:cNvPr id="5" name="Subtitle 2"/>
          <p:cNvSpPr txBox="1">
            <a:spLocks/>
          </p:cNvSpPr>
          <p:nvPr/>
        </p:nvSpPr>
        <p:spPr>
          <a:xfrm>
            <a:off x="1524000" y="3032883"/>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E" dirty="0" err="1"/>
              <a:t>Saim</a:t>
            </a:r>
            <a:r>
              <a:rPr lang="en-IE" dirty="0"/>
              <a:t> </a:t>
            </a:r>
            <a:r>
              <a:rPr lang="en-IE" dirty="0" err="1"/>
              <a:t>Ghafoor</a:t>
            </a:r>
            <a:endParaRPr lang="en-IE" dirty="0"/>
          </a:p>
        </p:txBody>
      </p:sp>
    </p:spTree>
    <p:extLst>
      <p:ext uri="{BB962C8B-B14F-4D97-AF65-F5344CB8AC3E}">
        <p14:creationId xmlns:p14="http://schemas.microsoft.com/office/powerpoint/2010/main" val="979140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SDN operation</a:t>
            </a:r>
          </a:p>
        </p:txBody>
      </p:sp>
      <p:sp>
        <p:nvSpPr>
          <p:cNvPr id="3" name="Content Placeholder 2"/>
          <p:cNvSpPr>
            <a:spLocks noGrp="1"/>
          </p:cNvSpPr>
          <p:nvPr>
            <p:ph idx="1"/>
          </p:nvPr>
        </p:nvSpPr>
        <p:spPr/>
        <p:txBody>
          <a:bodyPr>
            <a:normAutofit/>
          </a:bodyPr>
          <a:lstStyle/>
          <a:p>
            <a:endParaRPr lang="en-IE" dirty="0"/>
          </a:p>
        </p:txBody>
      </p:sp>
      <p:pic>
        <p:nvPicPr>
          <p:cNvPr id="6" name="Picture 5">
            <a:extLst>
              <a:ext uri="{FF2B5EF4-FFF2-40B4-BE49-F238E27FC236}">
                <a16:creationId xmlns:a16="http://schemas.microsoft.com/office/drawing/2014/main" id="{AE1B98AD-D2EE-56AF-856A-241FAEB97CFB}"/>
              </a:ext>
            </a:extLst>
          </p:cNvPr>
          <p:cNvPicPr>
            <a:picLocks noChangeAspect="1"/>
          </p:cNvPicPr>
          <p:nvPr/>
        </p:nvPicPr>
        <p:blipFill>
          <a:blip r:embed="rId2"/>
          <a:stretch>
            <a:fillRect/>
          </a:stretch>
        </p:blipFill>
        <p:spPr>
          <a:xfrm>
            <a:off x="2179996" y="2201931"/>
            <a:ext cx="7345092" cy="3598726"/>
          </a:xfrm>
          <a:prstGeom prst="rect">
            <a:avLst/>
          </a:prstGeom>
        </p:spPr>
      </p:pic>
    </p:spTree>
    <p:extLst>
      <p:ext uri="{BB962C8B-B14F-4D97-AF65-F5344CB8AC3E}">
        <p14:creationId xmlns:p14="http://schemas.microsoft.com/office/powerpoint/2010/main" val="463403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03B88-1178-89AA-330B-12ED6B79BB7A}"/>
              </a:ext>
            </a:extLst>
          </p:cNvPr>
          <p:cNvSpPr>
            <a:spLocks noGrp="1"/>
          </p:cNvSpPr>
          <p:nvPr>
            <p:ph type="title"/>
          </p:nvPr>
        </p:nvSpPr>
        <p:spPr/>
        <p:txBody>
          <a:bodyPr/>
          <a:lstStyle/>
          <a:p>
            <a:r>
              <a:rPr lang="en-IE" dirty="0"/>
              <a:t>Switch components</a:t>
            </a:r>
          </a:p>
        </p:txBody>
      </p:sp>
      <p:sp>
        <p:nvSpPr>
          <p:cNvPr id="3" name="Content Placeholder 2">
            <a:extLst>
              <a:ext uri="{FF2B5EF4-FFF2-40B4-BE49-F238E27FC236}">
                <a16:creationId xmlns:a16="http://schemas.microsoft.com/office/drawing/2014/main" id="{F9DCB8B8-194A-D902-E1E3-08D7545A026A}"/>
              </a:ext>
            </a:extLst>
          </p:cNvPr>
          <p:cNvSpPr>
            <a:spLocks noGrp="1"/>
          </p:cNvSpPr>
          <p:nvPr>
            <p:ph idx="1"/>
          </p:nvPr>
        </p:nvSpPr>
        <p:spPr>
          <a:xfrm>
            <a:off x="838200" y="1825625"/>
            <a:ext cx="7664290" cy="4351338"/>
          </a:xfrm>
        </p:spPr>
        <p:txBody>
          <a:bodyPr>
            <a:normAutofit fontScale="92500"/>
          </a:bodyPr>
          <a:lstStyle/>
          <a:p>
            <a:r>
              <a:rPr lang="en-GB" dirty="0"/>
              <a:t>An OpenFlow Logical Switch consists of </a:t>
            </a:r>
          </a:p>
          <a:p>
            <a:pPr lvl="1"/>
            <a:r>
              <a:rPr lang="en-GB" dirty="0"/>
              <a:t>one or more flow tables and a group table, which perform packet lookups and forwarding, and </a:t>
            </a:r>
          </a:p>
          <a:p>
            <a:pPr lvl="1"/>
            <a:r>
              <a:rPr lang="en-GB" dirty="0"/>
              <a:t>one or more OpenFlow channels to an external controller. </a:t>
            </a:r>
          </a:p>
          <a:p>
            <a:r>
              <a:rPr lang="en-GB" dirty="0"/>
              <a:t>The switch communicates with the controller and the controller manages the switch via the OpenFlow switch protocol.</a:t>
            </a:r>
          </a:p>
          <a:p>
            <a:r>
              <a:rPr lang="en-GB" dirty="0"/>
              <a:t>Using the OpenFlow switch protocol, the controller can add, update, and delete ﬂow entries in ﬂow tables, both reactively (in response to packets) and proactively. </a:t>
            </a:r>
            <a:endParaRPr lang="en-IE" dirty="0"/>
          </a:p>
        </p:txBody>
      </p:sp>
      <p:pic>
        <p:nvPicPr>
          <p:cNvPr id="6" name="Picture 5">
            <a:extLst>
              <a:ext uri="{FF2B5EF4-FFF2-40B4-BE49-F238E27FC236}">
                <a16:creationId xmlns:a16="http://schemas.microsoft.com/office/drawing/2014/main" id="{535D4413-11B0-066B-C5A0-55C59495F64F}"/>
              </a:ext>
            </a:extLst>
          </p:cNvPr>
          <p:cNvPicPr>
            <a:picLocks noChangeAspect="1"/>
          </p:cNvPicPr>
          <p:nvPr/>
        </p:nvPicPr>
        <p:blipFill>
          <a:blip r:embed="rId2"/>
          <a:stretch>
            <a:fillRect/>
          </a:stretch>
        </p:blipFill>
        <p:spPr>
          <a:xfrm>
            <a:off x="8502490" y="225117"/>
            <a:ext cx="3405295" cy="2931140"/>
          </a:xfrm>
          <a:prstGeom prst="rect">
            <a:avLst/>
          </a:prstGeom>
        </p:spPr>
      </p:pic>
    </p:spTree>
    <p:extLst>
      <p:ext uri="{BB962C8B-B14F-4D97-AF65-F5344CB8AC3E}">
        <p14:creationId xmlns:p14="http://schemas.microsoft.com/office/powerpoint/2010/main" val="1695145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29307-FB5D-3F78-BBFD-F30200E88B0A}"/>
              </a:ext>
            </a:extLst>
          </p:cNvPr>
          <p:cNvSpPr>
            <a:spLocks noGrp="1"/>
          </p:cNvSpPr>
          <p:nvPr>
            <p:ph type="title"/>
          </p:nvPr>
        </p:nvSpPr>
        <p:spPr/>
        <p:txBody>
          <a:bodyPr/>
          <a:lstStyle/>
          <a:p>
            <a:r>
              <a:rPr lang="en-IE" dirty="0"/>
              <a:t>OpenFlow Protocol Specification</a:t>
            </a:r>
          </a:p>
        </p:txBody>
      </p:sp>
      <p:sp>
        <p:nvSpPr>
          <p:cNvPr id="3" name="Content Placeholder 2">
            <a:extLst>
              <a:ext uri="{FF2B5EF4-FFF2-40B4-BE49-F238E27FC236}">
                <a16:creationId xmlns:a16="http://schemas.microsoft.com/office/drawing/2014/main" id="{080328D9-0923-8181-0DBF-E424FE40F2E1}"/>
              </a:ext>
            </a:extLst>
          </p:cNvPr>
          <p:cNvSpPr>
            <a:spLocks noGrp="1"/>
          </p:cNvSpPr>
          <p:nvPr>
            <p:ph idx="1"/>
          </p:nvPr>
        </p:nvSpPr>
        <p:spPr/>
        <p:txBody>
          <a:bodyPr>
            <a:normAutofit lnSpcReduction="10000"/>
          </a:bodyPr>
          <a:lstStyle/>
          <a:p>
            <a:r>
              <a:rPr lang="en-IE" dirty="0"/>
              <a:t>OpenFlow allows controller to talk to the OF switch using a secure channel</a:t>
            </a:r>
          </a:p>
          <a:p>
            <a:r>
              <a:rPr lang="en-IE" dirty="0"/>
              <a:t>OF protocol instructs the OF switch to update its flow table entries to take different actions on various traffic flows that pass through the switch.</a:t>
            </a:r>
          </a:p>
          <a:p>
            <a:r>
              <a:rPr lang="en-IE" dirty="0"/>
              <a:t>The purpose of the control channel is to update flow table and all the logic, how the flow table entries are updated. </a:t>
            </a:r>
          </a:p>
          <a:p>
            <a:r>
              <a:rPr lang="en-IE" dirty="0"/>
              <a:t>OpenFlow controller communicates with switch over a secure channel</a:t>
            </a:r>
          </a:p>
          <a:p>
            <a:pPr lvl="1"/>
            <a:r>
              <a:rPr lang="en-IE" dirty="0"/>
              <a:t>OpenFlow protocol defines message format</a:t>
            </a:r>
          </a:p>
          <a:p>
            <a:pPr lvl="1"/>
            <a:r>
              <a:rPr lang="en-IE" dirty="0"/>
              <a:t>Purpose of control channel: update flow table</a:t>
            </a:r>
          </a:p>
          <a:p>
            <a:pPr lvl="1"/>
            <a:r>
              <a:rPr lang="en-IE" dirty="0"/>
              <a:t>Logic is executed at controller</a:t>
            </a:r>
          </a:p>
        </p:txBody>
      </p:sp>
      <p:pic>
        <p:nvPicPr>
          <p:cNvPr id="6" name="Picture 5">
            <a:extLst>
              <a:ext uri="{FF2B5EF4-FFF2-40B4-BE49-F238E27FC236}">
                <a16:creationId xmlns:a16="http://schemas.microsoft.com/office/drawing/2014/main" id="{0A6D779C-864F-C7CE-0B8C-6F07B907375E}"/>
              </a:ext>
            </a:extLst>
          </p:cNvPr>
          <p:cNvPicPr>
            <a:picLocks noChangeAspect="1"/>
          </p:cNvPicPr>
          <p:nvPr/>
        </p:nvPicPr>
        <p:blipFill>
          <a:blip r:embed="rId2"/>
          <a:stretch>
            <a:fillRect/>
          </a:stretch>
        </p:blipFill>
        <p:spPr>
          <a:xfrm>
            <a:off x="8570283" y="5084485"/>
            <a:ext cx="2783517" cy="1773515"/>
          </a:xfrm>
          <a:prstGeom prst="rect">
            <a:avLst/>
          </a:prstGeom>
        </p:spPr>
      </p:pic>
      <p:sp>
        <p:nvSpPr>
          <p:cNvPr id="7" name="TextBox 6">
            <a:extLst>
              <a:ext uri="{FF2B5EF4-FFF2-40B4-BE49-F238E27FC236}">
                <a16:creationId xmlns:a16="http://schemas.microsoft.com/office/drawing/2014/main" id="{06A692C7-5552-DD3E-72D6-28A3A6B59398}"/>
              </a:ext>
            </a:extLst>
          </p:cNvPr>
          <p:cNvSpPr txBox="1"/>
          <p:nvPr/>
        </p:nvSpPr>
        <p:spPr>
          <a:xfrm>
            <a:off x="320778" y="6176963"/>
            <a:ext cx="6098458" cy="646331"/>
          </a:xfrm>
          <a:prstGeom prst="rect">
            <a:avLst/>
          </a:prstGeom>
          <a:noFill/>
        </p:spPr>
        <p:txBody>
          <a:bodyPr wrap="square">
            <a:spAutoFit/>
          </a:bodyPr>
          <a:lstStyle/>
          <a:p>
            <a:r>
              <a:rPr lang="en-IE" dirty="0">
                <a:hlinkClick r:id="rId3"/>
              </a:rPr>
              <a:t>https://opennetworking.org/wp-content/uploads/2014/10/openflow-switch-v1.5.1.pdf</a:t>
            </a:r>
            <a:r>
              <a:rPr lang="en-IE" dirty="0"/>
              <a:t> </a:t>
            </a:r>
          </a:p>
        </p:txBody>
      </p:sp>
    </p:spTree>
    <p:extLst>
      <p:ext uri="{BB962C8B-B14F-4D97-AF65-F5344CB8AC3E}">
        <p14:creationId xmlns:p14="http://schemas.microsoft.com/office/powerpoint/2010/main" val="4081540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171996" y="-38862"/>
            <a:ext cx="10515600" cy="931725"/>
          </a:xfrm>
        </p:spPr>
        <p:txBody>
          <a:bodyPr/>
          <a:lstStyle/>
          <a:p>
            <a:r>
              <a:rPr lang="en-US" altLang="ko-KR" dirty="0"/>
              <a:t>SDN vs. </a:t>
            </a:r>
            <a:r>
              <a:rPr lang="en-US" altLang="ko-KR" dirty="0" err="1"/>
              <a:t>OpenFlow</a:t>
            </a:r>
            <a:endParaRPr lang="ko-KR" altLang="en-US" dirty="0"/>
          </a:p>
        </p:txBody>
      </p:sp>
      <p:sp>
        <p:nvSpPr>
          <p:cNvPr id="3" name="내용 개체 틀 2"/>
          <p:cNvSpPr>
            <a:spLocks noGrp="1"/>
          </p:cNvSpPr>
          <p:nvPr>
            <p:ph idx="1"/>
          </p:nvPr>
        </p:nvSpPr>
        <p:spPr>
          <a:xfrm>
            <a:off x="1135626" y="954861"/>
            <a:ext cx="9756661" cy="3281579"/>
          </a:xfrm>
        </p:spPr>
        <p:txBody>
          <a:bodyPr>
            <a:noAutofit/>
          </a:bodyPr>
          <a:lstStyle/>
          <a:p>
            <a:r>
              <a:rPr lang="en-US" altLang="ko-KR" sz="2400" dirty="0"/>
              <a:t>ONF Definition</a:t>
            </a:r>
          </a:p>
          <a:p>
            <a:pPr lvl="1"/>
            <a:r>
              <a:rPr lang="en-US" altLang="ko-KR" sz="2000" dirty="0"/>
              <a:t>SDN performs Software Defined Forwarding</a:t>
            </a:r>
          </a:p>
          <a:p>
            <a:pPr lvl="2"/>
            <a:r>
              <a:rPr lang="en-US" altLang="ko-KR" sz="1600" dirty="0"/>
              <a:t>Controls data forwarding through the open API </a:t>
            </a:r>
          </a:p>
          <a:p>
            <a:pPr lvl="1"/>
            <a:r>
              <a:rPr lang="en-US" altLang="ko-KR" sz="2000" dirty="0"/>
              <a:t>SDN provides Management Abstraction</a:t>
            </a:r>
          </a:p>
          <a:p>
            <a:pPr lvl="2"/>
            <a:r>
              <a:rPr lang="en-US" altLang="ko-KR" sz="1600" dirty="0"/>
              <a:t>Can make more advanced applications </a:t>
            </a:r>
            <a:endParaRPr lang="en-US" altLang="ko-KR" sz="2400" dirty="0"/>
          </a:p>
          <a:p>
            <a:r>
              <a:rPr lang="en-US" altLang="ko-KR" sz="2400" dirty="0"/>
              <a:t>Currently implemented with </a:t>
            </a:r>
            <a:r>
              <a:rPr lang="en-US" altLang="ko-KR" sz="2400" dirty="0" err="1"/>
              <a:t>OpenFlow</a:t>
            </a:r>
            <a:endParaRPr lang="en-US" altLang="ko-KR" sz="2400" dirty="0"/>
          </a:p>
          <a:p>
            <a:r>
              <a:rPr lang="en-US" altLang="ko-KR" sz="2400" dirty="0" err="1"/>
              <a:t>OpenFlow</a:t>
            </a:r>
            <a:r>
              <a:rPr lang="en-US" altLang="ko-KR" sz="2400" dirty="0"/>
              <a:t> is misunderstood to be equivalent to SDN</a:t>
            </a:r>
          </a:p>
          <a:p>
            <a:pPr lvl="1"/>
            <a:r>
              <a:rPr lang="en-US" altLang="ko-KR" sz="2000" dirty="0"/>
              <a:t>No requirement for the use of </a:t>
            </a:r>
            <a:r>
              <a:rPr lang="en-US" altLang="ko-KR" sz="2000" dirty="0" err="1"/>
              <a:t>OpenFlow</a:t>
            </a:r>
            <a:r>
              <a:rPr lang="en-US" altLang="ko-KR" sz="2000" dirty="0"/>
              <a:t> within an SDN</a:t>
            </a:r>
          </a:p>
          <a:p>
            <a:pPr lvl="1"/>
            <a:r>
              <a:rPr lang="en-US" altLang="ko-KR" sz="2000" dirty="0"/>
              <a:t>OpenFlow is one of the SDN protocols, but most popular </a:t>
            </a:r>
          </a:p>
          <a:p>
            <a:pPr lvl="1"/>
            <a:endParaRPr lang="ko-KR" altLang="en-US" sz="2000" dirty="0"/>
          </a:p>
        </p:txBody>
      </p:sp>
      <p:grpSp>
        <p:nvGrpSpPr>
          <p:cNvPr id="4" name="그룹 3"/>
          <p:cNvGrpSpPr/>
          <p:nvPr/>
        </p:nvGrpSpPr>
        <p:grpSpPr>
          <a:xfrm>
            <a:off x="7577280" y="489683"/>
            <a:ext cx="4236178" cy="2459994"/>
            <a:chOff x="1687925" y="3717032"/>
            <a:chExt cx="5579998" cy="3028559"/>
          </a:xfrm>
        </p:grpSpPr>
        <p:pic>
          <p:nvPicPr>
            <p:cNvPr id="5" name="그림 4" descr="sdn.jpg"/>
            <p:cNvPicPr/>
            <p:nvPr/>
          </p:nvPicPr>
          <p:blipFill>
            <a:blip r:embed="rId3" cstate="print"/>
            <a:stretch>
              <a:fillRect/>
            </a:stretch>
          </p:blipFill>
          <p:spPr>
            <a:xfrm>
              <a:off x="2231740" y="3717032"/>
              <a:ext cx="4428492" cy="2808312"/>
            </a:xfrm>
            <a:prstGeom prst="rect">
              <a:avLst/>
            </a:prstGeom>
          </p:spPr>
        </p:pic>
        <p:sp>
          <p:nvSpPr>
            <p:cNvPr id="6" name="Rectangle 9"/>
            <p:cNvSpPr>
              <a:spLocks/>
            </p:cNvSpPr>
            <p:nvPr/>
          </p:nvSpPr>
          <p:spPr bwMode="auto">
            <a:xfrm>
              <a:off x="2447765" y="6489340"/>
              <a:ext cx="3996443" cy="256251"/>
            </a:xfrm>
            <a:prstGeom prst="rect">
              <a:avLst/>
            </a:prstGeom>
            <a:noFill/>
            <a:ln w="12700">
              <a:noFill/>
              <a:miter lim="800000"/>
              <a:headEnd/>
              <a:tailEnd/>
            </a:ln>
          </p:spPr>
          <p:txBody>
            <a:bodyPr wrap="square" lIns="0" tIns="0" rIns="41464" bIns="0">
              <a:spAutoFit/>
            </a:bodyPr>
            <a:lstStyle/>
            <a:p>
              <a:pPr marL="41275" algn="ctr"/>
              <a:r>
                <a:rPr lang="en-US" altLang="ko-KR" sz="1050" dirty="0">
                  <a:latin typeface="Calibri" charset="0"/>
                  <a:sym typeface="Gill Sans" charset="0"/>
                </a:rPr>
                <a:t>Logical View of SDN architecture</a:t>
              </a:r>
            </a:p>
          </p:txBody>
        </p:sp>
        <p:sp>
          <p:nvSpPr>
            <p:cNvPr id="7" name="모서리가 둥근 사각형 설명선 6"/>
            <p:cNvSpPr/>
            <p:nvPr/>
          </p:nvSpPr>
          <p:spPr>
            <a:xfrm>
              <a:off x="6444208" y="5391282"/>
              <a:ext cx="823715" cy="539996"/>
            </a:xfrm>
            <a:prstGeom prst="wedgeRoundRectCallout">
              <a:avLst>
                <a:gd name="adj1" fmla="val -97682"/>
                <a:gd name="adj2" fmla="val 50460"/>
                <a:gd name="adj3" fmla="val 16667"/>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ko-KR" sz="1100" dirty="0">
                  <a:solidFill>
                    <a:schemeClr val="accent6">
                      <a:lumMod val="75000"/>
                    </a:schemeClr>
                  </a:solidFill>
                  <a:latin typeface="Arial" panose="020B0604020202020204" pitchFamily="34" charset="0"/>
                  <a:cs typeface="Arial" panose="020B0604020202020204" pitchFamily="34" charset="0"/>
                </a:rPr>
                <a:t>Simplify</a:t>
              </a:r>
              <a:endParaRPr lang="ko-KR" altLang="en-US" sz="1100" dirty="0">
                <a:solidFill>
                  <a:schemeClr val="accent6">
                    <a:lumMod val="75000"/>
                  </a:schemeClr>
                </a:solidFill>
                <a:latin typeface="Arial" panose="020B0604020202020204" pitchFamily="34" charset="0"/>
                <a:cs typeface="Arial" panose="020B0604020202020204" pitchFamily="34" charset="0"/>
              </a:endParaRPr>
            </a:p>
          </p:txBody>
        </p:sp>
        <p:sp>
          <p:nvSpPr>
            <p:cNvPr id="8" name="모서리가 둥근 사각형 설명선 7"/>
            <p:cNvSpPr/>
            <p:nvPr/>
          </p:nvSpPr>
          <p:spPr>
            <a:xfrm>
              <a:off x="1687925" y="4872426"/>
              <a:ext cx="1875962" cy="752818"/>
            </a:xfrm>
            <a:prstGeom prst="wedgeRoundRectCallout">
              <a:avLst>
                <a:gd name="adj1" fmla="val 124117"/>
                <a:gd name="adj2" fmla="val 40415"/>
                <a:gd name="adj3" fmla="val 16667"/>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ko-KR" sz="1100" dirty="0">
                  <a:solidFill>
                    <a:schemeClr val="accent6">
                      <a:lumMod val="75000"/>
                    </a:schemeClr>
                  </a:solidFill>
                  <a:latin typeface="Arial" panose="020B0604020202020204" pitchFamily="34" charset="0"/>
                  <a:cs typeface="Arial" panose="020B0604020202020204" pitchFamily="34" charset="0"/>
                </a:rPr>
                <a:t>Vendor  independent control…</a:t>
              </a:r>
              <a:endParaRPr lang="ko-KR" altLang="en-US" sz="1100" dirty="0">
                <a:solidFill>
                  <a:schemeClr val="accent6">
                    <a:lumMod val="75000"/>
                  </a:schemeClr>
                </a:solidFill>
                <a:latin typeface="Arial" panose="020B0604020202020204" pitchFamily="34" charset="0"/>
                <a:cs typeface="Arial" panose="020B0604020202020204" pitchFamily="34" charset="0"/>
              </a:endParaRPr>
            </a:p>
          </p:txBody>
        </p:sp>
      </p:grpSp>
      <p:graphicFrame>
        <p:nvGraphicFramePr>
          <p:cNvPr id="9" name="표 8"/>
          <p:cNvGraphicFramePr>
            <a:graphicFrameLocks noGrp="1"/>
          </p:cNvGraphicFramePr>
          <p:nvPr/>
        </p:nvGraphicFramePr>
        <p:xfrm>
          <a:off x="2462328" y="4298493"/>
          <a:ext cx="8078081" cy="1970890"/>
        </p:xfrm>
        <a:graphic>
          <a:graphicData uri="http://schemas.openxmlformats.org/drawingml/2006/table">
            <a:tbl>
              <a:tblPr firstRow="1" bandRow="1">
                <a:tableStyleId>{F5AB1C69-6EDB-4FF4-983F-18BD219EF322}</a:tableStyleId>
              </a:tblPr>
              <a:tblGrid>
                <a:gridCol w="1188185">
                  <a:extLst>
                    <a:ext uri="{9D8B030D-6E8A-4147-A177-3AD203B41FA5}">
                      <a16:colId xmlns:a16="http://schemas.microsoft.com/office/drawing/2014/main" val="20000"/>
                    </a:ext>
                  </a:extLst>
                </a:gridCol>
                <a:gridCol w="808074">
                  <a:extLst>
                    <a:ext uri="{9D8B030D-6E8A-4147-A177-3AD203B41FA5}">
                      <a16:colId xmlns:a16="http://schemas.microsoft.com/office/drawing/2014/main" val="20001"/>
                    </a:ext>
                  </a:extLst>
                </a:gridCol>
                <a:gridCol w="4359349">
                  <a:extLst>
                    <a:ext uri="{9D8B030D-6E8A-4147-A177-3AD203B41FA5}">
                      <a16:colId xmlns:a16="http://schemas.microsoft.com/office/drawing/2014/main" val="20002"/>
                    </a:ext>
                  </a:extLst>
                </a:gridCol>
                <a:gridCol w="1722473">
                  <a:extLst>
                    <a:ext uri="{9D8B030D-6E8A-4147-A177-3AD203B41FA5}">
                      <a16:colId xmlns:a16="http://schemas.microsoft.com/office/drawing/2014/main" val="20003"/>
                    </a:ext>
                  </a:extLst>
                </a:gridCol>
              </a:tblGrid>
              <a:tr h="0">
                <a:tc>
                  <a:txBody>
                    <a:bodyPr/>
                    <a:lstStyle/>
                    <a:p>
                      <a:pPr algn="ctr" latinLnBrk="1"/>
                      <a:r>
                        <a:rPr lang="en-US" altLang="ko-KR" sz="1200" dirty="0">
                          <a:latin typeface="Arial" panose="020B0604020202020204" pitchFamily="34" charset="0"/>
                          <a:cs typeface="Arial" panose="020B0604020202020204" pitchFamily="34" charset="0"/>
                        </a:rPr>
                        <a:t>Version</a:t>
                      </a:r>
                      <a:endParaRPr lang="ko-KR" altLang="en-US" sz="1200" dirty="0">
                        <a:latin typeface="Arial" panose="020B0604020202020204" pitchFamily="34" charset="0"/>
                        <a:cs typeface="Arial" panose="020B0604020202020204" pitchFamily="34" charset="0"/>
                      </a:endParaRPr>
                    </a:p>
                  </a:txBody>
                  <a:tcPr/>
                </a:tc>
                <a:tc>
                  <a:txBody>
                    <a:bodyPr/>
                    <a:lstStyle/>
                    <a:p>
                      <a:pPr algn="ctr" latinLnBrk="1"/>
                      <a:r>
                        <a:rPr lang="en-US" altLang="ko-KR" sz="1200" dirty="0">
                          <a:latin typeface="Arial" panose="020B0604020202020204" pitchFamily="34" charset="0"/>
                          <a:cs typeface="Arial" panose="020B0604020202020204" pitchFamily="34" charset="0"/>
                        </a:rPr>
                        <a:t>Date</a:t>
                      </a:r>
                      <a:endParaRPr lang="ko-KR" altLang="en-US" sz="1200" dirty="0">
                        <a:latin typeface="Arial" panose="020B0604020202020204" pitchFamily="34" charset="0"/>
                        <a:cs typeface="Arial" panose="020B0604020202020204" pitchFamily="34" charset="0"/>
                      </a:endParaRPr>
                    </a:p>
                  </a:txBody>
                  <a:tcPr/>
                </a:tc>
                <a:tc>
                  <a:txBody>
                    <a:bodyPr/>
                    <a:lstStyle/>
                    <a:p>
                      <a:pPr algn="ctr" latinLnBrk="1"/>
                      <a:r>
                        <a:rPr lang="en-US" altLang="ko-KR" sz="1200" dirty="0">
                          <a:latin typeface="Arial" panose="020B0604020202020204" pitchFamily="34" charset="0"/>
                          <a:cs typeface="Arial" panose="020B0604020202020204" pitchFamily="34" charset="0"/>
                        </a:rPr>
                        <a:t>Characteristics</a:t>
                      </a:r>
                      <a:endParaRPr lang="ko-KR" altLang="en-US" sz="1200" dirty="0">
                        <a:latin typeface="Arial" panose="020B0604020202020204" pitchFamily="34" charset="0"/>
                        <a:cs typeface="Arial" panose="020B0604020202020204" pitchFamily="34" charset="0"/>
                      </a:endParaRPr>
                    </a:p>
                  </a:txBody>
                  <a:tcPr/>
                </a:tc>
                <a:tc>
                  <a:txBody>
                    <a:bodyPr/>
                    <a:lstStyle/>
                    <a:p>
                      <a:pPr algn="ctr" latinLnBrk="1"/>
                      <a:r>
                        <a:rPr lang="en-US" altLang="ko-KR" sz="1200" dirty="0">
                          <a:latin typeface="Arial" panose="020B0604020202020204" pitchFamily="34" charset="0"/>
                          <a:cs typeface="Arial" panose="020B0604020202020204" pitchFamily="34" charset="0"/>
                        </a:rPr>
                        <a:t>Organization</a:t>
                      </a:r>
                      <a:endParaRPr lang="ko-KR" alt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166469">
                <a:tc>
                  <a:txBody>
                    <a:bodyPr/>
                    <a:lstStyle/>
                    <a:p>
                      <a:pPr latinLnBrk="1"/>
                      <a:r>
                        <a:rPr lang="en-US" altLang="ko-KR" sz="1200" dirty="0">
                          <a:latin typeface="Arial" panose="020B0604020202020204" pitchFamily="34" charset="0"/>
                          <a:cs typeface="Arial" panose="020B0604020202020204" pitchFamily="34" charset="0"/>
                        </a:rPr>
                        <a:t>OpenFlow 1.0</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2009.12</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MAC, IPv4, single flow</a:t>
                      </a:r>
                      <a:r>
                        <a:rPr lang="en-US" altLang="ko-KR" sz="1200" baseline="0" dirty="0">
                          <a:latin typeface="Arial" panose="020B0604020202020204" pitchFamily="34" charset="0"/>
                          <a:cs typeface="Arial" panose="020B0604020202020204" pitchFamily="34" charset="0"/>
                        </a:rPr>
                        <a:t> </a:t>
                      </a:r>
                      <a:r>
                        <a:rPr lang="en-US" altLang="ko-KR" sz="1200" dirty="0">
                          <a:latin typeface="Arial" panose="020B0604020202020204" pitchFamily="34" charset="0"/>
                          <a:cs typeface="Arial" panose="020B0604020202020204" pitchFamily="34" charset="0"/>
                        </a:rPr>
                        <a:t>table</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OpenFlow Consortium</a:t>
                      </a:r>
                      <a:endParaRPr lang="ko-KR" alt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233057">
                <a:tc>
                  <a:txBody>
                    <a:bodyPr/>
                    <a:lstStyle/>
                    <a:p>
                      <a:pPr latinLnBrk="1"/>
                      <a:r>
                        <a:rPr lang="en-US" altLang="ko-KR" sz="1200" dirty="0">
                          <a:latin typeface="Arial" panose="020B0604020202020204" pitchFamily="34" charset="0"/>
                          <a:cs typeface="Arial" panose="020B0604020202020204" pitchFamily="34" charset="0"/>
                        </a:rPr>
                        <a:t>OpenFlow 1.1</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2011.2</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MPLS/tunnel, multiple flow tables,</a:t>
                      </a:r>
                      <a:r>
                        <a:rPr lang="en-US" altLang="ko-KR" sz="1200" baseline="0" dirty="0">
                          <a:latin typeface="Arial" panose="020B0604020202020204" pitchFamily="34" charset="0"/>
                          <a:cs typeface="Arial" panose="020B0604020202020204" pitchFamily="34" charset="0"/>
                        </a:rPr>
                        <a:t> </a:t>
                      </a:r>
                      <a:r>
                        <a:rPr lang="en-US" altLang="ko-KR" sz="1200" dirty="0">
                          <a:latin typeface="Arial" panose="020B0604020202020204" pitchFamily="34" charset="0"/>
                          <a:cs typeface="Arial" panose="020B0604020202020204" pitchFamily="34" charset="0"/>
                        </a:rPr>
                        <a:t>group</a:t>
                      </a:r>
                      <a:r>
                        <a:rPr lang="en-US" altLang="ko-KR" sz="1200" baseline="0" dirty="0">
                          <a:latin typeface="Arial" panose="020B0604020202020204" pitchFamily="34" charset="0"/>
                          <a:cs typeface="Arial" panose="020B0604020202020204" pitchFamily="34" charset="0"/>
                        </a:rPr>
                        <a:t> table</a:t>
                      </a:r>
                      <a:endParaRPr lang="ko-KR" altLang="en-US" sz="1200" dirty="0">
                        <a:latin typeface="Arial" panose="020B0604020202020204" pitchFamily="34" charset="0"/>
                        <a:cs typeface="Arial" panose="020B0604020202020204" pitchFamily="34" charset="0"/>
                      </a:endParaRPr>
                    </a:p>
                  </a:txBody>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Arial" panose="020B0604020202020204" pitchFamily="34" charset="0"/>
                          <a:cs typeface="Arial" panose="020B0604020202020204" pitchFamily="34" charset="0"/>
                        </a:rPr>
                        <a:t>OpenFlow Consortium</a:t>
                      </a:r>
                      <a:endParaRPr lang="ko-KR" alt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0">
                <a:tc>
                  <a:txBody>
                    <a:bodyPr/>
                    <a:lstStyle/>
                    <a:p>
                      <a:pPr latinLnBrk="1"/>
                      <a:r>
                        <a:rPr lang="en-US" altLang="ko-KR" sz="1200" dirty="0">
                          <a:latin typeface="Arial" panose="020B0604020202020204" pitchFamily="34" charset="0"/>
                          <a:cs typeface="Arial" panose="020B0604020202020204" pitchFamily="34" charset="0"/>
                        </a:rPr>
                        <a:t>OpenFlow 1.2</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2011.12</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IPv6, </a:t>
                      </a:r>
                      <a:r>
                        <a:rPr lang="en-US" altLang="ko-KR" sz="1200" dirty="0" err="1">
                          <a:latin typeface="Arial" panose="020B0604020202020204" pitchFamily="34" charset="0"/>
                          <a:cs typeface="Arial" panose="020B0604020202020204" pitchFamily="34" charset="0"/>
                        </a:rPr>
                        <a:t>Config</a:t>
                      </a:r>
                      <a:r>
                        <a:rPr lang="en-US" altLang="ko-KR" sz="1200" dirty="0">
                          <a:latin typeface="Arial" panose="020B0604020202020204" pitchFamily="34" charset="0"/>
                          <a:cs typeface="Arial" panose="020B0604020202020204" pitchFamily="34" charset="0"/>
                        </a:rPr>
                        <a:t>., extensible</a:t>
                      </a:r>
                      <a:r>
                        <a:rPr lang="en-US" altLang="ko-KR" sz="1200" baseline="0" dirty="0">
                          <a:latin typeface="Arial" panose="020B0604020202020204" pitchFamily="34" charset="0"/>
                          <a:cs typeface="Arial" panose="020B0604020202020204" pitchFamily="34" charset="0"/>
                        </a:rPr>
                        <a:t> match support</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ONF</a:t>
                      </a:r>
                      <a:endParaRPr lang="ko-KR" alt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166469">
                <a:tc>
                  <a:txBody>
                    <a:bodyPr/>
                    <a:lstStyle/>
                    <a:p>
                      <a:pPr latinLnBrk="1"/>
                      <a:r>
                        <a:rPr lang="en-US" altLang="ko-KR" sz="1200" dirty="0">
                          <a:latin typeface="Arial" panose="020B0604020202020204" pitchFamily="34" charset="0"/>
                          <a:cs typeface="Arial" panose="020B0604020202020204" pitchFamily="34" charset="0"/>
                        </a:rPr>
                        <a:t>OpenFlow 1.3</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2012.9</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err="1">
                          <a:latin typeface="Arial" panose="020B0604020202020204" pitchFamily="34" charset="0"/>
                          <a:cs typeface="Arial" panose="020B0604020202020204" pitchFamily="34" charset="0"/>
                        </a:rPr>
                        <a:t>QoS</a:t>
                      </a:r>
                      <a:r>
                        <a:rPr lang="en-US" altLang="ko-KR" sz="1200" dirty="0">
                          <a:latin typeface="Arial" panose="020B0604020202020204" pitchFamily="34" charset="0"/>
                          <a:cs typeface="Arial" panose="020B0604020202020204" pitchFamily="34" charset="0"/>
                        </a:rPr>
                        <a:t> (meter table)…</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100" dirty="0">
                          <a:latin typeface="Arial" panose="020B0604020202020204" pitchFamily="34" charset="0"/>
                          <a:cs typeface="Arial" panose="020B0604020202020204" pitchFamily="34" charset="0"/>
                        </a:rPr>
                        <a:t>ONF</a:t>
                      </a:r>
                      <a:endParaRPr lang="ko-KR" altLang="en-US" sz="11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r h="299645">
                <a:tc>
                  <a:txBody>
                    <a:bodyPr/>
                    <a:lstStyle/>
                    <a:p>
                      <a:pPr latinLnBrk="1"/>
                      <a:r>
                        <a:rPr lang="en-US" altLang="ko-KR" sz="1200" dirty="0">
                          <a:latin typeface="Arial" panose="020B0604020202020204" pitchFamily="34" charset="0"/>
                          <a:cs typeface="Arial" panose="020B0604020202020204" pitchFamily="34" charset="0"/>
                        </a:rPr>
                        <a:t>OpenFlow 1.4</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2013.10</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Optical</a:t>
                      </a:r>
                      <a:r>
                        <a:rPr lang="en-US" altLang="ko-KR" sz="1200" baseline="0" dirty="0">
                          <a:latin typeface="Arial" panose="020B0604020202020204" pitchFamily="34" charset="0"/>
                          <a:cs typeface="Arial" panose="020B0604020202020204" pitchFamily="34" charset="0"/>
                        </a:rPr>
                        <a:t> port monitoring and</a:t>
                      </a:r>
                      <a:r>
                        <a:rPr lang="ko-KR" altLang="en-US" sz="1200" baseline="0" dirty="0">
                          <a:latin typeface="Arial" panose="020B0604020202020204" pitchFamily="34" charset="0"/>
                          <a:cs typeface="Arial" panose="020B0604020202020204" pitchFamily="34" charset="0"/>
                        </a:rPr>
                        <a:t> </a:t>
                      </a:r>
                      <a:r>
                        <a:rPr lang="en-US" altLang="ko-KR" sz="1200" baseline="0" dirty="0" err="1">
                          <a:latin typeface="Arial" panose="020B0604020202020204" pitchFamily="34" charset="0"/>
                          <a:cs typeface="Arial" panose="020B0604020202020204" pitchFamily="34" charset="0"/>
                        </a:rPr>
                        <a:t>config</a:t>
                      </a:r>
                      <a:r>
                        <a:rPr lang="en-US" altLang="ko-KR" sz="1200" baseline="0" dirty="0">
                          <a:latin typeface="Arial" panose="020B0604020202020204" pitchFamily="34" charset="0"/>
                          <a:cs typeface="Arial" panose="020B0604020202020204" pitchFamily="34" charset="0"/>
                        </a:rPr>
                        <a:t> (frequency, power)</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ONF</a:t>
                      </a:r>
                      <a:endParaRPr lang="ko-KR" alt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99645">
                <a:tc>
                  <a:txBody>
                    <a:bodyPr/>
                    <a:lstStyle/>
                    <a:p>
                      <a:pPr latinLnBrk="1"/>
                      <a:r>
                        <a:rPr lang="en-US" altLang="ko-KR" sz="1200" dirty="0" err="1">
                          <a:latin typeface="Arial" panose="020B0604020202020204" pitchFamily="34" charset="0"/>
                          <a:cs typeface="Arial" panose="020B0604020202020204" pitchFamily="34" charset="0"/>
                        </a:rPr>
                        <a:t>OpenFlow</a:t>
                      </a:r>
                      <a:r>
                        <a:rPr lang="en-US" altLang="ko-KR" sz="1200" dirty="0">
                          <a:latin typeface="Arial" panose="020B0604020202020204" pitchFamily="34" charset="0"/>
                          <a:cs typeface="Arial" panose="020B0604020202020204" pitchFamily="34" charset="0"/>
                        </a:rPr>
                        <a:t> 1.5</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2014.</a:t>
                      </a:r>
                      <a:r>
                        <a:rPr lang="en-US" altLang="ko-KR" sz="1200" baseline="0" dirty="0">
                          <a:latin typeface="Arial" panose="020B0604020202020204" pitchFamily="34" charset="0"/>
                          <a:cs typeface="Arial" panose="020B0604020202020204" pitchFamily="34" charset="0"/>
                        </a:rPr>
                        <a:t>12</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Egress</a:t>
                      </a:r>
                      <a:r>
                        <a:rPr lang="en-US" altLang="ko-KR" sz="1200" baseline="0" dirty="0">
                          <a:latin typeface="Arial" panose="020B0604020202020204" pitchFamily="34" charset="0"/>
                          <a:cs typeface="Arial" panose="020B0604020202020204" pitchFamily="34" charset="0"/>
                        </a:rPr>
                        <a:t> table, pkt. type aware pipeline, flow entry stat trigger</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ONF</a:t>
                      </a:r>
                      <a:endParaRPr lang="ko-KR" alt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03879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330678" y="-76887"/>
            <a:ext cx="10515600" cy="931725"/>
          </a:xfrm>
        </p:spPr>
        <p:txBody>
          <a:bodyPr/>
          <a:lstStyle/>
          <a:p>
            <a:r>
              <a:rPr lang="en-US" altLang="ko-KR" dirty="0" err="1"/>
              <a:t>OpenFlow</a:t>
            </a:r>
            <a:endParaRPr lang="ko-KR" altLang="en-US" dirty="0"/>
          </a:p>
        </p:txBody>
      </p:sp>
      <p:sp>
        <p:nvSpPr>
          <p:cNvPr id="3" name="내용 개체 틀 2"/>
          <p:cNvSpPr>
            <a:spLocks noGrp="1"/>
          </p:cNvSpPr>
          <p:nvPr>
            <p:ph idx="1"/>
          </p:nvPr>
        </p:nvSpPr>
        <p:spPr>
          <a:xfrm>
            <a:off x="919794" y="1102345"/>
            <a:ext cx="10352411" cy="5538015"/>
          </a:xfrm>
        </p:spPr>
        <p:txBody>
          <a:bodyPr>
            <a:normAutofit/>
          </a:bodyPr>
          <a:lstStyle/>
          <a:p>
            <a:r>
              <a:rPr lang="en-US" altLang="ko-KR" sz="2400" dirty="0"/>
              <a:t>Definition</a:t>
            </a:r>
          </a:p>
          <a:p>
            <a:pPr lvl="1"/>
            <a:r>
              <a:rPr lang="en-US" altLang="ko-KR" sz="2000" dirty="0"/>
              <a:t>A communication protocol that gives access to the forwarding plane of the network switch or router</a:t>
            </a:r>
          </a:p>
          <a:p>
            <a:r>
              <a:rPr lang="en-US" altLang="ko-KR" sz="2400" dirty="0"/>
              <a:t>Features</a:t>
            </a:r>
          </a:p>
          <a:p>
            <a:pPr lvl="1"/>
            <a:r>
              <a:rPr lang="en-US" altLang="ko-KR" sz="2000" dirty="0" err="1"/>
              <a:t>OpenFlow</a:t>
            </a:r>
            <a:r>
              <a:rPr lang="en-US" altLang="ko-KR" sz="2000" dirty="0"/>
              <a:t> is similar to an x86 instruction set for the network</a:t>
            </a:r>
          </a:p>
          <a:p>
            <a:pPr lvl="1"/>
            <a:r>
              <a:rPr lang="en-US" altLang="ko-KR" sz="2000" dirty="0"/>
              <a:t>Separation of control plane and data plane</a:t>
            </a:r>
          </a:p>
          <a:p>
            <a:pPr lvl="2"/>
            <a:r>
              <a:rPr lang="en-US" altLang="ko-KR" sz="1600" dirty="0"/>
              <a:t>The data path of an OpenFlow switch consists of a Flow Table and an action associated with each flow entry</a:t>
            </a:r>
          </a:p>
          <a:p>
            <a:pPr lvl="2"/>
            <a:r>
              <a:rPr lang="en-US" altLang="ko-KR" sz="1600" dirty="0"/>
              <a:t>The control path consists of a controller which programs flow entry in the flow table</a:t>
            </a:r>
          </a:p>
          <a:p>
            <a:pPr lvl="1"/>
            <a:r>
              <a:rPr lang="en-US" altLang="ko-KR" sz="2000" dirty="0" err="1"/>
              <a:t>OpenFlow</a:t>
            </a:r>
            <a:r>
              <a:rPr lang="en-US" altLang="ko-KR" sz="2000" dirty="0"/>
              <a:t> is based on an Ethernet switch, with an internal flow-table, and a standardized interface to add and remove flow entries</a:t>
            </a:r>
          </a:p>
          <a:p>
            <a:r>
              <a:rPr lang="en-US" altLang="ko-KR" sz="2400" dirty="0"/>
              <a:t>Components</a:t>
            </a:r>
          </a:p>
          <a:p>
            <a:pPr lvl="1"/>
            <a:r>
              <a:rPr lang="en-US" altLang="ko-KR" sz="2000" dirty="0" err="1"/>
              <a:t>OpenFlow</a:t>
            </a:r>
            <a:r>
              <a:rPr lang="en-US" altLang="ko-KR" sz="2000" dirty="0"/>
              <a:t> controller</a:t>
            </a:r>
          </a:p>
          <a:p>
            <a:pPr lvl="2"/>
            <a:r>
              <a:rPr lang="en-US" altLang="ko-KR" sz="1600" dirty="0"/>
              <a:t>Process packet match, instruction &amp; action set, pipeline processing</a:t>
            </a:r>
          </a:p>
          <a:p>
            <a:pPr lvl="1"/>
            <a:r>
              <a:rPr lang="en-US" altLang="ko-KR" sz="2000" dirty="0" err="1"/>
              <a:t>OpenFlow</a:t>
            </a:r>
            <a:r>
              <a:rPr lang="en-US" altLang="ko-KR" sz="2000" dirty="0"/>
              <a:t> switch</a:t>
            </a:r>
          </a:p>
          <a:p>
            <a:pPr lvl="2"/>
            <a:r>
              <a:rPr lang="en-US" altLang="ko-KR" sz="1600" dirty="0"/>
              <a:t>Secure channel, flow table</a:t>
            </a:r>
            <a:endParaRPr lang="ko-KR" altLang="en-US" sz="1600" dirty="0"/>
          </a:p>
        </p:txBody>
      </p:sp>
    </p:spTree>
    <p:extLst>
      <p:ext uri="{BB962C8B-B14F-4D97-AF65-F5344CB8AC3E}">
        <p14:creationId xmlns:p14="http://schemas.microsoft.com/office/powerpoint/2010/main" val="3422400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401947" y="110294"/>
            <a:ext cx="10515600" cy="931725"/>
          </a:xfrm>
        </p:spPr>
        <p:txBody>
          <a:bodyPr/>
          <a:lstStyle/>
          <a:p>
            <a:r>
              <a:rPr lang="en-US" altLang="ko-KR" dirty="0"/>
              <a:t>How Does </a:t>
            </a:r>
            <a:r>
              <a:rPr lang="en-US" altLang="ko-KR" dirty="0" err="1"/>
              <a:t>OpenFlow</a:t>
            </a:r>
            <a:r>
              <a:rPr lang="en-US" altLang="ko-KR" dirty="0"/>
              <a:t> Work?</a:t>
            </a:r>
            <a:endParaRPr lang="ko-KR" altLang="en-US" dirty="0"/>
          </a:p>
        </p:txBody>
      </p:sp>
      <p:sp>
        <p:nvSpPr>
          <p:cNvPr id="3" name="내용 개체 틀 2"/>
          <p:cNvSpPr>
            <a:spLocks noGrp="1"/>
          </p:cNvSpPr>
          <p:nvPr>
            <p:ph idx="1"/>
          </p:nvPr>
        </p:nvSpPr>
        <p:spPr>
          <a:xfrm>
            <a:off x="838200" y="1052199"/>
            <a:ext cx="10515600" cy="4351338"/>
          </a:xfrm>
        </p:spPr>
        <p:txBody>
          <a:bodyPr>
            <a:normAutofit/>
          </a:bodyPr>
          <a:lstStyle/>
          <a:p>
            <a:r>
              <a:rPr lang="en-US" altLang="ko-KR" sz="2400" dirty="0" err="1"/>
              <a:t>OpenFlow</a:t>
            </a:r>
            <a:r>
              <a:rPr lang="en-US" altLang="ko-KR" sz="2400" dirty="0"/>
              <a:t> Switch and Tables</a:t>
            </a:r>
            <a:endParaRPr lang="ko-KR" altLang="en-US" sz="2400" dirty="0"/>
          </a:p>
        </p:txBody>
      </p:sp>
      <p:sp>
        <p:nvSpPr>
          <p:cNvPr id="5" name="타원형 설명선 4"/>
          <p:cNvSpPr/>
          <p:nvPr/>
        </p:nvSpPr>
        <p:spPr>
          <a:xfrm>
            <a:off x="6650426" y="1554969"/>
            <a:ext cx="2484276" cy="864096"/>
          </a:xfrm>
          <a:prstGeom prst="wedgeEllipseCallout">
            <a:avLst>
              <a:gd name="adj1" fmla="val -63986"/>
              <a:gd name="adj2" fmla="val 56095"/>
            </a:avLst>
          </a:prstGeom>
        </p:spPr>
        <p:style>
          <a:lnRef idx="1">
            <a:schemeClr val="accent5"/>
          </a:lnRef>
          <a:fillRef idx="2">
            <a:schemeClr val="accent5"/>
          </a:fillRef>
          <a:effectRef idx="1">
            <a:schemeClr val="accent5"/>
          </a:effectRef>
          <a:fontRef idx="minor">
            <a:schemeClr val="dk1"/>
          </a:fontRef>
        </p:style>
        <p:txBody>
          <a:bodyPr lIns="0" tIns="36000" rIns="0" bIns="36000" rtlCol="0" anchor="ctr"/>
          <a:lstStyle/>
          <a:p>
            <a:pPr algn="ctr"/>
            <a:r>
              <a:rPr lang="en-US" altLang="ko-KR" sz="1400" dirty="0">
                <a:solidFill>
                  <a:schemeClr val="tx1"/>
                </a:solidFill>
                <a:latin typeface="Arial" panose="020B0604020202020204" pitchFamily="34" charset="0"/>
                <a:cs typeface="Arial" panose="020B0604020202020204" pitchFamily="34" charset="0"/>
              </a:rPr>
              <a:t>General purpose</a:t>
            </a:r>
            <a:r>
              <a:rPr lang="ko-KR" altLang="en-US" sz="1400" dirty="0">
                <a:solidFill>
                  <a:schemeClr val="tx1"/>
                </a:solidFill>
                <a:latin typeface="Arial" panose="020B0604020202020204" pitchFamily="34" charset="0"/>
                <a:cs typeface="Arial" panose="020B0604020202020204" pitchFamily="34" charset="0"/>
              </a:rPr>
              <a:t> </a:t>
            </a:r>
            <a:r>
              <a:rPr lang="en-US" altLang="ko-KR" sz="1400" dirty="0">
                <a:solidFill>
                  <a:schemeClr val="tx1"/>
                </a:solidFill>
                <a:latin typeface="Arial" panose="020B0604020202020204" pitchFamily="34" charset="0"/>
                <a:cs typeface="Arial" panose="020B0604020202020204" pitchFamily="34" charset="0"/>
              </a:rPr>
              <a:t>PC, Server</a:t>
            </a:r>
            <a:r>
              <a:rPr lang="ko-KR" altLang="en-US" sz="1400" dirty="0">
                <a:solidFill>
                  <a:schemeClr val="tx1"/>
                </a:solidFill>
                <a:latin typeface="Arial" panose="020B0604020202020204" pitchFamily="34" charset="0"/>
                <a:cs typeface="Arial" panose="020B0604020202020204" pitchFamily="34" charset="0"/>
              </a:rPr>
              <a:t>  </a:t>
            </a:r>
            <a:endParaRPr lang="en-US" altLang="ko-KR" sz="1400" dirty="0">
              <a:solidFill>
                <a:schemeClr val="tx1"/>
              </a:solidFill>
              <a:latin typeface="Arial" panose="020B0604020202020204" pitchFamily="34" charset="0"/>
              <a:cs typeface="Arial" panose="020B0604020202020204" pitchFamily="34" charset="0"/>
            </a:endParaRPr>
          </a:p>
        </p:txBody>
      </p:sp>
      <p:grpSp>
        <p:nvGrpSpPr>
          <p:cNvPr id="7" name="그룹 6"/>
          <p:cNvGrpSpPr/>
          <p:nvPr/>
        </p:nvGrpSpPr>
        <p:grpSpPr>
          <a:xfrm>
            <a:off x="1919537" y="1609933"/>
            <a:ext cx="4824536" cy="3990343"/>
            <a:chOff x="1828800" y="1270000"/>
            <a:chExt cx="5364163" cy="4170363"/>
          </a:xfrm>
        </p:grpSpPr>
        <p:grpSp>
          <p:nvGrpSpPr>
            <p:cNvPr id="8" name="그룹 31"/>
            <p:cNvGrpSpPr/>
            <p:nvPr/>
          </p:nvGrpSpPr>
          <p:grpSpPr>
            <a:xfrm>
              <a:off x="1828800" y="1270000"/>
              <a:ext cx="5364163" cy="4170363"/>
              <a:chOff x="1828800" y="1270000"/>
              <a:chExt cx="5364163" cy="4170363"/>
            </a:xfrm>
          </p:grpSpPr>
          <p:sp>
            <p:nvSpPr>
              <p:cNvPr id="11" name="Line 8"/>
              <p:cNvSpPr>
                <a:spLocks noChangeShapeType="1"/>
              </p:cNvSpPr>
              <p:nvPr/>
            </p:nvSpPr>
            <p:spPr bwMode="auto">
              <a:xfrm flipH="1">
                <a:off x="6207125" y="2617788"/>
                <a:ext cx="0" cy="1454150"/>
              </a:xfrm>
              <a:prstGeom prst="line">
                <a:avLst/>
              </a:prstGeom>
              <a:noFill/>
              <a:ln w="88900">
                <a:solidFill>
                  <a:srgbClr val="FF7F00"/>
                </a:solidFill>
                <a:miter lim="800000"/>
                <a:headEnd type="triangle" w="med" len="med"/>
                <a:tailEnd type="triangle" w="med" len="med"/>
              </a:ln>
            </p:spPr>
            <p:txBody>
              <a:bodyPr lIns="0" tIns="0" rIns="0" bIns="0"/>
              <a:lstStyle/>
              <a:p>
                <a:endParaRPr lang="ko-KR" altLang="en-US" sz="1400" dirty="0">
                  <a:latin typeface="Arial" panose="020B0604020202020204" pitchFamily="34" charset="0"/>
                  <a:cs typeface="Arial" panose="020B0604020202020204" pitchFamily="34" charset="0"/>
                </a:endParaRPr>
              </a:p>
            </p:txBody>
          </p:sp>
          <p:sp>
            <p:nvSpPr>
              <p:cNvPr id="12" name="Rectangle 9"/>
              <p:cNvSpPr>
                <a:spLocks/>
              </p:cNvSpPr>
              <p:nvPr/>
            </p:nvSpPr>
            <p:spPr bwMode="auto">
              <a:xfrm>
                <a:off x="4951222" y="3038529"/>
                <a:ext cx="1399346" cy="514659"/>
              </a:xfrm>
              <a:prstGeom prst="rect">
                <a:avLst/>
              </a:prstGeom>
              <a:noFill/>
              <a:ln w="12700">
                <a:noFill/>
                <a:miter lim="800000"/>
                <a:headEnd/>
                <a:tailEnd/>
              </a:ln>
            </p:spPr>
            <p:txBody>
              <a:bodyPr wrap="square" lIns="0" tIns="0" rIns="41464" bIns="0">
                <a:spAutoFit/>
              </a:bodyPr>
              <a:lstStyle/>
              <a:p>
                <a:pPr marL="41275" algn="ctr"/>
                <a:r>
                  <a:rPr lang="en-US" altLang="ko-KR" sz="1600" dirty="0">
                    <a:latin typeface="Arial" panose="020B0604020202020204" pitchFamily="34" charset="0"/>
                    <a:cs typeface="Arial" panose="020B0604020202020204" pitchFamily="34" charset="0"/>
                    <a:sym typeface="Gill Sans" charset="0"/>
                  </a:rPr>
                  <a:t>OpenFlow </a:t>
                </a:r>
              </a:p>
              <a:p>
                <a:pPr marL="41275" algn="ctr"/>
                <a:r>
                  <a:rPr lang="en-US" altLang="ko-KR" sz="1600" dirty="0">
                    <a:latin typeface="Arial" panose="020B0604020202020204" pitchFamily="34" charset="0"/>
                    <a:cs typeface="Arial" panose="020B0604020202020204" pitchFamily="34" charset="0"/>
                    <a:sym typeface="Gill Sans" charset="0"/>
                  </a:rPr>
                  <a:t>protocol</a:t>
                </a:r>
              </a:p>
            </p:txBody>
          </p:sp>
          <p:sp>
            <p:nvSpPr>
              <p:cNvPr id="13" name="AutoShape 1"/>
              <p:cNvSpPr>
                <a:spLocks/>
              </p:cNvSpPr>
              <p:nvPr/>
            </p:nvSpPr>
            <p:spPr bwMode="auto">
              <a:xfrm>
                <a:off x="1828800" y="4071938"/>
                <a:ext cx="5364163" cy="1368425"/>
              </a:xfrm>
              <a:prstGeom prst="roundRect">
                <a:avLst>
                  <a:gd name="adj" fmla="val 6486"/>
                </a:avLst>
              </a:prstGeom>
              <a:gradFill rotWithShape="1">
                <a:gsLst>
                  <a:gs pos="0">
                    <a:srgbClr val="000000"/>
                  </a:gs>
                  <a:gs pos="50000">
                    <a:srgbClr val="000000"/>
                  </a:gs>
                  <a:gs pos="100000">
                    <a:srgbClr val="FFFFFF"/>
                  </a:gs>
                </a:gsLst>
                <a:lin ang="5400000" scaled="1"/>
              </a:gradFill>
              <a:ln w="12700">
                <a:solidFill>
                  <a:srgbClr val="FFFFFF"/>
                </a:solidFill>
                <a:round/>
                <a:headEnd/>
                <a:tailEnd/>
              </a:ln>
              <a:effectLst>
                <a:outerShdw dist="20000" dir="5400000" rotWithShape="0">
                  <a:srgbClr val="808080">
                    <a:alpha val="37999"/>
                  </a:srgbClr>
                </a:outerShdw>
              </a:effectLst>
            </p:spPr>
            <p:txBody>
              <a:bodyPr lIns="0" tIns="0" rIns="0" bIns="0"/>
              <a:lstStyle/>
              <a:p>
                <a:endParaRPr lang="ko-KR" altLang="ko-KR" dirty="0">
                  <a:solidFill>
                    <a:srgbClr val="000000"/>
                  </a:solidFill>
                  <a:latin typeface="Arial" panose="020B0604020202020204" pitchFamily="34" charset="0"/>
                  <a:ea typeface="ヒラギノ明朝 ProN W3" charset="-128"/>
                  <a:cs typeface="Arial" panose="020B0604020202020204" pitchFamily="34" charset="0"/>
                  <a:sym typeface="Times New Roman" charset="0"/>
                </a:endParaRPr>
              </a:p>
            </p:txBody>
          </p:sp>
          <p:sp>
            <p:nvSpPr>
              <p:cNvPr id="14" name="AutoShape 2"/>
              <p:cNvSpPr>
                <a:spLocks/>
              </p:cNvSpPr>
              <p:nvPr/>
            </p:nvSpPr>
            <p:spPr bwMode="auto">
              <a:xfrm>
                <a:off x="1997075" y="4846638"/>
                <a:ext cx="5008563" cy="476250"/>
              </a:xfrm>
              <a:prstGeom prst="roundRect">
                <a:avLst>
                  <a:gd name="adj" fmla="val 8472"/>
                </a:avLst>
              </a:prstGeom>
              <a:solidFill>
                <a:srgbClr val="C8D2DF"/>
              </a:solidFill>
              <a:ln w="25400" cap="flat">
                <a:solidFill>
                  <a:schemeClr val="bg1">
                    <a:lumMod val="95000"/>
                    <a:lumOff val="5000"/>
                  </a:schemeClr>
                </a:solidFill>
                <a:prstDash val="solid"/>
                <a:miter lim="800000"/>
                <a:headEnd type="none" w="med" len="med"/>
                <a:tailEnd type="none" w="med" len="med"/>
              </a:ln>
            </p:spPr>
            <p:txBody>
              <a:bodyPr lIns="0" tIns="0" rIns="41464" bIns="0" anchor="ctr"/>
              <a:lstStyle/>
              <a:p>
                <a:pPr marL="41299">
                  <a:defRPr/>
                </a:pPr>
                <a:r>
                  <a:rPr lang="en-US" sz="1200" b="1" dirty="0">
                    <a:solidFill>
                      <a:srgbClr val="001949"/>
                    </a:solidFill>
                    <a:latin typeface="Arial" panose="020B0604020202020204" pitchFamily="34" charset="0"/>
                    <a:ea typeface="Gill Sans" charset="0"/>
                    <a:cs typeface="Arial" panose="020B0604020202020204" pitchFamily="34" charset="0"/>
                    <a:sym typeface="Gill Sans" charset="0"/>
                  </a:rPr>
                  <a:t>                 Data Path, H/W</a:t>
                </a:r>
              </a:p>
            </p:txBody>
          </p:sp>
          <p:sp>
            <p:nvSpPr>
              <p:cNvPr id="15" name="AutoShape 3"/>
              <p:cNvSpPr>
                <a:spLocks/>
              </p:cNvSpPr>
              <p:nvPr/>
            </p:nvSpPr>
            <p:spPr bwMode="auto">
              <a:xfrm>
                <a:off x="1997075" y="4184650"/>
                <a:ext cx="3489325" cy="468313"/>
              </a:xfrm>
              <a:prstGeom prst="roundRect">
                <a:avLst>
                  <a:gd name="adj" fmla="val 6894"/>
                </a:avLst>
              </a:prstGeom>
              <a:solidFill>
                <a:srgbClr val="C8D2DF"/>
              </a:solidFill>
              <a:ln w="25400" cap="flat">
                <a:solidFill>
                  <a:schemeClr val="bg1">
                    <a:lumMod val="95000"/>
                    <a:lumOff val="5000"/>
                  </a:schemeClr>
                </a:solidFill>
                <a:prstDash val="solid"/>
                <a:miter lim="800000"/>
                <a:headEnd type="none" w="med" len="med"/>
                <a:tailEnd type="none" w="med" len="med"/>
              </a:ln>
            </p:spPr>
            <p:txBody>
              <a:bodyPr lIns="0" tIns="0" rIns="41464" bIns="0" anchor="ctr"/>
              <a:lstStyle/>
              <a:p>
                <a:pPr marL="41299" algn="ctr">
                  <a:defRPr/>
                </a:pPr>
                <a:r>
                  <a:rPr lang="en-US" altLang="ko-KR" sz="1200" b="1" dirty="0">
                    <a:solidFill>
                      <a:srgbClr val="001949"/>
                    </a:solidFill>
                    <a:latin typeface="Arial" panose="020B0604020202020204" pitchFamily="34" charset="0"/>
                    <a:ea typeface="Gill Sans" charset="0"/>
                    <a:cs typeface="Arial" panose="020B0604020202020204" pitchFamily="34" charset="0"/>
                    <a:sym typeface="Gill Sans" charset="0"/>
                  </a:rPr>
                  <a:t>Control Path</a:t>
                </a:r>
                <a:endParaRPr lang="en-US" sz="1200" b="1" dirty="0">
                  <a:solidFill>
                    <a:srgbClr val="001949"/>
                  </a:solidFill>
                  <a:latin typeface="Arial" panose="020B0604020202020204" pitchFamily="34" charset="0"/>
                  <a:ea typeface="Gill Sans" charset="0"/>
                  <a:cs typeface="Arial" panose="020B0604020202020204" pitchFamily="34" charset="0"/>
                  <a:sym typeface="Gill Sans" charset="0"/>
                </a:endParaRPr>
              </a:p>
            </p:txBody>
          </p:sp>
          <p:sp>
            <p:nvSpPr>
              <p:cNvPr id="16" name="Line 4"/>
              <p:cNvSpPr>
                <a:spLocks noChangeShapeType="1"/>
              </p:cNvSpPr>
              <p:nvPr/>
            </p:nvSpPr>
            <p:spPr bwMode="auto">
              <a:xfrm rot="10800000" flipH="1">
                <a:off x="1944688" y="4751388"/>
                <a:ext cx="5138737" cy="7937"/>
              </a:xfrm>
              <a:prstGeom prst="line">
                <a:avLst/>
              </a:prstGeom>
              <a:noFill/>
              <a:ln w="38100">
                <a:solidFill>
                  <a:srgbClr val="001949"/>
                </a:solidFill>
                <a:prstDash val="sysDot"/>
                <a:round/>
                <a:headEnd/>
                <a:tailEnd/>
              </a:ln>
            </p:spPr>
            <p:txBody>
              <a:bodyPr lIns="0" tIns="0" rIns="0" bIns="0"/>
              <a:lstStyle/>
              <a:p>
                <a:endParaRPr lang="ko-KR" altLang="en-US" sz="1400" dirty="0">
                  <a:latin typeface="Arial" panose="020B0604020202020204" pitchFamily="34" charset="0"/>
                  <a:cs typeface="Arial" panose="020B0604020202020204" pitchFamily="34" charset="0"/>
                </a:endParaRPr>
              </a:p>
            </p:txBody>
          </p:sp>
          <p:sp>
            <p:nvSpPr>
              <p:cNvPr id="17" name="AutoShape 5"/>
              <p:cNvSpPr>
                <a:spLocks/>
              </p:cNvSpPr>
              <p:nvPr/>
            </p:nvSpPr>
            <p:spPr bwMode="auto">
              <a:xfrm>
                <a:off x="5638800" y="4184650"/>
                <a:ext cx="1366838" cy="468313"/>
              </a:xfrm>
              <a:prstGeom prst="roundRect">
                <a:avLst>
                  <a:gd name="adj" fmla="val 6894"/>
                </a:avLst>
              </a:prstGeom>
              <a:solidFill>
                <a:srgbClr val="C8D2DF"/>
              </a:solidFill>
              <a:ln w="25400" cap="flat">
                <a:solidFill>
                  <a:schemeClr val="bg1">
                    <a:lumMod val="95000"/>
                    <a:lumOff val="5000"/>
                  </a:schemeClr>
                </a:solidFill>
                <a:prstDash val="solid"/>
                <a:miter lim="800000"/>
                <a:headEnd type="none" w="med" len="med"/>
                <a:tailEnd type="none" w="med" len="med"/>
              </a:ln>
            </p:spPr>
            <p:txBody>
              <a:bodyPr lIns="0" tIns="0" rIns="41464" bIns="0" anchor="ctr"/>
              <a:lstStyle/>
              <a:p>
                <a:pPr marL="41299" algn="ctr">
                  <a:defRPr/>
                </a:pPr>
                <a:r>
                  <a:rPr lang="en-US" sz="1200" b="1" dirty="0">
                    <a:solidFill>
                      <a:srgbClr val="001949"/>
                    </a:solidFill>
                    <a:latin typeface="Arial" panose="020B0604020202020204" pitchFamily="34" charset="0"/>
                    <a:ea typeface="Gill Sans" charset="0"/>
                    <a:cs typeface="Arial" panose="020B0604020202020204" pitchFamily="34" charset="0"/>
                    <a:sym typeface="Gill Sans" charset="0"/>
                  </a:rPr>
                  <a:t>OpenFlow</a:t>
                </a:r>
              </a:p>
            </p:txBody>
          </p:sp>
          <p:grpSp>
            <p:nvGrpSpPr>
              <p:cNvPr id="18" name="Group 31"/>
              <p:cNvGrpSpPr>
                <a:grpSpLocks/>
              </p:cNvGrpSpPr>
              <p:nvPr/>
            </p:nvGrpSpPr>
            <p:grpSpPr bwMode="auto">
              <a:xfrm>
                <a:off x="2917825" y="1270000"/>
                <a:ext cx="3794125" cy="1347788"/>
                <a:chOff x="2918483" y="1760009"/>
                <a:chExt cx="3793717" cy="1347440"/>
              </a:xfrm>
            </p:grpSpPr>
            <p:sp>
              <p:nvSpPr>
                <p:cNvPr id="19" name="Vinkel 31"/>
                <p:cNvSpPr>
                  <a:spLocks noChangeArrowheads="1"/>
                </p:cNvSpPr>
                <p:nvPr/>
              </p:nvSpPr>
              <p:spPr bwMode="auto">
                <a:xfrm>
                  <a:off x="2918483" y="2351994"/>
                  <a:ext cx="3793717" cy="755455"/>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dist="23000" dir="5400000" rotWithShape="0">
                    <a:srgbClr val="808080">
                      <a:alpha val="34999"/>
                    </a:srgbClr>
                  </a:outerShdw>
                </a:effectLst>
              </p:spPr>
              <p:txBody>
                <a:bodyPr lIns="91414" tIns="45707" rIns="91414" bIns="45707" anchor="ctr"/>
                <a:lstStyle/>
                <a:p>
                  <a:pPr algn="ctr" defTabSz="912813"/>
                  <a:r>
                    <a:rPr lang="en-US" noProof="1">
                      <a:latin typeface="Arial" panose="020B0604020202020204" pitchFamily="34" charset="0"/>
                      <a:cs typeface="Arial" panose="020B0604020202020204" pitchFamily="34" charset="0"/>
                      <a:sym typeface="Times New Roman" charset="0"/>
                    </a:rPr>
                    <a:t>Controller</a:t>
                  </a:r>
                  <a:br>
                    <a:rPr lang="en-US" sz="1400" noProof="1">
                      <a:latin typeface="Arial" panose="020B0604020202020204" pitchFamily="34" charset="0"/>
                      <a:cs typeface="Arial" panose="020B0604020202020204" pitchFamily="34" charset="0"/>
                      <a:sym typeface="Times New Roman" charset="0"/>
                    </a:rPr>
                  </a:br>
                  <a:r>
                    <a:rPr lang="en-US" sz="1200" noProof="1">
                      <a:latin typeface="Arial" panose="020B0604020202020204" pitchFamily="34" charset="0"/>
                      <a:cs typeface="Arial" panose="020B0604020202020204" pitchFamily="34" charset="0"/>
                      <a:sym typeface="Times New Roman" charset="0"/>
                    </a:rPr>
                    <a:t>(</a:t>
                  </a:r>
                  <a:r>
                    <a:rPr lang="en-US" altLang="ko-KR" sz="1200" noProof="1">
                      <a:latin typeface="Arial" panose="020B0604020202020204" pitchFamily="34" charset="0"/>
                      <a:cs typeface="Arial" panose="020B0604020202020204" pitchFamily="34" charset="0"/>
                      <a:sym typeface="Times New Roman" charset="0"/>
                    </a:rPr>
                    <a:t>Server</a:t>
                  </a:r>
                  <a:r>
                    <a:rPr lang="en-US" sz="1200" noProof="1">
                      <a:latin typeface="Arial" panose="020B0604020202020204" pitchFamily="34" charset="0"/>
                      <a:cs typeface="Arial" panose="020B0604020202020204" pitchFamily="34" charset="0"/>
                      <a:sym typeface="Times New Roman" charset="0"/>
                    </a:rPr>
                    <a:t>  Software)</a:t>
                  </a:r>
                  <a:endParaRPr lang="en-US" sz="1400" noProof="1">
                    <a:latin typeface="Arial" panose="020B0604020202020204" pitchFamily="34" charset="0"/>
                    <a:cs typeface="Arial" panose="020B0604020202020204" pitchFamily="34" charset="0"/>
                    <a:sym typeface="Times New Roman" charset="0"/>
                  </a:endParaRPr>
                </a:p>
              </p:txBody>
            </p:sp>
            <p:sp>
              <p:nvSpPr>
                <p:cNvPr id="20" name="Vinkel 50"/>
                <p:cNvSpPr>
                  <a:spLocks noChangeArrowheads="1"/>
                </p:cNvSpPr>
                <p:nvPr/>
              </p:nvSpPr>
              <p:spPr bwMode="auto">
                <a:xfrm>
                  <a:off x="4453431" y="1760009"/>
                  <a:ext cx="634932" cy="509456"/>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dist="23000" dir="5400000" rotWithShape="0">
                    <a:srgbClr val="808080">
                      <a:alpha val="34999"/>
                    </a:srgbClr>
                  </a:outerShdw>
                </a:effectLst>
              </p:spPr>
              <p:txBody>
                <a:bodyPr lIns="91414" tIns="45707" rIns="91414" bIns="45707" anchor="ctr"/>
                <a:lstStyle/>
                <a:p>
                  <a:pPr indent="-341313" algn="ctr" defTabSz="912813"/>
                  <a:r>
                    <a:rPr lang="en-US" sz="1200" b="1" noProof="1">
                      <a:solidFill>
                        <a:srgbClr val="FFFFFF"/>
                      </a:solidFill>
                      <a:latin typeface="Arial" panose="020B0604020202020204" pitchFamily="34" charset="0"/>
                      <a:cs typeface="Arial" panose="020B0604020202020204" pitchFamily="34" charset="0"/>
                      <a:sym typeface="Times New Roman" charset="0"/>
                    </a:rPr>
                    <a:t>App</a:t>
                  </a:r>
                </a:p>
              </p:txBody>
            </p:sp>
            <p:sp>
              <p:nvSpPr>
                <p:cNvPr id="21" name="Vinkel 50"/>
                <p:cNvSpPr>
                  <a:spLocks noChangeArrowheads="1"/>
                </p:cNvSpPr>
                <p:nvPr/>
              </p:nvSpPr>
              <p:spPr bwMode="auto">
                <a:xfrm>
                  <a:off x="5220110" y="1760009"/>
                  <a:ext cx="634932" cy="509456"/>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dist="23000" dir="5400000" rotWithShape="0">
                    <a:srgbClr val="808080">
                      <a:alpha val="34999"/>
                    </a:srgbClr>
                  </a:outerShdw>
                </a:effectLst>
              </p:spPr>
              <p:txBody>
                <a:bodyPr lIns="91414" tIns="45707" rIns="91414" bIns="45707" anchor="ctr"/>
                <a:lstStyle/>
                <a:p>
                  <a:pPr indent="-341313" algn="ctr" defTabSz="912813"/>
                  <a:r>
                    <a:rPr lang="en-US" sz="1200" b="1" noProof="1">
                      <a:solidFill>
                        <a:srgbClr val="FFFFFF"/>
                      </a:solidFill>
                      <a:latin typeface="Arial" panose="020B0604020202020204" pitchFamily="34" charset="0"/>
                      <a:cs typeface="Arial" panose="020B0604020202020204" pitchFamily="34" charset="0"/>
                      <a:sym typeface="Times New Roman" charset="0"/>
                    </a:rPr>
                    <a:t>App</a:t>
                  </a:r>
                </a:p>
              </p:txBody>
            </p:sp>
            <p:sp>
              <p:nvSpPr>
                <p:cNvPr id="22" name="Vinkel 50"/>
                <p:cNvSpPr>
                  <a:spLocks noChangeArrowheads="1"/>
                </p:cNvSpPr>
                <p:nvPr/>
              </p:nvSpPr>
              <p:spPr bwMode="auto">
                <a:xfrm>
                  <a:off x="5986791" y="1760009"/>
                  <a:ext cx="634932" cy="509456"/>
                </a:xfrm>
                <a:prstGeom prst="roundRect">
                  <a:avLst>
                    <a:gd name="adj" fmla="val 16667"/>
                  </a:avLst>
                </a:prstGeom>
                <a:gradFill rotWithShape="1">
                  <a:gsLst>
                    <a:gs pos="0">
                      <a:srgbClr val="9BC1FF"/>
                    </a:gs>
                    <a:gs pos="100000">
                      <a:srgbClr val="3F80CD"/>
                    </a:gs>
                  </a:gsLst>
                  <a:lin ang="5400000"/>
                </a:gradFill>
                <a:ln w="9525">
                  <a:solidFill>
                    <a:srgbClr val="4A7EBB"/>
                  </a:solidFill>
                  <a:round/>
                  <a:headEnd/>
                  <a:tailEnd/>
                </a:ln>
                <a:effectLst>
                  <a:outerShdw dist="23000" dir="5400000" rotWithShape="0">
                    <a:srgbClr val="808080">
                      <a:alpha val="34999"/>
                    </a:srgbClr>
                  </a:outerShdw>
                </a:effectLst>
              </p:spPr>
              <p:txBody>
                <a:bodyPr lIns="91414" tIns="45707" rIns="91414" bIns="45707" anchor="ctr"/>
                <a:lstStyle/>
                <a:p>
                  <a:pPr indent="-341313" algn="ctr" defTabSz="912813"/>
                  <a:r>
                    <a:rPr lang="en-US" sz="1200" b="1" noProof="1">
                      <a:solidFill>
                        <a:srgbClr val="FFFFFF"/>
                      </a:solidFill>
                      <a:latin typeface="Arial" panose="020B0604020202020204" pitchFamily="34" charset="0"/>
                      <a:cs typeface="Arial" panose="020B0604020202020204" pitchFamily="34" charset="0"/>
                      <a:sym typeface="Times New Roman" charset="0"/>
                    </a:rPr>
                    <a:t>App</a:t>
                  </a:r>
                </a:p>
              </p:txBody>
            </p:sp>
          </p:grpSp>
        </p:grpSp>
        <p:sp>
          <p:nvSpPr>
            <p:cNvPr id="9" name="직사각형 8"/>
            <p:cNvSpPr/>
            <p:nvPr/>
          </p:nvSpPr>
          <p:spPr>
            <a:xfrm>
              <a:off x="1948892" y="3753467"/>
              <a:ext cx="1600861" cy="321662"/>
            </a:xfrm>
            <a:prstGeom prst="rect">
              <a:avLst/>
            </a:prstGeom>
          </p:spPr>
          <p:txBody>
            <a:bodyPr wrap="none">
              <a:spAutoFit/>
            </a:bodyPr>
            <a:lstStyle/>
            <a:p>
              <a:pPr algn="ctr" defTabSz="914139">
                <a:defRPr/>
              </a:pPr>
              <a:r>
                <a:rPr lang="en-US" altLang="ko-KR" sz="1400" noProof="1">
                  <a:latin typeface="Arial" panose="020B0604020202020204" pitchFamily="34" charset="0"/>
                  <a:cs typeface="Arial" panose="020B0604020202020204" pitchFamily="34" charset="0"/>
                  <a:sym typeface="Times New Roman" charset="0"/>
                </a:rPr>
                <a:t>Ethernet Switch</a:t>
              </a:r>
            </a:p>
          </p:txBody>
        </p:sp>
        <p:pic>
          <p:nvPicPr>
            <p:cNvPr id="10" name="Picture 5"/>
            <p:cNvPicPr>
              <a:picLocks noChangeAspect="1" noChangeArrowheads="1"/>
            </p:cNvPicPr>
            <p:nvPr/>
          </p:nvPicPr>
          <p:blipFill>
            <a:blip r:embed="rId2" cstate="print"/>
            <a:srcRect/>
            <a:stretch>
              <a:fillRect/>
            </a:stretch>
          </p:blipFill>
          <p:spPr bwMode="auto">
            <a:xfrm>
              <a:off x="4896022" y="4995965"/>
              <a:ext cx="2109616" cy="326923"/>
            </a:xfrm>
            <a:prstGeom prst="rect">
              <a:avLst/>
            </a:prstGeom>
            <a:ln>
              <a:noFill/>
              <a:headEnd/>
              <a:tailEnd/>
            </a:ln>
          </p:spPr>
          <p:style>
            <a:lnRef idx="1">
              <a:schemeClr val="accent5"/>
            </a:lnRef>
            <a:fillRef idx="2">
              <a:schemeClr val="accent5"/>
            </a:fillRef>
            <a:effectRef idx="1">
              <a:schemeClr val="accent5"/>
            </a:effectRef>
            <a:fontRef idx="minor">
              <a:schemeClr val="dk1"/>
            </a:fontRef>
          </p:style>
        </p:pic>
      </p:grpSp>
      <p:pic>
        <p:nvPicPr>
          <p:cNvPr id="27" name="그림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3938" y="2528064"/>
            <a:ext cx="3924194" cy="3525713"/>
          </a:xfrm>
          <a:prstGeom prst="rect">
            <a:avLst/>
          </a:prstGeom>
        </p:spPr>
      </p:pic>
    </p:spTree>
    <p:extLst>
      <p:ext uri="{BB962C8B-B14F-4D97-AF65-F5344CB8AC3E}">
        <p14:creationId xmlns:p14="http://schemas.microsoft.com/office/powerpoint/2010/main" val="746422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996626" y="81253"/>
            <a:ext cx="10515600" cy="931725"/>
          </a:xfrm>
        </p:spPr>
        <p:txBody>
          <a:bodyPr/>
          <a:lstStyle/>
          <a:p>
            <a:r>
              <a:rPr lang="en-US" altLang="ko-KR"/>
              <a:t>OpenFlow Communication</a:t>
            </a:r>
            <a:endParaRPr lang="ko-KR" altLang="en-US" dirty="0"/>
          </a:p>
        </p:txBody>
      </p:sp>
      <p:sp>
        <p:nvSpPr>
          <p:cNvPr id="3" name="내용 개체 틀 2"/>
          <p:cNvSpPr>
            <a:spLocks noGrp="1"/>
          </p:cNvSpPr>
          <p:nvPr>
            <p:ph idx="1"/>
          </p:nvPr>
        </p:nvSpPr>
        <p:spPr>
          <a:xfrm>
            <a:off x="670129" y="945661"/>
            <a:ext cx="10515600" cy="4351338"/>
          </a:xfrm>
        </p:spPr>
        <p:txBody>
          <a:bodyPr>
            <a:normAutofit/>
          </a:bodyPr>
          <a:lstStyle/>
          <a:p>
            <a:r>
              <a:rPr lang="en-US" altLang="ko-KR" sz="2400"/>
              <a:t>Connection Setup</a:t>
            </a:r>
            <a:endParaRPr lang="ko-KR" altLang="en-US" sz="2400" dirty="0"/>
          </a:p>
        </p:txBody>
      </p:sp>
      <p:pic>
        <p:nvPicPr>
          <p:cNvPr id="4" name="그림 3" descr="1.jpg"/>
          <p:cNvPicPr>
            <a:picLocks noChangeAspect="1"/>
          </p:cNvPicPr>
          <p:nvPr/>
        </p:nvPicPr>
        <p:blipFill>
          <a:blip r:embed="rId2" cstate="print">
            <a:clrChange>
              <a:clrFrom>
                <a:srgbClr val="FFFFFF"/>
              </a:clrFrom>
              <a:clrTo>
                <a:srgbClr val="FFFFFF">
                  <a:alpha val="0"/>
                </a:srgbClr>
              </a:clrTo>
            </a:clrChange>
          </a:blip>
          <a:stretch>
            <a:fillRect/>
          </a:stretch>
        </p:blipFill>
        <p:spPr>
          <a:xfrm>
            <a:off x="2774108" y="2199530"/>
            <a:ext cx="7085421" cy="4438348"/>
          </a:xfrm>
          <a:prstGeom prst="rect">
            <a:avLst/>
          </a:prstGeom>
        </p:spPr>
      </p:pic>
      <p:pic>
        <p:nvPicPr>
          <p:cNvPr id="5" name="Picture 46"/>
          <p:cNvPicPr>
            <a:picLocks noChangeAspect="1" noChangeArrowheads="1"/>
          </p:cNvPicPr>
          <p:nvPr/>
        </p:nvPicPr>
        <p:blipFill>
          <a:blip r:embed="rId3" cstate="print"/>
          <a:srcRect/>
          <a:stretch>
            <a:fillRect/>
          </a:stretch>
        </p:blipFill>
        <p:spPr bwMode="auto">
          <a:xfrm>
            <a:off x="5039935" y="1561001"/>
            <a:ext cx="887995" cy="417399"/>
          </a:xfrm>
          <a:prstGeom prst="rect">
            <a:avLst/>
          </a:prstGeom>
          <a:noFill/>
          <a:ln w="3175" algn="ctr">
            <a:noFill/>
            <a:miter lim="800000"/>
            <a:headEnd/>
            <a:tailEnd/>
          </a:ln>
          <a:effectLst/>
        </p:spPr>
      </p:pic>
      <p:cxnSp>
        <p:nvCxnSpPr>
          <p:cNvPr id="6" name="직선 연결선 5"/>
          <p:cNvCxnSpPr/>
          <p:nvPr/>
        </p:nvCxnSpPr>
        <p:spPr>
          <a:xfrm>
            <a:off x="5879976" y="1909775"/>
            <a:ext cx="1368152" cy="73827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 name="직선 연결선 6"/>
          <p:cNvCxnSpPr/>
          <p:nvPr/>
        </p:nvCxnSpPr>
        <p:spPr>
          <a:xfrm>
            <a:off x="5699956" y="2790453"/>
            <a:ext cx="1296144"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8" name="Picture 46"/>
          <p:cNvPicPr>
            <a:picLocks noChangeAspect="1" noChangeArrowheads="1"/>
          </p:cNvPicPr>
          <p:nvPr/>
        </p:nvPicPr>
        <p:blipFill>
          <a:blip r:embed="rId3" cstate="print"/>
          <a:srcRect/>
          <a:stretch>
            <a:fillRect/>
          </a:stretch>
        </p:blipFill>
        <p:spPr bwMode="auto">
          <a:xfrm>
            <a:off x="3624603" y="1632563"/>
            <a:ext cx="887995" cy="417399"/>
          </a:xfrm>
          <a:prstGeom prst="rect">
            <a:avLst/>
          </a:prstGeom>
          <a:noFill/>
          <a:ln w="3175" algn="ctr">
            <a:noFill/>
            <a:miter lim="800000"/>
            <a:headEnd/>
            <a:tailEnd/>
          </a:ln>
          <a:effectLst/>
        </p:spPr>
      </p:pic>
      <p:cxnSp>
        <p:nvCxnSpPr>
          <p:cNvPr id="9" name="직선 연결선 8"/>
          <p:cNvCxnSpPr>
            <a:stCxn id="8" idx="3"/>
            <a:endCxn id="5" idx="1"/>
          </p:cNvCxnSpPr>
          <p:nvPr/>
        </p:nvCxnSpPr>
        <p:spPr>
          <a:xfrm flipV="1">
            <a:off x="4512598" y="1769700"/>
            <a:ext cx="527337" cy="715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p:nvCxnSpPr>
        <p:spPr>
          <a:xfrm>
            <a:off x="4258156" y="1968483"/>
            <a:ext cx="527337" cy="7499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5231905" y="1944629"/>
            <a:ext cx="401827" cy="7034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직선 연결선 13"/>
          <p:cNvCxnSpPr>
            <a:endCxn id="8" idx="1"/>
          </p:cNvCxnSpPr>
          <p:nvPr/>
        </p:nvCxnSpPr>
        <p:spPr>
          <a:xfrm>
            <a:off x="3049558" y="1721992"/>
            <a:ext cx="575045" cy="1192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 14"/>
          <p:cNvCxnSpPr/>
          <p:nvPr/>
        </p:nvCxnSpPr>
        <p:spPr>
          <a:xfrm flipV="1">
            <a:off x="3121120" y="1978400"/>
            <a:ext cx="575045" cy="2683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16"/>
          <p:cNvCxnSpPr/>
          <p:nvPr/>
        </p:nvCxnSpPr>
        <p:spPr>
          <a:xfrm>
            <a:off x="4122984" y="2668197"/>
            <a:ext cx="575045" cy="1192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a:stCxn id="5" idx="3"/>
          </p:cNvCxnSpPr>
          <p:nvPr/>
        </p:nvCxnSpPr>
        <p:spPr>
          <a:xfrm flipV="1">
            <a:off x="5927929" y="1619966"/>
            <a:ext cx="821566" cy="1497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p:cNvCxnSpPr/>
          <p:nvPr/>
        </p:nvCxnSpPr>
        <p:spPr>
          <a:xfrm>
            <a:off x="4512597" y="1968484"/>
            <a:ext cx="2551524" cy="75934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직선 연결선 21"/>
          <p:cNvCxnSpPr>
            <a:stCxn id="5" idx="3"/>
          </p:cNvCxnSpPr>
          <p:nvPr/>
        </p:nvCxnSpPr>
        <p:spPr>
          <a:xfrm>
            <a:off x="5927930" y="1769700"/>
            <a:ext cx="829517" cy="208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Picture 40" descr="ICON_Laptop_Q308"/>
          <p:cNvPicPr>
            <a:picLocks noChangeAspect="1" noChangeArrowheads="1"/>
          </p:cNvPicPr>
          <p:nvPr/>
        </p:nvPicPr>
        <p:blipFill>
          <a:blip r:embed="rId4"/>
          <a:srcRect/>
          <a:stretch>
            <a:fillRect/>
          </a:stretch>
        </p:blipFill>
        <p:spPr bwMode="auto">
          <a:xfrm>
            <a:off x="2470486" y="1402209"/>
            <a:ext cx="626657" cy="686912"/>
          </a:xfrm>
          <a:prstGeom prst="rect">
            <a:avLst/>
          </a:prstGeom>
          <a:noFill/>
          <a:ln w="9525">
            <a:noFill/>
            <a:miter lim="800000"/>
            <a:headEnd/>
            <a:tailEnd/>
          </a:ln>
        </p:spPr>
      </p:pic>
      <p:pic>
        <p:nvPicPr>
          <p:cNvPr id="24" name="Picture 41" descr="ICON_ThinClient_Q308"/>
          <p:cNvPicPr>
            <a:picLocks noChangeAspect="1" noChangeArrowheads="1"/>
          </p:cNvPicPr>
          <p:nvPr/>
        </p:nvPicPr>
        <p:blipFill>
          <a:blip r:embed="rId5"/>
          <a:srcRect/>
          <a:stretch>
            <a:fillRect/>
          </a:stretch>
        </p:blipFill>
        <p:spPr bwMode="auto">
          <a:xfrm>
            <a:off x="6564053" y="1044936"/>
            <a:ext cx="648177" cy="744586"/>
          </a:xfrm>
          <a:prstGeom prst="rect">
            <a:avLst/>
          </a:prstGeom>
          <a:noFill/>
          <a:ln w="9525">
            <a:noFill/>
            <a:miter lim="800000"/>
            <a:headEnd/>
            <a:tailEnd/>
          </a:ln>
        </p:spPr>
      </p:pic>
      <p:pic>
        <p:nvPicPr>
          <p:cNvPr id="25" name="Picture 42" descr="ICON_Desktop_Q308"/>
          <p:cNvPicPr>
            <a:picLocks noChangeAspect="1" noChangeArrowheads="1"/>
          </p:cNvPicPr>
          <p:nvPr/>
        </p:nvPicPr>
        <p:blipFill>
          <a:blip r:embed="rId6"/>
          <a:srcRect/>
          <a:stretch>
            <a:fillRect/>
          </a:stretch>
        </p:blipFill>
        <p:spPr bwMode="auto">
          <a:xfrm>
            <a:off x="2737097" y="2067150"/>
            <a:ext cx="519058" cy="552629"/>
          </a:xfrm>
          <a:prstGeom prst="rect">
            <a:avLst/>
          </a:prstGeom>
          <a:noFill/>
          <a:ln w="9525">
            <a:noFill/>
            <a:miter lim="800000"/>
            <a:headEnd/>
            <a:tailEnd/>
          </a:ln>
        </p:spPr>
      </p:pic>
      <p:pic>
        <p:nvPicPr>
          <p:cNvPr id="26" name="Picture 41" descr="ICON_ThinClient_Q308"/>
          <p:cNvPicPr>
            <a:picLocks noChangeAspect="1" noChangeArrowheads="1"/>
          </p:cNvPicPr>
          <p:nvPr/>
        </p:nvPicPr>
        <p:blipFill>
          <a:blip r:embed="rId5"/>
          <a:srcRect/>
          <a:stretch>
            <a:fillRect/>
          </a:stretch>
        </p:blipFill>
        <p:spPr bwMode="auto">
          <a:xfrm>
            <a:off x="3640178" y="2179577"/>
            <a:ext cx="648177" cy="744586"/>
          </a:xfrm>
          <a:prstGeom prst="rect">
            <a:avLst/>
          </a:prstGeom>
          <a:noFill/>
          <a:ln w="9525">
            <a:noFill/>
            <a:miter lim="800000"/>
            <a:headEnd/>
            <a:tailEnd/>
          </a:ln>
        </p:spPr>
      </p:pic>
      <p:pic>
        <p:nvPicPr>
          <p:cNvPr id="27" name="Picture 40" descr="ICON_Laptop_Q308"/>
          <p:cNvPicPr>
            <a:picLocks noChangeAspect="1" noChangeArrowheads="1"/>
          </p:cNvPicPr>
          <p:nvPr/>
        </p:nvPicPr>
        <p:blipFill>
          <a:blip r:embed="rId4"/>
          <a:srcRect/>
          <a:stretch>
            <a:fillRect/>
          </a:stretch>
        </p:blipFill>
        <p:spPr bwMode="auto">
          <a:xfrm>
            <a:off x="6529468" y="1661884"/>
            <a:ext cx="626657" cy="686912"/>
          </a:xfrm>
          <a:prstGeom prst="rect">
            <a:avLst/>
          </a:prstGeom>
          <a:noFill/>
          <a:ln w="9525">
            <a:noFill/>
            <a:miter lim="800000"/>
            <a:headEnd/>
            <a:tailEnd/>
          </a:ln>
        </p:spPr>
      </p:pic>
      <p:pic>
        <p:nvPicPr>
          <p:cNvPr id="13" name="그림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78136" y="4024644"/>
            <a:ext cx="1698168" cy="326920"/>
          </a:xfrm>
          <a:prstGeom prst="rect">
            <a:avLst/>
          </a:prstGeom>
        </p:spPr>
      </p:pic>
      <p:pic>
        <p:nvPicPr>
          <p:cNvPr id="16" name="그림 1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97660" y="3840144"/>
            <a:ext cx="1806904" cy="339796"/>
          </a:xfrm>
          <a:prstGeom prst="rect">
            <a:avLst/>
          </a:prstGeom>
        </p:spPr>
      </p:pic>
    </p:spTree>
    <p:extLst>
      <p:ext uri="{BB962C8B-B14F-4D97-AF65-F5344CB8AC3E}">
        <p14:creationId xmlns:p14="http://schemas.microsoft.com/office/powerpoint/2010/main" val="1171937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077064" y="458375"/>
            <a:ext cx="10515600" cy="931725"/>
          </a:xfrm>
        </p:spPr>
        <p:txBody>
          <a:bodyPr>
            <a:normAutofit/>
          </a:bodyPr>
          <a:lstStyle/>
          <a:p>
            <a:r>
              <a:rPr lang="en-US" altLang="ko-KR" sz="2800" dirty="0"/>
              <a:t>Current Status of SDN Products and Solutions</a:t>
            </a:r>
            <a:endParaRPr lang="ko-KR" altLang="en-US" sz="2800" dirty="0"/>
          </a:p>
        </p:txBody>
      </p:sp>
      <p:sp>
        <p:nvSpPr>
          <p:cNvPr id="3" name="내용 개체 틀 2"/>
          <p:cNvSpPr>
            <a:spLocks noGrp="1"/>
          </p:cNvSpPr>
          <p:nvPr>
            <p:ph idx="1"/>
          </p:nvPr>
        </p:nvSpPr>
        <p:spPr>
          <a:xfrm>
            <a:off x="1757702" y="4257619"/>
            <a:ext cx="8512822" cy="2102239"/>
          </a:xfrm>
        </p:spPr>
        <p:txBody>
          <a:bodyPr>
            <a:normAutofit/>
          </a:bodyPr>
          <a:lstStyle/>
          <a:p>
            <a:r>
              <a:rPr lang="en-US" altLang="ko-KR" sz="2400" dirty="0"/>
              <a:t>Vendors</a:t>
            </a:r>
          </a:p>
          <a:p>
            <a:pPr lvl="1"/>
            <a:r>
              <a:rPr lang="en-US" altLang="ko-KR" sz="2000" dirty="0"/>
              <a:t>NEC: released </a:t>
            </a:r>
            <a:r>
              <a:rPr lang="en-US" altLang="ko-KR" sz="2000" dirty="0" err="1"/>
              <a:t>OpenFlow</a:t>
            </a:r>
            <a:r>
              <a:rPr lang="en-US" altLang="ko-KR" sz="2000" dirty="0"/>
              <a:t> 1.3 switch and controller… 2013.9</a:t>
            </a:r>
          </a:p>
          <a:p>
            <a:pPr lvl="1"/>
            <a:r>
              <a:rPr lang="en-US" altLang="ko-KR" sz="2000" dirty="0"/>
              <a:t>HP: released </a:t>
            </a:r>
            <a:r>
              <a:rPr lang="en-US" altLang="ko-KR" sz="2000" dirty="0" err="1"/>
              <a:t>OpenFlow</a:t>
            </a:r>
            <a:r>
              <a:rPr lang="en-US" altLang="ko-KR" sz="2000" dirty="0"/>
              <a:t> 1.3 data center switch  … 2013</a:t>
            </a:r>
          </a:p>
          <a:p>
            <a:pPr lvl="1"/>
            <a:r>
              <a:rPr lang="en-US" altLang="ko-KR" sz="2000" dirty="0" err="1"/>
              <a:t>Centec</a:t>
            </a:r>
            <a:r>
              <a:rPr lang="en-US" altLang="ko-KR" sz="2000" dirty="0"/>
              <a:t> Network, China: released Open SDN switch with OpenFlow1.3 support (implemented on </a:t>
            </a:r>
            <a:r>
              <a:rPr lang="en-US" altLang="ko-KR" sz="2000" dirty="0" err="1"/>
              <a:t>OpenVswitch</a:t>
            </a:r>
            <a:r>
              <a:rPr lang="en-US" altLang="ko-KR" sz="2000" dirty="0"/>
              <a:t>) … 2013.4</a:t>
            </a:r>
          </a:p>
          <a:p>
            <a:pPr lvl="1"/>
            <a:r>
              <a:rPr lang="en-US" altLang="ko-KR" sz="2000" dirty="0"/>
              <a:t>Brocade, </a:t>
            </a:r>
            <a:r>
              <a:rPr lang="en-US" altLang="ko-KR" sz="2000" dirty="0" err="1"/>
              <a:t>OpenFlow</a:t>
            </a:r>
            <a:r>
              <a:rPr lang="en-US" altLang="ko-KR" sz="2000" dirty="0"/>
              <a:t> 1.3 switch … 2014.6~</a:t>
            </a:r>
            <a:endParaRPr lang="en-US" altLang="ko-KR" dirty="0"/>
          </a:p>
        </p:txBody>
      </p:sp>
      <p:graphicFrame>
        <p:nvGraphicFramePr>
          <p:cNvPr id="4" name="표 3"/>
          <p:cNvGraphicFramePr>
            <a:graphicFrameLocks noGrp="1"/>
          </p:cNvGraphicFramePr>
          <p:nvPr/>
        </p:nvGraphicFramePr>
        <p:xfrm>
          <a:off x="1810884" y="1134524"/>
          <a:ext cx="8454382" cy="3078083"/>
        </p:xfrm>
        <a:graphic>
          <a:graphicData uri="http://schemas.openxmlformats.org/drawingml/2006/table">
            <a:tbl>
              <a:tblPr firstRow="1" bandRow="1">
                <a:tableStyleId>{F5AB1C69-6EDB-4FF4-983F-18BD219EF322}</a:tableStyleId>
              </a:tblPr>
              <a:tblGrid>
                <a:gridCol w="892709">
                  <a:extLst>
                    <a:ext uri="{9D8B030D-6E8A-4147-A177-3AD203B41FA5}">
                      <a16:colId xmlns:a16="http://schemas.microsoft.com/office/drawing/2014/main" val="20000"/>
                    </a:ext>
                  </a:extLst>
                </a:gridCol>
                <a:gridCol w="1585519">
                  <a:extLst>
                    <a:ext uri="{9D8B030D-6E8A-4147-A177-3AD203B41FA5}">
                      <a16:colId xmlns:a16="http://schemas.microsoft.com/office/drawing/2014/main" val="20001"/>
                    </a:ext>
                  </a:extLst>
                </a:gridCol>
                <a:gridCol w="1895912">
                  <a:extLst>
                    <a:ext uri="{9D8B030D-6E8A-4147-A177-3AD203B41FA5}">
                      <a16:colId xmlns:a16="http://schemas.microsoft.com/office/drawing/2014/main" val="20002"/>
                    </a:ext>
                  </a:extLst>
                </a:gridCol>
                <a:gridCol w="4080242">
                  <a:extLst>
                    <a:ext uri="{9D8B030D-6E8A-4147-A177-3AD203B41FA5}">
                      <a16:colId xmlns:a16="http://schemas.microsoft.com/office/drawing/2014/main" val="20003"/>
                    </a:ext>
                  </a:extLst>
                </a:gridCol>
              </a:tblGrid>
              <a:tr h="190845">
                <a:tc>
                  <a:txBody>
                    <a:bodyPr/>
                    <a:lstStyle/>
                    <a:p>
                      <a:pPr latinLnBrk="1"/>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Solutions</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err="1">
                          <a:latin typeface="Arial" panose="020B0604020202020204" pitchFamily="34" charset="0"/>
                          <a:cs typeface="Arial" panose="020B0604020202020204" pitchFamily="34" charset="0"/>
                        </a:rPr>
                        <a:t>OpenFlow</a:t>
                      </a:r>
                      <a:r>
                        <a:rPr lang="en-US" altLang="ko-KR" sz="1200" dirty="0">
                          <a:latin typeface="Arial" panose="020B0604020202020204" pitchFamily="34" charset="0"/>
                          <a:cs typeface="Arial" panose="020B0604020202020204" pitchFamily="34" charset="0"/>
                        </a:rPr>
                        <a:t> version</a:t>
                      </a:r>
                      <a:endParaRPr lang="ko-KR" altLang="en-US" sz="1200" dirty="0">
                        <a:latin typeface="Arial" panose="020B0604020202020204" pitchFamily="34" charset="0"/>
                        <a:cs typeface="Arial" panose="020B0604020202020204" pitchFamily="34" charset="0"/>
                      </a:endParaRPr>
                    </a:p>
                  </a:txBody>
                  <a:tcPr/>
                </a:tc>
                <a:tc>
                  <a:txBody>
                    <a:bodyPr/>
                    <a:lstStyle/>
                    <a:p>
                      <a:pPr latinLnBrk="1"/>
                      <a:endParaRPr lang="ko-KR" alt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324436">
                <a:tc rowSpan="5">
                  <a:txBody>
                    <a:bodyPr/>
                    <a:lstStyle/>
                    <a:p>
                      <a:pPr latinLnBrk="1"/>
                      <a:r>
                        <a:rPr lang="en-US" altLang="ko-KR" sz="1200" dirty="0">
                          <a:latin typeface="Arial" panose="020B0604020202020204" pitchFamily="34" charset="0"/>
                          <a:cs typeface="Arial" panose="020B0604020202020204" pitchFamily="34" charset="0"/>
                        </a:rPr>
                        <a:t>Controller</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b="1" dirty="0">
                          <a:latin typeface="Arial" panose="020B0604020202020204" pitchFamily="34" charset="0"/>
                          <a:cs typeface="Arial" panose="020B0604020202020204" pitchFamily="34" charset="0"/>
                        </a:rPr>
                        <a:t>NOX</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Support </a:t>
                      </a:r>
                      <a:r>
                        <a:rPr lang="en-US" altLang="ko-KR" sz="1200" dirty="0" err="1">
                          <a:latin typeface="Arial" panose="020B0604020202020204" pitchFamily="34" charset="0"/>
                          <a:cs typeface="Arial" panose="020B0604020202020204" pitchFamily="34" charset="0"/>
                        </a:rPr>
                        <a:t>OpenFlow</a:t>
                      </a:r>
                      <a:r>
                        <a:rPr lang="ko-KR" altLang="en-US" sz="1200" dirty="0">
                          <a:latin typeface="Arial" panose="020B0604020202020204" pitchFamily="34" charset="0"/>
                          <a:cs typeface="Arial" panose="020B0604020202020204" pitchFamily="34" charset="0"/>
                        </a:rPr>
                        <a:t> </a:t>
                      </a:r>
                      <a:r>
                        <a:rPr lang="en-US" altLang="ko-KR" sz="1200" dirty="0">
                          <a:latin typeface="Arial" panose="020B0604020202020204" pitchFamily="34" charset="0"/>
                          <a:cs typeface="Arial" panose="020B0604020202020204" pitchFamily="34" charset="0"/>
                        </a:rPr>
                        <a:t>1.3 </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C++</a:t>
                      </a:r>
                      <a:r>
                        <a:rPr lang="en-US" altLang="ko-KR" sz="1200" baseline="0" dirty="0">
                          <a:latin typeface="Arial" panose="020B0604020202020204" pitchFamily="34" charset="0"/>
                          <a:cs typeface="Arial" panose="020B0604020202020204" pitchFamily="34" charset="0"/>
                        </a:rPr>
                        <a:t> API</a:t>
                      </a:r>
                      <a:endParaRPr lang="ko-KR" altLang="en-U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1"/>
                  </a:ext>
                </a:extLst>
              </a:tr>
              <a:tr h="591619">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a:latin typeface="Arial" panose="020B0604020202020204" pitchFamily="34" charset="0"/>
                          <a:cs typeface="Arial" panose="020B0604020202020204" pitchFamily="34" charset="0"/>
                        </a:rPr>
                        <a:t>POX</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Python version of NOX, </a:t>
                      </a:r>
                    </a:p>
                    <a:p>
                      <a:pPr latinLnBrk="1"/>
                      <a:r>
                        <a:rPr lang="en-US" altLang="ko-KR" sz="1200" dirty="0">
                          <a:latin typeface="Arial" panose="020B0604020202020204" pitchFamily="34" charset="0"/>
                          <a:cs typeface="Arial" panose="020B0604020202020204" pitchFamily="34" charset="0"/>
                        </a:rPr>
                        <a:t>Support</a:t>
                      </a:r>
                      <a:r>
                        <a:rPr lang="en-US" altLang="ko-KR" sz="1200" baseline="0" dirty="0">
                          <a:latin typeface="Arial" panose="020B0604020202020204" pitchFamily="34" charset="0"/>
                          <a:cs typeface="Arial" panose="020B0604020202020204" pitchFamily="34" charset="0"/>
                        </a:rPr>
                        <a:t> </a:t>
                      </a:r>
                      <a:r>
                        <a:rPr lang="en-US" altLang="ko-KR" sz="1200" dirty="0" err="1">
                          <a:latin typeface="Arial" panose="020B0604020202020204" pitchFamily="34" charset="0"/>
                          <a:cs typeface="Arial" panose="020B0604020202020204" pitchFamily="34" charset="0"/>
                        </a:rPr>
                        <a:t>OpenFlow</a:t>
                      </a:r>
                      <a:r>
                        <a:rPr lang="en-US" altLang="ko-KR" sz="1200" dirty="0">
                          <a:latin typeface="Arial" panose="020B0604020202020204" pitchFamily="34" charset="0"/>
                          <a:cs typeface="Arial" panose="020B0604020202020204" pitchFamily="34" charset="0"/>
                        </a:rPr>
                        <a:t> 1.1</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Python API</a:t>
                      </a:r>
                      <a:endParaRPr lang="ko-KR" altLang="en-U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2"/>
                  </a:ext>
                </a:extLst>
              </a:tr>
              <a:tr h="324436">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a:latin typeface="Arial" panose="020B0604020202020204" pitchFamily="34" charset="0"/>
                          <a:cs typeface="Arial" panose="020B0604020202020204" pitchFamily="34" charset="0"/>
                        </a:rPr>
                        <a:t>Floodlight</a:t>
                      </a:r>
                      <a:endParaRPr lang="ko-KR" altLang="en-US" sz="1200" b="1" dirty="0">
                        <a:latin typeface="Arial" panose="020B0604020202020204" pitchFamily="34" charset="0"/>
                        <a:cs typeface="Arial" panose="020B0604020202020204" pitchFamily="34" charset="0"/>
                      </a:endParaRPr>
                    </a:p>
                  </a:txBody>
                  <a:tcPr anchor="ctr"/>
                </a:tc>
                <a:tc>
                  <a:txBody>
                    <a:bodyPr/>
                    <a:lstStyle/>
                    <a:p>
                      <a:pPr marL="0" marR="0" lvl="1"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Arial" panose="020B0604020202020204" pitchFamily="34" charset="0"/>
                          <a:cs typeface="Arial" panose="020B0604020202020204" pitchFamily="34" charset="0"/>
                        </a:rPr>
                        <a:t>Support</a:t>
                      </a:r>
                      <a:r>
                        <a:rPr lang="en-US" altLang="ko-KR" sz="1200" baseline="0" dirty="0">
                          <a:latin typeface="Arial" panose="020B0604020202020204" pitchFamily="34" charset="0"/>
                          <a:cs typeface="Arial" panose="020B0604020202020204" pitchFamily="34" charset="0"/>
                        </a:rPr>
                        <a:t> </a:t>
                      </a:r>
                      <a:r>
                        <a:rPr lang="en-US" altLang="ko-KR" sz="1200" dirty="0" err="1">
                          <a:latin typeface="Arial" panose="020B0604020202020204" pitchFamily="34" charset="0"/>
                          <a:cs typeface="Arial" panose="020B0604020202020204" pitchFamily="34" charset="0"/>
                        </a:rPr>
                        <a:t>OpenFlow</a:t>
                      </a:r>
                      <a:r>
                        <a:rPr lang="en-US" altLang="ko-KR" sz="1200" dirty="0">
                          <a:latin typeface="Arial" panose="020B0604020202020204" pitchFamily="34" charset="0"/>
                          <a:cs typeface="Arial" panose="020B0604020202020204" pitchFamily="34" charset="0"/>
                        </a:rPr>
                        <a:t> 1.3</a:t>
                      </a:r>
                    </a:p>
                  </a:txBody>
                  <a:tcPr anchor="ctr"/>
                </a:tc>
                <a:tc>
                  <a:txBody>
                    <a:bodyPr/>
                    <a:lstStyle/>
                    <a:p>
                      <a:pPr latinLnBrk="1"/>
                      <a:r>
                        <a:rPr lang="en-US" altLang="ko-KR" sz="1200" dirty="0" err="1">
                          <a:latin typeface="Arial" panose="020B0604020202020204" pitchFamily="34" charset="0"/>
                          <a:cs typeface="Arial" panose="020B0604020202020204" pitchFamily="34" charset="0"/>
                        </a:rPr>
                        <a:t>BigSwitch</a:t>
                      </a:r>
                      <a:r>
                        <a:rPr lang="en-US" altLang="ko-KR" sz="1200" dirty="0">
                          <a:latin typeface="Arial" panose="020B0604020202020204" pitchFamily="34" charset="0"/>
                          <a:cs typeface="Arial" panose="020B0604020202020204" pitchFamily="34" charset="0"/>
                        </a:rPr>
                        <a:t> joined </a:t>
                      </a:r>
                      <a:r>
                        <a:rPr lang="en-US" altLang="ko-KR" sz="1200" dirty="0" err="1">
                          <a:latin typeface="Arial" panose="020B0604020202020204" pitchFamily="34" charset="0"/>
                          <a:cs typeface="Arial" panose="020B0604020202020204" pitchFamily="34" charset="0"/>
                        </a:rPr>
                        <a:t>OpenDaylight</a:t>
                      </a:r>
                      <a:r>
                        <a:rPr lang="ko-KR" altLang="en-US" sz="1200" dirty="0">
                          <a:latin typeface="Arial" panose="020B0604020202020204" pitchFamily="34" charset="0"/>
                          <a:cs typeface="Arial" panose="020B0604020202020204" pitchFamily="34" charset="0"/>
                        </a:rPr>
                        <a:t> </a:t>
                      </a:r>
                      <a:r>
                        <a:rPr lang="en-US" altLang="ko-KR" sz="1200" dirty="0">
                          <a:latin typeface="Arial" panose="020B0604020202020204" pitchFamily="34" charset="0"/>
                          <a:cs typeface="Arial" panose="020B0604020202020204" pitchFamily="34" charset="0"/>
                        </a:rPr>
                        <a:t>but left</a:t>
                      </a:r>
                      <a:r>
                        <a:rPr lang="en-US" altLang="ko-KR" sz="1200" baseline="0" dirty="0">
                          <a:latin typeface="Arial" panose="020B0604020202020204" pitchFamily="34" charset="0"/>
                          <a:cs typeface="Arial" panose="020B0604020202020204" pitchFamily="34" charset="0"/>
                        </a:rPr>
                        <a:t> it on June 2013</a:t>
                      </a:r>
                      <a:endParaRPr lang="ko-KR" altLang="en-U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3"/>
                  </a:ext>
                </a:extLst>
              </a:tr>
              <a:tr h="324436">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err="1">
                          <a:latin typeface="Arial" panose="020B0604020202020204" pitchFamily="34" charset="0"/>
                          <a:cs typeface="Arial" panose="020B0604020202020204" pitchFamily="34" charset="0"/>
                        </a:rPr>
                        <a:t>Ryu</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Support </a:t>
                      </a:r>
                      <a:r>
                        <a:rPr lang="en-US" altLang="ko-KR" sz="1200" dirty="0" err="1">
                          <a:latin typeface="Arial" panose="020B0604020202020204" pitchFamily="34" charset="0"/>
                          <a:cs typeface="Arial" panose="020B0604020202020204" pitchFamily="34" charset="0"/>
                        </a:rPr>
                        <a:t>OpenFlow</a:t>
                      </a:r>
                      <a:r>
                        <a:rPr lang="en-US" altLang="ko-KR" sz="1200" dirty="0">
                          <a:latin typeface="Arial" panose="020B0604020202020204" pitchFamily="34" charset="0"/>
                          <a:cs typeface="Arial" panose="020B0604020202020204" pitchFamily="34" charset="0"/>
                        </a:rPr>
                        <a:t> 1.4</a:t>
                      </a:r>
                      <a:endParaRPr lang="ko-KR" altLang="en-US" sz="1200" dirty="0">
                        <a:solidFill>
                          <a:srgbClr val="FF0000"/>
                        </a:solidFill>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Python API</a:t>
                      </a:r>
                      <a:endParaRPr lang="ko-KR" altLang="en-U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4"/>
                  </a:ext>
                </a:extLst>
              </a:tr>
              <a:tr h="324436">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err="1">
                          <a:latin typeface="Arial" panose="020B0604020202020204" pitchFamily="34" charset="0"/>
                          <a:cs typeface="Arial" panose="020B0604020202020204" pitchFamily="34" charset="0"/>
                        </a:rPr>
                        <a:t>OpenDayLight</a:t>
                      </a:r>
                      <a:r>
                        <a:rPr lang="en-US" altLang="ko-KR" sz="1200" b="1" baseline="0" dirty="0">
                          <a:latin typeface="Arial" panose="020B0604020202020204" pitchFamily="34" charset="0"/>
                          <a:cs typeface="Arial" panose="020B0604020202020204" pitchFamily="34" charset="0"/>
                        </a:rPr>
                        <a:t> (ODL)</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solidFill>
                            <a:schemeClr val="tx1"/>
                          </a:solidFill>
                          <a:latin typeface="Arial" panose="020B0604020202020204" pitchFamily="34" charset="0"/>
                          <a:cs typeface="Arial" panose="020B0604020202020204" pitchFamily="34" charset="0"/>
                        </a:rPr>
                        <a:t>Support </a:t>
                      </a:r>
                      <a:r>
                        <a:rPr lang="en-US" altLang="ko-KR" sz="1200" dirty="0" err="1">
                          <a:solidFill>
                            <a:schemeClr val="tx1"/>
                          </a:solidFill>
                          <a:latin typeface="Arial" panose="020B0604020202020204" pitchFamily="34" charset="0"/>
                          <a:cs typeface="Arial" panose="020B0604020202020204" pitchFamily="34" charset="0"/>
                        </a:rPr>
                        <a:t>OpenFlow</a:t>
                      </a:r>
                      <a:r>
                        <a:rPr lang="en-US" altLang="ko-KR" sz="1200" dirty="0">
                          <a:solidFill>
                            <a:schemeClr val="tx1"/>
                          </a:solidFill>
                          <a:latin typeface="Arial" panose="020B0604020202020204" pitchFamily="34" charset="0"/>
                          <a:cs typeface="Arial" panose="020B0604020202020204" pitchFamily="34" charset="0"/>
                        </a:rPr>
                        <a:t> 1.3</a:t>
                      </a:r>
                      <a:endParaRPr lang="ko-KR" altLang="en-US" sz="1200" dirty="0">
                        <a:solidFill>
                          <a:schemeClr val="tx1"/>
                        </a:solidFill>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2014.2</a:t>
                      </a:r>
                      <a:endParaRPr lang="ko-KR" altLang="en-U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5"/>
                  </a:ext>
                </a:extLst>
              </a:tr>
              <a:tr h="324436">
                <a:tc rowSpan="2">
                  <a:txBody>
                    <a:bodyPr/>
                    <a:lstStyle/>
                    <a:p>
                      <a:pPr latinLnBrk="1"/>
                      <a:r>
                        <a:rPr lang="en-US" altLang="ko-KR" sz="1200" dirty="0">
                          <a:latin typeface="Arial" panose="020B0604020202020204" pitchFamily="34" charset="0"/>
                          <a:cs typeface="Arial" panose="020B0604020202020204" pitchFamily="34" charset="0"/>
                        </a:rPr>
                        <a:t>Switch</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b="1" dirty="0">
                          <a:latin typeface="Arial" panose="020B0604020202020204" pitchFamily="34" charset="0"/>
                          <a:cs typeface="Arial" panose="020B0604020202020204" pitchFamily="34" charset="0"/>
                        </a:rPr>
                        <a:t>Open </a:t>
                      </a:r>
                      <a:r>
                        <a:rPr lang="en-US" altLang="ko-KR" sz="1200" b="1" dirty="0" err="1">
                          <a:latin typeface="Arial" panose="020B0604020202020204" pitchFamily="34" charset="0"/>
                          <a:cs typeface="Arial" panose="020B0604020202020204" pitchFamily="34" charset="0"/>
                        </a:rPr>
                        <a:t>vSwitch</a:t>
                      </a:r>
                      <a:endParaRPr lang="ko-KR" altLang="en-US" sz="1200" b="1" dirty="0">
                        <a:latin typeface="Arial" panose="020B0604020202020204" pitchFamily="34" charset="0"/>
                        <a:cs typeface="Arial" panose="020B0604020202020204" pitchFamily="34" charset="0"/>
                      </a:endParaRPr>
                    </a:p>
                  </a:txBody>
                  <a:tcPr anchor="ctr"/>
                </a:tc>
                <a:tc>
                  <a:txBody>
                    <a:bodyPr/>
                    <a:lstStyle/>
                    <a:p>
                      <a:pPr marL="0" marR="0" lvl="1" indent="0" algn="l" defTabSz="914400" rtl="0" eaLnBrk="1" fontAlgn="auto" latinLnBrk="1" hangingPunct="1">
                        <a:lnSpc>
                          <a:spcPct val="100000"/>
                        </a:lnSpc>
                        <a:spcBef>
                          <a:spcPts val="0"/>
                        </a:spcBef>
                        <a:spcAft>
                          <a:spcPts val="0"/>
                        </a:spcAft>
                        <a:buClrTx/>
                        <a:buSzTx/>
                        <a:buFontTx/>
                        <a:buNone/>
                        <a:tabLst/>
                        <a:defRPr/>
                      </a:pPr>
                      <a:r>
                        <a:rPr lang="en-US" altLang="ko-KR" sz="1200" dirty="0">
                          <a:latin typeface="Arial" panose="020B0604020202020204" pitchFamily="34" charset="0"/>
                          <a:cs typeface="Arial" panose="020B0604020202020204" pitchFamily="34" charset="0"/>
                        </a:rPr>
                        <a:t>Support </a:t>
                      </a:r>
                      <a:r>
                        <a:rPr lang="en-US" altLang="ko-KR" sz="1200" dirty="0" err="1">
                          <a:latin typeface="Arial" panose="020B0604020202020204" pitchFamily="34" charset="0"/>
                          <a:cs typeface="Arial" panose="020B0604020202020204" pitchFamily="34" charset="0"/>
                        </a:rPr>
                        <a:t>OpenFlow</a:t>
                      </a:r>
                      <a:r>
                        <a:rPr lang="en-US" altLang="ko-KR" sz="1200" dirty="0">
                          <a:latin typeface="Arial" panose="020B0604020202020204" pitchFamily="34" charset="0"/>
                          <a:cs typeface="Arial" panose="020B0604020202020204" pitchFamily="34" charset="0"/>
                        </a:rPr>
                        <a:t> 1.3</a:t>
                      </a:r>
                    </a:p>
                  </a:txBody>
                  <a:tcPr anchor="ctr"/>
                </a:tc>
                <a:tc>
                  <a:txBody>
                    <a:bodyPr/>
                    <a:lstStyle/>
                    <a:p>
                      <a:pPr latinLnBrk="1"/>
                      <a:endParaRPr lang="ko-KR" altLang="en-U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6"/>
                  </a:ext>
                </a:extLst>
              </a:tr>
              <a:tr h="324436">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a:latin typeface="Arial" panose="020B0604020202020204" pitchFamily="34" charset="0"/>
                          <a:cs typeface="Arial" panose="020B0604020202020204" pitchFamily="34" charset="0"/>
                        </a:rPr>
                        <a:t>Ericsson</a:t>
                      </a:r>
                      <a:r>
                        <a:rPr lang="en-US" altLang="ko-KR" sz="1200" b="1" baseline="0" dirty="0">
                          <a:latin typeface="Arial" panose="020B0604020202020204" pitchFamily="34" charset="0"/>
                          <a:cs typeface="Arial" panose="020B0604020202020204" pitchFamily="34" charset="0"/>
                        </a:rPr>
                        <a:t> soft switch</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Support </a:t>
                      </a:r>
                      <a:r>
                        <a:rPr lang="en-US" altLang="ko-KR" sz="1200" dirty="0" err="1">
                          <a:latin typeface="Arial" panose="020B0604020202020204" pitchFamily="34" charset="0"/>
                          <a:cs typeface="Arial" panose="020B0604020202020204" pitchFamily="34" charset="0"/>
                        </a:rPr>
                        <a:t>OpenFlow</a:t>
                      </a:r>
                      <a:r>
                        <a:rPr lang="en-US" altLang="ko-KR" sz="1200" dirty="0">
                          <a:latin typeface="Arial" panose="020B0604020202020204" pitchFamily="34" charset="0"/>
                          <a:cs typeface="Arial" panose="020B0604020202020204" pitchFamily="34" charset="0"/>
                        </a:rPr>
                        <a:t> 1.3</a:t>
                      </a:r>
                      <a:endParaRPr lang="ko-KR" altLang="en-US" sz="1200" dirty="0">
                        <a:latin typeface="Arial" panose="020B0604020202020204" pitchFamily="34" charset="0"/>
                        <a:cs typeface="Arial" panose="020B0604020202020204" pitchFamily="34" charset="0"/>
                      </a:endParaRPr>
                    </a:p>
                  </a:txBody>
                  <a:tcPr anchor="ctr"/>
                </a:tc>
                <a:tc>
                  <a:txBody>
                    <a:bodyPr/>
                    <a:lstStyle/>
                    <a:p>
                      <a:pPr marL="0" lvl="2" indent="0"/>
                      <a:r>
                        <a:rPr lang="en-US" altLang="ko-KR" sz="1200" dirty="0">
                          <a:latin typeface="Arial" panose="020B0604020202020204" pitchFamily="34" charset="0"/>
                          <a:cs typeface="Arial" panose="020B0604020202020204" pitchFamily="34" charset="0"/>
                        </a:rPr>
                        <a:t>Compatible</a:t>
                      </a:r>
                      <a:r>
                        <a:rPr lang="en-US" altLang="ko-KR" sz="1200" baseline="0" dirty="0">
                          <a:latin typeface="Arial" panose="020B0604020202020204" pitchFamily="34" charset="0"/>
                          <a:cs typeface="Arial" panose="020B0604020202020204" pitchFamily="34" charset="0"/>
                        </a:rPr>
                        <a:t> with </a:t>
                      </a:r>
                      <a:r>
                        <a:rPr lang="en-US" altLang="ko-KR" sz="1200" dirty="0" err="1">
                          <a:latin typeface="Arial" panose="020B0604020202020204" pitchFamily="34" charset="0"/>
                          <a:cs typeface="Arial" panose="020B0604020202020204" pitchFamily="34" charset="0"/>
                        </a:rPr>
                        <a:t>Mininet</a:t>
                      </a:r>
                      <a:endParaRPr lang="en-US" altLang="ko-KR" sz="1200" dirty="0">
                        <a:latin typeface="Arial" panose="020B0604020202020204" pitchFamily="34" charset="0"/>
                        <a:cs typeface="Arial" panose="020B0604020202020204" pitchFamily="34" charset="0"/>
                      </a:endParaRPr>
                    </a:p>
                    <a:p>
                      <a:pPr marL="0" lvl="2" indent="0"/>
                      <a:r>
                        <a:rPr lang="en-US" altLang="ko-KR" sz="1200" dirty="0">
                          <a:latin typeface="Arial" panose="020B0604020202020204" pitchFamily="34" charset="0"/>
                          <a:cs typeface="Arial" panose="020B0604020202020204" pitchFamily="34" charset="0"/>
                        </a:rPr>
                        <a:t>Controller:</a:t>
                      </a:r>
                      <a:r>
                        <a:rPr lang="ko-KR" altLang="en-US" sz="1200" dirty="0">
                          <a:latin typeface="Arial" panose="020B0604020202020204" pitchFamily="34" charset="0"/>
                          <a:cs typeface="Arial" panose="020B0604020202020204" pitchFamily="34" charset="0"/>
                        </a:rPr>
                        <a:t> </a:t>
                      </a:r>
                      <a:r>
                        <a:rPr lang="en-US" altLang="ko-KR" sz="1200" dirty="0">
                          <a:latin typeface="Arial" panose="020B0604020202020204" pitchFamily="34" charset="0"/>
                          <a:cs typeface="Arial" panose="020B0604020202020204" pitchFamily="34" charset="0"/>
                        </a:rPr>
                        <a:t>NOX 1.3</a:t>
                      </a:r>
                      <a:endParaRPr lang="ko-KR" altLang="en-U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7"/>
                  </a:ext>
                </a:extLst>
              </a:tr>
            </a:tbl>
          </a:graphicData>
        </a:graphic>
      </p:graphicFrame>
      <p:sp>
        <p:nvSpPr>
          <p:cNvPr id="5" name="내용 개체 틀 2"/>
          <p:cNvSpPr txBox="1">
            <a:spLocks/>
          </p:cNvSpPr>
          <p:nvPr/>
        </p:nvSpPr>
        <p:spPr>
          <a:xfrm>
            <a:off x="2498938" y="224391"/>
            <a:ext cx="8512822" cy="489559"/>
          </a:xfrm>
          <a:prstGeom prst="rect">
            <a:avLst/>
          </a:prstGeom>
        </p:spPr>
        <p:txBody>
          <a:bodyPr vert="horz" lIns="91440" tIns="45720" rIns="91440" bIns="45720" rtlCol="0">
            <a:normAutofit/>
          </a:bodyPr>
          <a:lstStyle>
            <a:lvl1pPr marL="449263" indent="-449263" algn="l" defTabSz="914400" rtl="0" eaLnBrk="1" latinLnBrk="1" hangingPunct="1">
              <a:lnSpc>
                <a:spcPct val="90000"/>
              </a:lnSpc>
              <a:spcBef>
                <a:spcPts val="1000"/>
              </a:spcBef>
              <a:buFont typeface="Wingdings" panose="05000000000000000000" pitchFamily="2" charset="2"/>
              <a:buChar char="v"/>
              <a:defRPr sz="2800" b="1" kern="1200">
                <a:solidFill>
                  <a:schemeClr val="accent3">
                    <a:lumMod val="75000"/>
                  </a:schemeClr>
                </a:solidFill>
                <a:latin typeface="Arial" panose="020B0604020202020204" pitchFamily="34" charset="0"/>
                <a:ea typeface="+mn-ea"/>
                <a:cs typeface="Arial" panose="020B0604020202020204" pitchFamily="34" charset="0"/>
              </a:defRPr>
            </a:lvl1pPr>
            <a:lvl2pPr marL="714375" indent="-265113" algn="l" defTabSz="914400" rtl="0" eaLnBrk="1" latinLnBrk="1" hangingPunct="1">
              <a:lnSpc>
                <a:spcPct val="90000"/>
              </a:lnSpc>
              <a:spcBef>
                <a:spcPts val="500"/>
              </a:spcBef>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989013"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258888"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1527175"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sz="2400" dirty="0"/>
              <a:t>Open Source</a:t>
            </a:r>
            <a:endParaRPr lang="ko-KR" altLang="en-US" sz="2400" dirty="0"/>
          </a:p>
        </p:txBody>
      </p:sp>
    </p:spTree>
    <p:extLst>
      <p:ext uri="{BB962C8B-B14F-4D97-AF65-F5344CB8AC3E}">
        <p14:creationId xmlns:p14="http://schemas.microsoft.com/office/powerpoint/2010/main" val="25559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873477" y="15458"/>
            <a:ext cx="10515600" cy="931725"/>
          </a:xfrm>
        </p:spPr>
        <p:txBody>
          <a:bodyPr/>
          <a:lstStyle/>
          <a:p>
            <a:r>
              <a:rPr lang="en-US" altLang="ko-KR" dirty="0" err="1"/>
              <a:t>OpenFlow</a:t>
            </a:r>
            <a:r>
              <a:rPr lang="en-US" altLang="ko-KR" dirty="0"/>
              <a:t> Protocol Format</a:t>
            </a:r>
            <a:endParaRPr lang="ko-KR" altLang="en-US" dirty="0"/>
          </a:p>
        </p:txBody>
      </p:sp>
      <p:sp>
        <p:nvSpPr>
          <p:cNvPr id="3" name="내용 개체 틀 2"/>
          <p:cNvSpPr>
            <a:spLocks noGrp="1"/>
          </p:cNvSpPr>
          <p:nvPr>
            <p:ph idx="1"/>
          </p:nvPr>
        </p:nvSpPr>
        <p:spPr>
          <a:xfrm>
            <a:off x="1179870" y="867073"/>
            <a:ext cx="9375889" cy="3978647"/>
          </a:xfrm>
        </p:spPr>
        <p:txBody>
          <a:bodyPr>
            <a:normAutofit/>
          </a:bodyPr>
          <a:lstStyle/>
          <a:p>
            <a:r>
              <a:rPr lang="en-US" altLang="ko-KR" sz="2400" dirty="0"/>
              <a:t>Protocol Layer</a:t>
            </a:r>
          </a:p>
          <a:p>
            <a:pPr lvl="1"/>
            <a:r>
              <a:rPr lang="en-US" altLang="ko-KR" sz="2000" dirty="0" err="1"/>
              <a:t>OpenFlow</a:t>
            </a:r>
            <a:r>
              <a:rPr lang="en-US" altLang="ko-KR" sz="2000" dirty="0"/>
              <a:t> control message relies on TCP protocol</a:t>
            </a:r>
          </a:p>
          <a:p>
            <a:pPr lvl="1"/>
            <a:r>
              <a:rPr lang="en-US" altLang="ko-KR" sz="2000" dirty="0"/>
              <a:t>Controllers listen on </a:t>
            </a:r>
            <a:r>
              <a:rPr lang="en-US" altLang="ko-KR" sz="2000" dirty="0">
                <a:solidFill>
                  <a:srgbClr val="0000FF"/>
                </a:solidFill>
              </a:rPr>
              <a:t>TCP port 6633/6653 </a:t>
            </a:r>
            <a:r>
              <a:rPr lang="en-US" altLang="ko-KR" sz="2000" dirty="0"/>
              <a:t>to setup conn. with switch</a:t>
            </a:r>
          </a:p>
          <a:p>
            <a:pPr lvl="2"/>
            <a:r>
              <a:rPr lang="en-US" altLang="ko-KR" sz="1600" dirty="0"/>
              <a:t>6633/6653 became the official </a:t>
            </a:r>
            <a:r>
              <a:rPr lang="en-US" altLang="ko-KR" sz="1600" dirty="0">
                <a:hlinkClick r:id="rId3"/>
              </a:rPr>
              <a:t>IANA</a:t>
            </a:r>
            <a:r>
              <a:rPr lang="en-US" altLang="ko-KR" sz="1600" dirty="0"/>
              <a:t> port since 2013-07-18</a:t>
            </a:r>
          </a:p>
          <a:p>
            <a:pPr lvl="1"/>
            <a:r>
              <a:rPr lang="en-US" altLang="ko-KR" sz="2000" dirty="0" err="1"/>
              <a:t>OpenFlow</a:t>
            </a:r>
            <a:r>
              <a:rPr lang="en-US" altLang="ko-KR" sz="2000" dirty="0"/>
              <a:t> message structure</a:t>
            </a:r>
          </a:p>
          <a:p>
            <a:pPr lvl="2"/>
            <a:r>
              <a:rPr lang="en-US" altLang="ko-KR" sz="1600" dirty="0"/>
              <a:t>Version</a:t>
            </a:r>
          </a:p>
          <a:p>
            <a:pPr lvl="3"/>
            <a:r>
              <a:rPr lang="en-US" altLang="ko-KR" sz="1400" dirty="0"/>
              <a:t>Indicates the version of </a:t>
            </a:r>
            <a:r>
              <a:rPr lang="en-US" altLang="ko-KR" sz="1400" dirty="0" err="1"/>
              <a:t>OpenFlow</a:t>
            </a:r>
            <a:r>
              <a:rPr lang="en-US" altLang="ko-KR" sz="1400" dirty="0"/>
              <a:t> which this message belongs</a:t>
            </a:r>
          </a:p>
          <a:p>
            <a:pPr lvl="2"/>
            <a:r>
              <a:rPr lang="en-US" altLang="ko-KR" sz="1600" dirty="0"/>
              <a:t>Type</a:t>
            </a:r>
          </a:p>
          <a:p>
            <a:pPr lvl="3"/>
            <a:r>
              <a:rPr lang="en-US" altLang="ko-KR" sz="1400" dirty="0"/>
              <a:t>Indicates what type of message is present and how to interpret the payload (version dependent)</a:t>
            </a:r>
          </a:p>
          <a:p>
            <a:pPr lvl="2"/>
            <a:r>
              <a:rPr lang="en-US" altLang="ko-KR" sz="1600" dirty="0"/>
              <a:t>Message length</a:t>
            </a:r>
          </a:p>
          <a:p>
            <a:pPr lvl="3"/>
            <a:r>
              <a:rPr lang="en-US" altLang="ko-KR" sz="1400" dirty="0"/>
              <a:t>Indicates where this message will be end, starting from the first byte of header</a:t>
            </a:r>
          </a:p>
          <a:p>
            <a:pPr lvl="2"/>
            <a:r>
              <a:rPr lang="en-US" altLang="ko-KR" sz="1600" dirty="0"/>
              <a:t>Transaction ID (</a:t>
            </a:r>
            <a:r>
              <a:rPr lang="en-US" altLang="ko-KR" sz="1600" dirty="0" err="1"/>
              <a:t>xid</a:t>
            </a:r>
            <a:r>
              <a:rPr lang="en-US" altLang="ko-KR" sz="1600" dirty="0"/>
              <a:t>)</a:t>
            </a:r>
          </a:p>
          <a:p>
            <a:pPr lvl="3"/>
            <a:r>
              <a:rPr lang="en-US" altLang="ko-KR" sz="1400" dirty="0"/>
              <a:t>A unique value used to match requests to response</a:t>
            </a:r>
          </a:p>
        </p:txBody>
      </p:sp>
      <p:graphicFrame>
        <p:nvGraphicFramePr>
          <p:cNvPr id="4" name="내용 개체 틀 3"/>
          <p:cNvGraphicFramePr>
            <a:graphicFrameLocks/>
          </p:cNvGraphicFramePr>
          <p:nvPr/>
        </p:nvGraphicFramePr>
        <p:xfrm>
          <a:off x="1809750" y="5035559"/>
          <a:ext cx="8572502" cy="1341120"/>
        </p:xfrm>
        <a:graphic>
          <a:graphicData uri="http://schemas.openxmlformats.org/drawingml/2006/table">
            <a:tbl>
              <a:tblPr firstRow="1">
                <a:tableStyleId>{073A0DAA-6AF3-43AB-8588-CEC1D06C72B9}</a:tableStyleId>
              </a:tblPr>
              <a:tblGrid>
                <a:gridCol w="1428750">
                  <a:extLst>
                    <a:ext uri="{9D8B030D-6E8A-4147-A177-3AD203B41FA5}">
                      <a16:colId xmlns:a16="http://schemas.microsoft.com/office/drawing/2014/main" val="20000"/>
                    </a:ext>
                  </a:extLst>
                </a:gridCol>
                <a:gridCol w="1785938">
                  <a:extLst>
                    <a:ext uri="{9D8B030D-6E8A-4147-A177-3AD203B41FA5}">
                      <a16:colId xmlns:a16="http://schemas.microsoft.com/office/drawing/2014/main" val="20001"/>
                    </a:ext>
                  </a:extLst>
                </a:gridCol>
                <a:gridCol w="1785938">
                  <a:extLst>
                    <a:ext uri="{9D8B030D-6E8A-4147-A177-3AD203B41FA5}">
                      <a16:colId xmlns:a16="http://schemas.microsoft.com/office/drawing/2014/main" val="20002"/>
                    </a:ext>
                  </a:extLst>
                </a:gridCol>
                <a:gridCol w="1785938">
                  <a:extLst>
                    <a:ext uri="{9D8B030D-6E8A-4147-A177-3AD203B41FA5}">
                      <a16:colId xmlns:a16="http://schemas.microsoft.com/office/drawing/2014/main" val="20003"/>
                    </a:ext>
                  </a:extLst>
                </a:gridCol>
                <a:gridCol w="1785938">
                  <a:extLst>
                    <a:ext uri="{9D8B030D-6E8A-4147-A177-3AD203B41FA5}">
                      <a16:colId xmlns:a16="http://schemas.microsoft.com/office/drawing/2014/main" val="20004"/>
                    </a:ext>
                  </a:extLst>
                </a:gridCol>
              </a:tblGrid>
              <a:tr h="158418">
                <a:tc>
                  <a:txBody>
                    <a:bodyPr/>
                    <a:lstStyle/>
                    <a:p>
                      <a:pPr algn="ctr" latinLnBrk="1"/>
                      <a:r>
                        <a:rPr lang="en-US" altLang="ko-KR" sz="1600" dirty="0">
                          <a:latin typeface="Arial" panose="020B0604020202020204" pitchFamily="34" charset="0"/>
                          <a:cs typeface="Arial" panose="020B0604020202020204" pitchFamily="34" charset="0"/>
                        </a:rPr>
                        <a:t>Bit</a:t>
                      </a:r>
                      <a:r>
                        <a:rPr lang="ko-KR" altLang="en-US" sz="1600" baseline="0" dirty="0">
                          <a:latin typeface="Arial" panose="020B0604020202020204" pitchFamily="34" charset="0"/>
                          <a:cs typeface="Arial" panose="020B0604020202020204" pitchFamily="34" charset="0"/>
                        </a:rPr>
                        <a:t> </a:t>
                      </a:r>
                      <a:r>
                        <a:rPr lang="en-US" altLang="ko-KR" sz="1600" baseline="0" dirty="0">
                          <a:latin typeface="Arial" panose="020B0604020202020204" pitchFamily="34" charset="0"/>
                          <a:cs typeface="Arial" panose="020B0604020202020204" pitchFamily="34" charset="0"/>
                        </a:rPr>
                        <a:t>Offset</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1600" dirty="0">
                          <a:latin typeface="Arial" panose="020B0604020202020204" pitchFamily="34" charset="0"/>
                          <a:cs typeface="Arial" panose="020B0604020202020204" pitchFamily="34" charset="0"/>
                        </a:rPr>
                        <a:t>0 ~ 7</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1600" dirty="0">
                          <a:latin typeface="Arial" panose="020B0604020202020204" pitchFamily="34" charset="0"/>
                          <a:cs typeface="Arial" panose="020B0604020202020204" pitchFamily="34" charset="0"/>
                        </a:rPr>
                        <a:t>8 ~ 15</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1600" dirty="0">
                          <a:latin typeface="Arial" panose="020B0604020202020204" pitchFamily="34" charset="0"/>
                          <a:cs typeface="Arial" panose="020B0604020202020204" pitchFamily="34" charset="0"/>
                        </a:rPr>
                        <a:t>16 ~ 23</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en-US" altLang="ko-KR" sz="1600" dirty="0">
                          <a:latin typeface="Arial" panose="020B0604020202020204" pitchFamily="34" charset="0"/>
                          <a:cs typeface="Arial" panose="020B0604020202020204" pitchFamily="34" charset="0"/>
                        </a:rPr>
                        <a:t>24 ~ 31</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58418">
                <a:tc>
                  <a:txBody>
                    <a:bodyPr/>
                    <a:lstStyle/>
                    <a:p>
                      <a:pPr algn="ctr" latinLnBrk="1"/>
                      <a:r>
                        <a:rPr lang="en-US" altLang="ko-KR" sz="1600" dirty="0">
                          <a:latin typeface="Arial" panose="020B0604020202020204" pitchFamily="34" charset="0"/>
                          <a:cs typeface="Arial" panose="020B0604020202020204" pitchFamily="34" charset="0"/>
                        </a:rPr>
                        <a:t>0</a:t>
                      </a:r>
                      <a:r>
                        <a:rPr lang="en-US" altLang="ko-KR" sz="1600" baseline="0" dirty="0">
                          <a:latin typeface="Arial" panose="020B0604020202020204" pitchFamily="34" charset="0"/>
                          <a:cs typeface="Arial" panose="020B0604020202020204" pitchFamily="34" charset="0"/>
                        </a:rPr>
                        <a:t> ~ 31</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600" dirty="0">
                          <a:latin typeface="Arial" panose="020B0604020202020204" pitchFamily="34" charset="0"/>
                          <a:cs typeface="Arial" panose="020B0604020202020204" pitchFamily="34" charset="0"/>
                        </a:rPr>
                        <a:t>Version</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600" dirty="0">
                          <a:latin typeface="Arial" panose="020B0604020202020204" pitchFamily="34" charset="0"/>
                          <a:cs typeface="Arial" panose="020B0604020202020204" pitchFamily="34" charset="0"/>
                        </a:rPr>
                        <a:t>Type</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latinLnBrk="1"/>
                      <a:r>
                        <a:rPr lang="en-US" altLang="ko-KR" sz="1600" dirty="0">
                          <a:latin typeface="Arial" panose="020B0604020202020204" pitchFamily="34" charset="0"/>
                          <a:cs typeface="Arial" panose="020B0604020202020204" pitchFamily="34" charset="0"/>
                        </a:rPr>
                        <a:t>Message</a:t>
                      </a:r>
                      <a:r>
                        <a:rPr lang="en-US" altLang="ko-KR" sz="1600" baseline="0" dirty="0">
                          <a:latin typeface="Arial" panose="020B0604020202020204" pitchFamily="34" charset="0"/>
                          <a:cs typeface="Arial" panose="020B0604020202020204" pitchFamily="34" charset="0"/>
                        </a:rPr>
                        <a:t> Length</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58418">
                <a:tc>
                  <a:txBody>
                    <a:bodyPr/>
                    <a:lstStyle/>
                    <a:p>
                      <a:pPr algn="ctr" latinLnBrk="1"/>
                      <a:r>
                        <a:rPr lang="en-US" altLang="ko-KR" sz="1600" dirty="0">
                          <a:latin typeface="Arial" panose="020B0604020202020204" pitchFamily="34" charset="0"/>
                          <a:cs typeface="Arial" panose="020B0604020202020204" pitchFamily="34" charset="0"/>
                        </a:rPr>
                        <a:t>32 ~ 63</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a:txBody>
                    <a:bodyPr/>
                    <a:lstStyle/>
                    <a:p>
                      <a:pPr algn="ctr" latinLnBrk="1"/>
                      <a:r>
                        <a:rPr lang="en-US" altLang="ko-KR" sz="1600" dirty="0">
                          <a:latin typeface="Arial" panose="020B0604020202020204" pitchFamily="34" charset="0"/>
                          <a:cs typeface="Arial" panose="020B0604020202020204" pitchFamily="34" charset="0"/>
                        </a:rPr>
                        <a:t>Transaction ID</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2"/>
                  </a:ext>
                </a:extLst>
              </a:tr>
              <a:tr h="158418">
                <a:tc>
                  <a:txBody>
                    <a:bodyPr/>
                    <a:lstStyle/>
                    <a:p>
                      <a:pPr algn="ctr" latinLnBrk="1"/>
                      <a:r>
                        <a:rPr lang="en-US" altLang="ko-KR" sz="1600" dirty="0">
                          <a:latin typeface="Arial" panose="020B0604020202020204" pitchFamily="34" charset="0"/>
                          <a:cs typeface="Arial" panose="020B0604020202020204" pitchFamily="34" charset="0"/>
                        </a:rPr>
                        <a:t>64 ~ ?</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a:txBody>
                    <a:bodyPr/>
                    <a:lstStyle/>
                    <a:p>
                      <a:pPr algn="ctr" latinLnBrk="1"/>
                      <a:r>
                        <a:rPr lang="en-US" altLang="ko-KR" sz="1600" dirty="0">
                          <a:latin typeface="Arial" panose="020B0604020202020204" pitchFamily="34" charset="0"/>
                          <a:cs typeface="Arial" panose="020B0604020202020204" pitchFamily="34" charset="0"/>
                        </a:rPr>
                        <a:t>Payload</a:t>
                      </a:r>
                      <a:endParaRPr lang="ko-KR" altLang="en-US" sz="16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3"/>
                  </a:ext>
                </a:extLst>
              </a:tr>
            </a:tbl>
          </a:graphicData>
        </a:graphic>
      </p:graphicFrame>
      <p:sp>
        <p:nvSpPr>
          <p:cNvPr id="5" name="Rectangle 9"/>
          <p:cNvSpPr>
            <a:spLocks/>
          </p:cNvSpPr>
          <p:nvPr/>
        </p:nvSpPr>
        <p:spPr bwMode="auto">
          <a:xfrm>
            <a:off x="4107721" y="6376679"/>
            <a:ext cx="2973668" cy="246221"/>
          </a:xfrm>
          <a:prstGeom prst="rect">
            <a:avLst/>
          </a:prstGeom>
          <a:noFill/>
          <a:ln w="12700">
            <a:noFill/>
            <a:miter lim="800000"/>
            <a:headEnd/>
            <a:tailEnd/>
          </a:ln>
        </p:spPr>
        <p:txBody>
          <a:bodyPr wrap="square" lIns="0" tIns="0" rIns="41464" bIns="0">
            <a:spAutoFit/>
          </a:bodyPr>
          <a:lstStyle/>
          <a:p>
            <a:pPr marL="41275" algn="ctr"/>
            <a:r>
              <a:rPr lang="en-US" altLang="ko-KR" sz="1600" b="1" dirty="0" err="1">
                <a:solidFill>
                  <a:srgbClr val="FF0000"/>
                </a:solidFill>
                <a:latin typeface="Arial" panose="020B0604020202020204" pitchFamily="34" charset="0"/>
                <a:cs typeface="Arial" panose="020B0604020202020204" pitchFamily="34" charset="0"/>
                <a:sym typeface="Gill Sans" charset="0"/>
              </a:rPr>
              <a:t>OpenFlow</a:t>
            </a:r>
            <a:r>
              <a:rPr lang="en-US" altLang="ko-KR" sz="1600" b="1" dirty="0">
                <a:solidFill>
                  <a:srgbClr val="FF0000"/>
                </a:solidFill>
                <a:latin typeface="Arial" panose="020B0604020202020204" pitchFamily="34" charset="0"/>
                <a:cs typeface="Arial" panose="020B0604020202020204" pitchFamily="34" charset="0"/>
                <a:sym typeface="Gill Sans" charset="0"/>
              </a:rPr>
              <a:t> Message Structure</a:t>
            </a:r>
          </a:p>
        </p:txBody>
      </p:sp>
    </p:spTree>
    <p:extLst>
      <p:ext uri="{BB962C8B-B14F-4D97-AF65-F5344CB8AC3E}">
        <p14:creationId xmlns:p14="http://schemas.microsoft.com/office/powerpoint/2010/main" val="426471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690FB-1861-16B3-A0A9-1DD7B8433705}"/>
              </a:ext>
            </a:extLst>
          </p:cNvPr>
          <p:cNvSpPr>
            <a:spLocks noGrp="1"/>
          </p:cNvSpPr>
          <p:nvPr>
            <p:ph type="title"/>
          </p:nvPr>
        </p:nvSpPr>
        <p:spPr/>
        <p:txBody>
          <a:bodyPr/>
          <a:lstStyle/>
          <a:p>
            <a:r>
              <a:rPr lang="en-IE" dirty="0"/>
              <a:t>Flow tables</a:t>
            </a:r>
          </a:p>
        </p:txBody>
      </p:sp>
      <p:sp>
        <p:nvSpPr>
          <p:cNvPr id="3" name="Content Placeholder 2">
            <a:extLst>
              <a:ext uri="{FF2B5EF4-FFF2-40B4-BE49-F238E27FC236}">
                <a16:creationId xmlns:a16="http://schemas.microsoft.com/office/drawing/2014/main" id="{FF5178CA-80B2-E6B2-D779-D29CB16C9D26}"/>
              </a:ext>
            </a:extLst>
          </p:cNvPr>
          <p:cNvSpPr>
            <a:spLocks noGrp="1"/>
          </p:cNvSpPr>
          <p:nvPr>
            <p:ph idx="1"/>
          </p:nvPr>
        </p:nvSpPr>
        <p:spPr/>
        <p:txBody>
          <a:bodyPr/>
          <a:lstStyle/>
          <a:p>
            <a:r>
              <a:rPr lang="en-GB" dirty="0"/>
              <a:t>Flow tables allow the device to evaluate incoming packets and take the appropriate action based on the contents of the packet.</a:t>
            </a:r>
          </a:p>
          <a:p>
            <a:r>
              <a:rPr lang="en-GB" dirty="0"/>
              <a:t>Depending on that evaluation, actions are taken. These actions may include forwarding the packet to a speciﬁc port, dropping the packet, and ﬂooding the packet on all ports, among others.</a:t>
            </a:r>
          </a:p>
          <a:p>
            <a:r>
              <a:rPr lang="en-GB" dirty="0"/>
              <a:t>Flow tables consist of a number of prioritised flow entries, each of which typically consists of two components, </a:t>
            </a:r>
            <a:r>
              <a:rPr lang="en-GB" b="1" dirty="0"/>
              <a:t>match ﬁelds and actions</a:t>
            </a:r>
            <a:r>
              <a:rPr lang="en-GB" dirty="0"/>
              <a:t>. </a:t>
            </a:r>
          </a:p>
          <a:p>
            <a:endParaRPr lang="en-IE" dirty="0"/>
          </a:p>
        </p:txBody>
      </p:sp>
    </p:spTree>
    <p:extLst>
      <p:ext uri="{BB962C8B-B14F-4D97-AF65-F5344CB8AC3E}">
        <p14:creationId xmlns:p14="http://schemas.microsoft.com/office/powerpoint/2010/main" val="3334265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A14DC-47B2-3EA9-D88A-E4DFF2509327}"/>
              </a:ext>
            </a:extLst>
          </p:cNvPr>
          <p:cNvSpPr>
            <a:spLocks noGrp="1"/>
          </p:cNvSpPr>
          <p:nvPr>
            <p:ph type="title"/>
          </p:nvPr>
        </p:nvSpPr>
        <p:spPr/>
        <p:txBody>
          <a:bodyPr/>
          <a:lstStyle/>
          <a:p>
            <a:r>
              <a:rPr lang="en-GB" dirty="0"/>
              <a:t>Flow Tables and ﬂow entries</a:t>
            </a:r>
            <a:endParaRPr lang="en-IE" dirty="0"/>
          </a:p>
        </p:txBody>
      </p:sp>
      <p:sp>
        <p:nvSpPr>
          <p:cNvPr id="3" name="Content Placeholder 2">
            <a:extLst>
              <a:ext uri="{FF2B5EF4-FFF2-40B4-BE49-F238E27FC236}">
                <a16:creationId xmlns:a16="http://schemas.microsoft.com/office/drawing/2014/main" id="{6F4A46D3-1844-07B1-EC5E-49152E174537}"/>
              </a:ext>
            </a:extLst>
          </p:cNvPr>
          <p:cNvSpPr>
            <a:spLocks noGrp="1"/>
          </p:cNvSpPr>
          <p:nvPr>
            <p:ph idx="1"/>
          </p:nvPr>
        </p:nvSpPr>
        <p:spPr/>
        <p:txBody>
          <a:bodyPr>
            <a:normAutofit fontScale="85000" lnSpcReduction="20000"/>
          </a:bodyPr>
          <a:lstStyle/>
          <a:p>
            <a:r>
              <a:rPr lang="en-GB" b="1" dirty="0"/>
              <a:t>match ﬁelds</a:t>
            </a:r>
            <a:r>
              <a:rPr lang="en-GB" dirty="0"/>
              <a:t>: to match against packets. These consist of the ingress port and packet headers, and optionally other pipeline ﬁelds such as metadata speciﬁed by a previous table.</a:t>
            </a:r>
          </a:p>
          <a:p>
            <a:r>
              <a:rPr lang="en-GB" b="1" dirty="0"/>
              <a:t>priority</a:t>
            </a:r>
            <a:r>
              <a:rPr lang="en-GB" dirty="0"/>
              <a:t>: matching the precedence of the ﬂow entry.</a:t>
            </a:r>
          </a:p>
          <a:p>
            <a:r>
              <a:rPr lang="en-GB" b="1" dirty="0"/>
              <a:t>counters</a:t>
            </a:r>
            <a:r>
              <a:rPr lang="en-GB" dirty="0"/>
              <a:t>: updated when packets are matched.</a:t>
            </a:r>
          </a:p>
          <a:p>
            <a:r>
              <a:rPr lang="en-GB" b="1" dirty="0"/>
              <a:t>instructions</a:t>
            </a:r>
            <a:r>
              <a:rPr lang="en-GB" dirty="0"/>
              <a:t>: to modify the action set or pipeline processing.</a:t>
            </a:r>
          </a:p>
          <a:p>
            <a:r>
              <a:rPr lang="en-GB" b="1" dirty="0"/>
              <a:t>timeouts</a:t>
            </a:r>
            <a:r>
              <a:rPr lang="en-GB" dirty="0"/>
              <a:t>: maximum amount of time or idle time before ﬂow is expired by the switch.</a:t>
            </a:r>
          </a:p>
          <a:p>
            <a:r>
              <a:rPr lang="en-GB" b="1" dirty="0"/>
              <a:t>cookie</a:t>
            </a:r>
            <a:r>
              <a:rPr lang="en-GB" dirty="0"/>
              <a:t>: opaque data value chosen by the controller. May be used by the controller to ﬁlter ﬂow entries aﬀected by ﬂow statistics, ﬂow modiﬁcation and ﬂow deletion requests. Not used when processing packets.</a:t>
            </a:r>
          </a:p>
          <a:p>
            <a:r>
              <a:rPr lang="en-GB" b="1" dirty="0"/>
              <a:t>ﬂags</a:t>
            </a:r>
            <a:r>
              <a:rPr lang="en-GB" dirty="0"/>
              <a:t>: ﬂags alter the way ﬂow entries are managed, for example, the ﬂag OFPFF_SEND_FLOW_REM triggers ﬂow removed messages for that ﬂow entry.</a:t>
            </a:r>
          </a:p>
          <a:p>
            <a:endParaRPr lang="en-IE" dirty="0"/>
          </a:p>
        </p:txBody>
      </p:sp>
      <p:pic>
        <p:nvPicPr>
          <p:cNvPr id="6" name="Picture 5">
            <a:extLst>
              <a:ext uri="{FF2B5EF4-FFF2-40B4-BE49-F238E27FC236}">
                <a16:creationId xmlns:a16="http://schemas.microsoft.com/office/drawing/2014/main" id="{43E3BC63-ED72-D72B-F52B-B5E7627E8D10}"/>
              </a:ext>
            </a:extLst>
          </p:cNvPr>
          <p:cNvPicPr>
            <a:picLocks noChangeAspect="1"/>
          </p:cNvPicPr>
          <p:nvPr/>
        </p:nvPicPr>
        <p:blipFill>
          <a:blip r:embed="rId2"/>
          <a:stretch>
            <a:fillRect/>
          </a:stretch>
        </p:blipFill>
        <p:spPr>
          <a:xfrm>
            <a:off x="2114700" y="6176963"/>
            <a:ext cx="7962600" cy="409574"/>
          </a:xfrm>
          <a:prstGeom prst="rect">
            <a:avLst/>
          </a:prstGeom>
        </p:spPr>
      </p:pic>
    </p:spTree>
    <p:extLst>
      <p:ext uri="{BB962C8B-B14F-4D97-AF65-F5344CB8AC3E}">
        <p14:creationId xmlns:p14="http://schemas.microsoft.com/office/powerpoint/2010/main" val="1311664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392560" y="-111052"/>
            <a:ext cx="10515600" cy="931725"/>
          </a:xfrm>
        </p:spPr>
        <p:txBody>
          <a:bodyPr/>
          <a:lstStyle/>
          <a:p>
            <a:r>
              <a:rPr lang="en-US" altLang="ko-KR" dirty="0" err="1"/>
              <a:t>OpenFlow</a:t>
            </a:r>
            <a:r>
              <a:rPr lang="en-US" altLang="ko-KR" dirty="0"/>
              <a:t>: Flow Table</a:t>
            </a:r>
            <a:endParaRPr lang="ko-KR" altLang="en-US" dirty="0"/>
          </a:p>
        </p:txBody>
      </p:sp>
      <p:sp>
        <p:nvSpPr>
          <p:cNvPr id="3" name="내용 개체 틀 2"/>
          <p:cNvSpPr>
            <a:spLocks noGrp="1"/>
          </p:cNvSpPr>
          <p:nvPr>
            <p:ph idx="1"/>
          </p:nvPr>
        </p:nvSpPr>
        <p:spPr>
          <a:xfrm>
            <a:off x="1839589" y="954861"/>
            <a:ext cx="8512822" cy="630659"/>
          </a:xfrm>
        </p:spPr>
        <p:txBody>
          <a:bodyPr>
            <a:normAutofit/>
          </a:bodyPr>
          <a:lstStyle/>
          <a:p>
            <a:r>
              <a:rPr lang="en-US" altLang="ko-KR" sz="2400" dirty="0"/>
              <a:t>Flow Table</a:t>
            </a:r>
            <a:endParaRPr lang="ko-KR" altLang="en-US" sz="2400" dirty="0"/>
          </a:p>
        </p:txBody>
      </p:sp>
      <p:sp>
        <p:nvSpPr>
          <p:cNvPr id="4" name="타원형 설명선 3"/>
          <p:cNvSpPr/>
          <p:nvPr/>
        </p:nvSpPr>
        <p:spPr>
          <a:xfrm>
            <a:off x="4904439" y="754154"/>
            <a:ext cx="2124236" cy="864096"/>
          </a:xfrm>
          <a:prstGeom prst="wedgeEllipseCallout">
            <a:avLst>
              <a:gd name="adj1" fmla="val -42403"/>
              <a:gd name="adj2" fmla="val 62133"/>
            </a:avLst>
          </a:prstGeom>
          <a:solidFill>
            <a:srgbClr val="FFCCCC"/>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latin typeface="Arial" panose="020B0604020202020204" pitchFamily="34" charset="0"/>
                <a:cs typeface="Arial" panose="020B0604020202020204" pitchFamily="34" charset="0"/>
              </a:rPr>
              <a:t>Counters used when controller calculates paths</a:t>
            </a:r>
            <a:endParaRPr lang="ko-KR" altLang="en-US" sz="1200" dirty="0">
              <a:solidFill>
                <a:schemeClr val="tx1"/>
              </a:solidFill>
              <a:latin typeface="Arial" panose="020B0604020202020204" pitchFamily="34" charset="0"/>
              <a:cs typeface="Arial" panose="020B0604020202020204" pitchFamily="34" charset="0"/>
            </a:endParaRPr>
          </a:p>
        </p:txBody>
      </p:sp>
      <p:sp>
        <p:nvSpPr>
          <p:cNvPr id="6" name="Rectangle 28"/>
          <p:cNvSpPr>
            <a:spLocks/>
          </p:cNvSpPr>
          <p:nvPr/>
        </p:nvSpPr>
        <p:spPr bwMode="auto">
          <a:xfrm>
            <a:off x="6533103" y="2579390"/>
            <a:ext cx="3185328" cy="1476615"/>
          </a:xfrm>
          <a:prstGeom prst="rect">
            <a:avLst/>
          </a:prstGeom>
          <a:solidFill>
            <a:srgbClr val="CBE97B"/>
          </a:solidFill>
          <a:ln w="12700">
            <a:solidFill>
              <a:srgbClr val="697D3A"/>
            </a:solidFill>
            <a:miter lim="800000"/>
            <a:headEnd/>
            <a:tailEnd/>
          </a:ln>
        </p:spPr>
        <p:txBody>
          <a:bodyPr wrap="none" lIns="0" tIns="0" rIns="0" bIns="0" anchor="ctr"/>
          <a:lstStyle/>
          <a:p>
            <a:pPr marL="357188" indent="-330200" defTabSz="457200"/>
            <a:r>
              <a:rPr lang="en-US" sz="1200" b="1" dirty="0">
                <a:latin typeface="Arial" panose="020B0604020202020204" pitchFamily="34" charset="0"/>
                <a:cs typeface="Arial" panose="020B0604020202020204" pitchFamily="34" charset="0"/>
              </a:rPr>
              <a:t>Actions(Instructions)</a:t>
            </a:r>
          </a:p>
          <a:p>
            <a:pPr marL="361950" indent="-180975" defTabSz="457200">
              <a:buFontTx/>
              <a:buAutoNum type="arabicPeriod"/>
            </a:pPr>
            <a:r>
              <a:rPr lang="en-US" sz="1200" b="1" dirty="0">
                <a:latin typeface="Arial" panose="020B0604020202020204" pitchFamily="34" charset="0"/>
                <a:cs typeface="Arial" panose="020B0604020202020204" pitchFamily="34" charset="0"/>
              </a:rPr>
              <a:t>Forward packet to port(s)</a:t>
            </a:r>
          </a:p>
          <a:p>
            <a:pPr marL="361950" indent="-180975" defTabSz="457200">
              <a:buFontTx/>
              <a:buAutoNum type="arabicPeriod"/>
            </a:pPr>
            <a:r>
              <a:rPr lang="en-US" sz="1200" b="1" dirty="0">
                <a:latin typeface="Arial" panose="020B0604020202020204" pitchFamily="34" charset="0"/>
                <a:cs typeface="Arial" panose="020B0604020202020204" pitchFamily="34" charset="0"/>
              </a:rPr>
              <a:t>Encapsulate and forward to controller</a:t>
            </a:r>
          </a:p>
          <a:p>
            <a:pPr marL="361950" indent="-180975" defTabSz="457200">
              <a:buFontTx/>
              <a:buAutoNum type="arabicPeriod"/>
            </a:pPr>
            <a:r>
              <a:rPr lang="en-US" sz="1200" b="1" dirty="0">
                <a:latin typeface="Arial" panose="020B0604020202020204" pitchFamily="34" charset="0"/>
                <a:cs typeface="Arial" panose="020B0604020202020204" pitchFamily="34" charset="0"/>
              </a:rPr>
              <a:t>Drop packet</a:t>
            </a:r>
          </a:p>
          <a:p>
            <a:pPr marL="361950" indent="-180975" defTabSz="457200">
              <a:buFontTx/>
              <a:buAutoNum type="arabicPeriod"/>
            </a:pPr>
            <a:r>
              <a:rPr lang="en-US" sz="1200" b="1" dirty="0">
                <a:latin typeface="Arial" panose="020B0604020202020204" pitchFamily="34" charset="0"/>
                <a:cs typeface="Arial" panose="020B0604020202020204" pitchFamily="34" charset="0"/>
              </a:rPr>
              <a:t>Send to normal processing pipeline</a:t>
            </a:r>
          </a:p>
          <a:p>
            <a:pPr marL="361950" indent="-180975" defTabSz="457200">
              <a:buFontTx/>
              <a:buAutoNum type="arabicPeriod"/>
            </a:pPr>
            <a:r>
              <a:rPr lang="en-US" sz="1200" b="1" dirty="0">
                <a:latin typeface="Arial" panose="020B0604020202020204" pitchFamily="34" charset="0"/>
                <a:cs typeface="Arial" panose="020B0604020202020204" pitchFamily="34" charset="0"/>
              </a:rPr>
              <a:t>Modify Fields</a:t>
            </a:r>
          </a:p>
          <a:p>
            <a:pPr marL="361950" indent="-180975" defTabSz="457200">
              <a:buFontTx/>
              <a:buAutoNum type="arabicPeriod"/>
            </a:pPr>
            <a:r>
              <a:rPr lang="en-US" sz="1200" b="1" dirty="0">
                <a:latin typeface="Arial" panose="020B0604020202020204" pitchFamily="34" charset="0"/>
                <a:cs typeface="Arial" panose="020B0604020202020204" pitchFamily="34" charset="0"/>
              </a:rPr>
              <a:t>Etc.</a:t>
            </a:r>
          </a:p>
        </p:txBody>
      </p:sp>
      <p:sp>
        <p:nvSpPr>
          <p:cNvPr id="7" name="위로 굽은 화살표 6"/>
          <p:cNvSpPr/>
          <p:nvPr/>
        </p:nvSpPr>
        <p:spPr>
          <a:xfrm rot="5400000">
            <a:off x="5945785" y="2624423"/>
            <a:ext cx="571528" cy="603107"/>
          </a:xfrm>
          <a:prstGeom prst="bentUpArrow">
            <a:avLst>
              <a:gd name="adj1" fmla="val 12313"/>
              <a:gd name="adj2" fmla="val 25000"/>
              <a:gd name="adj3" fmla="val 19379"/>
            </a:avLst>
          </a:prstGeom>
          <a:solidFill>
            <a:srgbClr val="AFDC7E"/>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600" dirty="0">
              <a:latin typeface="Arial" panose="020B0604020202020204" pitchFamily="34" charset="0"/>
              <a:cs typeface="Arial" panose="020B0604020202020204" pitchFamily="34" charset="0"/>
            </a:endParaRPr>
          </a:p>
        </p:txBody>
      </p:sp>
      <p:grpSp>
        <p:nvGrpSpPr>
          <p:cNvPr id="8" name="그룹 7"/>
          <p:cNvGrpSpPr/>
          <p:nvPr/>
        </p:nvGrpSpPr>
        <p:grpSpPr>
          <a:xfrm>
            <a:off x="1991545" y="5409983"/>
            <a:ext cx="8244915" cy="1068242"/>
            <a:chOff x="467544" y="5229200"/>
            <a:chExt cx="8244915" cy="1068242"/>
          </a:xfrm>
        </p:grpSpPr>
        <p:sp>
          <p:nvSpPr>
            <p:cNvPr id="9" name="직사각형 8"/>
            <p:cNvSpPr/>
            <p:nvPr/>
          </p:nvSpPr>
          <p:spPr>
            <a:xfrm>
              <a:off x="467544" y="5487906"/>
              <a:ext cx="8244915" cy="615579"/>
            </a:xfrm>
            <a:prstGeom prst="rect">
              <a:avLst/>
            </a:prstGeom>
            <a:solidFill>
              <a:schemeClr val="accent5">
                <a:lumMod val="60000"/>
                <a:lumOff val="40000"/>
              </a:schemeClr>
            </a:solidFill>
            <a:ln w="3175">
              <a:solidFill>
                <a:srgbClr val="0102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dirty="0">
                <a:latin typeface="Arial" panose="020B0604020202020204" pitchFamily="34" charset="0"/>
                <a:cs typeface="Arial" panose="020B0604020202020204" pitchFamily="34" charset="0"/>
              </a:endParaRPr>
            </a:p>
          </p:txBody>
        </p:sp>
        <p:sp>
          <p:nvSpPr>
            <p:cNvPr id="10" name="Rectangle 29"/>
            <p:cNvSpPr>
              <a:spLocks/>
            </p:cNvSpPr>
            <p:nvPr/>
          </p:nvSpPr>
          <p:spPr bwMode="auto">
            <a:xfrm>
              <a:off x="6421515" y="6081998"/>
              <a:ext cx="2168752" cy="215444"/>
            </a:xfrm>
            <a:prstGeom prst="rect">
              <a:avLst/>
            </a:prstGeom>
            <a:noFill/>
            <a:ln w="12700">
              <a:noFill/>
              <a:miter lim="800000"/>
              <a:headEnd/>
              <a:tailEnd/>
            </a:ln>
          </p:spPr>
          <p:txBody>
            <a:bodyPr wrap="square" lIns="0" tIns="0" rIns="0" bIns="0" anchor="ctr">
              <a:spAutoFit/>
            </a:bodyPr>
            <a:lstStyle/>
            <a:p>
              <a:pPr defTabSz="457200"/>
              <a:endParaRPr lang="en-US" sz="1400" dirty="0">
                <a:latin typeface="Arial" panose="020B0604020202020204" pitchFamily="34" charset="0"/>
                <a:cs typeface="Arial" panose="020B0604020202020204" pitchFamily="34" charset="0"/>
              </a:endParaRPr>
            </a:p>
          </p:txBody>
        </p:sp>
        <p:sp>
          <p:nvSpPr>
            <p:cNvPr id="11" name="Rectangle 2"/>
            <p:cNvSpPr>
              <a:spLocks/>
            </p:cNvSpPr>
            <p:nvPr/>
          </p:nvSpPr>
          <p:spPr bwMode="auto">
            <a:xfrm>
              <a:off x="503979" y="5537886"/>
              <a:ext cx="552723" cy="516689"/>
            </a:xfrm>
            <a:prstGeom prst="rect">
              <a:avLst/>
            </a:prstGeom>
            <a:solidFill>
              <a:schemeClr val="bg1"/>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12" name="Rectangle 3"/>
            <p:cNvSpPr>
              <a:spLocks/>
            </p:cNvSpPr>
            <p:nvPr/>
          </p:nvSpPr>
          <p:spPr bwMode="auto">
            <a:xfrm>
              <a:off x="540981" y="5606944"/>
              <a:ext cx="499093" cy="344942"/>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Switch</a:t>
              </a:r>
            </a:p>
            <a:p>
              <a:pPr algn="ctr" defTabSz="457200"/>
              <a:r>
                <a:rPr lang="en-US" sz="1100" dirty="0">
                  <a:latin typeface="Arial" panose="020B0604020202020204" pitchFamily="34" charset="0"/>
                  <a:cs typeface="Arial" panose="020B0604020202020204" pitchFamily="34" charset="0"/>
                </a:rPr>
                <a:t>Port</a:t>
              </a:r>
            </a:p>
          </p:txBody>
        </p:sp>
        <p:sp>
          <p:nvSpPr>
            <p:cNvPr id="13" name="Rectangle 2"/>
            <p:cNvSpPr>
              <a:spLocks/>
            </p:cNvSpPr>
            <p:nvPr/>
          </p:nvSpPr>
          <p:spPr bwMode="auto">
            <a:xfrm>
              <a:off x="1056702" y="5538526"/>
              <a:ext cx="552723" cy="516689"/>
            </a:xfrm>
            <a:prstGeom prst="rect">
              <a:avLst/>
            </a:prstGeom>
            <a:solidFill>
              <a:schemeClr val="bg1"/>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14" name="Rectangle 3"/>
            <p:cNvSpPr>
              <a:spLocks/>
            </p:cNvSpPr>
            <p:nvPr/>
          </p:nvSpPr>
          <p:spPr bwMode="auto">
            <a:xfrm>
              <a:off x="1040073" y="5636583"/>
              <a:ext cx="499093" cy="344942"/>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MAC      src</a:t>
              </a:r>
            </a:p>
          </p:txBody>
        </p:sp>
        <p:sp>
          <p:nvSpPr>
            <p:cNvPr id="15" name="Rectangle 2"/>
            <p:cNvSpPr>
              <a:spLocks/>
            </p:cNvSpPr>
            <p:nvPr/>
          </p:nvSpPr>
          <p:spPr bwMode="auto">
            <a:xfrm>
              <a:off x="1609425" y="5538526"/>
              <a:ext cx="552723" cy="516689"/>
            </a:xfrm>
            <a:prstGeom prst="rect">
              <a:avLst/>
            </a:prstGeom>
            <a:solidFill>
              <a:schemeClr val="bg1"/>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16" name="Rectangle 3"/>
            <p:cNvSpPr>
              <a:spLocks/>
            </p:cNvSpPr>
            <p:nvPr/>
          </p:nvSpPr>
          <p:spPr bwMode="auto">
            <a:xfrm>
              <a:off x="1619013" y="5608776"/>
              <a:ext cx="499093" cy="344942"/>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MAC</a:t>
              </a:r>
            </a:p>
            <a:p>
              <a:pPr algn="ctr" defTabSz="457200"/>
              <a:r>
                <a:rPr lang="en-US" sz="1100" dirty="0">
                  <a:latin typeface="Arial" panose="020B0604020202020204" pitchFamily="34" charset="0"/>
                  <a:cs typeface="Arial" panose="020B0604020202020204" pitchFamily="34" charset="0"/>
                </a:rPr>
                <a:t>dst</a:t>
              </a:r>
            </a:p>
          </p:txBody>
        </p:sp>
        <p:sp>
          <p:nvSpPr>
            <p:cNvPr id="17" name="Rectangle 2"/>
            <p:cNvSpPr>
              <a:spLocks/>
            </p:cNvSpPr>
            <p:nvPr/>
          </p:nvSpPr>
          <p:spPr bwMode="auto">
            <a:xfrm>
              <a:off x="2118106" y="5536888"/>
              <a:ext cx="552723" cy="516689"/>
            </a:xfrm>
            <a:prstGeom prst="rect">
              <a:avLst/>
            </a:prstGeom>
            <a:solidFill>
              <a:schemeClr val="bg1"/>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18" name="Rectangle 3"/>
            <p:cNvSpPr>
              <a:spLocks/>
            </p:cNvSpPr>
            <p:nvPr/>
          </p:nvSpPr>
          <p:spPr bwMode="auto">
            <a:xfrm>
              <a:off x="2118106" y="5637254"/>
              <a:ext cx="499093" cy="344942"/>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Ether     type</a:t>
              </a:r>
            </a:p>
          </p:txBody>
        </p:sp>
        <p:sp>
          <p:nvSpPr>
            <p:cNvPr id="19" name="Rectangle 2"/>
            <p:cNvSpPr>
              <a:spLocks/>
            </p:cNvSpPr>
            <p:nvPr/>
          </p:nvSpPr>
          <p:spPr bwMode="auto">
            <a:xfrm>
              <a:off x="2656634" y="5536053"/>
              <a:ext cx="552723" cy="516689"/>
            </a:xfrm>
            <a:prstGeom prst="rect">
              <a:avLst/>
            </a:prstGeom>
            <a:solidFill>
              <a:schemeClr val="bg1"/>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20" name="Rectangle 3"/>
            <p:cNvSpPr>
              <a:spLocks/>
            </p:cNvSpPr>
            <p:nvPr/>
          </p:nvSpPr>
          <p:spPr bwMode="auto">
            <a:xfrm>
              <a:off x="2656634" y="5633590"/>
              <a:ext cx="499093" cy="344942"/>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VLAN     ID</a:t>
              </a:r>
            </a:p>
          </p:txBody>
        </p:sp>
        <p:sp>
          <p:nvSpPr>
            <p:cNvPr id="21" name="Rectangle 2"/>
            <p:cNvSpPr>
              <a:spLocks/>
            </p:cNvSpPr>
            <p:nvPr/>
          </p:nvSpPr>
          <p:spPr bwMode="auto">
            <a:xfrm>
              <a:off x="3192729" y="5538526"/>
              <a:ext cx="552723" cy="516689"/>
            </a:xfrm>
            <a:prstGeom prst="rect">
              <a:avLst/>
            </a:prstGeom>
            <a:solidFill>
              <a:schemeClr val="bg1"/>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22" name="Rectangle 3"/>
            <p:cNvSpPr>
              <a:spLocks/>
            </p:cNvSpPr>
            <p:nvPr/>
          </p:nvSpPr>
          <p:spPr bwMode="auto">
            <a:xfrm>
              <a:off x="3192729" y="5633590"/>
              <a:ext cx="499093" cy="344942"/>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VLAN    Priority</a:t>
              </a:r>
            </a:p>
          </p:txBody>
        </p:sp>
        <p:sp>
          <p:nvSpPr>
            <p:cNvPr id="23" name="Rectangle 2"/>
            <p:cNvSpPr>
              <a:spLocks/>
            </p:cNvSpPr>
            <p:nvPr/>
          </p:nvSpPr>
          <p:spPr bwMode="auto">
            <a:xfrm>
              <a:off x="3734666" y="5537886"/>
              <a:ext cx="552723" cy="516689"/>
            </a:xfrm>
            <a:prstGeom prst="rect">
              <a:avLst/>
            </a:prstGeom>
            <a:solidFill>
              <a:srgbClr val="BBE0E3"/>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24" name="Rectangle 3"/>
            <p:cNvSpPr>
              <a:spLocks/>
            </p:cNvSpPr>
            <p:nvPr/>
          </p:nvSpPr>
          <p:spPr bwMode="auto">
            <a:xfrm>
              <a:off x="3788297" y="5633590"/>
              <a:ext cx="499093" cy="344942"/>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MPLS     Label</a:t>
              </a:r>
            </a:p>
          </p:txBody>
        </p:sp>
        <p:sp>
          <p:nvSpPr>
            <p:cNvPr id="25" name="Rectangle 2"/>
            <p:cNvSpPr>
              <a:spLocks/>
            </p:cNvSpPr>
            <p:nvPr/>
          </p:nvSpPr>
          <p:spPr bwMode="auto">
            <a:xfrm>
              <a:off x="4287390" y="5537886"/>
              <a:ext cx="558241" cy="515691"/>
            </a:xfrm>
            <a:prstGeom prst="rect">
              <a:avLst/>
            </a:prstGeom>
            <a:solidFill>
              <a:srgbClr val="BBE0E3"/>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26" name="Rectangle 3"/>
            <p:cNvSpPr>
              <a:spLocks/>
            </p:cNvSpPr>
            <p:nvPr/>
          </p:nvSpPr>
          <p:spPr bwMode="auto">
            <a:xfrm>
              <a:off x="4313282" y="5559717"/>
              <a:ext cx="499093" cy="478852"/>
            </a:xfrm>
            <a:prstGeom prst="rect">
              <a:avLst/>
            </a:prstGeom>
            <a:noFill/>
            <a:ln w="12700">
              <a:noFill/>
              <a:miter lim="800000"/>
              <a:headEnd/>
              <a:tailEnd/>
            </a:ln>
          </p:spPr>
          <p:txBody>
            <a:bodyPr wrap="square" lIns="0" tIns="0" rIns="0" bIns="0" anchor="ctr">
              <a:normAutofit lnSpcReduction="10000"/>
            </a:bodyPr>
            <a:lstStyle/>
            <a:p>
              <a:pPr algn="ctr" defTabSz="457200"/>
              <a:r>
                <a:rPr lang="en-US" sz="1100" dirty="0">
                  <a:latin typeface="Arial" panose="020B0604020202020204" pitchFamily="34" charset="0"/>
                  <a:cs typeface="Arial" panose="020B0604020202020204" pitchFamily="34" charset="0"/>
                </a:rPr>
                <a:t>MPLS      traffic    class</a:t>
              </a:r>
              <a:endParaRPr lang="en-US" sz="1000" dirty="0">
                <a:latin typeface="Arial" panose="020B0604020202020204" pitchFamily="34" charset="0"/>
                <a:cs typeface="Arial" panose="020B0604020202020204" pitchFamily="34" charset="0"/>
              </a:endParaRPr>
            </a:p>
          </p:txBody>
        </p:sp>
        <p:sp>
          <p:nvSpPr>
            <p:cNvPr id="27" name="Rectangle 2"/>
            <p:cNvSpPr>
              <a:spLocks/>
            </p:cNvSpPr>
            <p:nvPr/>
          </p:nvSpPr>
          <p:spPr bwMode="auto">
            <a:xfrm>
              <a:off x="4829003" y="5537886"/>
              <a:ext cx="552723" cy="510918"/>
            </a:xfrm>
            <a:prstGeom prst="rect">
              <a:avLst/>
            </a:prstGeom>
            <a:solidFill>
              <a:schemeClr val="accent1">
                <a:lumMod val="20000"/>
                <a:lumOff val="80000"/>
              </a:schemeClr>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28" name="Rectangle 3"/>
            <p:cNvSpPr>
              <a:spLocks/>
            </p:cNvSpPr>
            <p:nvPr/>
          </p:nvSpPr>
          <p:spPr bwMode="auto">
            <a:xfrm>
              <a:off x="4845631" y="5623227"/>
              <a:ext cx="499093" cy="369332"/>
            </a:xfrm>
            <a:prstGeom prst="rect">
              <a:avLst/>
            </a:prstGeom>
            <a:noFill/>
            <a:ln w="12700">
              <a:noFill/>
              <a:miter lim="800000"/>
              <a:headEnd/>
              <a:tailEnd/>
            </a:ln>
          </p:spPr>
          <p:txBody>
            <a:bodyPr wrap="square" lIns="0" tIns="0" rIns="0" bIns="0" anchor="ctr">
              <a:spAutoFit/>
            </a:bodyPr>
            <a:lstStyle/>
            <a:p>
              <a:pPr algn="ctr" defTabSz="457200"/>
              <a:r>
                <a:rPr lang="en-US" sz="1200" dirty="0">
                  <a:latin typeface="Arial" panose="020B0604020202020204" pitchFamily="34" charset="0"/>
                  <a:cs typeface="Arial" panose="020B0604020202020204" pitchFamily="34" charset="0"/>
                </a:rPr>
                <a:t>Src</a:t>
              </a:r>
            </a:p>
            <a:p>
              <a:pPr algn="ctr" defTabSz="457200"/>
              <a:r>
                <a:rPr lang="en-US" sz="1200" dirty="0">
                  <a:latin typeface="Arial" panose="020B0604020202020204" pitchFamily="34" charset="0"/>
                  <a:cs typeface="Arial" panose="020B0604020202020204" pitchFamily="34" charset="0"/>
                </a:rPr>
                <a:t>IP</a:t>
              </a:r>
            </a:p>
          </p:txBody>
        </p:sp>
        <p:sp>
          <p:nvSpPr>
            <p:cNvPr id="29" name="Rectangle 2"/>
            <p:cNvSpPr>
              <a:spLocks/>
            </p:cNvSpPr>
            <p:nvPr/>
          </p:nvSpPr>
          <p:spPr bwMode="auto">
            <a:xfrm>
              <a:off x="5365098" y="5535055"/>
              <a:ext cx="552723" cy="516689"/>
            </a:xfrm>
            <a:prstGeom prst="rect">
              <a:avLst/>
            </a:prstGeom>
            <a:solidFill>
              <a:schemeClr val="accent1">
                <a:lumMod val="20000"/>
                <a:lumOff val="80000"/>
              </a:schemeClr>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30" name="Rectangle 3"/>
            <p:cNvSpPr>
              <a:spLocks/>
            </p:cNvSpPr>
            <p:nvPr/>
          </p:nvSpPr>
          <p:spPr bwMode="auto">
            <a:xfrm>
              <a:off x="5365098" y="5623227"/>
              <a:ext cx="499093" cy="369332"/>
            </a:xfrm>
            <a:prstGeom prst="rect">
              <a:avLst/>
            </a:prstGeom>
            <a:noFill/>
            <a:ln w="12700">
              <a:noFill/>
              <a:miter lim="800000"/>
              <a:headEnd/>
              <a:tailEnd/>
            </a:ln>
          </p:spPr>
          <p:txBody>
            <a:bodyPr wrap="square" lIns="0" tIns="0" rIns="0" bIns="0" anchor="ctr">
              <a:spAutoFit/>
            </a:bodyPr>
            <a:lstStyle/>
            <a:p>
              <a:pPr algn="ctr" defTabSz="457200"/>
              <a:r>
                <a:rPr lang="en-US" sz="1200" dirty="0">
                  <a:latin typeface="Arial" panose="020B0604020202020204" pitchFamily="34" charset="0"/>
                  <a:cs typeface="Arial" panose="020B0604020202020204" pitchFamily="34" charset="0"/>
                </a:rPr>
                <a:t>Dst</a:t>
              </a:r>
            </a:p>
            <a:p>
              <a:pPr algn="ctr" defTabSz="457200"/>
              <a:r>
                <a:rPr lang="en-US" sz="1200" dirty="0">
                  <a:latin typeface="Arial" panose="020B0604020202020204" pitchFamily="34" charset="0"/>
                  <a:cs typeface="Arial" panose="020B0604020202020204" pitchFamily="34" charset="0"/>
                </a:rPr>
                <a:t>IP</a:t>
              </a:r>
            </a:p>
          </p:txBody>
        </p:sp>
        <p:sp>
          <p:nvSpPr>
            <p:cNvPr id="31" name="Rectangle 2"/>
            <p:cNvSpPr>
              <a:spLocks/>
            </p:cNvSpPr>
            <p:nvPr/>
          </p:nvSpPr>
          <p:spPr bwMode="auto">
            <a:xfrm>
              <a:off x="5917821" y="5537424"/>
              <a:ext cx="552723" cy="516689"/>
            </a:xfrm>
            <a:prstGeom prst="rect">
              <a:avLst/>
            </a:prstGeom>
            <a:solidFill>
              <a:schemeClr val="accent1">
                <a:lumMod val="20000"/>
                <a:lumOff val="80000"/>
              </a:schemeClr>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32" name="Rectangle 3"/>
            <p:cNvSpPr>
              <a:spLocks/>
            </p:cNvSpPr>
            <p:nvPr/>
          </p:nvSpPr>
          <p:spPr bwMode="auto">
            <a:xfrm>
              <a:off x="5937458" y="5608775"/>
              <a:ext cx="499093" cy="344942"/>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Protocol No.</a:t>
              </a:r>
            </a:p>
          </p:txBody>
        </p:sp>
        <p:sp>
          <p:nvSpPr>
            <p:cNvPr id="33" name="Rectangle 2"/>
            <p:cNvSpPr>
              <a:spLocks/>
            </p:cNvSpPr>
            <p:nvPr/>
          </p:nvSpPr>
          <p:spPr bwMode="auto">
            <a:xfrm>
              <a:off x="6443130" y="5536887"/>
              <a:ext cx="552723" cy="516689"/>
            </a:xfrm>
            <a:prstGeom prst="rect">
              <a:avLst/>
            </a:prstGeom>
            <a:solidFill>
              <a:schemeClr val="accent1">
                <a:lumMod val="20000"/>
                <a:lumOff val="80000"/>
              </a:schemeClr>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34" name="Rectangle 3"/>
            <p:cNvSpPr>
              <a:spLocks/>
            </p:cNvSpPr>
            <p:nvPr/>
          </p:nvSpPr>
          <p:spPr bwMode="auto">
            <a:xfrm>
              <a:off x="6443130" y="5717391"/>
              <a:ext cx="499093" cy="184666"/>
            </a:xfrm>
            <a:prstGeom prst="rect">
              <a:avLst/>
            </a:prstGeom>
            <a:noFill/>
            <a:ln w="12700">
              <a:noFill/>
              <a:miter lim="800000"/>
              <a:headEnd/>
              <a:tailEnd/>
            </a:ln>
          </p:spPr>
          <p:txBody>
            <a:bodyPr wrap="square" lIns="0" tIns="0" rIns="0" bIns="0" anchor="ctr">
              <a:spAutoFit/>
            </a:bodyPr>
            <a:lstStyle/>
            <a:p>
              <a:pPr algn="ctr" defTabSz="457200"/>
              <a:r>
                <a:rPr lang="en-US" sz="1200" dirty="0">
                  <a:latin typeface="Arial" panose="020B0604020202020204" pitchFamily="34" charset="0"/>
                  <a:cs typeface="Arial" panose="020B0604020202020204" pitchFamily="34" charset="0"/>
                </a:rPr>
                <a:t>ToS</a:t>
              </a:r>
            </a:p>
          </p:txBody>
        </p:sp>
        <p:sp>
          <p:nvSpPr>
            <p:cNvPr id="35" name="Rectangle 2"/>
            <p:cNvSpPr>
              <a:spLocks/>
            </p:cNvSpPr>
            <p:nvPr/>
          </p:nvSpPr>
          <p:spPr bwMode="auto">
            <a:xfrm>
              <a:off x="6981659" y="5535055"/>
              <a:ext cx="552723" cy="516561"/>
            </a:xfrm>
            <a:prstGeom prst="rect">
              <a:avLst/>
            </a:prstGeom>
            <a:solidFill>
              <a:schemeClr val="accent2">
                <a:lumMod val="20000"/>
                <a:lumOff val="80000"/>
              </a:schemeClr>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36" name="Rectangle 3"/>
            <p:cNvSpPr>
              <a:spLocks/>
            </p:cNvSpPr>
            <p:nvPr/>
          </p:nvSpPr>
          <p:spPr bwMode="auto">
            <a:xfrm>
              <a:off x="6948265" y="5520523"/>
              <a:ext cx="569490" cy="517413"/>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Src</a:t>
              </a:r>
            </a:p>
            <a:p>
              <a:pPr algn="ctr" defTabSz="457200"/>
              <a:r>
                <a:rPr lang="en-US" sz="1100" dirty="0">
                  <a:latin typeface="Arial" panose="020B0604020202020204" pitchFamily="34" charset="0"/>
                  <a:cs typeface="Arial" panose="020B0604020202020204" pitchFamily="34" charset="0"/>
                </a:rPr>
                <a:t>TCP/UDP port</a:t>
              </a:r>
            </a:p>
          </p:txBody>
        </p:sp>
        <p:sp>
          <p:nvSpPr>
            <p:cNvPr id="37" name="Rectangle 2"/>
            <p:cNvSpPr>
              <a:spLocks/>
            </p:cNvSpPr>
            <p:nvPr/>
          </p:nvSpPr>
          <p:spPr bwMode="auto">
            <a:xfrm>
              <a:off x="7517753" y="5537424"/>
              <a:ext cx="552723" cy="520157"/>
            </a:xfrm>
            <a:prstGeom prst="rect">
              <a:avLst/>
            </a:prstGeom>
            <a:solidFill>
              <a:schemeClr val="accent2">
                <a:lumMod val="20000"/>
                <a:lumOff val="80000"/>
              </a:schemeClr>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38" name="Rectangle 3"/>
            <p:cNvSpPr>
              <a:spLocks/>
            </p:cNvSpPr>
            <p:nvPr/>
          </p:nvSpPr>
          <p:spPr bwMode="auto">
            <a:xfrm>
              <a:off x="7524328" y="5531390"/>
              <a:ext cx="535363" cy="517413"/>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Dst</a:t>
              </a:r>
            </a:p>
            <a:p>
              <a:pPr algn="ctr" defTabSz="457200"/>
              <a:r>
                <a:rPr lang="en-US" sz="1100" dirty="0">
                  <a:latin typeface="Arial" panose="020B0604020202020204" pitchFamily="34" charset="0"/>
                  <a:cs typeface="Arial" panose="020B0604020202020204" pitchFamily="34" charset="0"/>
                </a:rPr>
                <a:t>TCP/UDP port</a:t>
              </a:r>
            </a:p>
          </p:txBody>
        </p:sp>
        <p:sp>
          <p:nvSpPr>
            <p:cNvPr id="39" name="Rectangle 2"/>
            <p:cNvSpPr>
              <a:spLocks/>
            </p:cNvSpPr>
            <p:nvPr/>
          </p:nvSpPr>
          <p:spPr bwMode="auto">
            <a:xfrm>
              <a:off x="8059691" y="5537885"/>
              <a:ext cx="552723" cy="516689"/>
            </a:xfrm>
            <a:prstGeom prst="rect">
              <a:avLst/>
            </a:prstGeom>
            <a:solidFill>
              <a:srgbClr val="BBE0E3"/>
            </a:solidFill>
            <a:ln w="12700">
              <a:solidFill>
                <a:schemeClr val="tx1"/>
              </a:solidFill>
              <a:miter lim="800000"/>
              <a:headEnd/>
              <a:tailEnd/>
            </a:ln>
          </p:spPr>
          <p:txBody>
            <a:bodyPr lIns="0" tIns="0" rIns="0" bIns="0"/>
            <a:lstStyle/>
            <a:p>
              <a:pPr algn="ctr" defTabSz="457200"/>
              <a:endParaRPr lang="ko-KR" altLang="ko-KR" sz="1200" dirty="0">
                <a:latin typeface="Arial" panose="020B0604020202020204" pitchFamily="34" charset="0"/>
                <a:cs typeface="Arial" panose="020B0604020202020204" pitchFamily="34" charset="0"/>
              </a:endParaRPr>
            </a:p>
          </p:txBody>
        </p:sp>
        <p:sp>
          <p:nvSpPr>
            <p:cNvPr id="40" name="Rectangle 3"/>
            <p:cNvSpPr>
              <a:spLocks/>
            </p:cNvSpPr>
            <p:nvPr/>
          </p:nvSpPr>
          <p:spPr bwMode="auto">
            <a:xfrm>
              <a:off x="8096693" y="5606943"/>
              <a:ext cx="499093" cy="344942"/>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Meta    data</a:t>
              </a:r>
              <a:r>
                <a:rPr lang="ko-KR" altLang="ko-KR" sz="1100" b="1" dirty="0">
                  <a:latin typeface="Arial" panose="020B0604020202020204" pitchFamily="34" charset="0"/>
                  <a:cs typeface="Arial" panose="020B0604020202020204" pitchFamily="34" charset="0"/>
                </a:rPr>
                <a:t> </a:t>
              </a:r>
              <a:endParaRPr lang="en-US" sz="1050" dirty="0">
                <a:latin typeface="Arial" panose="020B0604020202020204" pitchFamily="34" charset="0"/>
                <a:cs typeface="Arial" panose="020B0604020202020204" pitchFamily="34" charset="0"/>
              </a:endParaRPr>
            </a:p>
          </p:txBody>
        </p:sp>
        <p:cxnSp>
          <p:nvCxnSpPr>
            <p:cNvPr id="41" name="직선 연결선 40"/>
            <p:cNvCxnSpPr/>
            <p:nvPr/>
          </p:nvCxnSpPr>
          <p:spPr>
            <a:xfrm>
              <a:off x="1056702" y="5315435"/>
              <a:ext cx="0" cy="21358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42" name="직선 연결선 41"/>
            <p:cNvCxnSpPr/>
            <p:nvPr/>
          </p:nvCxnSpPr>
          <p:spPr>
            <a:xfrm>
              <a:off x="3734666" y="5343763"/>
              <a:ext cx="0" cy="21358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43" name="직선 연결선 42"/>
            <p:cNvCxnSpPr/>
            <p:nvPr/>
          </p:nvCxnSpPr>
          <p:spPr>
            <a:xfrm>
              <a:off x="4829003" y="5346128"/>
              <a:ext cx="0" cy="21358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44" name="직선 연결선 43"/>
            <p:cNvCxnSpPr/>
            <p:nvPr/>
          </p:nvCxnSpPr>
          <p:spPr>
            <a:xfrm>
              <a:off x="6981659" y="5346128"/>
              <a:ext cx="0" cy="21358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45" name="직선 연결선 44"/>
            <p:cNvCxnSpPr/>
            <p:nvPr/>
          </p:nvCxnSpPr>
          <p:spPr>
            <a:xfrm>
              <a:off x="8059691" y="5346128"/>
              <a:ext cx="0" cy="21358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46" name="직선 화살표 연결선 45"/>
            <p:cNvCxnSpPr/>
            <p:nvPr/>
          </p:nvCxnSpPr>
          <p:spPr>
            <a:xfrm>
              <a:off x="1045592" y="5407397"/>
              <a:ext cx="3766783" cy="0"/>
            </a:xfrm>
            <a:prstGeom prst="straightConnector1">
              <a:avLst/>
            </a:prstGeom>
            <a:ln>
              <a:solidFill>
                <a:srgbClr val="050A0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직선 화살표 연결선 46"/>
            <p:cNvCxnSpPr/>
            <p:nvPr/>
          </p:nvCxnSpPr>
          <p:spPr>
            <a:xfrm>
              <a:off x="3745452" y="5315435"/>
              <a:ext cx="3250401" cy="0"/>
            </a:xfrm>
            <a:prstGeom prst="straightConnector1">
              <a:avLst/>
            </a:prstGeom>
            <a:ln>
              <a:solidFill>
                <a:srgbClr val="050A0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직선 화살표 연결선 47"/>
            <p:cNvCxnSpPr/>
            <p:nvPr/>
          </p:nvCxnSpPr>
          <p:spPr>
            <a:xfrm>
              <a:off x="6981659" y="5407397"/>
              <a:ext cx="1078032" cy="0"/>
            </a:xfrm>
            <a:prstGeom prst="straightConnector1">
              <a:avLst/>
            </a:prstGeom>
            <a:ln>
              <a:solidFill>
                <a:srgbClr val="050A0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직선 화살표 연결선 48"/>
            <p:cNvCxnSpPr/>
            <p:nvPr/>
          </p:nvCxnSpPr>
          <p:spPr>
            <a:xfrm>
              <a:off x="520607" y="5407397"/>
              <a:ext cx="519467" cy="0"/>
            </a:xfrm>
            <a:prstGeom prst="straightConnector1">
              <a:avLst/>
            </a:prstGeom>
            <a:ln>
              <a:solidFill>
                <a:srgbClr val="050A0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Rectangle 3"/>
            <p:cNvSpPr>
              <a:spLocks/>
            </p:cNvSpPr>
            <p:nvPr/>
          </p:nvSpPr>
          <p:spPr bwMode="auto">
            <a:xfrm>
              <a:off x="2118106" y="5234926"/>
              <a:ext cx="499093" cy="172471"/>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L2</a:t>
              </a:r>
            </a:p>
          </p:txBody>
        </p:sp>
        <p:sp>
          <p:nvSpPr>
            <p:cNvPr id="51" name="Rectangle 3"/>
            <p:cNvSpPr>
              <a:spLocks/>
            </p:cNvSpPr>
            <p:nvPr/>
          </p:nvSpPr>
          <p:spPr bwMode="auto">
            <a:xfrm>
              <a:off x="557609" y="5229200"/>
              <a:ext cx="499093" cy="172471"/>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L1</a:t>
              </a:r>
            </a:p>
          </p:txBody>
        </p:sp>
        <p:sp>
          <p:nvSpPr>
            <p:cNvPr id="52" name="Rectangle 3"/>
            <p:cNvSpPr>
              <a:spLocks/>
            </p:cNvSpPr>
            <p:nvPr/>
          </p:nvSpPr>
          <p:spPr bwMode="auto">
            <a:xfrm>
              <a:off x="5344724" y="5315435"/>
              <a:ext cx="499093" cy="172471"/>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L3</a:t>
              </a:r>
            </a:p>
          </p:txBody>
        </p:sp>
        <p:sp>
          <p:nvSpPr>
            <p:cNvPr id="53" name="Rectangle 3"/>
            <p:cNvSpPr>
              <a:spLocks/>
            </p:cNvSpPr>
            <p:nvPr/>
          </p:nvSpPr>
          <p:spPr bwMode="auto">
            <a:xfrm>
              <a:off x="7284835" y="5229200"/>
              <a:ext cx="499093" cy="172471"/>
            </a:xfrm>
            <a:prstGeom prst="rect">
              <a:avLst/>
            </a:prstGeom>
            <a:noFill/>
            <a:ln w="12700">
              <a:noFill/>
              <a:miter lim="800000"/>
              <a:headEnd/>
              <a:tailEnd/>
            </a:ln>
          </p:spPr>
          <p:txBody>
            <a:bodyPr wrap="square" lIns="0" tIns="0" rIns="0" bIns="0" anchor="ctr">
              <a:spAutoFit/>
            </a:bodyPr>
            <a:lstStyle/>
            <a:p>
              <a:pPr algn="ctr" defTabSz="457200"/>
              <a:r>
                <a:rPr lang="en-US" sz="1100" dirty="0">
                  <a:latin typeface="Arial" panose="020B0604020202020204" pitchFamily="34" charset="0"/>
                  <a:cs typeface="Arial" panose="020B0604020202020204" pitchFamily="34" charset="0"/>
                </a:rPr>
                <a:t>L4</a:t>
              </a:r>
            </a:p>
          </p:txBody>
        </p:sp>
        <p:cxnSp>
          <p:nvCxnSpPr>
            <p:cNvPr id="54" name="직선 연결선 53"/>
            <p:cNvCxnSpPr/>
            <p:nvPr/>
          </p:nvCxnSpPr>
          <p:spPr>
            <a:xfrm>
              <a:off x="520607" y="5300602"/>
              <a:ext cx="0" cy="213589"/>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55" name="그룹 124"/>
          <p:cNvGrpSpPr/>
          <p:nvPr/>
        </p:nvGrpSpPr>
        <p:grpSpPr>
          <a:xfrm>
            <a:off x="2614717" y="1712318"/>
            <a:ext cx="5851507" cy="1085194"/>
            <a:chOff x="5360393" y="1497659"/>
            <a:chExt cx="6287772" cy="1161925"/>
          </a:xfrm>
        </p:grpSpPr>
        <p:sp>
          <p:nvSpPr>
            <p:cNvPr id="56" name="직사각형 55"/>
            <p:cNvSpPr/>
            <p:nvPr/>
          </p:nvSpPr>
          <p:spPr>
            <a:xfrm>
              <a:off x="5364089" y="1501302"/>
              <a:ext cx="1026159" cy="386094"/>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b="1" dirty="0">
                  <a:solidFill>
                    <a:schemeClr val="tx1"/>
                  </a:solidFill>
                  <a:latin typeface="Arial" panose="020B0604020202020204" pitchFamily="34" charset="0"/>
                  <a:cs typeface="Arial" panose="020B0604020202020204" pitchFamily="34" charset="0"/>
                </a:rPr>
                <a:t>Flow</a:t>
              </a:r>
              <a:r>
                <a:rPr lang="ko-KR" altLang="en-US" sz="1100" b="1" dirty="0">
                  <a:solidFill>
                    <a:schemeClr val="tx1"/>
                  </a:solidFill>
                  <a:latin typeface="Arial" panose="020B0604020202020204" pitchFamily="34" charset="0"/>
                  <a:cs typeface="Arial" panose="020B0604020202020204" pitchFamily="34" charset="0"/>
                </a:rPr>
                <a:t> </a:t>
              </a:r>
              <a:r>
                <a:rPr lang="en-US" altLang="ko-KR" sz="1100" b="1" dirty="0">
                  <a:solidFill>
                    <a:schemeClr val="tx1"/>
                  </a:solidFill>
                  <a:latin typeface="Arial" panose="020B0604020202020204" pitchFamily="34" charset="0"/>
                  <a:cs typeface="Arial" panose="020B0604020202020204" pitchFamily="34" charset="0"/>
                </a:rPr>
                <a:t>entry</a:t>
              </a:r>
            </a:p>
          </p:txBody>
        </p:sp>
        <p:sp>
          <p:nvSpPr>
            <p:cNvPr id="57" name="직사각형 56"/>
            <p:cNvSpPr/>
            <p:nvPr/>
          </p:nvSpPr>
          <p:spPr>
            <a:xfrm>
              <a:off x="6390248" y="1501302"/>
              <a:ext cx="1026159" cy="386094"/>
            </a:xfrm>
            <a:prstGeom prst="rect">
              <a:avLst/>
            </a:prstGeom>
            <a:solidFill>
              <a:schemeClr val="accent5">
                <a:lumMod val="40000"/>
                <a:lumOff val="60000"/>
              </a:schemeClr>
            </a:solid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50" b="1" dirty="0">
                  <a:solidFill>
                    <a:schemeClr val="tx1"/>
                  </a:solidFill>
                  <a:latin typeface="Arial" panose="020B0604020202020204" pitchFamily="34" charset="0"/>
                  <a:cs typeface="Arial" panose="020B0604020202020204" pitchFamily="34" charset="0"/>
                </a:rPr>
                <a:t>match field</a:t>
              </a:r>
            </a:p>
          </p:txBody>
        </p:sp>
        <p:sp>
          <p:nvSpPr>
            <p:cNvPr id="58" name="직사각형 57"/>
            <p:cNvSpPr/>
            <p:nvPr/>
          </p:nvSpPr>
          <p:spPr>
            <a:xfrm>
              <a:off x="7416406" y="1501302"/>
              <a:ext cx="1026159" cy="386094"/>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b="1" dirty="0">
                  <a:solidFill>
                    <a:schemeClr val="tx1"/>
                  </a:solidFill>
                  <a:latin typeface="Arial" panose="020B0604020202020204" pitchFamily="34" charset="0"/>
                  <a:cs typeface="Arial" panose="020B0604020202020204" pitchFamily="34" charset="0"/>
                </a:rPr>
                <a:t>counter</a:t>
              </a:r>
            </a:p>
          </p:txBody>
        </p:sp>
        <p:sp>
          <p:nvSpPr>
            <p:cNvPr id="59" name="직사각형 58"/>
            <p:cNvSpPr/>
            <p:nvPr/>
          </p:nvSpPr>
          <p:spPr>
            <a:xfrm>
              <a:off x="8442565" y="1501302"/>
              <a:ext cx="1039055" cy="386094"/>
            </a:xfrm>
            <a:prstGeom prst="rect">
              <a:avLst/>
            </a:prstGeom>
            <a:solidFill>
              <a:schemeClr val="accent3">
                <a:lumMod val="60000"/>
                <a:lumOff val="40000"/>
              </a:schemeClr>
            </a:solid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b="1" dirty="0">
                  <a:solidFill>
                    <a:schemeClr val="tx1"/>
                  </a:solidFill>
                  <a:latin typeface="Arial" panose="020B0604020202020204" pitchFamily="34" charset="0"/>
                  <a:cs typeface="Arial" panose="020B0604020202020204" pitchFamily="34" charset="0"/>
                </a:rPr>
                <a:t>Action </a:t>
              </a:r>
            </a:p>
            <a:p>
              <a:pPr algn="ctr"/>
              <a:r>
                <a:rPr lang="en-US" altLang="ko-KR" sz="1100" dirty="0">
                  <a:solidFill>
                    <a:schemeClr val="tx1"/>
                  </a:solidFill>
                  <a:latin typeface="Arial" panose="020B0604020202020204" pitchFamily="34" charset="0"/>
                  <a:cs typeface="Arial" panose="020B0604020202020204" pitchFamily="34" charset="0"/>
                </a:rPr>
                <a:t>(Instruction) </a:t>
              </a:r>
            </a:p>
          </p:txBody>
        </p:sp>
        <p:sp>
          <p:nvSpPr>
            <p:cNvPr id="60" name="직사각형 59"/>
            <p:cNvSpPr/>
            <p:nvPr/>
          </p:nvSpPr>
          <p:spPr>
            <a:xfrm>
              <a:off x="6386553" y="1887396"/>
              <a:ext cx="1029853" cy="386094"/>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ko-KR" sz="1000" dirty="0">
                <a:solidFill>
                  <a:schemeClr val="tx1"/>
                </a:solidFill>
                <a:latin typeface="Arial" panose="020B0604020202020204" pitchFamily="34" charset="0"/>
                <a:cs typeface="Arial" panose="020B0604020202020204" pitchFamily="34" charset="0"/>
              </a:endParaRPr>
            </a:p>
          </p:txBody>
        </p:sp>
        <p:sp>
          <p:nvSpPr>
            <p:cNvPr id="61" name="직사각형 60"/>
            <p:cNvSpPr/>
            <p:nvPr/>
          </p:nvSpPr>
          <p:spPr>
            <a:xfrm>
              <a:off x="7416405" y="1887396"/>
              <a:ext cx="1026159" cy="386094"/>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ko-KR" sz="1000" dirty="0">
                <a:solidFill>
                  <a:schemeClr val="tx1"/>
                </a:solidFill>
                <a:latin typeface="Arial" panose="020B0604020202020204" pitchFamily="34" charset="0"/>
                <a:cs typeface="Arial" panose="020B0604020202020204" pitchFamily="34" charset="0"/>
              </a:endParaRPr>
            </a:p>
          </p:txBody>
        </p:sp>
        <p:sp>
          <p:nvSpPr>
            <p:cNvPr id="62" name="직사각형 61"/>
            <p:cNvSpPr/>
            <p:nvPr/>
          </p:nvSpPr>
          <p:spPr>
            <a:xfrm>
              <a:off x="8442562" y="1887396"/>
              <a:ext cx="1033733" cy="386094"/>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ko-KR" sz="1000" dirty="0">
                <a:solidFill>
                  <a:schemeClr val="tx1"/>
                </a:solidFill>
                <a:latin typeface="Arial" panose="020B0604020202020204" pitchFamily="34" charset="0"/>
                <a:cs typeface="Arial" panose="020B0604020202020204" pitchFamily="34" charset="0"/>
              </a:endParaRPr>
            </a:p>
          </p:txBody>
        </p:sp>
        <p:sp>
          <p:nvSpPr>
            <p:cNvPr id="63" name="직사각형 62"/>
            <p:cNvSpPr/>
            <p:nvPr/>
          </p:nvSpPr>
          <p:spPr>
            <a:xfrm>
              <a:off x="5364090" y="2273490"/>
              <a:ext cx="1026159" cy="386094"/>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dirty="0">
                  <a:solidFill>
                    <a:schemeClr val="tx1"/>
                  </a:solidFill>
                  <a:latin typeface="Arial" panose="020B0604020202020204" pitchFamily="34" charset="0"/>
                  <a:cs typeface="Arial" panose="020B0604020202020204" pitchFamily="34" charset="0"/>
                </a:rPr>
                <a:t>n</a:t>
              </a:r>
            </a:p>
          </p:txBody>
        </p:sp>
        <p:sp>
          <p:nvSpPr>
            <p:cNvPr id="64" name="직사각형 63"/>
            <p:cNvSpPr/>
            <p:nvPr/>
          </p:nvSpPr>
          <p:spPr>
            <a:xfrm>
              <a:off x="6390249" y="2273490"/>
              <a:ext cx="1026159" cy="386094"/>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dirty="0">
                  <a:solidFill>
                    <a:schemeClr val="tx1"/>
                  </a:solidFill>
                  <a:latin typeface="Arial" panose="020B0604020202020204" pitchFamily="34" charset="0"/>
                  <a:cs typeface="Arial" panose="020B0604020202020204" pitchFamily="34" charset="0"/>
                </a:rPr>
                <a:t>…</a:t>
              </a:r>
            </a:p>
          </p:txBody>
        </p:sp>
        <p:sp>
          <p:nvSpPr>
            <p:cNvPr id="65" name="직사각형 64"/>
            <p:cNvSpPr/>
            <p:nvPr/>
          </p:nvSpPr>
          <p:spPr>
            <a:xfrm>
              <a:off x="7416407" y="2273490"/>
              <a:ext cx="1026159" cy="386094"/>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dirty="0">
                  <a:solidFill>
                    <a:schemeClr val="tx1"/>
                  </a:solidFill>
                  <a:latin typeface="Arial" panose="020B0604020202020204" pitchFamily="34" charset="0"/>
                  <a:cs typeface="Arial" panose="020B0604020202020204" pitchFamily="34" charset="0"/>
                </a:rPr>
                <a:t>…</a:t>
              </a:r>
            </a:p>
          </p:txBody>
        </p:sp>
        <p:sp>
          <p:nvSpPr>
            <p:cNvPr id="66" name="직사각형 65"/>
            <p:cNvSpPr/>
            <p:nvPr/>
          </p:nvSpPr>
          <p:spPr>
            <a:xfrm>
              <a:off x="8442565" y="2273490"/>
              <a:ext cx="1033730" cy="386094"/>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dirty="0">
                  <a:solidFill>
                    <a:schemeClr val="tx1"/>
                  </a:solidFill>
                  <a:latin typeface="Arial" panose="020B0604020202020204" pitchFamily="34" charset="0"/>
                  <a:cs typeface="Arial" panose="020B0604020202020204" pitchFamily="34" charset="0"/>
                </a:rPr>
                <a:t>…</a:t>
              </a:r>
            </a:p>
          </p:txBody>
        </p:sp>
        <p:sp>
          <p:nvSpPr>
            <p:cNvPr id="67" name="직사각형 66"/>
            <p:cNvSpPr/>
            <p:nvPr/>
          </p:nvSpPr>
          <p:spPr>
            <a:xfrm>
              <a:off x="5360393" y="1888589"/>
              <a:ext cx="1026159" cy="386094"/>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dirty="0">
                  <a:solidFill>
                    <a:schemeClr val="tx1"/>
                  </a:solidFill>
                  <a:latin typeface="Arial" panose="020B0604020202020204" pitchFamily="34" charset="0"/>
                  <a:cs typeface="Arial" panose="020B0604020202020204" pitchFamily="34" charset="0"/>
                </a:rPr>
                <a:t>1</a:t>
              </a:r>
            </a:p>
          </p:txBody>
        </p:sp>
        <p:sp>
          <p:nvSpPr>
            <p:cNvPr id="68" name="직사각형 67"/>
            <p:cNvSpPr/>
            <p:nvPr/>
          </p:nvSpPr>
          <p:spPr>
            <a:xfrm>
              <a:off x="9481618" y="1498254"/>
              <a:ext cx="1121961" cy="390933"/>
            </a:xfrm>
            <a:prstGeom prst="rect">
              <a:avLst/>
            </a:prstGeom>
            <a:solidFill>
              <a:schemeClr val="accent3">
                <a:lumMod val="60000"/>
                <a:lumOff val="40000"/>
              </a:schemeClr>
            </a:solid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b="1" dirty="0">
                  <a:solidFill>
                    <a:schemeClr val="tx1"/>
                  </a:solidFill>
                  <a:latin typeface="Arial" panose="020B0604020202020204" pitchFamily="34" charset="0"/>
                  <a:cs typeface="Arial" panose="020B0604020202020204" pitchFamily="34" charset="0"/>
                </a:rPr>
                <a:t>priority</a:t>
              </a:r>
            </a:p>
          </p:txBody>
        </p:sp>
        <p:sp>
          <p:nvSpPr>
            <p:cNvPr id="69" name="직사각형 68"/>
            <p:cNvSpPr/>
            <p:nvPr/>
          </p:nvSpPr>
          <p:spPr>
            <a:xfrm>
              <a:off x="10603579" y="1497659"/>
              <a:ext cx="1044584" cy="391527"/>
            </a:xfrm>
            <a:prstGeom prst="rect">
              <a:avLst/>
            </a:prstGeom>
            <a:solidFill>
              <a:schemeClr val="accent3">
                <a:lumMod val="60000"/>
                <a:lumOff val="40000"/>
              </a:schemeClr>
            </a:solid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b="1" dirty="0">
                  <a:solidFill>
                    <a:schemeClr val="tx1"/>
                  </a:solidFill>
                  <a:latin typeface="Arial" panose="020B0604020202020204" pitchFamily="34" charset="0"/>
                  <a:cs typeface="Arial" panose="020B0604020202020204" pitchFamily="34" charset="0"/>
                </a:rPr>
                <a:t>Timeout</a:t>
              </a:r>
            </a:p>
          </p:txBody>
        </p:sp>
        <p:sp>
          <p:nvSpPr>
            <p:cNvPr id="70" name="직사각형 69"/>
            <p:cNvSpPr/>
            <p:nvPr/>
          </p:nvSpPr>
          <p:spPr>
            <a:xfrm>
              <a:off x="9476295" y="1888590"/>
              <a:ext cx="1127286" cy="384305"/>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ko-KR" sz="900" dirty="0">
                <a:solidFill>
                  <a:schemeClr val="tx1"/>
                </a:solidFill>
                <a:latin typeface="Arial" panose="020B0604020202020204" pitchFamily="34" charset="0"/>
                <a:cs typeface="Arial" panose="020B0604020202020204" pitchFamily="34" charset="0"/>
              </a:endParaRPr>
            </a:p>
          </p:txBody>
        </p:sp>
        <p:sp>
          <p:nvSpPr>
            <p:cNvPr id="71" name="직사각형 70"/>
            <p:cNvSpPr/>
            <p:nvPr/>
          </p:nvSpPr>
          <p:spPr>
            <a:xfrm>
              <a:off x="10603581" y="1888589"/>
              <a:ext cx="1044584" cy="384306"/>
            </a:xfrm>
            <a:prstGeom prst="rect">
              <a:avLst/>
            </a:prstGeom>
            <a:no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ko-KR" sz="900" dirty="0">
                <a:solidFill>
                  <a:schemeClr val="tx1"/>
                </a:solidFill>
                <a:latin typeface="Arial" panose="020B0604020202020204" pitchFamily="34" charset="0"/>
                <a:cs typeface="Arial" panose="020B0604020202020204" pitchFamily="34" charset="0"/>
              </a:endParaRPr>
            </a:p>
          </p:txBody>
        </p:sp>
      </p:grpSp>
      <p:grpSp>
        <p:nvGrpSpPr>
          <p:cNvPr id="72" name="그룹 71"/>
          <p:cNvGrpSpPr/>
          <p:nvPr/>
        </p:nvGrpSpPr>
        <p:grpSpPr>
          <a:xfrm>
            <a:off x="1885007" y="3041309"/>
            <a:ext cx="3090645" cy="1096023"/>
            <a:chOff x="5690409" y="2385648"/>
            <a:chExt cx="3090645" cy="1096023"/>
          </a:xfrm>
        </p:grpSpPr>
        <p:pic>
          <p:nvPicPr>
            <p:cNvPr id="73" name="Picture 46"/>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flipH="1">
              <a:off x="6981659" y="2385648"/>
              <a:ext cx="1799395" cy="792088"/>
            </a:xfrm>
            <a:prstGeom prst="rect">
              <a:avLst/>
            </a:prstGeom>
            <a:noFill/>
            <a:ln w="3175" algn="ctr">
              <a:noFill/>
              <a:miter lim="800000"/>
              <a:headEnd/>
              <a:tailEnd/>
            </a:ln>
            <a:effectLst/>
          </p:spPr>
        </p:pic>
        <p:cxnSp>
          <p:nvCxnSpPr>
            <p:cNvPr id="74" name="직선 화살표 연결선 73"/>
            <p:cNvCxnSpPr/>
            <p:nvPr/>
          </p:nvCxnSpPr>
          <p:spPr>
            <a:xfrm>
              <a:off x="6548874" y="2882949"/>
              <a:ext cx="522059"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5" name="직사각형 74"/>
            <p:cNvSpPr/>
            <p:nvPr/>
          </p:nvSpPr>
          <p:spPr>
            <a:xfrm>
              <a:off x="7268265" y="2532949"/>
              <a:ext cx="755219"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a:solidFill>
                    <a:schemeClr val="bg1"/>
                  </a:solidFill>
                  <a:latin typeface="Arial" panose="020B0604020202020204" pitchFamily="34" charset="0"/>
                  <a:cs typeface="Arial" panose="020B0604020202020204" pitchFamily="34" charset="0"/>
                </a:rPr>
                <a:t>Flow table</a:t>
              </a:r>
              <a:endParaRPr lang="ko-KR" altLang="en-US" sz="1000" dirty="0">
                <a:solidFill>
                  <a:schemeClr val="bg1"/>
                </a:solidFill>
                <a:latin typeface="Arial" panose="020B0604020202020204" pitchFamily="34" charset="0"/>
                <a:cs typeface="Arial" panose="020B0604020202020204" pitchFamily="34" charset="0"/>
              </a:endParaRPr>
            </a:p>
          </p:txBody>
        </p:sp>
        <p:pic>
          <p:nvPicPr>
            <p:cNvPr id="76" name="Picture 22" descr="NOTEBOOK"/>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flipH="1">
              <a:off x="5690409" y="2675495"/>
              <a:ext cx="884539" cy="624496"/>
            </a:xfrm>
            <a:prstGeom prst="rect">
              <a:avLst/>
            </a:prstGeom>
            <a:noFill/>
            <a:ln w="9525">
              <a:noFill/>
              <a:miter lim="800000"/>
              <a:headEnd/>
              <a:tailEnd/>
            </a:ln>
          </p:spPr>
        </p:pic>
        <p:sp>
          <p:nvSpPr>
            <p:cNvPr id="77" name="직사각형 76"/>
            <p:cNvSpPr/>
            <p:nvPr/>
          </p:nvSpPr>
          <p:spPr>
            <a:xfrm>
              <a:off x="6511750" y="2961712"/>
              <a:ext cx="139975" cy="72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panose="020B0604020202020204" pitchFamily="34" charset="0"/>
                <a:cs typeface="Arial" panose="020B0604020202020204" pitchFamily="34" charset="0"/>
              </a:endParaRPr>
            </a:p>
          </p:txBody>
        </p:sp>
        <p:sp>
          <p:nvSpPr>
            <p:cNvPr id="78" name="직사각형 77"/>
            <p:cNvSpPr/>
            <p:nvPr/>
          </p:nvSpPr>
          <p:spPr>
            <a:xfrm>
              <a:off x="6739915" y="2961712"/>
              <a:ext cx="139975" cy="720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al" panose="020B0604020202020204" pitchFamily="34" charset="0"/>
                <a:cs typeface="Arial" panose="020B0604020202020204" pitchFamily="34" charset="0"/>
              </a:endParaRPr>
            </a:p>
          </p:txBody>
        </p:sp>
        <p:cxnSp>
          <p:nvCxnSpPr>
            <p:cNvPr id="79" name="직선 화살표 연결선 78"/>
            <p:cNvCxnSpPr/>
            <p:nvPr/>
          </p:nvCxnSpPr>
          <p:spPr>
            <a:xfrm>
              <a:off x="7334454" y="2961712"/>
              <a:ext cx="196676" cy="50405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0" name="직선 화살표 연결선 79"/>
            <p:cNvCxnSpPr/>
            <p:nvPr/>
          </p:nvCxnSpPr>
          <p:spPr>
            <a:xfrm>
              <a:off x="7477577" y="2977615"/>
              <a:ext cx="196676" cy="50405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81" name="직사각형 80"/>
          <p:cNvSpPr/>
          <p:nvPr/>
        </p:nvSpPr>
        <p:spPr>
          <a:xfrm>
            <a:off x="5646417" y="6269047"/>
            <a:ext cx="1044116" cy="36059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dirty="0">
                <a:solidFill>
                  <a:schemeClr val="tx1"/>
                </a:solidFill>
                <a:latin typeface="Arial" panose="020B0604020202020204" pitchFamily="34" charset="0"/>
                <a:cs typeface="Arial" panose="020B0604020202020204" pitchFamily="34" charset="0"/>
              </a:rPr>
              <a:t>Match fields of </a:t>
            </a:r>
            <a:r>
              <a:rPr lang="en-US" altLang="ko-KR" sz="1100" dirty="0" err="1">
                <a:solidFill>
                  <a:schemeClr val="tx1"/>
                </a:solidFill>
                <a:latin typeface="Arial" panose="020B0604020202020204" pitchFamily="34" charset="0"/>
                <a:cs typeface="Arial" panose="020B0604020202020204" pitchFamily="34" charset="0"/>
              </a:rPr>
              <a:t>OpenFlow</a:t>
            </a:r>
            <a:r>
              <a:rPr lang="en-US" altLang="ko-KR" sz="1100" dirty="0">
                <a:solidFill>
                  <a:schemeClr val="tx1"/>
                </a:solidFill>
                <a:latin typeface="Arial" panose="020B0604020202020204" pitchFamily="34" charset="0"/>
                <a:cs typeface="Arial" panose="020B0604020202020204" pitchFamily="34" charset="0"/>
              </a:rPr>
              <a:t> 1.1</a:t>
            </a:r>
          </a:p>
        </p:txBody>
      </p:sp>
      <p:sp>
        <p:nvSpPr>
          <p:cNvPr id="82" name="아래쪽 화살표 81"/>
          <p:cNvSpPr/>
          <p:nvPr/>
        </p:nvSpPr>
        <p:spPr>
          <a:xfrm>
            <a:off x="3764503" y="2217387"/>
            <a:ext cx="376697" cy="944597"/>
          </a:xfrm>
          <a:prstGeom prst="downArrow">
            <a:avLst>
              <a:gd name="adj1" fmla="val 50000"/>
              <a:gd name="adj2" fmla="val 90134"/>
            </a:avLst>
          </a:prstGeom>
          <a:solidFill>
            <a:srgbClr val="C6E6E8"/>
          </a:solidFill>
          <a:ln w="3175"/>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600" dirty="0">
              <a:latin typeface="Arial" panose="020B0604020202020204" pitchFamily="34" charset="0"/>
              <a:cs typeface="Arial" panose="020B0604020202020204" pitchFamily="34" charset="0"/>
            </a:endParaRPr>
          </a:p>
        </p:txBody>
      </p:sp>
      <p:sp>
        <p:nvSpPr>
          <p:cNvPr id="83" name="직사각형 82"/>
          <p:cNvSpPr/>
          <p:nvPr/>
        </p:nvSpPr>
        <p:spPr>
          <a:xfrm>
            <a:off x="8466411" y="1715721"/>
            <a:ext cx="972108" cy="359752"/>
          </a:xfrm>
          <a:prstGeom prst="rect">
            <a:avLst/>
          </a:prstGeom>
          <a:solidFill>
            <a:schemeClr val="accent3">
              <a:lumMod val="60000"/>
              <a:lumOff val="40000"/>
            </a:schemeClr>
          </a:solidFill>
          <a:ln w="6350">
            <a:solidFill>
              <a:srgbClr val="050A0F"/>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100" b="1" dirty="0">
                <a:solidFill>
                  <a:schemeClr val="tx1"/>
                </a:solidFill>
                <a:latin typeface="Arial" panose="020B0604020202020204" pitchFamily="34" charset="0"/>
                <a:cs typeface="Arial" panose="020B0604020202020204" pitchFamily="34" charset="0"/>
              </a:rPr>
              <a:t>cookie</a:t>
            </a:r>
          </a:p>
        </p:txBody>
      </p:sp>
      <p:sp>
        <p:nvSpPr>
          <p:cNvPr id="84" name="TextBox 83"/>
          <p:cNvSpPr txBox="1"/>
          <p:nvPr/>
        </p:nvSpPr>
        <p:spPr>
          <a:xfrm>
            <a:off x="2327276" y="4150625"/>
            <a:ext cx="4443845" cy="1077218"/>
          </a:xfrm>
          <a:prstGeom prst="rect">
            <a:avLst/>
          </a:prstGeom>
          <a:noFill/>
        </p:spPr>
        <p:txBody>
          <a:bodyPr wrap="none" rtlCol="0">
            <a:spAutoFit/>
          </a:bodyPr>
          <a:lstStyle/>
          <a:p>
            <a:pPr marL="285750" indent="-285750">
              <a:buFont typeface="Wingdings" panose="05000000000000000000" pitchFamily="2" charset="2"/>
              <a:buChar char="§"/>
            </a:pPr>
            <a:r>
              <a:rPr lang="en-US" altLang="ko-KR" sz="1600" dirty="0">
                <a:latin typeface="Arial" panose="020B0604020202020204" pitchFamily="34" charset="0"/>
                <a:cs typeface="Arial" panose="020B0604020202020204" pitchFamily="34" charset="0"/>
              </a:rPr>
              <a:t>Match field= L1~L4 header information</a:t>
            </a:r>
          </a:p>
          <a:p>
            <a:pPr marL="742950" lvl="1" indent="-285750">
              <a:buFont typeface="Arial" panose="020B0604020202020204" pitchFamily="34" charset="0"/>
              <a:buChar char="•"/>
            </a:pPr>
            <a:r>
              <a:rPr lang="en-US" altLang="ko-KR" sz="1600" dirty="0" err="1">
                <a:latin typeface="Arial" panose="020B0604020202020204" pitchFamily="34" charset="0"/>
                <a:cs typeface="Arial" panose="020B0604020202020204" pitchFamily="34" charset="0"/>
              </a:rPr>
              <a:t>OpenFlow</a:t>
            </a:r>
            <a:r>
              <a:rPr lang="en-US" altLang="ko-KR" sz="1600" dirty="0">
                <a:latin typeface="Arial" panose="020B0604020202020204" pitchFamily="34" charset="0"/>
                <a:cs typeface="Arial" panose="020B0604020202020204" pitchFamily="34" charset="0"/>
              </a:rPr>
              <a:t> 1.0 </a:t>
            </a:r>
            <a:r>
              <a:rPr lang="en-US" altLang="ko-KR" sz="1600" dirty="0">
                <a:latin typeface="Arial" panose="020B0604020202020204" pitchFamily="34" charset="0"/>
                <a:cs typeface="Arial" panose="020B0604020202020204" pitchFamily="34" charset="0"/>
                <a:sym typeface="Wingdings" panose="05000000000000000000" pitchFamily="2" charset="2"/>
              </a:rPr>
              <a:t></a:t>
            </a:r>
            <a:r>
              <a:rPr lang="en-US" altLang="ko-KR" sz="1600" dirty="0">
                <a:latin typeface="Arial" panose="020B0604020202020204" pitchFamily="34" charset="0"/>
                <a:cs typeface="Arial" panose="020B0604020202020204" pitchFamily="34" charset="0"/>
              </a:rPr>
              <a:t> 12 tuples</a:t>
            </a:r>
          </a:p>
          <a:p>
            <a:pPr marL="742950" lvl="1" indent="-285750">
              <a:buFont typeface="Arial" panose="020B0604020202020204" pitchFamily="34" charset="0"/>
              <a:buChar char="•"/>
            </a:pPr>
            <a:r>
              <a:rPr lang="en-US" altLang="ko-KR" sz="1600" dirty="0" err="1">
                <a:latin typeface="Arial" panose="020B0604020202020204" pitchFamily="34" charset="0"/>
                <a:cs typeface="Arial" panose="020B0604020202020204" pitchFamily="34" charset="0"/>
              </a:rPr>
              <a:t>OpenFlow</a:t>
            </a:r>
            <a:r>
              <a:rPr lang="en-US" altLang="ko-KR" sz="1600" dirty="0">
                <a:latin typeface="Arial" panose="020B0604020202020204" pitchFamily="34" charset="0"/>
                <a:cs typeface="Arial" panose="020B0604020202020204" pitchFamily="34" charset="0"/>
              </a:rPr>
              <a:t> 1.1 </a:t>
            </a:r>
            <a:r>
              <a:rPr lang="en-US" altLang="ko-KR" sz="1600" dirty="0">
                <a:latin typeface="Arial" panose="020B0604020202020204" pitchFamily="34" charset="0"/>
                <a:cs typeface="Arial" panose="020B0604020202020204" pitchFamily="34" charset="0"/>
                <a:sym typeface="Wingdings" panose="05000000000000000000" pitchFamily="2" charset="2"/>
              </a:rPr>
              <a:t></a:t>
            </a:r>
            <a:r>
              <a:rPr lang="en-US" altLang="ko-KR" sz="1600" dirty="0">
                <a:latin typeface="Arial" panose="020B0604020202020204" pitchFamily="34" charset="0"/>
                <a:cs typeface="Arial" panose="020B0604020202020204" pitchFamily="34" charset="0"/>
              </a:rPr>
              <a:t> 15 tuples</a:t>
            </a:r>
          </a:p>
          <a:p>
            <a:pPr marL="742950" lvl="1" indent="-285750">
              <a:buFont typeface="Arial" panose="020B0604020202020204" pitchFamily="34" charset="0"/>
              <a:buChar char="•"/>
            </a:pPr>
            <a:r>
              <a:rPr lang="en-US" altLang="ko-KR" sz="1600" dirty="0" err="1">
                <a:latin typeface="Arial" panose="020B0604020202020204" pitchFamily="34" charset="0"/>
                <a:cs typeface="Arial" panose="020B0604020202020204" pitchFamily="34" charset="0"/>
              </a:rPr>
              <a:t>OpenFlow</a:t>
            </a:r>
            <a:r>
              <a:rPr lang="en-US" altLang="ko-KR" sz="1600" dirty="0">
                <a:latin typeface="Arial" panose="020B0604020202020204" pitchFamily="34" charset="0"/>
                <a:cs typeface="Arial" panose="020B0604020202020204" pitchFamily="34" charset="0"/>
              </a:rPr>
              <a:t> 1.3 </a:t>
            </a:r>
            <a:r>
              <a:rPr lang="en-US" altLang="ko-KR" sz="1600" dirty="0">
                <a:latin typeface="Arial" panose="020B0604020202020204" pitchFamily="34" charset="0"/>
                <a:cs typeface="Arial" panose="020B0604020202020204" pitchFamily="34" charset="0"/>
                <a:sym typeface="Wingdings" panose="05000000000000000000" pitchFamily="2" charset="2"/>
              </a:rPr>
              <a:t></a:t>
            </a:r>
            <a:r>
              <a:rPr lang="en-US" altLang="ko-KR" sz="1600" dirty="0">
                <a:latin typeface="Arial" panose="020B0604020202020204" pitchFamily="34" charset="0"/>
                <a:cs typeface="Arial" panose="020B0604020202020204" pitchFamily="34" charset="0"/>
              </a:rPr>
              <a:t> 40 tuples (158 bytes)</a:t>
            </a:r>
          </a:p>
        </p:txBody>
      </p:sp>
    </p:spTree>
    <p:extLst>
      <p:ext uri="{BB962C8B-B14F-4D97-AF65-F5344CB8AC3E}">
        <p14:creationId xmlns:p14="http://schemas.microsoft.com/office/powerpoint/2010/main" val="839742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a:t>OpenFlow</a:t>
            </a:r>
            <a:r>
              <a:rPr lang="en-US" altLang="ko-KR" dirty="0"/>
              <a:t>: Flow Table</a:t>
            </a:r>
            <a:endParaRPr lang="ko-KR" altLang="en-US" dirty="0"/>
          </a:p>
        </p:txBody>
      </p:sp>
      <p:sp>
        <p:nvSpPr>
          <p:cNvPr id="3" name="내용 개체 틀 2"/>
          <p:cNvSpPr>
            <a:spLocks noGrp="1"/>
          </p:cNvSpPr>
          <p:nvPr>
            <p:ph idx="1"/>
          </p:nvPr>
        </p:nvSpPr>
        <p:spPr/>
        <p:txBody>
          <a:bodyPr>
            <a:normAutofit/>
          </a:bodyPr>
          <a:lstStyle/>
          <a:p>
            <a:r>
              <a:rPr lang="en-US" altLang="ko-KR" sz="2400" dirty="0"/>
              <a:t>Flow Table</a:t>
            </a:r>
          </a:p>
          <a:p>
            <a:pPr lvl="1"/>
            <a:r>
              <a:rPr lang="en-US" altLang="ko-KR" sz="2000" dirty="0">
                <a:solidFill>
                  <a:srgbClr val="FF0000"/>
                </a:solidFill>
              </a:rPr>
              <a:t>Wild card (*) means “does not matter” – not important field</a:t>
            </a:r>
            <a:endParaRPr lang="ko-KR" altLang="en-US" sz="2000" dirty="0">
              <a:solidFill>
                <a:srgbClr val="FF0000"/>
              </a:solidFill>
            </a:endParaRPr>
          </a:p>
          <a:p>
            <a:endParaRPr lang="ko-KR" altLang="en-US" sz="2400" dirty="0"/>
          </a:p>
        </p:txBody>
      </p:sp>
      <p:pic>
        <p:nvPicPr>
          <p:cNvPr id="4" name="그림 3" descr="1.jpg"/>
          <p:cNvPicPr>
            <a:picLocks noChangeAspect="1"/>
          </p:cNvPicPr>
          <p:nvPr/>
        </p:nvPicPr>
        <p:blipFill>
          <a:blip r:embed="rId2" cstate="print"/>
          <a:stretch>
            <a:fillRect/>
          </a:stretch>
        </p:blipFill>
        <p:spPr>
          <a:xfrm>
            <a:off x="1691803" y="2604860"/>
            <a:ext cx="8496436" cy="4078919"/>
          </a:xfrm>
          <a:prstGeom prst="rect">
            <a:avLst/>
          </a:prstGeom>
        </p:spPr>
      </p:pic>
    </p:spTree>
    <p:extLst>
      <p:ext uri="{BB962C8B-B14F-4D97-AF65-F5344CB8AC3E}">
        <p14:creationId xmlns:p14="http://schemas.microsoft.com/office/powerpoint/2010/main" val="1741061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0F9CB-62DF-7CB2-A392-2550D5ECA1EA}"/>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2D3A74DC-8099-E016-F461-5985A9C27E1E}"/>
              </a:ext>
            </a:extLst>
          </p:cNvPr>
          <p:cNvSpPr>
            <a:spLocks noGrp="1"/>
          </p:cNvSpPr>
          <p:nvPr>
            <p:ph idx="1"/>
          </p:nvPr>
        </p:nvSpPr>
        <p:spPr/>
        <p:txBody>
          <a:bodyPr/>
          <a:lstStyle/>
          <a:p>
            <a:endParaRPr lang="en-IE"/>
          </a:p>
        </p:txBody>
      </p:sp>
      <p:pic>
        <p:nvPicPr>
          <p:cNvPr id="6" name="Picture 5">
            <a:extLst>
              <a:ext uri="{FF2B5EF4-FFF2-40B4-BE49-F238E27FC236}">
                <a16:creationId xmlns:a16="http://schemas.microsoft.com/office/drawing/2014/main" id="{8E95138C-B516-717F-44CD-C924C4B2C464}"/>
              </a:ext>
            </a:extLst>
          </p:cNvPr>
          <p:cNvPicPr>
            <a:picLocks noChangeAspect="1"/>
          </p:cNvPicPr>
          <p:nvPr/>
        </p:nvPicPr>
        <p:blipFill>
          <a:blip r:embed="rId2"/>
          <a:stretch>
            <a:fillRect/>
          </a:stretch>
        </p:blipFill>
        <p:spPr>
          <a:xfrm>
            <a:off x="2252662" y="2000250"/>
            <a:ext cx="7686675" cy="2857500"/>
          </a:xfrm>
          <a:prstGeom prst="rect">
            <a:avLst/>
          </a:prstGeom>
        </p:spPr>
      </p:pic>
    </p:spTree>
    <p:extLst>
      <p:ext uri="{BB962C8B-B14F-4D97-AF65-F5344CB8AC3E}">
        <p14:creationId xmlns:p14="http://schemas.microsoft.com/office/powerpoint/2010/main" val="3867088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5AA1A-B120-FECD-E3A0-2A0B1FF14B56}"/>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1077F3F7-3458-9839-CACA-447FF1657279}"/>
              </a:ext>
            </a:extLst>
          </p:cNvPr>
          <p:cNvSpPr>
            <a:spLocks noGrp="1"/>
          </p:cNvSpPr>
          <p:nvPr>
            <p:ph idx="1"/>
          </p:nvPr>
        </p:nvSpPr>
        <p:spPr/>
        <p:txBody>
          <a:bodyPr/>
          <a:lstStyle/>
          <a:p>
            <a:r>
              <a:rPr lang="en-IE" dirty="0"/>
              <a:t>Protocol specifications defines</a:t>
            </a:r>
          </a:p>
          <a:p>
            <a:pPr lvl="1"/>
            <a:r>
              <a:rPr lang="en-IE" dirty="0"/>
              <a:t>Flow table: Performs packet lookup</a:t>
            </a:r>
          </a:p>
          <a:p>
            <a:pPr lvl="2"/>
            <a:r>
              <a:rPr lang="en-IE" dirty="0"/>
              <a:t>All packets compared to flow table for match</a:t>
            </a:r>
          </a:p>
          <a:p>
            <a:pPr lvl="2"/>
            <a:r>
              <a:rPr lang="en-IE" dirty="0"/>
              <a:t>Actions depend on match being found</a:t>
            </a:r>
          </a:p>
          <a:p>
            <a:pPr lvl="2"/>
            <a:r>
              <a:rPr lang="en-IE" dirty="0"/>
              <a:t>If no match, traffic is sent to controller</a:t>
            </a:r>
          </a:p>
          <a:p>
            <a:pPr lvl="1"/>
            <a:r>
              <a:rPr lang="en-IE" dirty="0"/>
              <a:t>Secure channel: Communication to external controller</a:t>
            </a:r>
          </a:p>
        </p:txBody>
      </p:sp>
    </p:spTree>
    <p:extLst>
      <p:ext uri="{BB962C8B-B14F-4D97-AF65-F5344CB8AC3E}">
        <p14:creationId xmlns:p14="http://schemas.microsoft.com/office/powerpoint/2010/main" val="886176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F189-D0FF-F14F-90E2-42AA85B028CF}"/>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3EED1C8B-25E2-B0FE-B5FC-81159F9BEFF3}"/>
              </a:ext>
            </a:extLst>
          </p:cNvPr>
          <p:cNvSpPr>
            <a:spLocks noGrp="1"/>
          </p:cNvSpPr>
          <p:nvPr>
            <p:ph idx="1"/>
          </p:nvPr>
        </p:nvSpPr>
        <p:spPr>
          <a:xfrm>
            <a:off x="838200" y="1825625"/>
            <a:ext cx="4301836" cy="4351338"/>
          </a:xfrm>
        </p:spPr>
        <p:txBody>
          <a:bodyPr/>
          <a:lstStyle/>
          <a:p>
            <a:r>
              <a:rPr lang="en-IE" dirty="0"/>
              <a:t>Matching in </a:t>
            </a:r>
            <a:r>
              <a:rPr lang="en-IE" dirty="0" err="1"/>
              <a:t>openFlow</a:t>
            </a:r>
            <a:endParaRPr lang="en-IE" dirty="0"/>
          </a:p>
          <a:p>
            <a:endParaRPr lang="en-IE" dirty="0"/>
          </a:p>
          <a:p>
            <a:endParaRPr lang="en-IE" dirty="0"/>
          </a:p>
          <a:p>
            <a:endParaRPr lang="en-IE" dirty="0"/>
          </a:p>
          <a:p>
            <a:r>
              <a:rPr lang="en-IE" dirty="0"/>
              <a:t> It is better to match tables at the switch to avoid traffic being forwarded to the controller (scalability)</a:t>
            </a:r>
          </a:p>
        </p:txBody>
      </p:sp>
      <p:pic>
        <p:nvPicPr>
          <p:cNvPr id="1026" name="Picture 2" descr="Openflow | therandomsecurityguy">
            <a:extLst>
              <a:ext uri="{FF2B5EF4-FFF2-40B4-BE49-F238E27FC236}">
                <a16:creationId xmlns:a16="http://schemas.microsoft.com/office/drawing/2014/main" id="{6A72A29B-06BF-446B-B2DB-ADBC17C015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1" y="758962"/>
            <a:ext cx="7076768" cy="5017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104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451929" y="-80109"/>
            <a:ext cx="6562226" cy="931725"/>
          </a:xfrm>
        </p:spPr>
        <p:txBody>
          <a:bodyPr/>
          <a:lstStyle/>
          <a:p>
            <a:r>
              <a:rPr lang="en-US" altLang="ko-KR" dirty="0" err="1"/>
              <a:t>OpenFlow</a:t>
            </a:r>
            <a:r>
              <a:rPr lang="en-US" altLang="ko-KR" dirty="0"/>
              <a:t> Pipelining</a:t>
            </a:r>
            <a:endParaRPr lang="ko-KR" altLang="en-US" dirty="0"/>
          </a:p>
        </p:txBody>
      </p:sp>
      <p:sp>
        <p:nvSpPr>
          <p:cNvPr id="3" name="내용 개체 틀 2"/>
          <p:cNvSpPr>
            <a:spLocks noGrp="1"/>
          </p:cNvSpPr>
          <p:nvPr>
            <p:ph idx="1"/>
          </p:nvPr>
        </p:nvSpPr>
        <p:spPr>
          <a:xfrm>
            <a:off x="1839589" y="788610"/>
            <a:ext cx="8828411" cy="4264931"/>
          </a:xfrm>
        </p:spPr>
        <p:txBody>
          <a:bodyPr>
            <a:normAutofit/>
          </a:bodyPr>
          <a:lstStyle/>
          <a:p>
            <a:r>
              <a:rPr lang="en-US" altLang="ko-KR" sz="2400" dirty="0"/>
              <a:t>Pipelining</a:t>
            </a:r>
          </a:p>
          <a:p>
            <a:pPr lvl="1"/>
            <a:r>
              <a:rPr lang="en-US" altLang="ko-KR" sz="2000" dirty="0"/>
              <a:t>The flow tables of a switch are sequentially numbered, starting at 0</a:t>
            </a:r>
          </a:p>
          <a:p>
            <a:pPr lvl="1"/>
            <a:r>
              <a:rPr lang="en-US" altLang="ko-KR" sz="2000" dirty="0"/>
              <a:t>A packet is processed sequentially in multiple flow tables (version 1.1)</a:t>
            </a:r>
          </a:p>
          <a:p>
            <a:pPr lvl="2"/>
            <a:r>
              <a:rPr lang="en-US" altLang="ko-KR" sz="1600" dirty="0"/>
              <a:t>If a flow entry is found, the instruction set included in that flow entry is executed</a:t>
            </a:r>
          </a:p>
          <a:p>
            <a:pPr lvl="2"/>
            <a:r>
              <a:rPr lang="en-US" altLang="ko-KR" sz="1600" dirty="0"/>
              <a:t>Instructions may explicitly direct the packet to another flow table (“</a:t>
            </a:r>
            <a:r>
              <a:rPr lang="en-US" altLang="ko-KR" sz="1600" b="1" dirty="0" err="1">
                <a:solidFill>
                  <a:srgbClr val="FF0000"/>
                </a:solidFill>
              </a:rPr>
              <a:t>goto</a:t>
            </a:r>
            <a:r>
              <a:rPr lang="en-US" altLang="ko-KR" sz="1600" b="1" dirty="0">
                <a:solidFill>
                  <a:srgbClr val="FF0000"/>
                </a:solidFill>
              </a:rPr>
              <a:t>-table</a:t>
            </a:r>
            <a:r>
              <a:rPr lang="en-US" altLang="ko-KR" sz="1600" dirty="0"/>
              <a:t>”)</a:t>
            </a:r>
          </a:p>
          <a:p>
            <a:pPr lvl="2"/>
            <a:r>
              <a:rPr lang="en-US" altLang="ko-KR" sz="1600" dirty="0"/>
              <a:t>Pipeline processing can only go forward and not backward</a:t>
            </a:r>
          </a:p>
          <a:p>
            <a:pPr lvl="1"/>
            <a:r>
              <a:rPr lang="en-US" altLang="ko-KR" sz="2000" dirty="0"/>
              <a:t>Two stage pipeline processing (version 1.5)</a:t>
            </a:r>
          </a:p>
          <a:p>
            <a:pPr lvl="2"/>
            <a:r>
              <a:rPr lang="en-US" altLang="ko-KR" sz="1600" dirty="0"/>
              <a:t>Ingress processing</a:t>
            </a:r>
          </a:p>
          <a:p>
            <a:pPr lvl="3"/>
            <a:r>
              <a:rPr lang="en-US" altLang="ko-KR" sz="1400" dirty="0"/>
              <a:t>Mandatory, performed before egress processing, use the rules specified in ingress tables</a:t>
            </a:r>
          </a:p>
          <a:p>
            <a:pPr lvl="2"/>
            <a:r>
              <a:rPr lang="en-US" altLang="ko-KR" sz="1600" dirty="0"/>
              <a:t>Egress processing</a:t>
            </a:r>
          </a:p>
          <a:p>
            <a:pPr lvl="3"/>
            <a:r>
              <a:rPr lang="en-US" altLang="ko-KR" sz="1400" dirty="0"/>
              <a:t>Optional, performed in the context of output port, use the rules specified in egress tables</a:t>
            </a:r>
          </a:p>
          <a:p>
            <a:pPr lvl="3"/>
            <a:r>
              <a:rPr lang="en-US" altLang="ko-KR" sz="1400" dirty="0"/>
              <a:t>Egress table can be configured during feature request/reply phase</a:t>
            </a:r>
            <a:endParaRPr lang="en-US" altLang="ko-KR" sz="1600" dirty="0"/>
          </a:p>
          <a:p>
            <a:pPr lvl="1"/>
            <a:r>
              <a:rPr lang="en-US" altLang="ko-KR" sz="2000" dirty="0"/>
              <a:t>Useful to manage complicated processing</a:t>
            </a:r>
          </a:p>
          <a:p>
            <a:pPr lvl="2"/>
            <a:r>
              <a:rPr lang="en-US" altLang="ko-KR" sz="1800" dirty="0"/>
              <a:t>E.g., table 1  for VLAN processing, table 2 for multicast group processing</a:t>
            </a:r>
          </a:p>
        </p:txBody>
      </p:sp>
      <p:sp>
        <p:nvSpPr>
          <p:cNvPr id="5" name="모서리가 둥근 직사각형 4"/>
          <p:cNvSpPr/>
          <p:nvPr/>
        </p:nvSpPr>
        <p:spPr>
          <a:xfrm>
            <a:off x="2652264" y="5241019"/>
            <a:ext cx="2529337" cy="1308154"/>
          </a:xfrm>
          <a:prstGeom prst="roundRect">
            <a:avLst>
              <a:gd name="adj" fmla="val 6399"/>
            </a:avLst>
          </a:prstGeom>
          <a:solidFill>
            <a:srgbClr val="FFECD9"/>
          </a:solidFill>
          <a:ln w="9525"/>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dirty="0">
              <a:latin typeface="Arial" panose="020B0604020202020204" pitchFamily="34" charset="0"/>
              <a:cs typeface="Arial" panose="020B0604020202020204" pitchFamily="34" charset="0"/>
            </a:endParaRPr>
          </a:p>
        </p:txBody>
      </p:sp>
      <p:sp>
        <p:nvSpPr>
          <p:cNvPr id="6" name="직사각형 5"/>
          <p:cNvSpPr/>
          <p:nvPr/>
        </p:nvSpPr>
        <p:spPr>
          <a:xfrm>
            <a:off x="3088446" y="5614777"/>
            <a:ext cx="726969" cy="467198"/>
          </a:xfrm>
          <a:prstGeom prst="rect">
            <a:avLst/>
          </a:prstGeom>
          <a:solidFill>
            <a:schemeClr val="accent5">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Arial" panose="020B0604020202020204" pitchFamily="34" charset="0"/>
                <a:cs typeface="Arial" panose="020B0604020202020204" pitchFamily="34" charset="0"/>
              </a:rPr>
              <a:t>Flow</a:t>
            </a:r>
            <a:br>
              <a:rPr lang="en-US" altLang="ko-KR" sz="1200" b="1" dirty="0">
                <a:solidFill>
                  <a:schemeClr val="tx1"/>
                </a:solidFill>
                <a:latin typeface="Arial" panose="020B0604020202020204" pitchFamily="34" charset="0"/>
                <a:cs typeface="Arial" panose="020B0604020202020204" pitchFamily="34" charset="0"/>
              </a:rPr>
            </a:br>
            <a:r>
              <a:rPr lang="en-US" altLang="ko-KR" sz="1200" b="1" dirty="0">
                <a:solidFill>
                  <a:schemeClr val="tx1"/>
                </a:solidFill>
                <a:latin typeface="Arial" panose="020B0604020202020204" pitchFamily="34" charset="0"/>
                <a:cs typeface="Arial" panose="020B0604020202020204" pitchFamily="34" charset="0"/>
              </a:rPr>
              <a:t>Table 0</a:t>
            </a:r>
            <a:endParaRPr lang="ko-KR" altLang="en-US" sz="1200" b="1" dirty="0">
              <a:solidFill>
                <a:schemeClr val="tx1"/>
              </a:solidFill>
              <a:latin typeface="Arial" panose="020B0604020202020204" pitchFamily="34" charset="0"/>
              <a:cs typeface="Arial" panose="020B0604020202020204" pitchFamily="34" charset="0"/>
            </a:endParaRPr>
          </a:p>
        </p:txBody>
      </p:sp>
      <p:sp>
        <p:nvSpPr>
          <p:cNvPr id="7" name="직사각형 6"/>
          <p:cNvSpPr/>
          <p:nvPr/>
        </p:nvSpPr>
        <p:spPr>
          <a:xfrm>
            <a:off x="3088445" y="6081975"/>
            <a:ext cx="726969" cy="327038"/>
          </a:xfrm>
          <a:prstGeom prst="rect">
            <a:avLst/>
          </a:prstGeom>
          <a:solidFill>
            <a:srgbClr val="BBD06E"/>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a:solidFill>
                  <a:schemeClr val="tx1"/>
                </a:solidFill>
                <a:latin typeface="Arial" panose="020B0604020202020204" pitchFamily="34" charset="0"/>
                <a:cs typeface="Arial" panose="020B0604020202020204" pitchFamily="34" charset="0"/>
              </a:rPr>
              <a:t>Instruction/Action</a:t>
            </a:r>
            <a:endParaRPr lang="ko-KR" altLang="en-US" sz="1000" dirty="0">
              <a:solidFill>
                <a:schemeClr val="tx1"/>
              </a:solidFill>
              <a:latin typeface="Arial" panose="020B0604020202020204" pitchFamily="34" charset="0"/>
              <a:cs typeface="Arial" panose="020B0604020202020204" pitchFamily="34" charset="0"/>
            </a:endParaRPr>
          </a:p>
        </p:txBody>
      </p:sp>
      <p:sp>
        <p:nvSpPr>
          <p:cNvPr id="10" name="직사각형 9"/>
          <p:cNvSpPr/>
          <p:nvPr/>
        </p:nvSpPr>
        <p:spPr>
          <a:xfrm>
            <a:off x="4283496" y="5610627"/>
            <a:ext cx="726969" cy="467198"/>
          </a:xfrm>
          <a:prstGeom prst="rect">
            <a:avLst/>
          </a:prstGeom>
          <a:solidFill>
            <a:schemeClr val="accent5">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Arial" panose="020B0604020202020204" pitchFamily="34" charset="0"/>
                <a:cs typeface="Arial" panose="020B0604020202020204" pitchFamily="34" charset="0"/>
              </a:rPr>
              <a:t>Flow</a:t>
            </a:r>
            <a:br>
              <a:rPr lang="en-US" altLang="ko-KR" sz="1200" b="1" dirty="0">
                <a:solidFill>
                  <a:schemeClr val="tx1"/>
                </a:solidFill>
                <a:latin typeface="Arial" panose="020B0604020202020204" pitchFamily="34" charset="0"/>
                <a:cs typeface="Arial" panose="020B0604020202020204" pitchFamily="34" charset="0"/>
              </a:rPr>
            </a:br>
            <a:r>
              <a:rPr lang="en-US" altLang="ko-KR" sz="1200" b="1" dirty="0">
                <a:solidFill>
                  <a:schemeClr val="tx1"/>
                </a:solidFill>
                <a:latin typeface="Arial" panose="020B0604020202020204" pitchFamily="34" charset="0"/>
                <a:cs typeface="Arial" panose="020B0604020202020204" pitchFamily="34" charset="0"/>
              </a:rPr>
              <a:t>Table n</a:t>
            </a:r>
            <a:endParaRPr lang="ko-KR" altLang="en-US" sz="1200" b="1" dirty="0">
              <a:solidFill>
                <a:schemeClr val="tx1"/>
              </a:solidFill>
              <a:latin typeface="Arial" panose="020B0604020202020204" pitchFamily="34" charset="0"/>
              <a:cs typeface="Arial" panose="020B0604020202020204" pitchFamily="34" charset="0"/>
            </a:endParaRPr>
          </a:p>
        </p:txBody>
      </p:sp>
      <p:sp>
        <p:nvSpPr>
          <p:cNvPr id="11" name="직사각형 10"/>
          <p:cNvSpPr/>
          <p:nvPr/>
        </p:nvSpPr>
        <p:spPr>
          <a:xfrm>
            <a:off x="4283496" y="6077825"/>
            <a:ext cx="726969" cy="327038"/>
          </a:xfrm>
          <a:prstGeom prst="rect">
            <a:avLst/>
          </a:prstGeom>
          <a:solidFill>
            <a:srgbClr val="BBD06E"/>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a:solidFill>
                  <a:schemeClr val="tx1"/>
                </a:solidFill>
                <a:latin typeface="Arial" panose="020B0604020202020204" pitchFamily="34" charset="0"/>
                <a:cs typeface="Arial" panose="020B0604020202020204" pitchFamily="34" charset="0"/>
              </a:rPr>
              <a:t>Instruction/Action</a:t>
            </a:r>
            <a:endParaRPr lang="ko-KR" altLang="en-US" sz="1000" dirty="0">
              <a:solidFill>
                <a:schemeClr val="tx1"/>
              </a:solidFill>
              <a:latin typeface="Arial" panose="020B0604020202020204" pitchFamily="34" charset="0"/>
              <a:cs typeface="Arial" panose="020B0604020202020204" pitchFamily="34" charset="0"/>
            </a:endParaRPr>
          </a:p>
        </p:txBody>
      </p:sp>
      <p:sp>
        <p:nvSpPr>
          <p:cNvPr id="12" name="TextBox 11"/>
          <p:cNvSpPr txBox="1"/>
          <p:nvPr/>
        </p:nvSpPr>
        <p:spPr>
          <a:xfrm>
            <a:off x="2732126" y="5252492"/>
            <a:ext cx="2398998" cy="307777"/>
          </a:xfrm>
          <a:prstGeom prst="rect">
            <a:avLst/>
          </a:prstGeom>
          <a:noFill/>
        </p:spPr>
        <p:txBody>
          <a:bodyPr wrap="square" rtlCol="0">
            <a:spAutoFit/>
          </a:bodyPr>
          <a:lstStyle/>
          <a:p>
            <a:r>
              <a:rPr lang="en-US" altLang="ko-KR" sz="1400" b="1" dirty="0">
                <a:latin typeface="Arial" panose="020B0604020202020204" pitchFamily="34" charset="0"/>
                <a:cs typeface="Arial" panose="020B0604020202020204" pitchFamily="34" charset="0"/>
              </a:rPr>
              <a:t>Ingress processing</a:t>
            </a:r>
            <a:endParaRPr lang="ko-KR" altLang="en-US" sz="1400" b="1" dirty="0">
              <a:latin typeface="Arial" panose="020B0604020202020204" pitchFamily="34" charset="0"/>
              <a:cs typeface="Arial" panose="020B0604020202020204" pitchFamily="34" charset="0"/>
            </a:endParaRPr>
          </a:p>
        </p:txBody>
      </p:sp>
      <p:sp>
        <p:nvSpPr>
          <p:cNvPr id="13" name="TextBox 12"/>
          <p:cNvSpPr txBox="1"/>
          <p:nvPr/>
        </p:nvSpPr>
        <p:spPr>
          <a:xfrm>
            <a:off x="3871397" y="5801657"/>
            <a:ext cx="345310" cy="338554"/>
          </a:xfrm>
          <a:prstGeom prst="rect">
            <a:avLst/>
          </a:prstGeom>
          <a:noFill/>
        </p:spPr>
        <p:txBody>
          <a:bodyPr wrap="square" rtlCol="0">
            <a:spAutoFit/>
          </a:bodyPr>
          <a:lstStyle/>
          <a:p>
            <a:r>
              <a:rPr lang="en-US" altLang="ko-KR" sz="1600" b="1" dirty="0">
                <a:latin typeface="Arial" panose="020B0604020202020204" pitchFamily="34" charset="0"/>
                <a:cs typeface="Arial" panose="020B0604020202020204" pitchFamily="34" charset="0"/>
              </a:rPr>
              <a:t>…</a:t>
            </a:r>
            <a:endParaRPr lang="ko-KR" altLang="en-US" sz="1600" b="1" dirty="0">
              <a:latin typeface="Arial" panose="020B0604020202020204" pitchFamily="34" charset="0"/>
              <a:cs typeface="Arial" panose="020B0604020202020204" pitchFamily="34" charset="0"/>
            </a:endParaRPr>
          </a:p>
        </p:txBody>
      </p:sp>
      <p:cxnSp>
        <p:nvCxnSpPr>
          <p:cNvPr id="14" name="직선 화살표 연결선 13"/>
          <p:cNvCxnSpPr/>
          <p:nvPr/>
        </p:nvCxnSpPr>
        <p:spPr>
          <a:xfrm>
            <a:off x="2506870" y="5975969"/>
            <a:ext cx="581575" cy="0"/>
          </a:xfrm>
          <a:prstGeom prst="straightConnector1">
            <a:avLst/>
          </a:prstGeom>
          <a:ln w="571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524001" y="5790751"/>
            <a:ext cx="1200959" cy="307777"/>
          </a:xfrm>
          <a:prstGeom prst="rect">
            <a:avLst/>
          </a:prstGeom>
          <a:noFill/>
        </p:spPr>
        <p:txBody>
          <a:bodyPr wrap="square" rtlCol="0">
            <a:spAutoFit/>
          </a:bodyPr>
          <a:lstStyle/>
          <a:p>
            <a:r>
              <a:rPr lang="en-US" altLang="ko-KR" sz="1400" b="1" dirty="0">
                <a:latin typeface="Arial" panose="020B0604020202020204" pitchFamily="34" charset="0"/>
                <a:cs typeface="Arial" panose="020B0604020202020204" pitchFamily="34" charset="0"/>
              </a:rPr>
              <a:t>Packet</a:t>
            </a:r>
            <a:r>
              <a:rPr lang="ko-KR" altLang="en-US" sz="1400" b="1" dirty="0">
                <a:latin typeface="Arial" panose="020B0604020202020204" pitchFamily="34" charset="0"/>
                <a:cs typeface="Arial" panose="020B0604020202020204" pitchFamily="34" charset="0"/>
              </a:rPr>
              <a:t> </a:t>
            </a:r>
            <a:r>
              <a:rPr lang="en-US" altLang="ko-KR" sz="1400" b="1" dirty="0">
                <a:latin typeface="Arial" panose="020B0604020202020204" pitchFamily="34" charset="0"/>
                <a:cs typeface="Arial" panose="020B0604020202020204" pitchFamily="34" charset="0"/>
              </a:rPr>
              <a:t>In</a:t>
            </a:r>
            <a:endParaRPr lang="ko-KR" altLang="en-US" sz="1400" b="1" dirty="0">
              <a:latin typeface="Arial" panose="020B0604020202020204" pitchFamily="34" charset="0"/>
              <a:cs typeface="Arial" panose="020B0604020202020204" pitchFamily="34" charset="0"/>
            </a:endParaRPr>
          </a:p>
        </p:txBody>
      </p:sp>
      <p:sp>
        <p:nvSpPr>
          <p:cNvPr id="18" name="직사각형 17"/>
          <p:cNvSpPr/>
          <p:nvPr/>
        </p:nvSpPr>
        <p:spPr>
          <a:xfrm>
            <a:off x="5582895" y="5801657"/>
            <a:ext cx="726969" cy="467198"/>
          </a:xfrm>
          <a:prstGeom prst="rect">
            <a:avLst/>
          </a:prstGeom>
          <a:solidFill>
            <a:schemeClr val="accent5">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Arial" panose="020B0604020202020204" pitchFamily="34" charset="0"/>
                <a:cs typeface="Arial" panose="020B0604020202020204" pitchFamily="34" charset="0"/>
              </a:rPr>
              <a:t>Group Table</a:t>
            </a:r>
            <a:endParaRPr lang="ko-KR" altLang="en-US" sz="1200" b="1" dirty="0">
              <a:solidFill>
                <a:schemeClr val="tx1"/>
              </a:solidFill>
              <a:latin typeface="Arial" panose="020B0604020202020204" pitchFamily="34" charset="0"/>
              <a:cs typeface="Arial" panose="020B0604020202020204" pitchFamily="34" charset="0"/>
            </a:endParaRPr>
          </a:p>
        </p:txBody>
      </p:sp>
      <p:sp>
        <p:nvSpPr>
          <p:cNvPr id="19" name="모서리가 둥근 직사각형 18"/>
          <p:cNvSpPr/>
          <p:nvPr/>
        </p:nvSpPr>
        <p:spPr>
          <a:xfrm>
            <a:off x="6672579" y="5241019"/>
            <a:ext cx="2774352" cy="1308154"/>
          </a:xfrm>
          <a:prstGeom prst="roundRect">
            <a:avLst>
              <a:gd name="adj" fmla="val 6399"/>
            </a:avLst>
          </a:prstGeom>
          <a:solidFill>
            <a:srgbClr val="FFECD9"/>
          </a:solidFill>
          <a:ln w="9525"/>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dirty="0">
              <a:latin typeface="Arial" panose="020B0604020202020204" pitchFamily="34" charset="0"/>
              <a:cs typeface="Arial" panose="020B0604020202020204" pitchFamily="34" charset="0"/>
            </a:endParaRPr>
          </a:p>
        </p:txBody>
      </p:sp>
      <p:sp>
        <p:nvSpPr>
          <p:cNvPr id="20" name="직사각형 19"/>
          <p:cNvSpPr/>
          <p:nvPr/>
        </p:nvSpPr>
        <p:spPr>
          <a:xfrm>
            <a:off x="6885473" y="5614777"/>
            <a:ext cx="726969" cy="467198"/>
          </a:xfrm>
          <a:prstGeom prst="rect">
            <a:avLst/>
          </a:prstGeom>
          <a:solidFill>
            <a:schemeClr val="accent5">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Arial" panose="020B0604020202020204" pitchFamily="34" charset="0"/>
                <a:cs typeface="Arial" panose="020B0604020202020204" pitchFamily="34" charset="0"/>
              </a:rPr>
              <a:t>Flow</a:t>
            </a:r>
            <a:br>
              <a:rPr lang="en-US" altLang="ko-KR" sz="1200" b="1" dirty="0">
                <a:solidFill>
                  <a:schemeClr val="tx1"/>
                </a:solidFill>
                <a:latin typeface="Arial" panose="020B0604020202020204" pitchFamily="34" charset="0"/>
                <a:cs typeface="Arial" panose="020B0604020202020204" pitchFamily="34" charset="0"/>
              </a:rPr>
            </a:br>
            <a:r>
              <a:rPr lang="en-US" altLang="ko-KR" sz="1200" b="1" dirty="0">
                <a:solidFill>
                  <a:schemeClr val="tx1"/>
                </a:solidFill>
                <a:latin typeface="Arial" panose="020B0604020202020204" pitchFamily="34" charset="0"/>
                <a:cs typeface="Arial" panose="020B0604020202020204" pitchFamily="34" charset="0"/>
              </a:rPr>
              <a:t>Table e</a:t>
            </a:r>
            <a:endParaRPr lang="ko-KR" altLang="en-US" sz="1200" b="1" dirty="0">
              <a:solidFill>
                <a:schemeClr val="tx1"/>
              </a:solidFill>
              <a:latin typeface="Arial" panose="020B0604020202020204" pitchFamily="34" charset="0"/>
              <a:cs typeface="Arial" panose="020B0604020202020204" pitchFamily="34" charset="0"/>
            </a:endParaRPr>
          </a:p>
        </p:txBody>
      </p:sp>
      <p:sp>
        <p:nvSpPr>
          <p:cNvPr id="21" name="직사각형 20"/>
          <p:cNvSpPr/>
          <p:nvPr/>
        </p:nvSpPr>
        <p:spPr>
          <a:xfrm>
            <a:off x="6885473" y="6081975"/>
            <a:ext cx="726969" cy="327038"/>
          </a:xfrm>
          <a:prstGeom prst="rect">
            <a:avLst/>
          </a:prstGeom>
          <a:solidFill>
            <a:srgbClr val="BBD06E"/>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a:solidFill>
                  <a:schemeClr val="tx1"/>
                </a:solidFill>
                <a:latin typeface="Arial" panose="020B0604020202020204" pitchFamily="34" charset="0"/>
                <a:cs typeface="Arial" panose="020B0604020202020204" pitchFamily="34" charset="0"/>
              </a:rPr>
              <a:t>Instruction/Action</a:t>
            </a:r>
            <a:endParaRPr lang="ko-KR" altLang="en-US" sz="1000" dirty="0">
              <a:solidFill>
                <a:schemeClr val="tx1"/>
              </a:solidFill>
              <a:latin typeface="Arial" panose="020B0604020202020204" pitchFamily="34" charset="0"/>
              <a:cs typeface="Arial" panose="020B0604020202020204" pitchFamily="34" charset="0"/>
            </a:endParaRPr>
          </a:p>
        </p:txBody>
      </p:sp>
      <p:sp>
        <p:nvSpPr>
          <p:cNvPr id="22" name="직사각형 21"/>
          <p:cNvSpPr/>
          <p:nvPr/>
        </p:nvSpPr>
        <p:spPr>
          <a:xfrm>
            <a:off x="8080522" y="5610627"/>
            <a:ext cx="954088" cy="467198"/>
          </a:xfrm>
          <a:prstGeom prst="rect">
            <a:avLst/>
          </a:prstGeom>
          <a:solidFill>
            <a:schemeClr val="accent5">
              <a:lumMod val="60000"/>
              <a:lumOff val="4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Arial" panose="020B0604020202020204" pitchFamily="34" charset="0"/>
                <a:cs typeface="Arial" panose="020B0604020202020204" pitchFamily="34" charset="0"/>
              </a:rPr>
              <a:t>Flow</a:t>
            </a:r>
            <a:br>
              <a:rPr lang="en-US" altLang="ko-KR" sz="1200" b="1" dirty="0">
                <a:solidFill>
                  <a:schemeClr val="tx1"/>
                </a:solidFill>
                <a:latin typeface="Arial" panose="020B0604020202020204" pitchFamily="34" charset="0"/>
                <a:cs typeface="Arial" panose="020B0604020202020204" pitchFamily="34" charset="0"/>
              </a:rPr>
            </a:br>
            <a:r>
              <a:rPr lang="en-US" altLang="ko-KR" sz="1200" b="1" dirty="0">
                <a:solidFill>
                  <a:schemeClr val="tx1"/>
                </a:solidFill>
                <a:latin typeface="Arial" panose="020B0604020202020204" pitchFamily="34" charset="0"/>
                <a:cs typeface="Arial" panose="020B0604020202020204" pitchFamily="34" charset="0"/>
              </a:rPr>
              <a:t>Table </a:t>
            </a:r>
            <a:r>
              <a:rPr lang="en-US" altLang="ko-KR" sz="1200" b="1" dirty="0" err="1">
                <a:solidFill>
                  <a:schemeClr val="tx1"/>
                </a:solidFill>
                <a:latin typeface="Arial" panose="020B0604020202020204" pitchFamily="34" charset="0"/>
                <a:cs typeface="Arial" panose="020B0604020202020204" pitchFamily="34" charset="0"/>
              </a:rPr>
              <a:t>e+m</a:t>
            </a:r>
            <a:endParaRPr lang="ko-KR" altLang="en-US" sz="1200" b="1" dirty="0">
              <a:solidFill>
                <a:schemeClr val="tx1"/>
              </a:solidFill>
              <a:latin typeface="Arial" panose="020B0604020202020204" pitchFamily="34" charset="0"/>
              <a:cs typeface="Arial" panose="020B0604020202020204" pitchFamily="34" charset="0"/>
            </a:endParaRPr>
          </a:p>
        </p:txBody>
      </p:sp>
      <p:sp>
        <p:nvSpPr>
          <p:cNvPr id="23" name="직사각형 22"/>
          <p:cNvSpPr/>
          <p:nvPr/>
        </p:nvSpPr>
        <p:spPr>
          <a:xfrm>
            <a:off x="8080522" y="6077825"/>
            <a:ext cx="954088" cy="327038"/>
          </a:xfrm>
          <a:prstGeom prst="rect">
            <a:avLst/>
          </a:prstGeom>
          <a:solidFill>
            <a:srgbClr val="BBD06E"/>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Arial" panose="020B0604020202020204" pitchFamily="34" charset="0"/>
                <a:cs typeface="Arial" panose="020B0604020202020204" pitchFamily="34" charset="0"/>
              </a:rPr>
              <a:t>Instruction/Action</a:t>
            </a:r>
            <a:endParaRPr lang="ko-KR" altLang="en-US" sz="1100" dirty="0">
              <a:solidFill>
                <a:schemeClr val="tx1"/>
              </a:solidFill>
              <a:latin typeface="Arial" panose="020B0604020202020204" pitchFamily="34" charset="0"/>
              <a:cs typeface="Arial" panose="020B0604020202020204" pitchFamily="34" charset="0"/>
            </a:endParaRPr>
          </a:p>
        </p:txBody>
      </p:sp>
      <p:sp>
        <p:nvSpPr>
          <p:cNvPr id="24" name="TextBox 23"/>
          <p:cNvSpPr txBox="1"/>
          <p:nvPr/>
        </p:nvSpPr>
        <p:spPr>
          <a:xfrm>
            <a:off x="6752442" y="5252492"/>
            <a:ext cx="2398998" cy="307777"/>
          </a:xfrm>
          <a:prstGeom prst="rect">
            <a:avLst/>
          </a:prstGeom>
          <a:noFill/>
        </p:spPr>
        <p:txBody>
          <a:bodyPr wrap="square" rtlCol="0">
            <a:spAutoFit/>
          </a:bodyPr>
          <a:lstStyle/>
          <a:p>
            <a:r>
              <a:rPr lang="en-US" altLang="ko-KR" sz="1400" b="1" dirty="0">
                <a:latin typeface="Arial" panose="020B0604020202020204" pitchFamily="34" charset="0"/>
                <a:cs typeface="Arial" panose="020B0604020202020204" pitchFamily="34" charset="0"/>
              </a:rPr>
              <a:t>Egress processing</a:t>
            </a:r>
            <a:endParaRPr lang="ko-KR" altLang="en-US" sz="1400" b="1" dirty="0">
              <a:latin typeface="Arial" panose="020B0604020202020204" pitchFamily="34" charset="0"/>
              <a:cs typeface="Arial" panose="020B0604020202020204" pitchFamily="34" charset="0"/>
            </a:endParaRPr>
          </a:p>
        </p:txBody>
      </p:sp>
      <p:sp>
        <p:nvSpPr>
          <p:cNvPr id="25" name="TextBox 24"/>
          <p:cNvSpPr txBox="1"/>
          <p:nvPr/>
        </p:nvSpPr>
        <p:spPr>
          <a:xfrm>
            <a:off x="7668424" y="5801657"/>
            <a:ext cx="345310" cy="338554"/>
          </a:xfrm>
          <a:prstGeom prst="rect">
            <a:avLst/>
          </a:prstGeom>
          <a:noFill/>
        </p:spPr>
        <p:txBody>
          <a:bodyPr wrap="square" rtlCol="0">
            <a:spAutoFit/>
          </a:bodyPr>
          <a:lstStyle/>
          <a:p>
            <a:r>
              <a:rPr lang="en-US" altLang="ko-KR" sz="1600" b="1" dirty="0">
                <a:latin typeface="Arial" panose="020B0604020202020204" pitchFamily="34" charset="0"/>
                <a:cs typeface="Arial" panose="020B0604020202020204" pitchFamily="34" charset="0"/>
              </a:rPr>
              <a:t>…</a:t>
            </a:r>
            <a:endParaRPr lang="ko-KR" altLang="en-US" sz="1600" b="1" dirty="0">
              <a:latin typeface="Arial" panose="020B0604020202020204" pitchFamily="34" charset="0"/>
              <a:cs typeface="Arial" panose="020B0604020202020204" pitchFamily="34" charset="0"/>
            </a:endParaRPr>
          </a:p>
        </p:txBody>
      </p:sp>
      <p:cxnSp>
        <p:nvCxnSpPr>
          <p:cNvPr id="15" name="직선 화살표 연결선 14"/>
          <p:cNvCxnSpPr/>
          <p:nvPr/>
        </p:nvCxnSpPr>
        <p:spPr>
          <a:xfrm>
            <a:off x="9032072" y="5975969"/>
            <a:ext cx="581575" cy="0"/>
          </a:xfrm>
          <a:prstGeom prst="straightConnector1">
            <a:avLst/>
          </a:prstGeom>
          <a:ln w="571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577693" y="5843649"/>
            <a:ext cx="1284893" cy="307777"/>
          </a:xfrm>
          <a:prstGeom prst="rect">
            <a:avLst/>
          </a:prstGeom>
          <a:noFill/>
        </p:spPr>
        <p:txBody>
          <a:bodyPr wrap="square" rtlCol="0">
            <a:spAutoFit/>
          </a:bodyPr>
          <a:lstStyle/>
          <a:p>
            <a:r>
              <a:rPr lang="en-US" altLang="ko-KR" sz="1400" b="1" dirty="0">
                <a:latin typeface="Arial" panose="020B0604020202020204" pitchFamily="34" charset="0"/>
                <a:cs typeface="Arial" panose="020B0604020202020204" pitchFamily="34" charset="0"/>
              </a:rPr>
              <a:t>Packet</a:t>
            </a:r>
            <a:r>
              <a:rPr lang="ko-KR" altLang="en-US" sz="1400" b="1" dirty="0">
                <a:latin typeface="Arial" panose="020B0604020202020204" pitchFamily="34" charset="0"/>
                <a:cs typeface="Arial" panose="020B0604020202020204" pitchFamily="34" charset="0"/>
              </a:rPr>
              <a:t> </a:t>
            </a:r>
            <a:r>
              <a:rPr lang="en-US" altLang="ko-KR" sz="1400" b="1" dirty="0">
                <a:latin typeface="Arial" panose="020B0604020202020204" pitchFamily="34" charset="0"/>
                <a:cs typeface="Arial" panose="020B0604020202020204" pitchFamily="34" charset="0"/>
              </a:rPr>
              <a:t>Out</a:t>
            </a:r>
            <a:endParaRPr lang="ko-KR" altLang="en-US" sz="1400" b="1" dirty="0">
              <a:latin typeface="Arial" panose="020B0604020202020204" pitchFamily="34" charset="0"/>
              <a:cs typeface="Arial" panose="020B0604020202020204" pitchFamily="34" charset="0"/>
            </a:endParaRPr>
          </a:p>
        </p:txBody>
      </p:sp>
      <p:cxnSp>
        <p:nvCxnSpPr>
          <p:cNvPr id="26" name="직선 화살표 연결선 25"/>
          <p:cNvCxnSpPr/>
          <p:nvPr/>
        </p:nvCxnSpPr>
        <p:spPr>
          <a:xfrm>
            <a:off x="5010465" y="5975969"/>
            <a:ext cx="581575" cy="0"/>
          </a:xfrm>
          <a:prstGeom prst="straightConnector1">
            <a:avLst/>
          </a:prstGeom>
          <a:ln w="571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7" name="직선 화살표 연결선 26"/>
          <p:cNvCxnSpPr/>
          <p:nvPr/>
        </p:nvCxnSpPr>
        <p:spPr>
          <a:xfrm>
            <a:off x="6309864" y="5969348"/>
            <a:ext cx="581575" cy="0"/>
          </a:xfrm>
          <a:prstGeom prst="straightConnector1">
            <a:avLst/>
          </a:prstGeom>
          <a:ln w="571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778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D31EA-0095-0181-C4AF-FC54C1540F2B}"/>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A3C60490-685E-3616-C111-A1E61B6F74CA}"/>
              </a:ext>
            </a:extLst>
          </p:cNvPr>
          <p:cNvSpPr>
            <a:spLocks noGrp="1"/>
          </p:cNvSpPr>
          <p:nvPr>
            <p:ph idx="1"/>
          </p:nvPr>
        </p:nvSpPr>
        <p:spPr/>
        <p:txBody>
          <a:bodyPr/>
          <a:lstStyle/>
          <a:p>
            <a:endParaRPr lang="en-IE" dirty="0"/>
          </a:p>
        </p:txBody>
      </p:sp>
      <p:pic>
        <p:nvPicPr>
          <p:cNvPr id="1026" name="Picture 2" descr="OpenFlow Flow">
            <a:extLst>
              <a:ext uri="{FF2B5EF4-FFF2-40B4-BE49-F238E27FC236}">
                <a16:creationId xmlns:a16="http://schemas.microsoft.com/office/drawing/2014/main" id="{0A5B24AF-D4EC-DAD0-90D1-D34B698E8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1514475"/>
            <a:ext cx="6667500"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9677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93024-CB93-F1BE-6F69-1A0E143AAB3D}"/>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213DB8AC-0CC0-B3EE-42C0-A08989B00FE5}"/>
              </a:ext>
            </a:extLst>
          </p:cNvPr>
          <p:cNvSpPr>
            <a:spLocks noGrp="1"/>
          </p:cNvSpPr>
          <p:nvPr>
            <p:ph idx="1"/>
          </p:nvPr>
        </p:nvSpPr>
        <p:spPr/>
        <p:txBody>
          <a:bodyPr/>
          <a:lstStyle/>
          <a:p>
            <a:endParaRPr lang="en-IE"/>
          </a:p>
        </p:txBody>
      </p:sp>
      <p:pic>
        <p:nvPicPr>
          <p:cNvPr id="6" name="Picture 5">
            <a:extLst>
              <a:ext uri="{FF2B5EF4-FFF2-40B4-BE49-F238E27FC236}">
                <a16:creationId xmlns:a16="http://schemas.microsoft.com/office/drawing/2014/main" id="{DCCA656D-C9A4-4523-F51E-0AECB8D006C9}"/>
              </a:ext>
            </a:extLst>
          </p:cNvPr>
          <p:cNvPicPr>
            <a:picLocks noChangeAspect="1"/>
          </p:cNvPicPr>
          <p:nvPr/>
        </p:nvPicPr>
        <p:blipFill>
          <a:blip r:embed="rId2"/>
          <a:stretch>
            <a:fillRect/>
          </a:stretch>
        </p:blipFill>
        <p:spPr>
          <a:xfrm>
            <a:off x="4038600" y="133350"/>
            <a:ext cx="7732614" cy="51462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4ADAD0C0-417B-331F-F966-E7FE0DBED2C1}"/>
              </a:ext>
            </a:extLst>
          </p:cNvPr>
          <p:cNvPicPr>
            <a:picLocks noChangeAspect="1"/>
          </p:cNvPicPr>
          <p:nvPr/>
        </p:nvPicPr>
        <p:blipFill>
          <a:blip r:embed="rId3"/>
          <a:stretch>
            <a:fillRect/>
          </a:stretch>
        </p:blipFill>
        <p:spPr>
          <a:xfrm>
            <a:off x="130052" y="2905320"/>
            <a:ext cx="3373531" cy="3041917"/>
          </a:xfrm>
          <a:prstGeom prst="rect">
            <a:avLst/>
          </a:prstGeom>
        </p:spPr>
      </p:pic>
      <p:pic>
        <p:nvPicPr>
          <p:cNvPr id="10" name="Picture 9">
            <a:extLst>
              <a:ext uri="{FF2B5EF4-FFF2-40B4-BE49-F238E27FC236}">
                <a16:creationId xmlns:a16="http://schemas.microsoft.com/office/drawing/2014/main" id="{A6514B9D-0ADE-E4D1-4D31-94F47DCAF884}"/>
              </a:ext>
            </a:extLst>
          </p:cNvPr>
          <p:cNvPicPr>
            <a:picLocks noChangeAspect="1"/>
          </p:cNvPicPr>
          <p:nvPr/>
        </p:nvPicPr>
        <p:blipFill>
          <a:blip r:embed="rId4"/>
          <a:stretch>
            <a:fillRect/>
          </a:stretch>
        </p:blipFill>
        <p:spPr>
          <a:xfrm>
            <a:off x="3503583" y="5610562"/>
            <a:ext cx="4894829" cy="355635"/>
          </a:xfrm>
          <a:prstGeom prst="rect">
            <a:avLst/>
          </a:prstGeom>
        </p:spPr>
      </p:pic>
    </p:spTree>
    <p:extLst>
      <p:ext uri="{BB962C8B-B14F-4D97-AF65-F5344CB8AC3E}">
        <p14:creationId xmlns:p14="http://schemas.microsoft.com/office/powerpoint/2010/main" val="1292503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8CF7-8EC4-6B22-084E-5A67D2B8A228}"/>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7D724958-FCD4-0C21-2B3F-0D553DC8623B}"/>
              </a:ext>
            </a:extLst>
          </p:cNvPr>
          <p:cNvSpPr>
            <a:spLocks noGrp="1"/>
          </p:cNvSpPr>
          <p:nvPr>
            <p:ph idx="1"/>
          </p:nvPr>
        </p:nvSpPr>
        <p:spPr/>
        <p:txBody>
          <a:bodyPr>
            <a:normAutofit lnSpcReduction="10000"/>
          </a:bodyPr>
          <a:lstStyle/>
          <a:p>
            <a:r>
              <a:rPr lang="en-IE" dirty="0"/>
              <a:t>Once a switch identifies a matching flow table entry it will perform the action that is specified in flow table entry.</a:t>
            </a:r>
          </a:p>
          <a:p>
            <a:r>
              <a:rPr lang="en-IE" dirty="0"/>
              <a:t>Actions: Forward/Drop</a:t>
            </a:r>
          </a:p>
          <a:p>
            <a:pPr lvl="1"/>
            <a:r>
              <a:rPr lang="en-IE" dirty="0"/>
              <a:t>Forward</a:t>
            </a:r>
          </a:p>
          <a:p>
            <a:pPr lvl="2"/>
            <a:r>
              <a:rPr lang="en-IE" dirty="0"/>
              <a:t>ALL: Send out all interfaces, not including the incoming interface</a:t>
            </a:r>
          </a:p>
          <a:p>
            <a:pPr lvl="2"/>
            <a:r>
              <a:rPr lang="en-IE" dirty="0"/>
              <a:t>CONTROLLER: Encapsulate and send to the controller</a:t>
            </a:r>
          </a:p>
          <a:p>
            <a:pPr lvl="2"/>
            <a:r>
              <a:rPr lang="en-IE" dirty="0"/>
              <a:t>LOCAL: Send to the switch local networking stack</a:t>
            </a:r>
          </a:p>
          <a:p>
            <a:pPr lvl="2"/>
            <a:r>
              <a:rPr lang="en-IE" dirty="0"/>
              <a:t>TABLE: Perform actions in flow table. Only for packet out messages</a:t>
            </a:r>
          </a:p>
          <a:p>
            <a:pPr lvl="2"/>
            <a:r>
              <a:rPr lang="en-IE" dirty="0"/>
              <a:t>IN-PORT Send the packet out the input port</a:t>
            </a:r>
          </a:p>
          <a:p>
            <a:pPr lvl="2"/>
            <a:r>
              <a:rPr lang="en-IE" dirty="0"/>
              <a:t>Optional: Normal forwarding, spanning tree</a:t>
            </a:r>
          </a:p>
          <a:p>
            <a:pPr lvl="1"/>
            <a:r>
              <a:rPr lang="en-IE" dirty="0"/>
              <a:t>Drop: A flow-entry with no specified action indicates that all matching packets should be dropped.</a:t>
            </a:r>
          </a:p>
          <a:p>
            <a:endParaRPr lang="en-IE" dirty="0"/>
          </a:p>
        </p:txBody>
      </p:sp>
    </p:spTree>
    <p:extLst>
      <p:ext uri="{BB962C8B-B14F-4D97-AF65-F5344CB8AC3E}">
        <p14:creationId xmlns:p14="http://schemas.microsoft.com/office/powerpoint/2010/main" val="1105333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F84E8-DD4D-4CDA-2B6D-C7F4FC5100A5}"/>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16970285-C4D2-98A4-339E-A711656E84B8}"/>
              </a:ext>
            </a:extLst>
          </p:cNvPr>
          <p:cNvSpPr>
            <a:spLocks noGrp="1"/>
          </p:cNvSpPr>
          <p:nvPr>
            <p:ph idx="1"/>
          </p:nvPr>
        </p:nvSpPr>
        <p:spPr/>
        <p:txBody>
          <a:bodyPr/>
          <a:lstStyle/>
          <a:p>
            <a:r>
              <a:rPr lang="en-IE" dirty="0"/>
              <a:t>Optional Actions: Modify/Enqueue</a:t>
            </a:r>
          </a:p>
          <a:p>
            <a:r>
              <a:rPr lang="en-IE" dirty="0"/>
              <a:t>Modify: Option to modify packet header values in the packet (</a:t>
            </a:r>
            <a:r>
              <a:rPr lang="en-IE" dirty="0" err="1"/>
              <a:t>eg</a:t>
            </a:r>
            <a:r>
              <a:rPr lang="en-IE" dirty="0"/>
              <a:t> VLAN ID)</a:t>
            </a:r>
          </a:p>
          <a:p>
            <a:pPr lvl="1"/>
            <a:r>
              <a:rPr lang="en-IE" dirty="0"/>
              <a:t>Set VLAN ID, priority etc</a:t>
            </a:r>
          </a:p>
          <a:p>
            <a:pPr lvl="1"/>
            <a:r>
              <a:rPr lang="en-IE" dirty="0"/>
              <a:t>Set destination IP address</a:t>
            </a:r>
          </a:p>
          <a:p>
            <a:r>
              <a:rPr lang="en-IE" dirty="0"/>
              <a:t>Enqueue: Send the packet through a queue attached to a port </a:t>
            </a:r>
          </a:p>
          <a:p>
            <a:pPr lvl="1"/>
            <a:r>
              <a:rPr lang="en-IE" dirty="0"/>
              <a:t>QoS or traffic shaping</a:t>
            </a:r>
          </a:p>
        </p:txBody>
      </p:sp>
    </p:spTree>
    <p:extLst>
      <p:ext uri="{BB962C8B-B14F-4D97-AF65-F5344CB8AC3E}">
        <p14:creationId xmlns:p14="http://schemas.microsoft.com/office/powerpoint/2010/main" val="2128472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1E2BF-8B69-47D4-29D8-C6EB41F33DAD}"/>
              </a:ext>
            </a:extLst>
          </p:cNvPr>
          <p:cNvSpPr>
            <a:spLocks noGrp="1"/>
          </p:cNvSpPr>
          <p:nvPr>
            <p:ph type="title"/>
          </p:nvPr>
        </p:nvSpPr>
        <p:spPr/>
        <p:txBody>
          <a:bodyPr/>
          <a:lstStyle/>
          <a:p>
            <a:r>
              <a:rPr lang="en-IE" dirty="0"/>
              <a:t>OpenFlow ports</a:t>
            </a:r>
          </a:p>
        </p:txBody>
      </p:sp>
      <p:sp>
        <p:nvSpPr>
          <p:cNvPr id="3" name="Content Placeholder 2">
            <a:extLst>
              <a:ext uri="{FF2B5EF4-FFF2-40B4-BE49-F238E27FC236}">
                <a16:creationId xmlns:a16="http://schemas.microsoft.com/office/drawing/2014/main" id="{0782C8C0-FC98-EBDE-E1C4-FCF45EEF9ED4}"/>
              </a:ext>
            </a:extLst>
          </p:cNvPr>
          <p:cNvSpPr>
            <a:spLocks noGrp="1"/>
          </p:cNvSpPr>
          <p:nvPr>
            <p:ph idx="1"/>
          </p:nvPr>
        </p:nvSpPr>
        <p:spPr/>
        <p:txBody>
          <a:bodyPr>
            <a:normAutofit lnSpcReduction="10000"/>
          </a:bodyPr>
          <a:lstStyle/>
          <a:p>
            <a:r>
              <a:rPr lang="en-GB" dirty="0"/>
              <a:t>OpenFlow ports are the network interfaces for passing packets between OpenFlow processing and the rest of the network. </a:t>
            </a:r>
          </a:p>
          <a:p>
            <a:r>
              <a:rPr lang="en-GB" dirty="0"/>
              <a:t>Logically connected to each other and packets can be forwarded from one OF switch to another. </a:t>
            </a:r>
          </a:p>
          <a:p>
            <a:r>
              <a:rPr lang="en-GB" dirty="0"/>
              <a:t>An OpenFlow switch makes a number of OpenFlow ports available for OpenFlow processing. </a:t>
            </a:r>
          </a:p>
          <a:p>
            <a:r>
              <a:rPr lang="en-GB" dirty="0"/>
              <a:t>OpenFlow packets are received on an ingress port and processed by the OpenFlow pipeline which may forward them to an output port. </a:t>
            </a:r>
          </a:p>
          <a:p>
            <a:r>
              <a:rPr lang="en-GB" dirty="0"/>
              <a:t>The standard are defined as physical port, logical ports and reserved ports. </a:t>
            </a:r>
            <a:endParaRPr lang="en-IE" dirty="0"/>
          </a:p>
        </p:txBody>
      </p:sp>
    </p:spTree>
    <p:extLst>
      <p:ext uri="{BB962C8B-B14F-4D97-AF65-F5344CB8AC3E}">
        <p14:creationId xmlns:p14="http://schemas.microsoft.com/office/powerpoint/2010/main" val="503290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C9D9B-185B-20F8-52DD-D7CE719254A3}"/>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95AFF292-05C7-3EA5-15F5-82D63D1ED987}"/>
              </a:ext>
            </a:extLst>
          </p:cNvPr>
          <p:cNvSpPr>
            <a:spLocks noGrp="1"/>
          </p:cNvSpPr>
          <p:nvPr>
            <p:ph idx="1"/>
          </p:nvPr>
        </p:nvSpPr>
        <p:spPr>
          <a:xfrm>
            <a:off x="838200" y="1825625"/>
            <a:ext cx="4974386" cy="4351338"/>
          </a:xfrm>
        </p:spPr>
        <p:txBody>
          <a:bodyPr/>
          <a:lstStyle/>
          <a:p>
            <a:r>
              <a:rPr lang="en-IE" dirty="0" err="1"/>
              <a:t>OpenFLow</a:t>
            </a:r>
            <a:r>
              <a:rPr lang="en-IE" dirty="0"/>
              <a:t> (v1.4 v1.5) Enhancement</a:t>
            </a:r>
          </a:p>
          <a:p>
            <a:pPr lvl="1"/>
            <a:r>
              <a:rPr lang="en-IE" dirty="0"/>
              <a:t>Action Set: Set of actions to be performed on each packet</a:t>
            </a:r>
          </a:p>
          <a:p>
            <a:pPr lvl="1"/>
            <a:r>
              <a:rPr lang="en-IE" dirty="0"/>
              <a:t>Group: A list of action sets</a:t>
            </a:r>
          </a:p>
          <a:p>
            <a:pPr lvl="1"/>
            <a:r>
              <a:rPr lang="en-IE" dirty="0"/>
              <a:t>Each table updates fields, modifies action set</a:t>
            </a:r>
          </a:p>
        </p:txBody>
      </p:sp>
      <p:pic>
        <p:nvPicPr>
          <p:cNvPr id="6" name="Picture 5">
            <a:extLst>
              <a:ext uri="{FF2B5EF4-FFF2-40B4-BE49-F238E27FC236}">
                <a16:creationId xmlns:a16="http://schemas.microsoft.com/office/drawing/2014/main" id="{108B0877-A993-991B-AFA2-2D0CF12DA02D}"/>
              </a:ext>
            </a:extLst>
          </p:cNvPr>
          <p:cNvPicPr>
            <a:picLocks noChangeAspect="1"/>
          </p:cNvPicPr>
          <p:nvPr/>
        </p:nvPicPr>
        <p:blipFill>
          <a:blip r:embed="rId2"/>
          <a:stretch>
            <a:fillRect/>
          </a:stretch>
        </p:blipFill>
        <p:spPr>
          <a:xfrm>
            <a:off x="165626" y="4675239"/>
            <a:ext cx="5646960" cy="1292892"/>
          </a:xfrm>
          <a:prstGeom prst="rect">
            <a:avLst/>
          </a:prstGeom>
        </p:spPr>
      </p:pic>
      <p:pic>
        <p:nvPicPr>
          <p:cNvPr id="5" name="Picture 4">
            <a:extLst>
              <a:ext uri="{FF2B5EF4-FFF2-40B4-BE49-F238E27FC236}">
                <a16:creationId xmlns:a16="http://schemas.microsoft.com/office/drawing/2014/main" id="{6739004B-5991-4F29-8943-C17234CE8578}"/>
              </a:ext>
            </a:extLst>
          </p:cNvPr>
          <p:cNvPicPr>
            <a:picLocks noChangeAspect="1"/>
          </p:cNvPicPr>
          <p:nvPr/>
        </p:nvPicPr>
        <p:blipFill>
          <a:blip r:embed="rId3"/>
          <a:stretch>
            <a:fillRect/>
          </a:stretch>
        </p:blipFill>
        <p:spPr>
          <a:xfrm>
            <a:off x="6937720" y="136525"/>
            <a:ext cx="4990331" cy="6591003"/>
          </a:xfrm>
          <a:prstGeom prst="rect">
            <a:avLst/>
          </a:prstGeom>
        </p:spPr>
      </p:pic>
    </p:spTree>
    <p:extLst>
      <p:ext uri="{BB962C8B-B14F-4D97-AF65-F5344CB8AC3E}">
        <p14:creationId xmlns:p14="http://schemas.microsoft.com/office/powerpoint/2010/main" val="818774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EC737-9224-AEB1-67B7-2E87B6F089C5}"/>
              </a:ext>
            </a:extLst>
          </p:cNvPr>
          <p:cNvSpPr>
            <a:spLocks noGrp="1"/>
          </p:cNvSpPr>
          <p:nvPr>
            <p:ph type="title"/>
          </p:nvPr>
        </p:nvSpPr>
        <p:spPr/>
        <p:txBody>
          <a:bodyPr>
            <a:normAutofit/>
          </a:bodyPr>
          <a:lstStyle/>
          <a:p>
            <a:r>
              <a:rPr lang="en-GB" dirty="0"/>
              <a:t>OpenFlow Messages</a:t>
            </a:r>
            <a:endParaRPr lang="en-IE" dirty="0"/>
          </a:p>
        </p:txBody>
      </p:sp>
      <p:sp>
        <p:nvSpPr>
          <p:cNvPr id="3" name="Content Placeholder 2">
            <a:extLst>
              <a:ext uri="{FF2B5EF4-FFF2-40B4-BE49-F238E27FC236}">
                <a16:creationId xmlns:a16="http://schemas.microsoft.com/office/drawing/2014/main" id="{63128188-95F8-08C6-00D3-73D7E114D4C2}"/>
              </a:ext>
            </a:extLst>
          </p:cNvPr>
          <p:cNvSpPr>
            <a:spLocks noGrp="1"/>
          </p:cNvSpPr>
          <p:nvPr>
            <p:ph idx="1"/>
          </p:nvPr>
        </p:nvSpPr>
        <p:spPr>
          <a:xfrm>
            <a:off x="838200" y="1825625"/>
            <a:ext cx="10515600" cy="2082698"/>
          </a:xfrm>
        </p:spPr>
        <p:txBody>
          <a:bodyPr/>
          <a:lstStyle/>
          <a:p>
            <a:r>
              <a:rPr lang="en-GB" dirty="0"/>
              <a:t>OpenFlow Protocol supports 3 message types, each with their own setup of sub-types:</a:t>
            </a:r>
          </a:p>
          <a:p>
            <a:pPr lvl="1"/>
            <a:r>
              <a:rPr lang="en-GB" dirty="0"/>
              <a:t>Controller-to-switch</a:t>
            </a:r>
          </a:p>
          <a:p>
            <a:pPr lvl="1"/>
            <a:r>
              <a:rPr lang="en-GB" dirty="0"/>
              <a:t>Asynchronous</a:t>
            </a:r>
          </a:p>
          <a:p>
            <a:pPr lvl="1"/>
            <a:r>
              <a:rPr lang="en-GB" dirty="0"/>
              <a:t>Symmetric</a:t>
            </a:r>
            <a:endParaRPr lang="en-IE" dirty="0"/>
          </a:p>
        </p:txBody>
      </p:sp>
    </p:spTree>
    <p:extLst>
      <p:ext uri="{BB962C8B-B14F-4D97-AF65-F5344CB8AC3E}">
        <p14:creationId xmlns:p14="http://schemas.microsoft.com/office/powerpoint/2010/main" val="2232497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02685-AB7C-0EBB-9A92-730EAAB99262}"/>
              </a:ext>
            </a:extLst>
          </p:cNvPr>
          <p:cNvSpPr>
            <a:spLocks noGrp="1"/>
          </p:cNvSpPr>
          <p:nvPr>
            <p:ph type="title"/>
          </p:nvPr>
        </p:nvSpPr>
        <p:spPr/>
        <p:txBody>
          <a:bodyPr>
            <a:normAutofit/>
          </a:bodyPr>
          <a:lstStyle/>
          <a:p>
            <a:r>
              <a:rPr lang="en-GB" dirty="0"/>
              <a:t>Controller-to-switch Messages</a:t>
            </a:r>
            <a:endParaRPr lang="en-IE" dirty="0"/>
          </a:p>
        </p:txBody>
      </p:sp>
      <p:sp>
        <p:nvSpPr>
          <p:cNvPr id="3" name="Content Placeholder 2">
            <a:extLst>
              <a:ext uri="{FF2B5EF4-FFF2-40B4-BE49-F238E27FC236}">
                <a16:creationId xmlns:a16="http://schemas.microsoft.com/office/drawing/2014/main" id="{96A828CA-4382-3F40-EDC8-74B8ABBD1F49}"/>
              </a:ext>
            </a:extLst>
          </p:cNvPr>
          <p:cNvSpPr>
            <a:spLocks noGrp="1"/>
          </p:cNvSpPr>
          <p:nvPr>
            <p:ph idx="1"/>
          </p:nvPr>
        </p:nvSpPr>
        <p:spPr/>
        <p:txBody>
          <a:bodyPr>
            <a:normAutofit fontScale="77500" lnSpcReduction="20000"/>
          </a:bodyPr>
          <a:lstStyle/>
          <a:p>
            <a:r>
              <a:rPr lang="en-GB" dirty="0"/>
              <a:t>Controller-to-switch Messages are initiated by the controller and used to directly manage or inspect the switch. These messages include:</a:t>
            </a:r>
          </a:p>
          <a:p>
            <a:endParaRPr lang="en-GB" dirty="0"/>
          </a:p>
          <a:p>
            <a:r>
              <a:rPr lang="en-GB" dirty="0"/>
              <a:t>Features – switch needs to request identity</a:t>
            </a:r>
          </a:p>
          <a:p>
            <a:r>
              <a:rPr lang="en-GB" dirty="0"/>
              <a:t>Configuration – set and query configuration parameters</a:t>
            </a:r>
          </a:p>
          <a:p>
            <a:r>
              <a:rPr lang="en-GB" dirty="0"/>
              <a:t>Modify-State – also called ‘flow mod’, used to add, delete and modify flow/group entries</a:t>
            </a:r>
          </a:p>
          <a:p>
            <a:r>
              <a:rPr lang="en-GB" dirty="0"/>
              <a:t>Read-States – get statistics</a:t>
            </a:r>
          </a:p>
          <a:p>
            <a:r>
              <a:rPr lang="en-GB" dirty="0"/>
              <a:t>Packet Outs – controller sends a message to the switch, either a full packet or buffer ID.</a:t>
            </a:r>
          </a:p>
          <a:p>
            <a:r>
              <a:rPr lang="en-GB" dirty="0"/>
              <a:t>Barrier – Request or reply messages are used by the controller to ensure message dependencies have been met and receive notification.</a:t>
            </a:r>
          </a:p>
          <a:p>
            <a:r>
              <a:rPr lang="en-GB" dirty="0"/>
              <a:t>Role-Request – set the role of its OpenFlow channel</a:t>
            </a:r>
          </a:p>
          <a:p>
            <a:r>
              <a:rPr lang="en-GB" dirty="0"/>
              <a:t>Asynchronous-Configuration – set an additional filter on the asynchronous message that it wants to receive on the OpenFlow Channel</a:t>
            </a:r>
            <a:endParaRPr lang="en-IE" dirty="0"/>
          </a:p>
        </p:txBody>
      </p:sp>
    </p:spTree>
    <p:extLst>
      <p:ext uri="{BB962C8B-B14F-4D97-AF65-F5344CB8AC3E}">
        <p14:creationId xmlns:p14="http://schemas.microsoft.com/office/powerpoint/2010/main" val="1543037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86EB5-523E-ECF0-07D7-42F8B562699F}"/>
              </a:ext>
            </a:extLst>
          </p:cNvPr>
          <p:cNvSpPr>
            <a:spLocks noGrp="1"/>
          </p:cNvSpPr>
          <p:nvPr>
            <p:ph type="title"/>
          </p:nvPr>
        </p:nvSpPr>
        <p:spPr/>
        <p:txBody>
          <a:bodyPr>
            <a:normAutofit/>
          </a:bodyPr>
          <a:lstStyle/>
          <a:p>
            <a:r>
              <a:rPr lang="en-GB" dirty="0"/>
              <a:t>Asynchronous Messages</a:t>
            </a:r>
            <a:endParaRPr lang="en-IE" dirty="0"/>
          </a:p>
        </p:txBody>
      </p:sp>
      <p:sp>
        <p:nvSpPr>
          <p:cNvPr id="3" name="Content Placeholder 2">
            <a:extLst>
              <a:ext uri="{FF2B5EF4-FFF2-40B4-BE49-F238E27FC236}">
                <a16:creationId xmlns:a16="http://schemas.microsoft.com/office/drawing/2014/main" id="{FC50AC05-A013-7138-2682-D2A1DCEFE8C2}"/>
              </a:ext>
            </a:extLst>
          </p:cNvPr>
          <p:cNvSpPr>
            <a:spLocks noGrp="1"/>
          </p:cNvSpPr>
          <p:nvPr>
            <p:ph idx="1"/>
          </p:nvPr>
        </p:nvSpPr>
        <p:spPr/>
        <p:txBody>
          <a:bodyPr/>
          <a:lstStyle/>
          <a:p>
            <a:r>
              <a:rPr lang="en-GB" dirty="0"/>
              <a:t>Asynchronous messages are initiated by the switch and used to update the controller of network events and changes to the switch state. These messages include:</a:t>
            </a:r>
          </a:p>
          <a:p>
            <a:endParaRPr lang="en-GB" dirty="0"/>
          </a:p>
          <a:p>
            <a:r>
              <a:rPr lang="en-GB" dirty="0"/>
              <a:t>Packet-in – transfer the control of a packet to the controller</a:t>
            </a:r>
          </a:p>
          <a:p>
            <a:r>
              <a:rPr lang="en-GB" dirty="0"/>
              <a:t>Flow-Removed – inform the controller that flow has been removed</a:t>
            </a:r>
          </a:p>
          <a:p>
            <a:r>
              <a:rPr lang="en-GB" dirty="0"/>
              <a:t>Port Status – inform the controller that the switch has gone down</a:t>
            </a:r>
          </a:p>
          <a:p>
            <a:r>
              <a:rPr lang="en-GB" dirty="0"/>
              <a:t>Error – notify controller of problems</a:t>
            </a:r>
            <a:endParaRPr lang="en-IE" dirty="0"/>
          </a:p>
        </p:txBody>
      </p:sp>
    </p:spTree>
    <p:extLst>
      <p:ext uri="{BB962C8B-B14F-4D97-AF65-F5344CB8AC3E}">
        <p14:creationId xmlns:p14="http://schemas.microsoft.com/office/powerpoint/2010/main" val="1960505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474FE-00FD-CD43-BB69-4276732A1D52}"/>
              </a:ext>
            </a:extLst>
          </p:cNvPr>
          <p:cNvSpPr>
            <a:spLocks noGrp="1"/>
          </p:cNvSpPr>
          <p:nvPr>
            <p:ph type="title"/>
          </p:nvPr>
        </p:nvSpPr>
        <p:spPr/>
        <p:txBody>
          <a:bodyPr>
            <a:normAutofit/>
          </a:bodyPr>
          <a:lstStyle/>
          <a:p>
            <a:r>
              <a:rPr lang="en-GB" dirty="0"/>
              <a:t>Symmetric Messages</a:t>
            </a:r>
            <a:endParaRPr lang="en-IE" dirty="0"/>
          </a:p>
        </p:txBody>
      </p:sp>
      <p:sp>
        <p:nvSpPr>
          <p:cNvPr id="3" name="Content Placeholder 2">
            <a:extLst>
              <a:ext uri="{FF2B5EF4-FFF2-40B4-BE49-F238E27FC236}">
                <a16:creationId xmlns:a16="http://schemas.microsoft.com/office/drawing/2014/main" id="{32935F93-FBAE-D0EA-E50E-8121F044FFB2}"/>
              </a:ext>
            </a:extLst>
          </p:cNvPr>
          <p:cNvSpPr>
            <a:spLocks noGrp="1"/>
          </p:cNvSpPr>
          <p:nvPr>
            <p:ph idx="1"/>
          </p:nvPr>
        </p:nvSpPr>
        <p:spPr/>
        <p:txBody>
          <a:bodyPr>
            <a:normAutofit/>
          </a:bodyPr>
          <a:lstStyle/>
          <a:p>
            <a:r>
              <a:rPr lang="en-GB" dirty="0"/>
              <a:t>Symmetric messages are initiated either by the switch or controller and sent without solicitation. These messages include:</a:t>
            </a:r>
          </a:p>
          <a:p>
            <a:endParaRPr lang="en-GB" dirty="0"/>
          </a:p>
          <a:p>
            <a:r>
              <a:rPr lang="en-GB" dirty="0"/>
              <a:t>Hello – introduction or keep-alive messages exchanged between switch and controller</a:t>
            </a:r>
          </a:p>
          <a:p>
            <a:r>
              <a:rPr lang="en-GB" dirty="0"/>
              <a:t>Echo – sent from either switch or controller, these verify the liveness of the connection and are used to measure latency or bandwidth</a:t>
            </a:r>
          </a:p>
          <a:p>
            <a:r>
              <a:rPr lang="en-GB" dirty="0"/>
              <a:t>Experimenter – a standard way for OpenFlow switches to offer additional functionality within the OpenFlow message type space.</a:t>
            </a:r>
            <a:endParaRPr lang="en-IE" dirty="0"/>
          </a:p>
        </p:txBody>
      </p:sp>
    </p:spTree>
    <p:extLst>
      <p:ext uri="{BB962C8B-B14F-4D97-AF65-F5344CB8AC3E}">
        <p14:creationId xmlns:p14="http://schemas.microsoft.com/office/powerpoint/2010/main" val="3563377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938659" y="-84687"/>
            <a:ext cx="10515600" cy="931725"/>
          </a:xfrm>
        </p:spPr>
        <p:txBody>
          <a:bodyPr/>
          <a:lstStyle/>
          <a:p>
            <a:r>
              <a:rPr lang="en-US" altLang="ko-KR" dirty="0" err="1"/>
              <a:t>OpenFlow</a:t>
            </a:r>
            <a:r>
              <a:rPr lang="en-US" altLang="ko-KR" dirty="0"/>
              <a:t> Protocol Messages</a:t>
            </a:r>
            <a:endParaRPr lang="ko-KR" altLang="en-US" dirty="0"/>
          </a:p>
        </p:txBody>
      </p:sp>
      <p:graphicFrame>
        <p:nvGraphicFramePr>
          <p:cNvPr id="5" name="내용 개체 틀 3"/>
          <p:cNvGraphicFramePr>
            <a:graphicFrameLocks noGrp="1"/>
          </p:cNvGraphicFramePr>
          <p:nvPr>
            <p:ph idx="1"/>
          </p:nvPr>
        </p:nvGraphicFramePr>
        <p:xfrm>
          <a:off x="1809750" y="1629666"/>
          <a:ext cx="8572500" cy="4511040"/>
        </p:xfrm>
        <a:graphic>
          <a:graphicData uri="http://schemas.openxmlformats.org/drawingml/2006/table">
            <a:tbl>
              <a:tblPr firstRow="1" bandRow="1">
                <a:tableStyleId>{F5AB1C69-6EDB-4FF4-983F-18BD219EF322}</a:tableStyleId>
              </a:tblPr>
              <a:tblGrid>
                <a:gridCol w="1261914">
                  <a:extLst>
                    <a:ext uri="{9D8B030D-6E8A-4147-A177-3AD203B41FA5}">
                      <a16:colId xmlns:a16="http://schemas.microsoft.com/office/drawing/2014/main" val="20000"/>
                    </a:ext>
                  </a:extLst>
                </a:gridCol>
                <a:gridCol w="1944216">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4646290">
                  <a:extLst>
                    <a:ext uri="{9D8B030D-6E8A-4147-A177-3AD203B41FA5}">
                      <a16:colId xmlns:a16="http://schemas.microsoft.com/office/drawing/2014/main" val="20003"/>
                    </a:ext>
                  </a:extLst>
                </a:gridCol>
              </a:tblGrid>
              <a:tr h="370840">
                <a:tc>
                  <a:txBody>
                    <a:bodyPr/>
                    <a:lstStyle/>
                    <a:p>
                      <a:pPr algn="l" latinLnBrk="1"/>
                      <a:r>
                        <a:rPr lang="en-US" altLang="ko-KR" sz="1400" dirty="0">
                          <a:latin typeface="Arial" panose="020B0604020202020204" pitchFamily="34" charset="0"/>
                          <a:cs typeface="Arial" panose="020B0604020202020204" pitchFamily="34" charset="0"/>
                        </a:rPr>
                        <a:t>Category</a:t>
                      </a:r>
                      <a:endParaRPr lang="ko-KR" altLang="en-US" sz="1400" dirty="0">
                        <a:latin typeface="Arial" panose="020B0604020202020204" pitchFamily="34" charset="0"/>
                        <a:cs typeface="Arial" panose="020B0604020202020204" pitchFamily="34" charset="0"/>
                      </a:endParaRPr>
                    </a:p>
                  </a:txBody>
                  <a:tcPr anchor="ctr"/>
                </a:tc>
                <a:tc>
                  <a:txBody>
                    <a:bodyPr/>
                    <a:lstStyle/>
                    <a:p>
                      <a:pPr latinLnBrk="1"/>
                      <a:r>
                        <a:rPr lang="en-US" altLang="ko-KR" sz="1400" dirty="0">
                          <a:latin typeface="Arial" panose="020B0604020202020204" pitchFamily="34" charset="0"/>
                          <a:cs typeface="Arial" panose="020B0604020202020204" pitchFamily="34" charset="0"/>
                        </a:rPr>
                        <a:t>Message</a:t>
                      </a:r>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400" dirty="0">
                          <a:latin typeface="Arial" panose="020B0604020202020204" pitchFamily="34" charset="0"/>
                          <a:cs typeface="Arial" panose="020B0604020202020204" pitchFamily="34" charset="0"/>
                        </a:rPr>
                        <a:t>Type</a:t>
                      </a:r>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400" dirty="0">
                          <a:latin typeface="Arial" panose="020B0604020202020204" pitchFamily="34" charset="0"/>
                          <a:cs typeface="Arial" panose="020B0604020202020204" pitchFamily="34" charset="0"/>
                        </a:rPr>
                        <a:t>Description</a:t>
                      </a:r>
                      <a:endParaRPr lang="ko-KR" alt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370840">
                <a:tc rowSpan="6">
                  <a:txBody>
                    <a:bodyPr/>
                    <a:lstStyle/>
                    <a:p>
                      <a:pPr algn="ctr" latinLnBrk="1"/>
                      <a:r>
                        <a:rPr lang="en-US" altLang="ko-KR" sz="1200" dirty="0">
                          <a:latin typeface="Arial" panose="020B0604020202020204" pitchFamily="34" charset="0"/>
                          <a:cs typeface="Arial" panose="020B0604020202020204" pitchFamily="34" charset="0"/>
                        </a:rPr>
                        <a:t>Meta</a:t>
                      </a:r>
                      <a:r>
                        <a:rPr lang="en-US" altLang="ko-KR" sz="1200" baseline="0" dirty="0">
                          <a:latin typeface="Arial" panose="020B0604020202020204" pitchFamily="34" charset="0"/>
                          <a:cs typeface="Arial" panose="020B0604020202020204" pitchFamily="34" charset="0"/>
                        </a:rPr>
                        <a:t> Info.</a:t>
                      </a:r>
                    </a:p>
                    <a:p>
                      <a:pPr algn="ctr" latinLnBrk="1"/>
                      <a:r>
                        <a:rPr lang="en-US" altLang="ko-KR" sz="1200" baseline="0" dirty="0">
                          <a:latin typeface="Arial" panose="020B0604020202020204" pitchFamily="34" charset="0"/>
                          <a:cs typeface="Arial" panose="020B0604020202020204" pitchFamily="34" charset="0"/>
                        </a:rPr>
                        <a:t>Configuration</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b="1" dirty="0">
                          <a:latin typeface="Arial" panose="020B0604020202020204" pitchFamily="34" charset="0"/>
                          <a:cs typeface="Arial" panose="020B0604020202020204" pitchFamily="34" charset="0"/>
                        </a:rPr>
                        <a:t>Hello (SM)</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C </a:t>
                      </a:r>
                      <a:r>
                        <a:rPr lang="en-US" altLang="ko-KR" sz="1200" dirty="0">
                          <a:latin typeface="Arial" panose="020B0604020202020204" pitchFamily="34" charset="0"/>
                          <a:cs typeface="Arial" panose="020B0604020202020204" pitchFamily="34" charset="0"/>
                          <a:sym typeface="Wingdings" panose="05000000000000000000" pitchFamily="2" charset="2"/>
                        </a:rPr>
                        <a:t> S</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following a TCP handshake, the controller sends its version number to the switch.</a:t>
                      </a:r>
                      <a:endParaRPr lang="ko-KR" altLang="en-US" sz="12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1"/>
                  </a:ext>
                </a:extLst>
              </a:tr>
              <a:tr h="370840">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a:latin typeface="Arial" panose="020B0604020202020204" pitchFamily="34" charset="0"/>
                          <a:cs typeface="Arial" panose="020B0604020202020204" pitchFamily="34" charset="0"/>
                        </a:rPr>
                        <a:t>Hello (SM)</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S </a:t>
                      </a:r>
                      <a:r>
                        <a:rPr lang="en-US" altLang="ko-KR" sz="1200" dirty="0">
                          <a:latin typeface="Arial" panose="020B0604020202020204" pitchFamily="34" charset="0"/>
                          <a:cs typeface="Arial" panose="020B0604020202020204" pitchFamily="34" charset="0"/>
                          <a:sym typeface="Wingdings" panose="05000000000000000000" pitchFamily="2" charset="2"/>
                        </a:rPr>
                        <a:t> C</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the switch replies with its supported version number.</a:t>
                      </a:r>
                    </a:p>
                  </a:txBody>
                  <a:tcPr anchor="ctr"/>
                </a:tc>
                <a:extLst>
                  <a:ext uri="{0D108BD9-81ED-4DB2-BD59-A6C34878D82A}">
                    <a16:rowId xmlns:a16="http://schemas.microsoft.com/office/drawing/2014/main" val="10002"/>
                  </a:ext>
                </a:extLst>
              </a:tr>
              <a:tr h="370840">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a:latin typeface="Arial" panose="020B0604020202020204" pitchFamily="34" charset="0"/>
                          <a:cs typeface="Arial" panose="020B0604020202020204" pitchFamily="34" charset="0"/>
                        </a:rPr>
                        <a:t>Features Request</a:t>
                      </a:r>
                      <a:br>
                        <a:rPr lang="en-US" altLang="ko-KR" sz="1200" b="1" dirty="0">
                          <a:latin typeface="Arial" panose="020B0604020202020204" pitchFamily="34" charset="0"/>
                          <a:cs typeface="Arial" panose="020B0604020202020204" pitchFamily="34" charset="0"/>
                        </a:rPr>
                      </a:br>
                      <a:r>
                        <a:rPr lang="en-US" altLang="ko-KR" sz="1200" b="1" dirty="0">
                          <a:latin typeface="Arial" panose="020B0604020202020204" pitchFamily="34" charset="0"/>
                          <a:cs typeface="Arial" panose="020B0604020202020204" pitchFamily="34" charset="0"/>
                        </a:rPr>
                        <a:t>(CSM)</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C </a:t>
                      </a:r>
                      <a:r>
                        <a:rPr lang="en-US" altLang="ko-KR" sz="1200" dirty="0">
                          <a:latin typeface="Arial" panose="020B0604020202020204" pitchFamily="34" charset="0"/>
                          <a:cs typeface="Arial" panose="020B0604020202020204" pitchFamily="34" charset="0"/>
                          <a:sym typeface="Wingdings" panose="05000000000000000000" pitchFamily="2" charset="2"/>
                        </a:rPr>
                        <a:t> S</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the controller asks to see which ports are available.</a:t>
                      </a:r>
                    </a:p>
                  </a:txBody>
                  <a:tcPr anchor="ctr"/>
                </a:tc>
                <a:extLst>
                  <a:ext uri="{0D108BD9-81ED-4DB2-BD59-A6C34878D82A}">
                    <a16:rowId xmlns:a16="http://schemas.microsoft.com/office/drawing/2014/main" val="10003"/>
                  </a:ext>
                </a:extLst>
              </a:tr>
              <a:tr h="370840">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a:latin typeface="Arial" panose="020B0604020202020204" pitchFamily="34" charset="0"/>
                          <a:cs typeface="Arial" panose="020B0604020202020204" pitchFamily="34" charset="0"/>
                        </a:rPr>
                        <a:t>Set </a:t>
                      </a:r>
                      <a:r>
                        <a:rPr lang="en-US" altLang="ko-KR" sz="1200" b="1" dirty="0" err="1">
                          <a:latin typeface="Arial" panose="020B0604020202020204" pitchFamily="34" charset="0"/>
                          <a:cs typeface="Arial" panose="020B0604020202020204" pitchFamily="34" charset="0"/>
                        </a:rPr>
                        <a:t>Config</a:t>
                      </a:r>
                      <a:r>
                        <a:rPr lang="en-US" altLang="ko-KR" sz="1200" b="1" dirty="0">
                          <a:latin typeface="Arial" panose="020B0604020202020204" pitchFamily="34" charset="0"/>
                          <a:cs typeface="Arial" panose="020B0604020202020204" pitchFamily="34" charset="0"/>
                        </a:rPr>
                        <a:t> (CSM)</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C </a:t>
                      </a:r>
                      <a:r>
                        <a:rPr lang="en-US" altLang="ko-KR" sz="1200" dirty="0">
                          <a:latin typeface="Arial" panose="020B0604020202020204" pitchFamily="34" charset="0"/>
                          <a:cs typeface="Arial" panose="020B0604020202020204" pitchFamily="34" charset="0"/>
                          <a:sym typeface="Wingdings" panose="05000000000000000000" pitchFamily="2" charset="2"/>
                        </a:rPr>
                        <a:t> S</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in this case, the controller asks the switch to send flow expirations.</a:t>
                      </a:r>
                    </a:p>
                  </a:txBody>
                  <a:tcPr anchor="ctr"/>
                </a:tc>
                <a:extLst>
                  <a:ext uri="{0D108BD9-81ED-4DB2-BD59-A6C34878D82A}">
                    <a16:rowId xmlns:a16="http://schemas.microsoft.com/office/drawing/2014/main" val="10004"/>
                  </a:ext>
                </a:extLst>
              </a:tr>
              <a:tr h="370840">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a:latin typeface="Arial" panose="020B0604020202020204" pitchFamily="34" charset="0"/>
                          <a:cs typeface="Arial" panose="020B0604020202020204" pitchFamily="34" charset="0"/>
                        </a:rPr>
                        <a:t>Features Reply</a:t>
                      </a:r>
                      <a:r>
                        <a:rPr lang="en-US" altLang="ko-KR" sz="1200" b="1" baseline="0" dirty="0">
                          <a:latin typeface="Arial" panose="020B0604020202020204" pitchFamily="34" charset="0"/>
                          <a:cs typeface="Arial" panose="020B0604020202020204" pitchFamily="34" charset="0"/>
                        </a:rPr>
                        <a:t> </a:t>
                      </a:r>
                      <a:r>
                        <a:rPr lang="en-US" altLang="ko-KR" sz="1200" b="1" dirty="0">
                          <a:latin typeface="Arial" panose="020B0604020202020204" pitchFamily="34" charset="0"/>
                          <a:cs typeface="Arial" panose="020B0604020202020204" pitchFamily="34" charset="0"/>
                        </a:rPr>
                        <a:t>(CSM)</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S </a:t>
                      </a:r>
                      <a:r>
                        <a:rPr lang="en-US" altLang="ko-KR" sz="1200" dirty="0">
                          <a:latin typeface="Arial" panose="020B0604020202020204" pitchFamily="34" charset="0"/>
                          <a:cs typeface="Arial" panose="020B0604020202020204" pitchFamily="34" charset="0"/>
                          <a:sym typeface="Wingdings" panose="05000000000000000000" pitchFamily="2" charset="2"/>
                        </a:rPr>
                        <a:t> C</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the switch replies with a list of ports, port speeds, and supported tables and actions.</a:t>
                      </a:r>
                    </a:p>
                  </a:txBody>
                  <a:tcPr anchor="ctr"/>
                </a:tc>
                <a:extLst>
                  <a:ext uri="{0D108BD9-81ED-4DB2-BD59-A6C34878D82A}">
                    <a16:rowId xmlns:a16="http://schemas.microsoft.com/office/drawing/2014/main" val="10005"/>
                  </a:ext>
                </a:extLst>
              </a:tr>
              <a:tr h="370840">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a:latin typeface="Arial" panose="020B0604020202020204" pitchFamily="34" charset="0"/>
                          <a:cs typeface="Arial" panose="020B0604020202020204" pitchFamily="34" charset="0"/>
                        </a:rPr>
                        <a:t>Port</a:t>
                      </a:r>
                      <a:r>
                        <a:rPr lang="en-US" altLang="ko-KR" sz="1200" b="1" baseline="0" dirty="0">
                          <a:latin typeface="Arial" panose="020B0604020202020204" pitchFamily="34" charset="0"/>
                          <a:cs typeface="Arial" panose="020B0604020202020204" pitchFamily="34" charset="0"/>
                        </a:rPr>
                        <a:t> Status</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S </a:t>
                      </a:r>
                      <a:r>
                        <a:rPr lang="en-US" altLang="ko-KR" sz="1200" dirty="0">
                          <a:latin typeface="Arial" panose="020B0604020202020204" pitchFamily="34" charset="0"/>
                          <a:cs typeface="Arial" panose="020B0604020202020204" pitchFamily="34" charset="0"/>
                          <a:sym typeface="Wingdings" panose="05000000000000000000" pitchFamily="2" charset="2"/>
                        </a:rPr>
                        <a:t> C</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enables the switch to inform that controller of changes to port speeds or connectivity..</a:t>
                      </a:r>
                    </a:p>
                  </a:txBody>
                  <a:tcPr anchor="ctr"/>
                </a:tc>
                <a:extLst>
                  <a:ext uri="{0D108BD9-81ED-4DB2-BD59-A6C34878D82A}">
                    <a16:rowId xmlns:a16="http://schemas.microsoft.com/office/drawing/2014/main" val="10006"/>
                  </a:ext>
                </a:extLst>
              </a:tr>
              <a:tr h="370840">
                <a:tc rowSpan="4">
                  <a:txBody>
                    <a:bodyPr/>
                    <a:lstStyle/>
                    <a:p>
                      <a:pPr algn="ctr" latinLnBrk="1"/>
                      <a:r>
                        <a:rPr lang="en-US" altLang="ko-KR" sz="1200" dirty="0">
                          <a:latin typeface="Arial" panose="020B0604020202020204" pitchFamily="34" charset="0"/>
                          <a:cs typeface="Arial" panose="020B0604020202020204" pitchFamily="34" charset="0"/>
                        </a:rPr>
                        <a:t>Flow Processing</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b="1" dirty="0">
                          <a:latin typeface="Arial" panose="020B0604020202020204" pitchFamily="34" charset="0"/>
                          <a:cs typeface="Arial" panose="020B0604020202020204" pitchFamily="34" charset="0"/>
                        </a:rPr>
                        <a:t>Packet-In (AM)</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S </a:t>
                      </a:r>
                      <a:r>
                        <a:rPr lang="en-US" altLang="ko-KR" sz="1200" dirty="0">
                          <a:latin typeface="Arial" panose="020B0604020202020204" pitchFamily="34" charset="0"/>
                          <a:cs typeface="Arial" panose="020B0604020202020204" pitchFamily="34" charset="0"/>
                          <a:sym typeface="Wingdings" panose="05000000000000000000" pitchFamily="2" charset="2"/>
                        </a:rPr>
                        <a:t> C</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a packet was received and it didn't match any entry in the switch's flow table, causing the packet to be sent to the controller.</a:t>
                      </a:r>
                    </a:p>
                  </a:txBody>
                  <a:tcPr anchor="ctr"/>
                </a:tc>
                <a:extLst>
                  <a:ext uri="{0D108BD9-81ED-4DB2-BD59-A6C34878D82A}">
                    <a16:rowId xmlns:a16="http://schemas.microsoft.com/office/drawing/2014/main" val="10007"/>
                  </a:ext>
                </a:extLst>
              </a:tr>
              <a:tr h="370840">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a:latin typeface="Arial" panose="020B0604020202020204" pitchFamily="34" charset="0"/>
                          <a:cs typeface="Arial" panose="020B0604020202020204" pitchFamily="34" charset="0"/>
                        </a:rPr>
                        <a:t>Packet-Out (CSM)</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C </a:t>
                      </a:r>
                      <a:r>
                        <a:rPr lang="en-US" altLang="ko-KR" sz="1200" dirty="0">
                          <a:latin typeface="Arial" panose="020B0604020202020204" pitchFamily="34" charset="0"/>
                          <a:cs typeface="Arial" panose="020B0604020202020204" pitchFamily="34" charset="0"/>
                          <a:sym typeface="Wingdings" panose="05000000000000000000" pitchFamily="2" charset="2"/>
                        </a:rPr>
                        <a:t> S</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Instructs</a:t>
                      </a:r>
                      <a:r>
                        <a:rPr lang="en-US" altLang="ko-KR" sz="1200" baseline="0" dirty="0">
                          <a:latin typeface="Arial" panose="020B0604020202020204" pitchFamily="34" charset="0"/>
                          <a:cs typeface="Arial" panose="020B0604020202020204" pitchFamily="34" charset="0"/>
                        </a:rPr>
                        <a:t> a switch to send </a:t>
                      </a:r>
                      <a:r>
                        <a:rPr lang="en-US" altLang="ko-KR" sz="1200" dirty="0">
                          <a:latin typeface="Arial" panose="020B0604020202020204" pitchFamily="34" charset="0"/>
                          <a:cs typeface="Arial" panose="020B0604020202020204" pitchFamily="34" charset="0"/>
                        </a:rPr>
                        <a:t>a packet out to</a:t>
                      </a:r>
                      <a:r>
                        <a:rPr lang="en-US" altLang="ko-KR" sz="1200" baseline="0" dirty="0">
                          <a:latin typeface="Arial" panose="020B0604020202020204" pitchFamily="34" charset="0"/>
                          <a:cs typeface="Arial" panose="020B0604020202020204" pitchFamily="34" charset="0"/>
                        </a:rPr>
                        <a:t> </a:t>
                      </a:r>
                      <a:r>
                        <a:rPr lang="en-US" altLang="ko-KR" sz="1200" dirty="0">
                          <a:latin typeface="Arial" panose="020B0604020202020204" pitchFamily="34" charset="0"/>
                          <a:cs typeface="Arial" panose="020B0604020202020204" pitchFamily="34" charset="0"/>
                        </a:rPr>
                        <a:t>one or more switch ports.</a:t>
                      </a:r>
                    </a:p>
                  </a:txBody>
                  <a:tcPr anchor="ctr"/>
                </a:tc>
                <a:extLst>
                  <a:ext uri="{0D108BD9-81ED-4DB2-BD59-A6C34878D82A}">
                    <a16:rowId xmlns:a16="http://schemas.microsoft.com/office/drawing/2014/main" val="10008"/>
                  </a:ext>
                </a:extLst>
              </a:tr>
              <a:tr h="370840">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a:latin typeface="Arial" panose="020B0604020202020204" pitchFamily="34" charset="0"/>
                          <a:cs typeface="Arial" panose="020B0604020202020204" pitchFamily="34" charset="0"/>
                        </a:rPr>
                        <a:t>Flow-Mod (CSM)</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C </a:t>
                      </a:r>
                      <a:r>
                        <a:rPr lang="en-US" altLang="ko-KR" sz="1200" dirty="0">
                          <a:latin typeface="Arial" panose="020B0604020202020204" pitchFamily="34" charset="0"/>
                          <a:cs typeface="Arial" panose="020B0604020202020204" pitchFamily="34" charset="0"/>
                          <a:sym typeface="Wingdings" panose="05000000000000000000" pitchFamily="2" charset="2"/>
                        </a:rPr>
                        <a:t> S</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instructs a switch to add a particular flow to its flow table.</a:t>
                      </a:r>
                    </a:p>
                  </a:txBody>
                  <a:tcPr anchor="ctr"/>
                </a:tc>
                <a:extLst>
                  <a:ext uri="{0D108BD9-81ED-4DB2-BD59-A6C34878D82A}">
                    <a16:rowId xmlns:a16="http://schemas.microsoft.com/office/drawing/2014/main" val="10009"/>
                  </a:ext>
                </a:extLst>
              </a:tr>
              <a:tr h="370840">
                <a:tc vMerge="1">
                  <a:txBody>
                    <a:bodyPr/>
                    <a:lstStyle/>
                    <a:p>
                      <a:pPr latinLnBrk="1"/>
                      <a:endParaRPr lang="ko-KR" altLang="en-US" sz="1400" dirty="0">
                        <a:latin typeface="Arial" panose="020B0604020202020204" pitchFamily="34" charset="0"/>
                        <a:cs typeface="Arial" panose="020B0604020202020204" pitchFamily="34" charset="0"/>
                      </a:endParaRPr>
                    </a:p>
                  </a:txBody>
                  <a:tcPr/>
                </a:tc>
                <a:tc>
                  <a:txBody>
                    <a:bodyPr/>
                    <a:lstStyle/>
                    <a:p>
                      <a:pPr latinLnBrk="1"/>
                      <a:r>
                        <a:rPr lang="en-US" altLang="ko-KR" sz="1200" b="1" dirty="0">
                          <a:latin typeface="Arial" panose="020B0604020202020204" pitchFamily="34" charset="0"/>
                          <a:cs typeface="Arial" panose="020B0604020202020204" pitchFamily="34" charset="0"/>
                        </a:rPr>
                        <a:t>Flow-Expired (CSM)</a:t>
                      </a:r>
                      <a:endParaRPr lang="ko-KR" altLang="en-US" sz="1200" b="1"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S </a:t>
                      </a:r>
                      <a:r>
                        <a:rPr lang="en-US" altLang="ko-KR" sz="1200" dirty="0">
                          <a:latin typeface="Arial" panose="020B0604020202020204" pitchFamily="34" charset="0"/>
                          <a:cs typeface="Arial" panose="020B0604020202020204" pitchFamily="34" charset="0"/>
                          <a:sym typeface="Wingdings" panose="05000000000000000000" pitchFamily="2" charset="2"/>
                        </a:rPr>
                        <a:t> C</a:t>
                      </a:r>
                      <a:endParaRPr lang="ko-KR" altLang="en-US" sz="1200" dirty="0">
                        <a:latin typeface="Arial" panose="020B0604020202020204" pitchFamily="34" charset="0"/>
                        <a:cs typeface="Arial" panose="020B0604020202020204" pitchFamily="34" charset="0"/>
                      </a:endParaRPr>
                    </a:p>
                  </a:txBody>
                  <a:tcPr anchor="ctr"/>
                </a:tc>
                <a:tc>
                  <a:txBody>
                    <a:bodyPr/>
                    <a:lstStyle/>
                    <a:p>
                      <a:pPr latinLnBrk="1"/>
                      <a:r>
                        <a:rPr lang="en-US" altLang="ko-KR" sz="1200" dirty="0">
                          <a:latin typeface="Arial" panose="020B0604020202020204" pitchFamily="34" charset="0"/>
                          <a:cs typeface="Arial" panose="020B0604020202020204" pitchFamily="34" charset="0"/>
                        </a:rPr>
                        <a:t>a flow timed out after a period of inactivity.</a:t>
                      </a:r>
                    </a:p>
                  </a:txBody>
                  <a:tcPr anchor="ctr"/>
                </a:tc>
                <a:extLst>
                  <a:ext uri="{0D108BD9-81ED-4DB2-BD59-A6C34878D82A}">
                    <a16:rowId xmlns:a16="http://schemas.microsoft.com/office/drawing/2014/main" val="10010"/>
                  </a:ext>
                </a:extLst>
              </a:tr>
            </a:tbl>
          </a:graphicData>
        </a:graphic>
      </p:graphicFrame>
      <p:sp>
        <p:nvSpPr>
          <p:cNvPr id="7" name="TextBox 6"/>
          <p:cNvSpPr txBox="1"/>
          <p:nvPr/>
        </p:nvSpPr>
        <p:spPr>
          <a:xfrm>
            <a:off x="1775520" y="847040"/>
            <a:ext cx="2326278" cy="584775"/>
          </a:xfrm>
          <a:prstGeom prst="rect">
            <a:avLst/>
          </a:prstGeom>
          <a:noFill/>
        </p:spPr>
        <p:txBody>
          <a:bodyPr wrap="none" rtlCol="0">
            <a:spAutoFit/>
          </a:bodyPr>
          <a:lstStyle/>
          <a:p>
            <a:r>
              <a:rPr lang="en-US" altLang="ko-KR" sz="1600" dirty="0">
                <a:latin typeface="Arial" panose="020B0604020202020204" pitchFamily="34" charset="0"/>
                <a:cs typeface="Arial" panose="020B0604020202020204" pitchFamily="34" charset="0"/>
              </a:rPr>
              <a:t>C: </a:t>
            </a:r>
            <a:r>
              <a:rPr lang="en-US" altLang="ko-KR" sz="1600" dirty="0" err="1">
                <a:latin typeface="Arial" panose="020B0604020202020204" pitchFamily="34" charset="0"/>
                <a:cs typeface="Arial" panose="020B0604020202020204" pitchFamily="34" charset="0"/>
              </a:rPr>
              <a:t>OpenFlow</a:t>
            </a:r>
            <a:r>
              <a:rPr lang="en-US" altLang="ko-KR" sz="1600" dirty="0">
                <a:latin typeface="Arial" panose="020B0604020202020204" pitchFamily="34" charset="0"/>
                <a:cs typeface="Arial" panose="020B0604020202020204" pitchFamily="34" charset="0"/>
              </a:rPr>
              <a:t> Controller</a:t>
            </a:r>
          </a:p>
          <a:p>
            <a:r>
              <a:rPr lang="en-US" altLang="ko-KR" sz="1600" dirty="0">
                <a:latin typeface="Arial" panose="020B0604020202020204" pitchFamily="34" charset="0"/>
                <a:cs typeface="Arial" panose="020B0604020202020204" pitchFamily="34" charset="0"/>
              </a:rPr>
              <a:t>S: </a:t>
            </a:r>
            <a:r>
              <a:rPr lang="en-US" altLang="ko-KR" sz="1600" dirty="0" err="1">
                <a:latin typeface="Arial" panose="020B0604020202020204" pitchFamily="34" charset="0"/>
                <a:cs typeface="Arial" panose="020B0604020202020204" pitchFamily="34" charset="0"/>
              </a:rPr>
              <a:t>OpenFlow</a:t>
            </a:r>
            <a:r>
              <a:rPr lang="en-US" altLang="ko-KR" sz="1600" dirty="0">
                <a:latin typeface="Arial" panose="020B0604020202020204" pitchFamily="34" charset="0"/>
                <a:cs typeface="Arial" panose="020B0604020202020204" pitchFamily="34" charset="0"/>
              </a:rPr>
              <a:t> Switch</a:t>
            </a:r>
            <a:endParaRPr lang="ko-KR" altLang="en-US" sz="1600" dirty="0">
              <a:latin typeface="Arial" panose="020B0604020202020204" pitchFamily="34" charset="0"/>
              <a:cs typeface="Arial" panose="020B0604020202020204" pitchFamily="34" charset="0"/>
            </a:endParaRPr>
          </a:p>
        </p:txBody>
      </p:sp>
      <p:sp>
        <p:nvSpPr>
          <p:cNvPr id="8" name="TextBox 7"/>
          <p:cNvSpPr txBox="1"/>
          <p:nvPr/>
        </p:nvSpPr>
        <p:spPr>
          <a:xfrm>
            <a:off x="4098847" y="847039"/>
            <a:ext cx="5894413" cy="584775"/>
          </a:xfrm>
          <a:prstGeom prst="rect">
            <a:avLst/>
          </a:prstGeom>
          <a:noFill/>
        </p:spPr>
        <p:txBody>
          <a:bodyPr wrap="square" rtlCol="0">
            <a:spAutoFit/>
          </a:bodyPr>
          <a:lstStyle/>
          <a:p>
            <a:r>
              <a:rPr lang="en-US" altLang="ko-KR" sz="1600" dirty="0">
                <a:latin typeface="Arial" panose="020B0604020202020204" pitchFamily="34" charset="0"/>
                <a:cs typeface="Arial" panose="020B0604020202020204" pitchFamily="34" charset="0"/>
              </a:rPr>
              <a:t>AM: Asynchronous message     CSM: Control/Switch Message</a:t>
            </a:r>
            <a:br>
              <a:rPr lang="en-US" altLang="ko-KR" sz="1600" dirty="0">
                <a:latin typeface="Arial" panose="020B0604020202020204" pitchFamily="34" charset="0"/>
                <a:cs typeface="Arial" panose="020B0604020202020204" pitchFamily="34" charset="0"/>
              </a:rPr>
            </a:br>
            <a:r>
              <a:rPr lang="en-US" altLang="ko-KR" sz="1600" dirty="0">
                <a:latin typeface="Arial" panose="020B0604020202020204" pitchFamily="34" charset="0"/>
                <a:cs typeface="Arial" panose="020B0604020202020204" pitchFamily="34" charset="0"/>
              </a:rPr>
              <a:t>SM: Symmetric Message</a:t>
            </a:r>
            <a:endParaRPr lang="ko-KR" alt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2217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756623" y="-112474"/>
            <a:ext cx="10515600" cy="931725"/>
          </a:xfrm>
        </p:spPr>
        <p:txBody>
          <a:bodyPr/>
          <a:lstStyle/>
          <a:p>
            <a:r>
              <a:rPr lang="en-US" altLang="ko-KR" dirty="0"/>
              <a:t>Packet Forwarding in </a:t>
            </a:r>
            <a:r>
              <a:rPr lang="en-US" altLang="ko-KR" dirty="0" err="1"/>
              <a:t>OpenFlow</a:t>
            </a:r>
            <a:endParaRPr lang="ko-KR" altLang="en-US" dirty="0"/>
          </a:p>
        </p:txBody>
      </p:sp>
      <p:sp>
        <p:nvSpPr>
          <p:cNvPr id="3" name="내용 개체 틀 2"/>
          <p:cNvSpPr>
            <a:spLocks noGrp="1"/>
          </p:cNvSpPr>
          <p:nvPr>
            <p:ph idx="1"/>
          </p:nvPr>
        </p:nvSpPr>
        <p:spPr>
          <a:xfrm>
            <a:off x="1839589" y="776736"/>
            <a:ext cx="8599811" cy="3177748"/>
          </a:xfrm>
        </p:spPr>
        <p:txBody>
          <a:bodyPr>
            <a:normAutofit/>
          </a:bodyPr>
          <a:lstStyle/>
          <a:p>
            <a:r>
              <a:rPr lang="en-US" altLang="ko-KR" sz="2400" dirty="0"/>
              <a:t>Packet Forwarding</a:t>
            </a:r>
          </a:p>
          <a:p>
            <a:pPr lvl="1"/>
            <a:r>
              <a:rPr lang="en-US" altLang="ko-KR" sz="2000" dirty="0">
                <a:solidFill>
                  <a:srgbClr val="FF0000"/>
                </a:solidFill>
              </a:rPr>
              <a:t>Reactive flow insertion</a:t>
            </a:r>
          </a:p>
          <a:p>
            <a:pPr lvl="2"/>
            <a:r>
              <a:rPr lang="en-US" altLang="ko-KR" sz="1600" dirty="0"/>
              <a:t>A non-matched packet reaches to </a:t>
            </a:r>
            <a:r>
              <a:rPr lang="en-US" altLang="ko-KR" sz="1600" dirty="0" err="1"/>
              <a:t>OpenFlow</a:t>
            </a:r>
            <a:r>
              <a:rPr lang="en-US" altLang="ko-KR" sz="1600" dirty="0"/>
              <a:t> switch, it is sent to the controller, based on the info in packet header, an appropriate flow will be inserted</a:t>
            </a:r>
          </a:p>
          <a:p>
            <a:pPr lvl="2"/>
            <a:r>
              <a:rPr lang="en-US" altLang="ko-KR" sz="1600" dirty="0"/>
              <a:t>Always need to query the path from controller during packet arrival </a:t>
            </a:r>
            <a:r>
              <a:rPr lang="en-US" altLang="ko-KR" sz="1600" dirty="0">
                <a:sym typeface="Wingdings" panose="05000000000000000000" pitchFamily="2" charset="2"/>
              </a:rPr>
              <a:t> slow</a:t>
            </a:r>
          </a:p>
          <a:p>
            <a:pPr lvl="2"/>
            <a:r>
              <a:rPr lang="en-US" altLang="ko-KR" sz="1600" dirty="0">
                <a:sym typeface="Wingdings" panose="05000000000000000000" pitchFamily="2" charset="2"/>
              </a:rPr>
              <a:t>Can reflect the current traffic status</a:t>
            </a:r>
            <a:endParaRPr lang="ko-KR" altLang="en-US" sz="1600" dirty="0"/>
          </a:p>
          <a:p>
            <a:pPr lvl="1"/>
            <a:r>
              <a:rPr lang="en-US" altLang="ko-KR" sz="2000" dirty="0">
                <a:solidFill>
                  <a:srgbClr val="FF0000"/>
                </a:solidFill>
              </a:rPr>
              <a:t>Proactive flow insertion</a:t>
            </a:r>
          </a:p>
          <a:p>
            <a:pPr lvl="2"/>
            <a:r>
              <a:rPr lang="en-US" altLang="ko-KR" sz="1600" dirty="0"/>
              <a:t>Flow can be inserted proactively by the controller to switches before packet arrives</a:t>
            </a:r>
          </a:p>
          <a:p>
            <a:pPr lvl="2"/>
            <a:r>
              <a:rPr lang="en-US" altLang="ko-KR" sz="1600" dirty="0"/>
              <a:t>No need to communicate during packet arrival </a:t>
            </a:r>
            <a:r>
              <a:rPr lang="en-US" altLang="ko-KR" sz="1600" dirty="0">
                <a:sym typeface="Wingdings" panose="05000000000000000000" pitchFamily="2" charset="2"/>
              </a:rPr>
              <a:t> fast packet forwarding</a:t>
            </a:r>
          </a:p>
          <a:p>
            <a:pPr lvl="2"/>
            <a:r>
              <a:rPr lang="en-US" altLang="ko-KR" sz="1600" dirty="0">
                <a:sym typeface="Wingdings" panose="05000000000000000000" pitchFamily="2" charset="2"/>
              </a:rPr>
              <a:t>Cannot reflect the current traffic status</a:t>
            </a:r>
            <a:endParaRPr lang="en-US" altLang="ko-KR" sz="1600" dirty="0"/>
          </a:p>
        </p:txBody>
      </p:sp>
      <p:pic>
        <p:nvPicPr>
          <p:cNvPr id="4" name="Picture 5" descr="ICON_NetworkSwitch_Q308"/>
          <p:cNvPicPr>
            <a:picLocks noChangeAspect="1" noChangeArrowheads="1"/>
          </p:cNvPicPr>
          <p:nvPr/>
        </p:nvPicPr>
        <p:blipFill>
          <a:blip r:embed="rId2"/>
          <a:srcRect/>
          <a:stretch>
            <a:fillRect/>
          </a:stretch>
        </p:blipFill>
        <p:spPr bwMode="auto">
          <a:xfrm>
            <a:off x="4267717" y="5528380"/>
            <a:ext cx="884564" cy="630778"/>
          </a:xfrm>
          <a:prstGeom prst="rect">
            <a:avLst/>
          </a:prstGeom>
          <a:noFill/>
          <a:ln w="9525">
            <a:noFill/>
            <a:miter lim="800000"/>
            <a:headEnd/>
            <a:tailEnd/>
          </a:ln>
        </p:spPr>
      </p:pic>
      <p:pic>
        <p:nvPicPr>
          <p:cNvPr id="5" name="Picture 9" descr="C:\Users\testuser\AppData\Local\Temp\VMwareDnD\9aa2d99f\VMW_09Q3_ICON_ExternalDrive.png"/>
          <p:cNvPicPr>
            <a:picLocks noChangeAspect="1" noChangeArrowheads="1"/>
          </p:cNvPicPr>
          <p:nvPr/>
        </p:nvPicPr>
        <p:blipFill>
          <a:blip r:embed="rId3"/>
          <a:srcRect/>
          <a:stretch>
            <a:fillRect/>
          </a:stretch>
        </p:blipFill>
        <p:spPr bwMode="auto">
          <a:xfrm>
            <a:off x="2415977" y="5373217"/>
            <a:ext cx="681292" cy="941107"/>
          </a:xfrm>
          <a:prstGeom prst="rect">
            <a:avLst/>
          </a:prstGeom>
          <a:noFill/>
        </p:spPr>
      </p:pic>
      <p:pic>
        <p:nvPicPr>
          <p:cNvPr id="6" name="Picture 9" descr="C:\Users\testuser\AppData\Local\Temp\VMwareDnD\9aa2d99f\VMW_09Q3_ICON_ExternalDrive.png"/>
          <p:cNvPicPr>
            <a:picLocks noChangeAspect="1" noChangeArrowheads="1"/>
          </p:cNvPicPr>
          <p:nvPr/>
        </p:nvPicPr>
        <p:blipFill>
          <a:blip r:embed="rId3"/>
          <a:srcRect/>
          <a:stretch>
            <a:fillRect/>
          </a:stretch>
        </p:blipFill>
        <p:spPr bwMode="auto">
          <a:xfrm>
            <a:off x="9383560" y="5370635"/>
            <a:ext cx="681292" cy="941107"/>
          </a:xfrm>
          <a:prstGeom prst="rect">
            <a:avLst/>
          </a:prstGeom>
          <a:noFill/>
        </p:spPr>
      </p:pic>
      <p:pic>
        <p:nvPicPr>
          <p:cNvPr id="7" name="Picture 5" descr="ICON_NetworkSwitch_Q308"/>
          <p:cNvPicPr>
            <a:picLocks noChangeAspect="1" noChangeArrowheads="1"/>
          </p:cNvPicPr>
          <p:nvPr/>
        </p:nvPicPr>
        <p:blipFill>
          <a:blip r:embed="rId2"/>
          <a:srcRect/>
          <a:stretch>
            <a:fillRect/>
          </a:stretch>
        </p:blipFill>
        <p:spPr bwMode="auto">
          <a:xfrm>
            <a:off x="7148037" y="5528380"/>
            <a:ext cx="884564" cy="630778"/>
          </a:xfrm>
          <a:prstGeom prst="rect">
            <a:avLst/>
          </a:prstGeom>
          <a:noFill/>
          <a:ln w="9525">
            <a:noFill/>
            <a:miter lim="800000"/>
            <a:headEnd/>
            <a:tailEnd/>
          </a:ln>
        </p:spPr>
      </p:pic>
      <p:cxnSp>
        <p:nvCxnSpPr>
          <p:cNvPr id="8" name="직선 연결선 7"/>
          <p:cNvCxnSpPr>
            <a:stCxn id="5" idx="3"/>
            <a:endCxn id="4" idx="1"/>
          </p:cNvCxnSpPr>
          <p:nvPr/>
        </p:nvCxnSpPr>
        <p:spPr>
          <a:xfrm flipV="1">
            <a:off x="3097269" y="5843770"/>
            <a:ext cx="1170448" cy="1"/>
          </a:xfrm>
          <a:prstGeom prst="line">
            <a:avLst/>
          </a:prstGeom>
          <a:ln w="25400">
            <a:headEnd type="none"/>
            <a:tailEnd type="triangle" w="lg" len="lg"/>
          </a:ln>
        </p:spPr>
        <p:style>
          <a:lnRef idx="1">
            <a:schemeClr val="dk1"/>
          </a:lnRef>
          <a:fillRef idx="0">
            <a:schemeClr val="dk1"/>
          </a:fillRef>
          <a:effectRef idx="0">
            <a:schemeClr val="dk1"/>
          </a:effectRef>
          <a:fontRef idx="minor">
            <a:schemeClr val="tx1"/>
          </a:fontRef>
        </p:style>
      </p:cxnSp>
      <p:cxnSp>
        <p:nvCxnSpPr>
          <p:cNvPr id="9" name="직선 연결선 8"/>
          <p:cNvCxnSpPr>
            <a:stCxn id="4" idx="3"/>
            <a:endCxn id="7" idx="1"/>
          </p:cNvCxnSpPr>
          <p:nvPr/>
        </p:nvCxnSpPr>
        <p:spPr>
          <a:xfrm>
            <a:off x="5152281" y="5843769"/>
            <a:ext cx="1995756" cy="0"/>
          </a:xfrm>
          <a:prstGeom prst="line">
            <a:avLst/>
          </a:prstGeom>
          <a:ln w="25400">
            <a:headEnd type="none"/>
            <a:tailEnd type="triangle" w="lg" len="lg"/>
          </a:ln>
        </p:spPr>
        <p:style>
          <a:lnRef idx="1">
            <a:schemeClr val="dk1"/>
          </a:lnRef>
          <a:fillRef idx="0">
            <a:schemeClr val="dk1"/>
          </a:fillRef>
          <a:effectRef idx="0">
            <a:schemeClr val="dk1"/>
          </a:effectRef>
          <a:fontRef idx="minor">
            <a:schemeClr val="tx1"/>
          </a:fontRef>
        </p:style>
      </p:cxnSp>
      <p:cxnSp>
        <p:nvCxnSpPr>
          <p:cNvPr id="10" name="직선 연결선 9"/>
          <p:cNvCxnSpPr>
            <a:stCxn id="7" idx="3"/>
            <a:endCxn id="6" idx="1"/>
          </p:cNvCxnSpPr>
          <p:nvPr/>
        </p:nvCxnSpPr>
        <p:spPr>
          <a:xfrm flipV="1">
            <a:off x="8032602" y="5841189"/>
            <a:ext cx="1350959" cy="2581"/>
          </a:xfrm>
          <a:prstGeom prst="line">
            <a:avLst/>
          </a:prstGeom>
          <a:ln w="25400">
            <a:headEnd type="none"/>
            <a:tailEnd type="triangle" w="lg" len="lg"/>
          </a:ln>
        </p:spPr>
        <p:style>
          <a:lnRef idx="1">
            <a:schemeClr val="dk1"/>
          </a:lnRef>
          <a:fillRef idx="0">
            <a:schemeClr val="dk1"/>
          </a:fillRef>
          <a:effectRef idx="0">
            <a:schemeClr val="dk1"/>
          </a:effectRef>
          <a:fontRef idx="minor">
            <a:schemeClr val="tx1"/>
          </a:fontRef>
        </p:style>
      </p:cxnSp>
      <p:sp>
        <p:nvSpPr>
          <p:cNvPr id="11" name="모서리가 둥근 직사각형 10"/>
          <p:cNvSpPr/>
          <p:nvPr/>
        </p:nvSpPr>
        <p:spPr bwMode="auto">
          <a:xfrm>
            <a:off x="5296297" y="4221088"/>
            <a:ext cx="1532636" cy="648072"/>
          </a:xfrm>
          <a:prstGeom prst="roundRect">
            <a:avLst/>
          </a:prstGeom>
          <a:ln>
            <a:headEnd/>
            <a:tailEnd/>
          </a:ln>
          <a:effectLst/>
        </p:spPr>
        <p:style>
          <a:lnRef idx="1">
            <a:schemeClr val="accent1"/>
          </a:lnRef>
          <a:fillRef idx="3">
            <a:schemeClr val="accent1"/>
          </a:fillRef>
          <a:effectRef idx="2">
            <a:schemeClr val="accent1"/>
          </a:effectRef>
          <a:fontRef idx="minor">
            <a:schemeClr val="lt1"/>
          </a:fontRef>
        </p:style>
        <p:txBody>
          <a:bodyPr wrap="none" lIns="91380" tIns="45692" rIns="91380" bIns="45692" rtlCol="0" anchor="ctr"/>
          <a:lstStyle/>
          <a:p>
            <a:pPr algn="ctr"/>
            <a:r>
              <a:rPr lang="en-US" altLang="ko-KR" sz="1600" dirty="0" err="1">
                <a:latin typeface="Arial" panose="020B0604020202020204" pitchFamily="34" charset="0"/>
                <a:cs typeface="Arial" panose="020B0604020202020204" pitchFamily="34" charset="0"/>
              </a:rPr>
              <a:t>OpenFlow</a:t>
            </a:r>
            <a:br>
              <a:rPr lang="en-US" altLang="ko-KR" sz="1600" dirty="0">
                <a:latin typeface="Arial" panose="020B0604020202020204" pitchFamily="34" charset="0"/>
                <a:cs typeface="Arial" panose="020B0604020202020204" pitchFamily="34" charset="0"/>
              </a:rPr>
            </a:br>
            <a:r>
              <a:rPr lang="en-US" altLang="ko-KR" sz="1600" dirty="0">
                <a:latin typeface="Arial" panose="020B0604020202020204" pitchFamily="34" charset="0"/>
                <a:cs typeface="Arial" panose="020B0604020202020204" pitchFamily="34" charset="0"/>
              </a:rPr>
              <a:t>Controller</a:t>
            </a:r>
            <a:endParaRPr lang="ko-KR" altLang="en-US" sz="1600" dirty="0">
              <a:latin typeface="Arial" panose="020B0604020202020204" pitchFamily="34" charset="0"/>
              <a:cs typeface="Arial" panose="020B0604020202020204" pitchFamily="34" charset="0"/>
            </a:endParaRPr>
          </a:p>
        </p:txBody>
      </p:sp>
      <p:cxnSp>
        <p:nvCxnSpPr>
          <p:cNvPr id="12" name="구부러진 연결선 11"/>
          <p:cNvCxnSpPr>
            <a:stCxn id="4" idx="0"/>
            <a:endCxn id="11" idx="1"/>
          </p:cNvCxnSpPr>
          <p:nvPr/>
        </p:nvCxnSpPr>
        <p:spPr>
          <a:xfrm rot="5400000" flipH="1" flipV="1">
            <a:off x="4511520" y="4743603"/>
            <a:ext cx="983256" cy="586298"/>
          </a:xfrm>
          <a:prstGeom prst="curvedConnector2">
            <a:avLst/>
          </a:prstGeom>
          <a:ln w="25400">
            <a:headEnd type="none"/>
            <a:tailEnd type="triangle" w="lg" len="lg"/>
          </a:ln>
        </p:spPr>
        <p:style>
          <a:lnRef idx="1">
            <a:schemeClr val="dk1"/>
          </a:lnRef>
          <a:fillRef idx="0">
            <a:schemeClr val="dk1"/>
          </a:fillRef>
          <a:effectRef idx="0">
            <a:schemeClr val="dk1"/>
          </a:effectRef>
          <a:fontRef idx="minor">
            <a:schemeClr val="tx1"/>
          </a:fontRef>
        </p:style>
      </p:cxnSp>
      <p:cxnSp>
        <p:nvCxnSpPr>
          <p:cNvPr id="13" name="구부러진 연결선 12"/>
          <p:cNvCxnSpPr>
            <a:stCxn id="11" idx="1"/>
            <a:endCxn id="4" idx="3"/>
          </p:cNvCxnSpPr>
          <p:nvPr/>
        </p:nvCxnSpPr>
        <p:spPr>
          <a:xfrm rot="10800000" flipV="1">
            <a:off x="5152281" y="4545124"/>
            <a:ext cx="144016" cy="1298645"/>
          </a:xfrm>
          <a:prstGeom prst="curvedConnector3">
            <a:avLst>
              <a:gd name="adj1" fmla="val 42866"/>
            </a:avLst>
          </a:prstGeom>
          <a:ln w="25400">
            <a:headEnd type="none"/>
            <a:tailEnd type="triangle" w="lg" len="lg"/>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2375750" y="6207472"/>
            <a:ext cx="761747"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host1</a:t>
            </a:r>
            <a:endParaRPr lang="ko-KR" altLang="en-US" dirty="0">
              <a:latin typeface="Arial" panose="020B0604020202020204" pitchFamily="34" charset="0"/>
              <a:cs typeface="Arial" panose="020B0604020202020204" pitchFamily="34" charset="0"/>
            </a:endParaRPr>
          </a:p>
        </p:txBody>
      </p:sp>
      <p:sp>
        <p:nvSpPr>
          <p:cNvPr id="15" name="TextBox 14"/>
          <p:cNvSpPr txBox="1"/>
          <p:nvPr/>
        </p:nvSpPr>
        <p:spPr>
          <a:xfrm>
            <a:off x="9343333" y="6207472"/>
            <a:ext cx="761747"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host2</a:t>
            </a:r>
            <a:endParaRPr lang="ko-KR" altLang="en-US" dirty="0">
              <a:latin typeface="Arial" panose="020B0604020202020204" pitchFamily="34" charset="0"/>
              <a:cs typeface="Arial" panose="020B0604020202020204" pitchFamily="34" charset="0"/>
            </a:endParaRPr>
          </a:p>
        </p:txBody>
      </p:sp>
      <p:sp>
        <p:nvSpPr>
          <p:cNvPr id="16" name="TextBox 15"/>
          <p:cNvSpPr txBox="1"/>
          <p:nvPr/>
        </p:nvSpPr>
        <p:spPr>
          <a:xfrm>
            <a:off x="3719985" y="6207472"/>
            <a:ext cx="1980029"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switch1 (reactive)</a:t>
            </a:r>
            <a:endParaRPr lang="ko-KR" altLang="en-US" dirty="0">
              <a:latin typeface="Arial" panose="020B0604020202020204" pitchFamily="34" charset="0"/>
              <a:cs typeface="Arial" panose="020B0604020202020204" pitchFamily="34" charset="0"/>
            </a:endParaRPr>
          </a:p>
        </p:txBody>
      </p:sp>
      <p:sp>
        <p:nvSpPr>
          <p:cNvPr id="17" name="TextBox 16"/>
          <p:cNvSpPr txBox="1"/>
          <p:nvPr/>
        </p:nvSpPr>
        <p:spPr>
          <a:xfrm>
            <a:off x="6516948" y="6207472"/>
            <a:ext cx="2146742"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switch2 (proactive)</a:t>
            </a:r>
            <a:endParaRPr lang="ko-KR" altLang="en-US" dirty="0">
              <a:latin typeface="Arial" panose="020B0604020202020204" pitchFamily="34" charset="0"/>
              <a:cs typeface="Arial" panose="020B0604020202020204" pitchFamily="34" charset="0"/>
            </a:endParaRPr>
          </a:p>
        </p:txBody>
      </p:sp>
      <p:sp>
        <p:nvSpPr>
          <p:cNvPr id="18" name="TextBox 17"/>
          <p:cNvSpPr txBox="1"/>
          <p:nvPr/>
        </p:nvSpPr>
        <p:spPr>
          <a:xfrm>
            <a:off x="4131393" y="4500410"/>
            <a:ext cx="856325" cy="584775"/>
          </a:xfrm>
          <a:prstGeom prst="rect">
            <a:avLst/>
          </a:prstGeom>
          <a:noFill/>
        </p:spPr>
        <p:txBody>
          <a:bodyPr wrap="none" rtlCol="0">
            <a:spAutoFit/>
          </a:bodyPr>
          <a:lstStyle/>
          <a:p>
            <a:pPr algn="ctr"/>
            <a:r>
              <a:rPr lang="en-US" altLang="ko-KR" sz="1600" dirty="0">
                <a:latin typeface="Arial" panose="020B0604020202020204" pitchFamily="34" charset="0"/>
                <a:cs typeface="Arial" panose="020B0604020202020204" pitchFamily="34" charset="0"/>
              </a:rPr>
              <a:t>acquire</a:t>
            </a:r>
            <a:br>
              <a:rPr lang="en-US" altLang="ko-KR" sz="1600" dirty="0">
                <a:latin typeface="Arial" panose="020B0604020202020204" pitchFamily="34" charset="0"/>
                <a:cs typeface="Arial" panose="020B0604020202020204" pitchFamily="34" charset="0"/>
              </a:rPr>
            </a:br>
            <a:r>
              <a:rPr lang="en-US" altLang="ko-KR" sz="1600" dirty="0">
                <a:latin typeface="Arial" panose="020B0604020202020204" pitchFamily="34" charset="0"/>
                <a:cs typeface="Arial" panose="020B0604020202020204" pitchFamily="34" charset="0"/>
              </a:rPr>
              <a:t>route</a:t>
            </a:r>
            <a:endParaRPr lang="ko-KR" altLang="en-US" sz="1600" dirty="0">
              <a:latin typeface="Arial" panose="020B0604020202020204" pitchFamily="34" charset="0"/>
              <a:cs typeface="Arial" panose="020B0604020202020204" pitchFamily="34" charset="0"/>
            </a:endParaRPr>
          </a:p>
        </p:txBody>
      </p:sp>
      <p:sp>
        <p:nvSpPr>
          <p:cNvPr id="19" name="TextBox 18"/>
          <p:cNvSpPr txBox="1"/>
          <p:nvPr/>
        </p:nvSpPr>
        <p:spPr>
          <a:xfrm>
            <a:off x="5220428" y="5064077"/>
            <a:ext cx="686406" cy="584775"/>
          </a:xfrm>
          <a:prstGeom prst="rect">
            <a:avLst/>
          </a:prstGeom>
          <a:noFill/>
        </p:spPr>
        <p:txBody>
          <a:bodyPr wrap="none" rtlCol="0">
            <a:spAutoFit/>
          </a:bodyPr>
          <a:lstStyle/>
          <a:p>
            <a:pPr algn="ctr"/>
            <a:r>
              <a:rPr lang="en-US" altLang="ko-KR" sz="1600" dirty="0">
                <a:latin typeface="Arial" panose="020B0604020202020204" pitchFamily="34" charset="0"/>
                <a:cs typeface="Arial" panose="020B0604020202020204" pitchFamily="34" charset="0"/>
              </a:rPr>
              <a:t>insert</a:t>
            </a:r>
            <a:br>
              <a:rPr lang="en-US" altLang="ko-KR" sz="1600" dirty="0">
                <a:latin typeface="Arial" panose="020B0604020202020204" pitchFamily="34" charset="0"/>
                <a:cs typeface="Arial" panose="020B0604020202020204" pitchFamily="34" charset="0"/>
              </a:rPr>
            </a:br>
            <a:r>
              <a:rPr lang="en-US" altLang="ko-KR" sz="1600" dirty="0">
                <a:latin typeface="Arial" panose="020B0604020202020204" pitchFamily="34" charset="0"/>
                <a:cs typeface="Arial" panose="020B0604020202020204" pitchFamily="34" charset="0"/>
              </a:rPr>
              <a:t>flow</a:t>
            </a:r>
            <a:endParaRPr lang="ko-KR" altLang="en-US" sz="1600" dirty="0">
              <a:latin typeface="Arial" panose="020B0604020202020204" pitchFamily="34" charset="0"/>
              <a:cs typeface="Arial" panose="020B0604020202020204" pitchFamily="34" charset="0"/>
            </a:endParaRPr>
          </a:p>
        </p:txBody>
      </p:sp>
      <p:sp>
        <p:nvSpPr>
          <p:cNvPr id="20" name="모서리가 둥근 사각형 설명선 19"/>
          <p:cNvSpPr/>
          <p:nvPr/>
        </p:nvSpPr>
        <p:spPr bwMode="auto">
          <a:xfrm>
            <a:off x="2192013" y="4149080"/>
            <a:ext cx="2008512" cy="1152129"/>
          </a:xfrm>
          <a:prstGeom prst="wedgeRoundRectCallout">
            <a:avLst>
              <a:gd name="adj1" fmla="val 69223"/>
              <a:gd name="adj2" fmla="val 76976"/>
              <a:gd name="adj3" fmla="val 16667"/>
            </a:avLst>
          </a:prstGeom>
          <a:ln>
            <a:headEnd/>
            <a:tailEnd/>
          </a:ln>
        </p:spPr>
        <p:style>
          <a:lnRef idx="2">
            <a:schemeClr val="accent2"/>
          </a:lnRef>
          <a:fillRef idx="1">
            <a:schemeClr val="lt1"/>
          </a:fillRef>
          <a:effectRef idx="0">
            <a:schemeClr val="accent2"/>
          </a:effectRef>
          <a:fontRef idx="minor">
            <a:schemeClr val="dk1"/>
          </a:fontRef>
        </p:style>
        <p:txBody>
          <a:bodyPr wrap="none" lIns="91380" tIns="45692" rIns="91380" bIns="45692" rtlCol="0" anchor="ctr"/>
          <a:lstStyle/>
          <a:p>
            <a:pPr algn="ctr"/>
            <a:endParaRPr lang="ko-KR" altLang="en-US"/>
          </a:p>
        </p:txBody>
      </p:sp>
      <p:sp>
        <p:nvSpPr>
          <p:cNvPr id="21" name="모서리가 둥근 사각형 설명선 20"/>
          <p:cNvSpPr/>
          <p:nvPr/>
        </p:nvSpPr>
        <p:spPr bwMode="auto">
          <a:xfrm>
            <a:off x="7600553" y="4157443"/>
            <a:ext cx="2019698" cy="1152129"/>
          </a:xfrm>
          <a:prstGeom prst="wedgeRoundRectCallout">
            <a:avLst>
              <a:gd name="adj1" fmla="val -53739"/>
              <a:gd name="adj2" fmla="val 68058"/>
              <a:gd name="adj3" fmla="val 16667"/>
            </a:avLst>
          </a:prstGeom>
          <a:ln>
            <a:headEnd/>
            <a:tailEnd/>
          </a:ln>
        </p:spPr>
        <p:style>
          <a:lnRef idx="2">
            <a:schemeClr val="accent2"/>
          </a:lnRef>
          <a:fillRef idx="1">
            <a:schemeClr val="lt1"/>
          </a:fillRef>
          <a:effectRef idx="0">
            <a:schemeClr val="accent2"/>
          </a:effectRef>
          <a:fontRef idx="minor">
            <a:schemeClr val="dk1"/>
          </a:fontRef>
        </p:style>
        <p:txBody>
          <a:bodyPr wrap="none" lIns="91380" tIns="45692" rIns="91380" bIns="45692" rtlCol="0" anchor="ctr"/>
          <a:lstStyle/>
          <a:p>
            <a:pPr algn="ctr"/>
            <a:endParaRPr lang="ko-KR" altLang="en-US"/>
          </a:p>
        </p:txBody>
      </p:sp>
      <p:graphicFrame>
        <p:nvGraphicFramePr>
          <p:cNvPr id="23" name="표 22"/>
          <p:cNvGraphicFramePr>
            <a:graphicFrameLocks noGrp="1"/>
          </p:cNvGraphicFramePr>
          <p:nvPr/>
        </p:nvGraphicFramePr>
        <p:xfrm>
          <a:off x="2311584" y="4292704"/>
          <a:ext cx="1819809" cy="792480"/>
        </p:xfrm>
        <a:graphic>
          <a:graphicData uri="http://schemas.openxmlformats.org/drawingml/2006/table">
            <a:tbl>
              <a:tblPr firstRow="1" bandRow="1">
                <a:tableStyleId>{F5AB1C69-6EDB-4FF4-983F-18BD219EF322}</a:tableStyleId>
              </a:tblPr>
              <a:tblGrid>
                <a:gridCol w="512292">
                  <a:extLst>
                    <a:ext uri="{9D8B030D-6E8A-4147-A177-3AD203B41FA5}">
                      <a16:colId xmlns:a16="http://schemas.microsoft.com/office/drawing/2014/main" val="20000"/>
                    </a:ext>
                  </a:extLst>
                </a:gridCol>
                <a:gridCol w="531107">
                  <a:extLst>
                    <a:ext uri="{9D8B030D-6E8A-4147-A177-3AD203B41FA5}">
                      <a16:colId xmlns:a16="http://schemas.microsoft.com/office/drawing/2014/main" val="20001"/>
                    </a:ext>
                  </a:extLst>
                </a:gridCol>
                <a:gridCol w="520376">
                  <a:extLst>
                    <a:ext uri="{9D8B030D-6E8A-4147-A177-3AD203B41FA5}">
                      <a16:colId xmlns:a16="http://schemas.microsoft.com/office/drawing/2014/main" val="20002"/>
                    </a:ext>
                  </a:extLst>
                </a:gridCol>
                <a:gridCol w="256034">
                  <a:extLst>
                    <a:ext uri="{9D8B030D-6E8A-4147-A177-3AD203B41FA5}">
                      <a16:colId xmlns:a16="http://schemas.microsoft.com/office/drawing/2014/main" val="20003"/>
                    </a:ext>
                  </a:extLst>
                </a:gridCol>
              </a:tblGrid>
              <a:tr h="210654">
                <a:tc>
                  <a:txBody>
                    <a:bodyPr/>
                    <a:lstStyle/>
                    <a:p>
                      <a:pPr latinLnBrk="1"/>
                      <a:r>
                        <a:rPr lang="en-US" altLang="ko-KR" sz="1100" dirty="0">
                          <a:latin typeface="Arial" panose="020B0604020202020204" pitchFamily="34" charset="0"/>
                          <a:cs typeface="Arial" panose="020B0604020202020204" pitchFamily="34" charset="0"/>
                        </a:rPr>
                        <a:t>SRC</a:t>
                      </a:r>
                      <a:endParaRPr lang="ko-KR" altLang="en-US" sz="1100" dirty="0">
                        <a:latin typeface="Arial" panose="020B0604020202020204" pitchFamily="34" charset="0"/>
                        <a:cs typeface="Arial" panose="020B0604020202020204" pitchFamily="34" charset="0"/>
                      </a:endParaRPr>
                    </a:p>
                  </a:txBody>
                  <a:tcPr/>
                </a:tc>
                <a:tc>
                  <a:txBody>
                    <a:bodyPr/>
                    <a:lstStyle/>
                    <a:p>
                      <a:pPr latinLnBrk="1"/>
                      <a:r>
                        <a:rPr lang="en-US" altLang="ko-KR" sz="1100" dirty="0">
                          <a:latin typeface="Arial" panose="020B0604020202020204" pitchFamily="34" charset="0"/>
                          <a:cs typeface="Arial" panose="020B0604020202020204" pitchFamily="34" charset="0"/>
                        </a:rPr>
                        <a:t>DST</a:t>
                      </a:r>
                      <a:endParaRPr lang="ko-KR" altLang="en-US" sz="1100" dirty="0">
                        <a:latin typeface="Arial" panose="020B0604020202020204" pitchFamily="34" charset="0"/>
                        <a:cs typeface="Arial" panose="020B0604020202020204" pitchFamily="34" charset="0"/>
                      </a:endParaRPr>
                    </a:p>
                  </a:txBody>
                  <a:tcPr/>
                </a:tc>
                <a:tc>
                  <a:txBody>
                    <a:bodyPr/>
                    <a:lstStyle/>
                    <a:p>
                      <a:pPr latinLnBrk="1"/>
                      <a:r>
                        <a:rPr lang="en-US" altLang="ko-KR" sz="1100" dirty="0">
                          <a:latin typeface="Arial" panose="020B0604020202020204" pitchFamily="34" charset="0"/>
                          <a:cs typeface="Arial" panose="020B0604020202020204" pitchFamily="34" charset="0"/>
                        </a:rPr>
                        <a:t>ACT</a:t>
                      </a:r>
                      <a:endParaRPr lang="ko-KR" altLang="en-US" sz="1100" dirty="0">
                        <a:latin typeface="Arial" panose="020B0604020202020204" pitchFamily="34" charset="0"/>
                        <a:cs typeface="Arial" panose="020B0604020202020204" pitchFamily="34" charset="0"/>
                      </a:endParaRPr>
                    </a:p>
                  </a:txBody>
                  <a:tcPr/>
                </a:tc>
                <a:tc>
                  <a:txBody>
                    <a:bodyPr/>
                    <a:lstStyle/>
                    <a:p>
                      <a:pPr latinLnBrk="1"/>
                      <a:r>
                        <a:rPr lang="en-US" altLang="ko-KR" sz="1100" dirty="0">
                          <a:latin typeface="Arial" panose="020B0604020202020204" pitchFamily="34" charset="0"/>
                          <a:cs typeface="Arial" panose="020B0604020202020204" pitchFamily="34" charset="0"/>
                        </a:rPr>
                        <a:t>…</a:t>
                      </a:r>
                      <a:endParaRPr lang="ko-KR" altLang="en-US" sz="11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210654">
                <a:tc>
                  <a:txBody>
                    <a:bodyPr/>
                    <a:lstStyle/>
                    <a:p>
                      <a:pPr algn="ctr" latinLnBrk="1"/>
                      <a:endParaRPr lang="ko-KR" altLang="en-US" sz="1200" dirty="0">
                        <a:latin typeface="Arial" panose="020B0604020202020204" pitchFamily="34" charset="0"/>
                        <a:cs typeface="Arial" panose="020B0604020202020204" pitchFamily="34" charset="0"/>
                      </a:endParaRPr>
                    </a:p>
                  </a:txBody>
                  <a:tcPr/>
                </a:tc>
                <a:tc>
                  <a:txBody>
                    <a:bodyPr/>
                    <a:lstStyle/>
                    <a:p>
                      <a:pPr algn="ctr" latinLnBrk="1"/>
                      <a:endParaRPr lang="ko-KR" altLang="en-US" sz="1200" dirty="0">
                        <a:latin typeface="Arial" panose="020B0604020202020204" pitchFamily="34" charset="0"/>
                        <a:cs typeface="Arial" panose="020B0604020202020204" pitchFamily="34" charset="0"/>
                      </a:endParaRPr>
                    </a:p>
                  </a:txBody>
                  <a:tcPr/>
                </a:tc>
                <a:tc>
                  <a:txBody>
                    <a:bodyPr/>
                    <a:lstStyle/>
                    <a:p>
                      <a:pPr algn="ctr" latinLnBrk="1"/>
                      <a:endParaRPr lang="ko-KR" altLang="en-US" sz="1200" dirty="0">
                        <a:latin typeface="Arial" panose="020B0604020202020204" pitchFamily="34" charset="0"/>
                        <a:cs typeface="Arial" panose="020B0604020202020204" pitchFamily="34" charset="0"/>
                      </a:endParaRPr>
                    </a:p>
                  </a:txBody>
                  <a:tcPr/>
                </a:tc>
                <a:tc>
                  <a:txBody>
                    <a:bodyPr/>
                    <a:lstStyle/>
                    <a:p>
                      <a:pPr algn="ctr" latinLnBrk="1"/>
                      <a:endParaRPr lang="ko-KR" altLang="en-US" sz="11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210654">
                <a:tc>
                  <a:txBody>
                    <a:bodyPr/>
                    <a:lstStyle/>
                    <a:p>
                      <a:pPr latinLnBrk="1"/>
                      <a:endParaRPr lang="ko-KR" altLang="en-US" sz="1100">
                        <a:latin typeface="Arial" panose="020B0604020202020204" pitchFamily="34" charset="0"/>
                        <a:cs typeface="Arial" panose="020B0604020202020204" pitchFamily="34" charset="0"/>
                      </a:endParaRPr>
                    </a:p>
                  </a:txBody>
                  <a:tcPr/>
                </a:tc>
                <a:tc>
                  <a:txBody>
                    <a:bodyPr/>
                    <a:lstStyle/>
                    <a:p>
                      <a:pPr latinLnBrk="1"/>
                      <a:endParaRPr lang="ko-KR" altLang="en-US" sz="1100" dirty="0">
                        <a:latin typeface="Arial" panose="020B0604020202020204" pitchFamily="34" charset="0"/>
                        <a:cs typeface="Arial" panose="020B0604020202020204" pitchFamily="34" charset="0"/>
                      </a:endParaRPr>
                    </a:p>
                  </a:txBody>
                  <a:tcPr/>
                </a:tc>
                <a:tc>
                  <a:txBody>
                    <a:bodyPr/>
                    <a:lstStyle/>
                    <a:p>
                      <a:pPr latinLnBrk="1"/>
                      <a:endParaRPr lang="ko-KR" altLang="en-US" sz="1100" dirty="0">
                        <a:latin typeface="Arial" panose="020B0604020202020204" pitchFamily="34" charset="0"/>
                        <a:cs typeface="Arial" panose="020B0604020202020204" pitchFamily="34" charset="0"/>
                      </a:endParaRPr>
                    </a:p>
                  </a:txBody>
                  <a:tcPr/>
                </a:tc>
                <a:tc>
                  <a:txBody>
                    <a:bodyPr/>
                    <a:lstStyle/>
                    <a:p>
                      <a:pPr latinLnBrk="1"/>
                      <a:endParaRPr lang="ko-KR" altLang="en-US" sz="11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bl>
          </a:graphicData>
        </a:graphic>
      </p:graphicFrame>
      <p:graphicFrame>
        <p:nvGraphicFramePr>
          <p:cNvPr id="24" name="표 23"/>
          <p:cNvGraphicFramePr>
            <a:graphicFrameLocks noGrp="1"/>
          </p:cNvGraphicFramePr>
          <p:nvPr/>
        </p:nvGraphicFramePr>
        <p:xfrm>
          <a:off x="7750226" y="4313644"/>
          <a:ext cx="1708099" cy="792480"/>
        </p:xfrm>
        <a:graphic>
          <a:graphicData uri="http://schemas.openxmlformats.org/drawingml/2006/table">
            <a:tbl>
              <a:tblPr firstRow="1" bandRow="1">
                <a:tableStyleId>{F5AB1C69-6EDB-4FF4-983F-18BD219EF322}</a:tableStyleId>
              </a:tblPr>
              <a:tblGrid>
                <a:gridCol w="480845">
                  <a:extLst>
                    <a:ext uri="{9D8B030D-6E8A-4147-A177-3AD203B41FA5}">
                      <a16:colId xmlns:a16="http://schemas.microsoft.com/office/drawing/2014/main" val="20000"/>
                    </a:ext>
                  </a:extLst>
                </a:gridCol>
                <a:gridCol w="498505">
                  <a:extLst>
                    <a:ext uri="{9D8B030D-6E8A-4147-A177-3AD203B41FA5}">
                      <a16:colId xmlns:a16="http://schemas.microsoft.com/office/drawing/2014/main" val="20001"/>
                    </a:ext>
                  </a:extLst>
                </a:gridCol>
                <a:gridCol w="488432">
                  <a:extLst>
                    <a:ext uri="{9D8B030D-6E8A-4147-A177-3AD203B41FA5}">
                      <a16:colId xmlns:a16="http://schemas.microsoft.com/office/drawing/2014/main" val="20002"/>
                    </a:ext>
                  </a:extLst>
                </a:gridCol>
                <a:gridCol w="240317">
                  <a:extLst>
                    <a:ext uri="{9D8B030D-6E8A-4147-A177-3AD203B41FA5}">
                      <a16:colId xmlns:a16="http://schemas.microsoft.com/office/drawing/2014/main" val="20003"/>
                    </a:ext>
                  </a:extLst>
                </a:gridCol>
              </a:tblGrid>
              <a:tr h="210654">
                <a:tc>
                  <a:txBody>
                    <a:bodyPr/>
                    <a:lstStyle/>
                    <a:p>
                      <a:pPr latinLnBrk="1"/>
                      <a:r>
                        <a:rPr lang="en-US" altLang="ko-KR" sz="1100" dirty="0">
                          <a:latin typeface="Arial" panose="020B0604020202020204" pitchFamily="34" charset="0"/>
                          <a:cs typeface="Arial" panose="020B0604020202020204" pitchFamily="34" charset="0"/>
                        </a:rPr>
                        <a:t>SRC</a:t>
                      </a:r>
                      <a:endParaRPr lang="ko-KR" altLang="en-US" sz="1100" dirty="0">
                        <a:latin typeface="Arial" panose="020B0604020202020204" pitchFamily="34" charset="0"/>
                        <a:cs typeface="Arial" panose="020B0604020202020204" pitchFamily="34" charset="0"/>
                      </a:endParaRPr>
                    </a:p>
                  </a:txBody>
                  <a:tcPr/>
                </a:tc>
                <a:tc>
                  <a:txBody>
                    <a:bodyPr/>
                    <a:lstStyle/>
                    <a:p>
                      <a:pPr latinLnBrk="1"/>
                      <a:r>
                        <a:rPr lang="en-US" altLang="ko-KR" sz="1100" dirty="0">
                          <a:latin typeface="Arial" panose="020B0604020202020204" pitchFamily="34" charset="0"/>
                          <a:cs typeface="Arial" panose="020B0604020202020204" pitchFamily="34" charset="0"/>
                        </a:rPr>
                        <a:t>DST</a:t>
                      </a:r>
                      <a:endParaRPr lang="ko-KR" altLang="en-US" sz="1100" dirty="0">
                        <a:latin typeface="Arial" panose="020B0604020202020204" pitchFamily="34" charset="0"/>
                        <a:cs typeface="Arial" panose="020B0604020202020204" pitchFamily="34" charset="0"/>
                      </a:endParaRPr>
                    </a:p>
                  </a:txBody>
                  <a:tcPr/>
                </a:tc>
                <a:tc>
                  <a:txBody>
                    <a:bodyPr/>
                    <a:lstStyle/>
                    <a:p>
                      <a:pPr latinLnBrk="1"/>
                      <a:r>
                        <a:rPr lang="en-US" altLang="ko-KR" sz="1100" dirty="0">
                          <a:latin typeface="Arial" panose="020B0604020202020204" pitchFamily="34" charset="0"/>
                          <a:cs typeface="Arial" panose="020B0604020202020204" pitchFamily="34" charset="0"/>
                        </a:rPr>
                        <a:t>ACT</a:t>
                      </a:r>
                      <a:endParaRPr lang="ko-KR" altLang="en-US" sz="1100" dirty="0">
                        <a:latin typeface="Arial" panose="020B0604020202020204" pitchFamily="34" charset="0"/>
                        <a:cs typeface="Arial" panose="020B0604020202020204" pitchFamily="34" charset="0"/>
                      </a:endParaRPr>
                    </a:p>
                  </a:txBody>
                  <a:tcPr/>
                </a:tc>
                <a:tc>
                  <a:txBody>
                    <a:bodyPr/>
                    <a:lstStyle/>
                    <a:p>
                      <a:pPr latinLnBrk="1"/>
                      <a:r>
                        <a:rPr lang="en-US" altLang="ko-KR" sz="1100" dirty="0">
                          <a:latin typeface="Arial" panose="020B0604020202020204" pitchFamily="34" charset="0"/>
                          <a:cs typeface="Arial" panose="020B0604020202020204" pitchFamily="34" charset="0"/>
                        </a:rPr>
                        <a:t>…</a:t>
                      </a:r>
                      <a:endParaRPr lang="ko-KR" altLang="en-US" sz="11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210654">
                <a:tc>
                  <a:txBody>
                    <a:bodyPr/>
                    <a:lstStyle/>
                    <a:p>
                      <a:pPr algn="ctr" latinLnBrk="1"/>
                      <a:r>
                        <a:rPr lang="en-US" altLang="ko-KR" sz="1200" dirty="0">
                          <a:latin typeface="Arial" panose="020B0604020202020204" pitchFamily="34" charset="0"/>
                          <a:cs typeface="Arial" panose="020B0604020202020204" pitchFamily="34" charset="0"/>
                        </a:rPr>
                        <a:t>h1</a:t>
                      </a:r>
                      <a:endParaRPr lang="ko-KR" altLang="en-US" sz="1200" dirty="0">
                        <a:latin typeface="Arial" panose="020B0604020202020204" pitchFamily="34" charset="0"/>
                        <a:cs typeface="Arial" panose="020B0604020202020204" pitchFamily="34" charset="0"/>
                      </a:endParaRPr>
                    </a:p>
                  </a:txBody>
                  <a:tcPr/>
                </a:tc>
                <a:tc>
                  <a:txBody>
                    <a:bodyPr/>
                    <a:lstStyle/>
                    <a:p>
                      <a:pPr algn="ctr" latinLnBrk="1"/>
                      <a:r>
                        <a:rPr lang="en-US" altLang="ko-KR" sz="1200" dirty="0">
                          <a:latin typeface="Arial" panose="020B0604020202020204" pitchFamily="34" charset="0"/>
                          <a:cs typeface="Arial" panose="020B0604020202020204" pitchFamily="34" charset="0"/>
                        </a:rPr>
                        <a:t>h2</a:t>
                      </a:r>
                      <a:endParaRPr lang="ko-KR" altLang="en-US" sz="1200" dirty="0">
                        <a:latin typeface="Arial" panose="020B0604020202020204" pitchFamily="34" charset="0"/>
                        <a:cs typeface="Arial" panose="020B0604020202020204" pitchFamily="34" charset="0"/>
                      </a:endParaRPr>
                    </a:p>
                  </a:txBody>
                  <a:tcPr/>
                </a:tc>
                <a:tc>
                  <a:txBody>
                    <a:bodyPr/>
                    <a:lstStyle/>
                    <a:p>
                      <a:pPr algn="ctr" latinLnBrk="1"/>
                      <a:r>
                        <a:rPr lang="en-US" altLang="ko-KR" sz="1200" dirty="0">
                          <a:latin typeface="Arial" panose="020B0604020202020204" pitchFamily="34" charset="0"/>
                          <a:cs typeface="Arial" panose="020B0604020202020204" pitchFamily="34" charset="0"/>
                        </a:rPr>
                        <a:t>p2</a:t>
                      </a:r>
                      <a:endParaRPr lang="ko-KR" altLang="en-US" sz="1200" dirty="0">
                        <a:latin typeface="Arial" panose="020B0604020202020204" pitchFamily="34" charset="0"/>
                        <a:cs typeface="Arial" panose="020B0604020202020204" pitchFamily="34" charset="0"/>
                      </a:endParaRPr>
                    </a:p>
                  </a:txBody>
                  <a:tcPr/>
                </a:tc>
                <a:tc>
                  <a:txBody>
                    <a:bodyPr/>
                    <a:lstStyle/>
                    <a:p>
                      <a:pPr algn="ctr" latinLnBrk="1"/>
                      <a:endParaRPr lang="ko-KR" altLang="en-US" sz="11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210654">
                <a:tc>
                  <a:txBody>
                    <a:bodyPr/>
                    <a:lstStyle/>
                    <a:p>
                      <a:pPr latinLnBrk="1"/>
                      <a:endParaRPr lang="ko-KR" altLang="en-US" sz="1100">
                        <a:latin typeface="Arial" panose="020B0604020202020204" pitchFamily="34" charset="0"/>
                        <a:cs typeface="Arial" panose="020B0604020202020204" pitchFamily="34" charset="0"/>
                      </a:endParaRPr>
                    </a:p>
                  </a:txBody>
                  <a:tcPr/>
                </a:tc>
                <a:tc>
                  <a:txBody>
                    <a:bodyPr/>
                    <a:lstStyle/>
                    <a:p>
                      <a:pPr latinLnBrk="1"/>
                      <a:endParaRPr lang="ko-KR" altLang="en-US" sz="1100" dirty="0">
                        <a:latin typeface="Arial" panose="020B0604020202020204" pitchFamily="34" charset="0"/>
                        <a:cs typeface="Arial" panose="020B0604020202020204" pitchFamily="34" charset="0"/>
                      </a:endParaRPr>
                    </a:p>
                  </a:txBody>
                  <a:tcPr/>
                </a:tc>
                <a:tc>
                  <a:txBody>
                    <a:bodyPr/>
                    <a:lstStyle/>
                    <a:p>
                      <a:pPr latinLnBrk="1"/>
                      <a:endParaRPr lang="ko-KR" altLang="en-US" sz="1100">
                        <a:latin typeface="Arial" panose="020B0604020202020204" pitchFamily="34" charset="0"/>
                        <a:cs typeface="Arial" panose="020B0604020202020204" pitchFamily="34" charset="0"/>
                      </a:endParaRPr>
                    </a:p>
                  </a:txBody>
                  <a:tcPr/>
                </a:tc>
                <a:tc>
                  <a:txBody>
                    <a:bodyPr/>
                    <a:lstStyle/>
                    <a:p>
                      <a:pPr latinLnBrk="1"/>
                      <a:endParaRPr lang="ko-KR" altLang="en-US" sz="11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bl>
          </a:graphicData>
        </a:graphic>
      </p:graphicFrame>
      <p:sp>
        <p:nvSpPr>
          <p:cNvPr id="25" name="타원 24"/>
          <p:cNvSpPr/>
          <p:nvPr/>
        </p:nvSpPr>
        <p:spPr>
          <a:xfrm>
            <a:off x="5258831" y="5685723"/>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2</a:t>
            </a:r>
            <a:endParaRPr lang="ko-KR" altLang="en-US" dirty="0">
              <a:latin typeface="Arial" panose="020B0604020202020204" pitchFamily="34" charset="0"/>
              <a:cs typeface="Arial" panose="020B0604020202020204" pitchFamily="34" charset="0"/>
            </a:endParaRPr>
          </a:p>
        </p:txBody>
      </p:sp>
      <p:sp>
        <p:nvSpPr>
          <p:cNvPr id="26" name="타원 25"/>
          <p:cNvSpPr/>
          <p:nvPr/>
        </p:nvSpPr>
        <p:spPr>
          <a:xfrm>
            <a:off x="3751234" y="566491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1</a:t>
            </a:r>
            <a:endParaRPr lang="ko-KR" altLang="en-US" dirty="0">
              <a:latin typeface="Arial" panose="020B0604020202020204" pitchFamily="34" charset="0"/>
              <a:cs typeface="Arial" panose="020B0604020202020204" pitchFamily="34" charset="0"/>
            </a:endParaRPr>
          </a:p>
        </p:txBody>
      </p:sp>
      <p:sp>
        <p:nvSpPr>
          <p:cNvPr id="27" name="타원 26"/>
          <p:cNvSpPr/>
          <p:nvPr/>
        </p:nvSpPr>
        <p:spPr>
          <a:xfrm>
            <a:off x="8129822" y="5685723"/>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2</a:t>
            </a:r>
            <a:endParaRPr lang="ko-KR" altLang="en-US" dirty="0">
              <a:latin typeface="Arial" panose="020B0604020202020204" pitchFamily="34" charset="0"/>
              <a:cs typeface="Arial" panose="020B0604020202020204" pitchFamily="34" charset="0"/>
            </a:endParaRPr>
          </a:p>
        </p:txBody>
      </p:sp>
      <p:sp>
        <p:nvSpPr>
          <p:cNvPr id="28" name="타원 27"/>
          <p:cNvSpPr/>
          <p:nvPr/>
        </p:nvSpPr>
        <p:spPr>
          <a:xfrm>
            <a:off x="6622225" y="566491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1</a:t>
            </a:r>
            <a:endParaRPr lang="ko-KR" altLang="en-US" dirty="0">
              <a:latin typeface="Arial" panose="020B0604020202020204" pitchFamily="34" charset="0"/>
              <a:cs typeface="Arial" panose="020B0604020202020204" pitchFamily="34" charset="0"/>
            </a:endParaRPr>
          </a:p>
        </p:txBody>
      </p:sp>
      <p:sp>
        <p:nvSpPr>
          <p:cNvPr id="29" name="TextBox 28"/>
          <p:cNvSpPr txBox="1"/>
          <p:nvPr/>
        </p:nvSpPr>
        <p:spPr>
          <a:xfrm>
            <a:off x="2401986" y="4559179"/>
            <a:ext cx="1386918" cy="276999"/>
          </a:xfrm>
          <a:prstGeom prst="rect">
            <a:avLst/>
          </a:prstGeom>
          <a:noFill/>
        </p:spPr>
        <p:txBody>
          <a:bodyPr wrap="none" rtlCol="0">
            <a:spAutoFit/>
          </a:bodyPr>
          <a:lstStyle/>
          <a:p>
            <a:r>
              <a:rPr lang="en-US" altLang="ko-KR" sz="1200" dirty="0">
                <a:latin typeface="Arial" panose="020B0604020202020204" pitchFamily="34" charset="0"/>
                <a:cs typeface="Arial" panose="020B0604020202020204" pitchFamily="34" charset="0"/>
              </a:rPr>
              <a:t>h1        h2        p2</a:t>
            </a:r>
            <a:endParaRPr lang="ko-KR"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5845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952656" y="4198"/>
            <a:ext cx="10515600" cy="931725"/>
          </a:xfrm>
        </p:spPr>
        <p:txBody>
          <a:bodyPr/>
          <a:lstStyle/>
          <a:p>
            <a:r>
              <a:rPr lang="en-US" altLang="ko-KR" dirty="0"/>
              <a:t>Topology Discovery in </a:t>
            </a:r>
            <a:r>
              <a:rPr lang="en-US" altLang="ko-KR" dirty="0" err="1"/>
              <a:t>OpenFlow</a:t>
            </a:r>
            <a:endParaRPr lang="ko-KR" altLang="en-US" dirty="0"/>
          </a:p>
        </p:txBody>
      </p:sp>
      <p:sp>
        <p:nvSpPr>
          <p:cNvPr id="3" name="내용 개체 틀 2"/>
          <p:cNvSpPr>
            <a:spLocks noGrp="1"/>
          </p:cNvSpPr>
          <p:nvPr>
            <p:ph idx="1"/>
          </p:nvPr>
        </p:nvSpPr>
        <p:spPr>
          <a:xfrm>
            <a:off x="1839589" y="954861"/>
            <a:ext cx="8512822" cy="1618219"/>
          </a:xfrm>
        </p:spPr>
        <p:txBody>
          <a:bodyPr>
            <a:normAutofit/>
          </a:bodyPr>
          <a:lstStyle/>
          <a:p>
            <a:r>
              <a:rPr lang="en-US" altLang="ko-KR" sz="2400" dirty="0"/>
              <a:t>Purpose</a:t>
            </a:r>
          </a:p>
          <a:p>
            <a:pPr lvl="1"/>
            <a:r>
              <a:rPr lang="en-US" altLang="ko-KR" sz="2000" dirty="0"/>
              <a:t>To construct an entire network view</a:t>
            </a:r>
          </a:p>
          <a:p>
            <a:r>
              <a:rPr lang="en-US" altLang="ko-KR" sz="2400" dirty="0"/>
              <a:t>Method</a:t>
            </a:r>
          </a:p>
          <a:p>
            <a:pPr lvl="1"/>
            <a:r>
              <a:rPr lang="en-US" altLang="ko-KR" sz="2000" dirty="0"/>
              <a:t>Use the Link Layer Discovery Protocol (LLDP)</a:t>
            </a:r>
            <a:endParaRPr lang="ko-KR" altLang="en-US" sz="2000" dirty="0"/>
          </a:p>
        </p:txBody>
      </p:sp>
      <p:pic>
        <p:nvPicPr>
          <p:cNvPr id="4" name="Picture 8" descr="ICON_Server_flat_Q408.png"/>
          <p:cNvPicPr>
            <a:picLocks noChangeAspect="1"/>
          </p:cNvPicPr>
          <p:nvPr/>
        </p:nvPicPr>
        <p:blipFill>
          <a:blip r:embed="rId3"/>
          <a:srcRect/>
          <a:stretch>
            <a:fillRect/>
          </a:stretch>
        </p:blipFill>
        <p:spPr bwMode="auto">
          <a:xfrm>
            <a:off x="4742443" y="4077072"/>
            <a:ext cx="1368152" cy="347738"/>
          </a:xfrm>
          <a:prstGeom prst="rect">
            <a:avLst/>
          </a:prstGeom>
          <a:noFill/>
          <a:ln w="9525">
            <a:noFill/>
            <a:miter lim="800000"/>
            <a:headEnd/>
            <a:tailEnd/>
          </a:ln>
        </p:spPr>
      </p:pic>
      <p:cxnSp>
        <p:nvCxnSpPr>
          <p:cNvPr id="8" name="직선 화살표 연결선 7"/>
          <p:cNvCxnSpPr/>
          <p:nvPr/>
        </p:nvCxnSpPr>
        <p:spPr>
          <a:xfrm flipV="1">
            <a:off x="4991970" y="5970547"/>
            <a:ext cx="819961" cy="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9" name="직선 연결선 8"/>
          <p:cNvCxnSpPr>
            <a:stCxn id="4" idx="2"/>
          </p:cNvCxnSpPr>
          <p:nvPr/>
        </p:nvCxnSpPr>
        <p:spPr>
          <a:xfrm flipH="1">
            <a:off x="4620495" y="4424810"/>
            <a:ext cx="806024" cy="1164430"/>
          </a:xfrm>
          <a:prstGeom prst="line">
            <a:avLst/>
          </a:prstGeom>
          <a:ln w="19050">
            <a:solidFill>
              <a:schemeClr val="accent1">
                <a:lumMod val="75000"/>
              </a:schemeClr>
            </a:solidFill>
            <a:prstDash val="dash"/>
            <a:headEnd type="none"/>
            <a:tailEnd type="none"/>
          </a:ln>
        </p:spPr>
        <p:style>
          <a:lnRef idx="1">
            <a:schemeClr val="dk1"/>
          </a:lnRef>
          <a:fillRef idx="0">
            <a:schemeClr val="dk1"/>
          </a:fillRef>
          <a:effectRef idx="0">
            <a:schemeClr val="dk1"/>
          </a:effectRef>
          <a:fontRef idx="minor">
            <a:schemeClr val="tx1"/>
          </a:fontRef>
        </p:style>
      </p:cxnSp>
      <p:cxnSp>
        <p:nvCxnSpPr>
          <p:cNvPr id="10" name="직선 연결선 9"/>
          <p:cNvCxnSpPr>
            <a:stCxn id="4" idx="2"/>
          </p:cNvCxnSpPr>
          <p:nvPr/>
        </p:nvCxnSpPr>
        <p:spPr>
          <a:xfrm>
            <a:off x="5426519" y="4424811"/>
            <a:ext cx="778152" cy="1164429"/>
          </a:xfrm>
          <a:prstGeom prst="line">
            <a:avLst/>
          </a:prstGeom>
          <a:ln w="19050">
            <a:solidFill>
              <a:schemeClr val="accent1">
                <a:lumMod val="75000"/>
              </a:schemeClr>
            </a:solidFill>
            <a:prstDash val="dash"/>
            <a:headEnd type="none"/>
            <a:tailEnd type="none"/>
          </a:ln>
        </p:spPr>
        <p:style>
          <a:lnRef idx="1">
            <a:schemeClr val="dk1"/>
          </a:lnRef>
          <a:fillRef idx="0">
            <a:schemeClr val="dk1"/>
          </a:fillRef>
          <a:effectRef idx="0">
            <a:schemeClr val="dk1"/>
          </a:effectRef>
          <a:fontRef idx="minor">
            <a:schemeClr val="tx1"/>
          </a:fontRef>
        </p:style>
      </p:cxnSp>
      <p:cxnSp>
        <p:nvCxnSpPr>
          <p:cNvPr id="11" name="직선 연결선 10"/>
          <p:cNvCxnSpPr/>
          <p:nvPr/>
        </p:nvCxnSpPr>
        <p:spPr>
          <a:xfrm flipH="1">
            <a:off x="5002603" y="5850012"/>
            <a:ext cx="819961" cy="1"/>
          </a:xfrm>
          <a:prstGeom prst="line">
            <a:avLst/>
          </a:prstGeom>
          <a:ln w="19050">
            <a:solidFill>
              <a:schemeClr val="accent1">
                <a:lumMod val="75000"/>
              </a:schemeClr>
            </a:solidFill>
            <a:prstDash val="solid"/>
            <a:headEnd type="none"/>
            <a:tailEnd type="none"/>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5081893" y="5987887"/>
            <a:ext cx="633507" cy="307777"/>
          </a:xfrm>
          <a:prstGeom prst="rect">
            <a:avLst/>
          </a:prstGeom>
          <a:noFill/>
        </p:spPr>
        <p:txBody>
          <a:bodyPr wrap="none" rtlCol="0">
            <a:spAutoFit/>
          </a:bodyPr>
          <a:lstStyle/>
          <a:p>
            <a:r>
              <a:rPr lang="en-US" altLang="ko-KR" sz="1400" dirty="0">
                <a:latin typeface="Arial" panose="020B0604020202020204" pitchFamily="34" charset="0"/>
                <a:cs typeface="Arial" panose="020B0604020202020204" pitchFamily="34" charset="0"/>
              </a:rPr>
              <a:t>LLDP</a:t>
            </a:r>
            <a:endParaRPr lang="ko-KR" altLang="en-US" sz="1400" dirty="0">
              <a:latin typeface="Arial" panose="020B0604020202020204" pitchFamily="34" charset="0"/>
              <a:cs typeface="Arial" panose="020B0604020202020204" pitchFamily="34" charset="0"/>
            </a:endParaRPr>
          </a:p>
        </p:txBody>
      </p:sp>
      <p:sp>
        <p:nvSpPr>
          <p:cNvPr id="13" name="TextBox 12"/>
          <p:cNvSpPr txBox="1"/>
          <p:nvPr/>
        </p:nvSpPr>
        <p:spPr>
          <a:xfrm>
            <a:off x="3558416" y="4665028"/>
            <a:ext cx="1415196" cy="523220"/>
          </a:xfrm>
          <a:prstGeom prst="rect">
            <a:avLst/>
          </a:prstGeom>
          <a:noFill/>
        </p:spPr>
        <p:txBody>
          <a:bodyPr wrap="none" rtlCol="0">
            <a:spAutoFit/>
          </a:bodyPr>
          <a:lstStyle/>
          <a:p>
            <a:r>
              <a:rPr lang="en-US" altLang="ko-KR" sz="1400" dirty="0">
                <a:latin typeface="Arial" panose="020B0604020202020204" pitchFamily="34" charset="0"/>
                <a:cs typeface="Arial" panose="020B0604020202020204" pitchFamily="34" charset="0"/>
              </a:rPr>
              <a:t>PACKET_OUT </a:t>
            </a:r>
            <a:br>
              <a:rPr lang="en-US" altLang="ko-KR" sz="1400" dirty="0">
                <a:latin typeface="Arial" panose="020B0604020202020204" pitchFamily="34" charset="0"/>
                <a:cs typeface="Arial" panose="020B0604020202020204" pitchFamily="34" charset="0"/>
              </a:rPr>
            </a:br>
            <a:r>
              <a:rPr lang="en-US" altLang="ko-KR" sz="1400" dirty="0">
                <a:latin typeface="Arial" panose="020B0604020202020204" pitchFamily="34" charset="0"/>
                <a:cs typeface="Arial" panose="020B0604020202020204" pitchFamily="34" charset="0"/>
              </a:rPr>
              <a:t>with LLDP</a:t>
            </a:r>
            <a:endParaRPr lang="ko-KR" altLang="en-US" sz="1400" dirty="0">
              <a:latin typeface="Arial" panose="020B0604020202020204" pitchFamily="34" charset="0"/>
              <a:cs typeface="Arial" panose="020B0604020202020204" pitchFamily="34" charset="0"/>
            </a:endParaRPr>
          </a:p>
        </p:txBody>
      </p:sp>
      <p:cxnSp>
        <p:nvCxnSpPr>
          <p:cNvPr id="14" name="직선 연결선 13"/>
          <p:cNvCxnSpPr/>
          <p:nvPr/>
        </p:nvCxnSpPr>
        <p:spPr>
          <a:xfrm flipH="1">
            <a:off x="4521142" y="4616169"/>
            <a:ext cx="544537" cy="786670"/>
          </a:xfrm>
          <a:prstGeom prst="line">
            <a:avLst/>
          </a:prstGeom>
          <a:ln w="19050">
            <a:solidFill>
              <a:schemeClr val="tx1"/>
            </a:solidFill>
            <a:prstDash val="solid"/>
            <a:headEnd type="none"/>
            <a:tailEnd type="arrow" w="med" len="lg"/>
          </a:ln>
        </p:spPr>
        <p:style>
          <a:lnRef idx="1">
            <a:schemeClr val="dk1"/>
          </a:lnRef>
          <a:fillRef idx="0">
            <a:schemeClr val="dk1"/>
          </a:fillRef>
          <a:effectRef idx="0">
            <a:schemeClr val="dk1"/>
          </a:effectRef>
          <a:fontRef idx="minor">
            <a:schemeClr val="tx1"/>
          </a:fontRef>
        </p:style>
      </p:cxnSp>
      <p:cxnSp>
        <p:nvCxnSpPr>
          <p:cNvPr id="15" name="직선 연결선 14"/>
          <p:cNvCxnSpPr/>
          <p:nvPr/>
        </p:nvCxnSpPr>
        <p:spPr>
          <a:xfrm>
            <a:off x="5774655" y="4616169"/>
            <a:ext cx="501491" cy="750434"/>
          </a:xfrm>
          <a:prstGeom prst="line">
            <a:avLst/>
          </a:prstGeom>
          <a:ln w="19050">
            <a:solidFill>
              <a:schemeClr val="tx1"/>
            </a:solidFill>
            <a:prstDash val="solid"/>
            <a:headEnd type="none"/>
            <a:tailEnd type="arrow" w="med" len="lg"/>
          </a:ln>
        </p:spPr>
        <p:style>
          <a:lnRef idx="1">
            <a:schemeClr val="dk1"/>
          </a:lnRef>
          <a:fillRef idx="0">
            <a:schemeClr val="dk1"/>
          </a:fillRef>
          <a:effectRef idx="0">
            <a:schemeClr val="dk1"/>
          </a:effectRef>
          <a:fontRef idx="minor">
            <a:schemeClr val="tx1"/>
          </a:fontRef>
        </p:style>
      </p:cxnSp>
      <p:cxnSp>
        <p:nvCxnSpPr>
          <p:cNvPr id="16" name="직선 연결선 15"/>
          <p:cNvCxnSpPr/>
          <p:nvPr/>
        </p:nvCxnSpPr>
        <p:spPr>
          <a:xfrm>
            <a:off x="5436521" y="4755509"/>
            <a:ext cx="501491" cy="750434"/>
          </a:xfrm>
          <a:prstGeom prst="line">
            <a:avLst/>
          </a:prstGeom>
          <a:ln w="19050">
            <a:solidFill>
              <a:srgbClr val="FF0000"/>
            </a:solidFill>
            <a:prstDash val="solid"/>
            <a:headEnd type="arrow" w="med" len="lg"/>
            <a:tailEnd type="none" w="med" len="lg"/>
          </a:ln>
        </p:spPr>
        <p:style>
          <a:lnRef idx="1">
            <a:schemeClr val="dk1"/>
          </a:lnRef>
          <a:fillRef idx="0">
            <a:schemeClr val="dk1"/>
          </a:fillRef>
          <a:effectRef idx="0">
            <a:schemeClr val="dk1"/>
          </a:effectRef>
          <a:fontRef idx="minor">
            <a:schemeClr val="tx1"/>
          </a:fontRef>
        </p:style>
      </p:cxnSp>
      <p:cxnSp>
        <p:nvCxnSpPr>
          <p:cNvPr id="17" name="직선 연결선 16"/>
          <p:cNvCxnSpPr/>
          <p:nvPr/>
        </p:nvCxnSpPr>
        <p:spPr>
          <a:xfrm flipH="1">
            <a:off x="4859035" y="4746410"/>
            <a:ext cx="544537" cy="786670"/>
          </a:xfrm>
          <a:prstGeom prst="line">
            <a:avLst/>
          </a:prstGeom>
          <a:ln w="19050">
            <a:solidFill>
              <a:srgbClr val="FF0000"/>
            </a:solidFill>
            <a:prstDash val="solid"/>
            <a:headEnd type="arrow" w="med" len="lg"/>
            <a:tailEnd type="none" w="med" len="lg"/>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5919535" y="4666644"/>
            <a:ext cx="1415196" cy="523220"/>
          </a:xfrm>
          <a:prstGeom prst="rect">
            <a:avLst/>
          </a:prstGeom>
          <a:noFill/>
        </p:spPr>
        <p:txBody>
          <a:bodyPr wrap="none" rtlCol="0">
            <a:spAutoFit/>
          </a:bodyPr>
          <a:lstStyle/>
          <a:p>
            <a:pPr algn="r"/>
            <a:r>
              <a:rPr lang="en-US" altLang="ko-KR" sz="1400" dirty="0">
                <a:latin typeface="Arial" panose="020B0604020202020204" pitchFamily="34" charset="0"/>
                <a:cs typeface="Arial" panose="020B0604020202020204" pitchFamily="34" charset="0"/>
              </a:rPr>
              <a:t>PACKET_OUT </a:t>
            </a:r>
            <a:br>
              <a:rPr lang="en-US" altLang="ko-KR" sz="1400" dirty="0">
                <a:latin typeface="Arial" panose="020B0604020202020204" pitchFamily="34" charset="0"/>
                <a:cs typeface="Arial" panose="020B0604020202020204" pitchFamily="34" charset="0"/>
              </a:rPr>
            </a:br>
            <a:r>
              <a:rPr lang="en-US" altLang="ko-KR" sz="1400" dirty="0">
                <a:latin typeface="Arial" panose="020B0604020202020204" pitchFamily="34" charset="0"/>
                <a:cs typeface="Arial" panose="020B0604020202020204" pitchFamily="34" charset="0"/>
              </a:rPr>
              <a:t>with LLDP</a:t>
            </a:r>
            <a:endParaRPr lang="ko-KR" altLang="en-US" sz="1400" dirty="0">
              <a:latin typeface="Arial" panose="020B0604020202020204" pitchFamily="34" charset="0"/>
              <a:cs typeface="Arial" panose="020B0604020202020204" pitchFamily="34" charset="0"/>
            </a:endParaRPr>
          </a:p>
        </p:txBody>
      </p:sp>
      <p:sp>
        <p:nvSpPr>
          <p:cNvPr id="19" name="TextBox 18"/>
          <p:cNvSpPr txBox="1"/>
          <p:nvPr/>
        </p:nvSpPr>
        <p:spPr>
          <a:xfrm>
            <a:off x="4822561" y="5364685"/>
            <a:ext cx="1169999" cy="523220"/>
          </a:xfrm>
          <a:prstGeom prst="rect">
            <a:avLst/>
          </a:prstGeom>
          <a:noFill/>
        </p:spPr>
        <p:txBody>
          <a:bodyPr wrap="none" rtlCol="0">
            <a:spAutoFit/>
          </a:bodyPr>
          <a:lstStyle/>
          <a:p>
            <a:pPr algn="ctr"/>
            <a:r>
              <a:rPr lang="en-US" altLang="ko-KR" sz="1400" dirty="0">
                <a:solidFill>
                  <a:srgbClr val="FF0000"/>
                </a:solidFill>
                <a:latin typeface="Arial" panose="020B0604020202020204" pitchFamily="34" charset="0"/>
                <a:cs typeface="Arial" panose="020B0604020202020204" pitchFamily="34" charset="0"/>
              </a:rPr>
              <a:t>PACKET_IN</a:t>
            </a:r>
            <a:br>
              <a:rPr lang="en-US" altLang="ko-KR" sz="1400" dirty="0">
                <a:solidFill>
                  <a:srgbClr val="FF0000"/>
                </a:solidFill>
                <a:latin typeface="Arial" panose="020B0604020202020204" pitchFamily="34" charset="0"/>
                <a:cs typeface="Arial" panose="020B0604020202020204" pitchFamily="34" charset="0"/>
              </a:rPr>
            </a:br>
            <a:r>
              <a:rPr lang="en-US" altLang="ko-KR" sz="1400" dirty="0">
                <a:solidFill>
                  <a:srgbClr val="FF0000"/>
                </a:solidFill>
                <a:latin typeface="Arial" panose="020B0604020202020204" pitchFamily="34" charset="0"/>
                <a:cs typeface="Arial" panose="020B0604020202020204" pitchFamily="34" charset="0"/>
              </a:rPr>
              <a:t>with LLDP</a:t>
            </a:r>
            <a:endParaRPr lang="ko-KR" altLang="en-US" sz="1400" dirty="0">
              <a:solidFill>
                <a:srgbClr val="FF0000"/>
              </a:solidFill>
              <a:latin typeface="Arial" panose="020B0604020202020204" pitchFamily="34" charset="0"/>
              <a:cs typeface="Arial" panose="020B0604020202020204" pitchFamily="34" charset="0"/>
            </a:endParaRPr>
          </a:p>
        </p:txBody>
      </p:sp>
      <p:sp>
        <p:nvSpPr>
          <p:cNvPr id="20" name="TextBox 19"/>
          <p:cNvSpPr txBox="1"/>
          <p:nvPr/>
        </p:nvSpPr>
        <p:spPr>
          <a:xfrm>
            <a:off x="6110596" y="4093930"/>
            <a:ext cx="1826141" cy="307777"/>
          </a:xfrm>
          <a:prstGeom prst="rect">
            <a:avLst/>
          </a:prstGeom>
          <a:noFill/>
        </p:spPr>
        <p:txBody>
          <a:bodyPr wrap="none" rtlCol="0">
            <a:spAutoFit/>
          </a:bodyPr>
          <a:lstStyle/>
          <a:p>
            <a:r>
              <a:rPr lang="en-US" altLang="ko-KR" sz="1400" dirty="0" err="1">
                <a:latin typeface="Arial" panose="020B0604020202020204" pitchFamily="34" charset="0"/>
                <a:cs typeface="Arial" panose="020B0604020202020204" pitchFamily="34" charset="0"/>
              </a:rPr>
              <a:t>OpenFlow</a:t>
            </a:r>
            <a:r>
              <a:rPr lang="en-US" altLang="ko-KR" sz="1400" dirty="0">
                <a:latin typeface="Arial" panose="020B0604020202020204" pitchFamily="34" charset="0"/>
                <a:cs typeface="Arial" panose="020B0604020202020204" pitchFamily="34" charset="0"/>
              </a:rPr>
              <a:t> Controller</a:t>
            </a:r>
            <a:endParaRPr lang="ko-KR" altLang="en-US" sz="1400" dirty="0">
              <a:latin typeface="Arial" panose="020B0604020202020204" pitchFamily="34" charset="0"/>
              <a:cs typeface="Arial" panose="020B0604020202020204" pitchFamily="34" charset="0"/>
            </a:endParaRPr>
          </a:p>
        </p:txBody>
      </p:sp>
      <p:graphicFrame>
        <p:nvGraphicFramePr>
          <p:cNvPr id="21" name="표 20"/>
          <p:cNvGraphicFramePr>
            <a:graphicFrameLocks noGrp="1"/>
          </p:cNvGraphicFramePr>
          <p:nvPr/>
        </p:nvGraphicFramePr>
        <p:xfrm>
          <a:off x="2952656" y="2915994"/>
          <a:ext cx="5248591" cy="1074420"/>
        </p:xfrm>
        <a:graphic>
          <a:graphicData uri="http://schemas.openxmlformats.org/drawingml/2006/table">
            <a:tbl>
              <a:tblPr firstRow="1" bandRow="1">
                <a:tableStyleId>{F5AB1C69-6EDB-4FF4-983F-18BD219EF322}</a:tableStyleId>
              </a:tblPr>
              <a:tblGrid>
                <a:gridCol w="955891">
                  <a:extLst>
                    <a:ext uri="{9D8B030D-6E8A-4147-A177-3AD203B41FA5}">
                      <a16:colId xmlns:a16="http://schemas.microsoft.com/office/drawing/2014/main" val="20000"/>
                    </a:ext>
                  </a:extLst>
                </a:gridCol>
                <a:gridCol w="1073175">
                  <a:extLst>
                    <a:ext uri="{9D8B030D-6E8A-4147-A177-3AD203B41FA5}">
                      <a16:colId xmlns:a16="http://schemas.microsoft.com/office/drawing/2014/main" val="20001"/>
                    </a:ext>
                  </a:extLst>
                </a:gridCol>
                <a:gridCol w="1073175">
                  <a:extLst>
                    <a:ext uri="{9D8B030D-6E8A-4147-A177-3AD203B41FA5}">
                      <a16:colId xmlns:a16="http://schemas.microsoft.com/office/drawing/2014/main" val="20002"/>
                    </a:ext>
                  </a:extLst>
                </a:gridCol>
                <a:gridCol w="1073175">
                  <a:extLst>
                    <a:ext uri="{9D8B030D-6E8A-4147-A177-3AD203B41FA5}">
                      <a16:colId xmlns:a16="http://schemas.microsoft.com/office/drawing/2014/main" val="20003"/>
                    </a:ext>
                  </a:extLst>
                </a:gridCol>
                <a:gridCol w="1073175">
                  <a:extLst>
                    <a:ext uri="{9D8B030D-6E8A-4147-A177-3AD203B41FA5}">
                      <a16:colId xmlns:a16="http://schemas.microsoft.com/office/drawing/2014/main" val="20004"/>
                    </a:ext>
                  </a:extLst>
                </a:gridCol>
              </a:tblGrid>
              <a:tr h="152024">
                <a:tc>
                  <a:txBody>
                    <a:bodyPr/>
                    <a:lstStyle/>
                    <a:p>
                      <a:pPr latinLnBrk="1"/>
                      <a:r>
                        <a:rPr lang="en-US" altLang="ko-KR" sz="1050" dirty="0">
                          <a:latin typeface="Arial" panose="020B0604020202020204" pitchFamily="34" charset="0"/>
                          <a:cs typeface="Arial" panose="020B0604020202020204" pitchFamily="34" charset="0"/>
                        </a:rPr>
                        <a:t>IDX</a:t>
                      </a:r>
                      <a:endParaRPr lang="ko-KR" altLang="en-US" sz="1050" dirty="0">
                        <a:latin typeface="Arial" panose="020B0604020202020204" pitchFamily="34" charset="0"/>
                        <a:cs typeface="Arial" panose="020B0604020202020204" pitchFamily="34" charset="0"/>
                      </a:endParaRPr>
                    </a:p>
                  </a:txBody>
                  <a:tcPr/>
                </a:tc>
                <a:tc>
                  <a:txBody>
                    <a:bodyPr/>
                    <a:lstStyle/>
                    <a:p>
                      <a:pPr latinLnBrk="1"/>
                      <a:r>
                        <a:rPr lang="en-US" altLang="ko-KR" sz="1050" dirty="0">
                          <a:latin typeface="Arial" panose="020B0604020202020204" pitchFamily="34" charset="0"/>
                          <a:cs typeface="Arial" panose="020B0604020202020204" pitchFamily="34" charset="0"/>
                        </a:rPr>
                        <a:t>SRC</a:t>
                      </a:r>
                      <a:endParaRPr lang="ko-KR" altLang="en-US" sz="1050" dirty="0">
                        <a:latin typeface="Arial" panose="020B0604020202020204" pitchFamily="34" charset="0"/>
                        <a:cs typeface="Arial" panose="020B0604020202020204" pitchFamily="34" charset="0"/>
                      </a:endParaRPr>
                    </a:p>
                  </a:txBody>
                  <a:tcPr/>
                </a:tc>
                <a:tc>
                  <a:txBody>
                    <a:bodyPr/>
                    <a:lstStyle/>
                    <a:p>
                      <a:pPr latinLnBrk="1"/>
                      <a:r>
                        <a:rPr lang="en-US" altLang="ko-KR" sz="1050" dirty="0">
                          <a:latin typeface="Arial" panose="020B0604020202020204" pitchFamily="34" charset="0"/>
                          <a:cs typeface="Arial" panose="020B0604020202020204" pitchFamily="34" charset="0"/>
                        </a:rPr>
                        <a:t>DST</a:t>
                      </a:r>
                      <a:endParaRPr lang="ko-KR" altLang="en-US" sz="1050" dirty="0">
                        <a:latin typeface="Arial" panose="020B0604020202020204" pitchFamily="34" charset="0"/>
                        <a:cs typeface="Arial" panose="020B0604020202020204" pitchFamily="34" charset="0"/>
                      </a:endParaRPr>
                    </a:p>
                  </a:txBody>
                  <a:tcPr/>
                </a:tc>
                <a:tc>
                  <a:txBody>
                    <a:bodyPr/>
                    <a:lstStyle/>
                    <a:p>
                      <a:pPr latinLnBrk="1"/>
                      <a:r>
                        <a:rPr lang="en-US" altLang="ko-KR" sz="1050" dirty="0">
                          <a:latin typeface="Arial" panose="020B0604020202020204" pitchFamily="34" charset="0"/>
                          <a:cs typeface="Arial" panose="020B0604020202020204" pitchFamily="34" charset="0"/>
                        </a:rPr>
                        <a:t>S</a:t>
                      </a:r>
                      <a:r>
                        <a:rPr lang="en-US" altLang="ko-KR" sz="1050" baseline="0" dirty="0">
                          <a:latin typeface="Arial" panose="020B0604020202020204" pitchFamily="34" charset="0"/>
                          <a:cs typeface="Arial" panose="020B0604020202020204" pitchFamily="34" charset="0"/>
                        </a:rPr>
                        <a:t>RC PORT</a:t>
                      </a:r>
                      <a:endParaRPr lang="ko-KR" altLang="en-US" sz="1050" dirty="0">
                        <a:latin typeface="Arial" panose="020B0604020202020204" pitchFamily="34" charset="0"/>
                        <a:cs typeface="Arial" panose="020B0604020202020204" pitchFamily="34" charset="0"/>
                      </a:endParaRPr>
                    </a:p>
                  </a:txBody>
                  <a:tcPr/>
                </a:tc>
                <a:tc>
                  <a:txBody>
                    <a:bodyPr/>
                    <a:lstStyle/>
                    <a:p>
                      <a:pPr latinLnBrk="1"/>
                      <a:r>
                        <a:rPr lang="en-US" altLang="ko-KR" sz="1050" dirty="0">
                          <a:latin typeface="Arial" panose="020B0604020202020204" pitchFamily="34" charset="0"/>
                          <a:cs typeface="Arial" panose="020B0604020202020204" pitchFamily="34" charset="0"/>
                        </a:rPr>
                        <a:t>DST PORT</a:t>
                      </a:r>
                      <a:endParaRPr lang="ko-KR" altLang="en-US" sz="10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152024">
                <a:tc>
                  <a:txBody>
                    <a:bodyPr/>
                    <a:lstStyle/>
                    <a:p>
                      <a:pPr latinLnBrk="1"/>
                      <a:r>
                        <a:rPr lang="en-US" altLang="ko-KR" sz="1200" dirty="0">
                          <a:latin typeface="Arial" panose="020B0604020202020204" pitchFamily="34" charset="0"/>
                          <a:cs typeface="Arial" panose="020B0604020202020204" pitchFamily="34" charset="0"/>
                        </a:rPr>
                        <a:t>153</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sw.</a:t>
                      </a:r>
                      <a:r>
                        <a:rPr lang="en-US" altLang="ko-KR" sz="1200" baseline="0" dirty="0">
                          <a:latin typeface="Arial" panose="020B0604020202020204" pitchFamily="34" charset="0"/>
                          <a:cs typeface="Arial" panose="020B0604020202020204" pitchFamily="34" charset="0"/>
                        </a:rPr>
                        <a:t> A</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sw. B</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p2</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p1</a:t>
                      </a:r>
                      <a:endParaRPr lang="ko-KR" alt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52024">
                <a:tc>
                  <a:txBody>
                    <a:bodyPr/>
                    <a:lstStyle/>
                    <a:p>
                      <a:pPr latinLnBrk="1"/>
                      <a:r>
                        <a:rPr lang="en-US" altLang="ko-KR" sz="1200" dirty="0">
                          <a:latin typeface="Arial" panose="020B0604020202020204" pitchFamily="34" charset="0"/>
                          <a:cs typeface="Arial" panose="020B0604020202020204" pitchFamily="34" charset="0"/>
                        </a:rPr>
                        <a:t>…</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a:t>
                      </a:r>
                      <a:endParaRPr lang="ko-KR" alt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152024">
                <a:tc>
                  <a:txBody>
                    <a:bodyPr/>
                    <a:lstStyle/>
                    <a:p>
                      <a:pPr latinLnBrk="1"/>
                      <a:r>
                        <a:rPr lang="en-US" altLang="ko-KR" sz="1200" dirty="0">
                          <a:latin typeface="Arial" panose="020B0604020202020204" pitchFamily="34" charset="0"/>
                          <a:cs typeface="Arial" panose="020B0604020202020204" pitchFamily="34" charset="0"/>
                        </a:rPr>
                        <a:t>357</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sw. B</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sw. A</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P1</a:t>
                      </a:r>
                      <a:endParaRPr lang="ko-KR" altLang="en-US" sz="1200" dirty="0">
                        <a:latin typeface="Arial" panose="020B0604020202020204" pitchFamily="34" charset="0"/>
                        <a:cs typeface="Arial" panose="020B0604020202020204" pitchFamily="34" charset="0"/>
                      </a:endParaRPr>
                    </a:p>
                  </a:txBody>
                  <a:tcPr/>
                </a:tc>
                <a:tc>
                  <a:txBody>
                    <a:bodyPr/>
                    <a:lstStyle/>
                    <a:p>
                      <a:pPr latinLnBrk="1"/>
                      <a:r>
                        <a:rPr lang="en-US" altLang="ko-KR" sz="1200" dirty="0">
                          <a:latin typeface="Arial" panose="020B0604020202020204" pitchFamily="34" charset="0"/>
                          <a:cs typeface="Arial" panose="020B0604020202020204" pitchFamily="34" charset="0"/>
                        </a:rPr>
                        <a:t>p2</a:t>
                      </a:r>
                      <a:endParaRPr lang="ko-KR" alt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23" name="TextBox 22"/>
          <p:cNvSpPr txBox="1"/>
          <p:nvPr/>
        </p:nvSpPr>
        <p:spPr>
          <a:xfrm>
            <a:off x="4183248" y="5273289"/>
            <a:ext cx="383438" cy="307777"/>
          </a:xfrm>
          <a:prstGeom prst="rect">
            <a:avLst/>
          </a:prstGeom>
          <a:noFill/>
        </p:spPr>
        <p:txBody>
          <a:bodyPr wrap="none" rtlCol="0">
            <a:spAutoFit/>
          </a:bodyPr>
          <a:lstStyle/>
          <a:p>
            <a:r>
              <a:rPr lang="en-US" altLang="ko-KR" sz="1400" dirty="0">
                <a:latin typeface="Arial" panose="020B0604020202020204" pitchFamily="34" charset="0"/>
                <a:cs typeface="Arial" panose="020B0604020202020204" pitchFamily="34" charset="0"/>
              </a:rPr>
              <a:t>p1</a:t>
            </a:r>
            <a:endParaRPr lang="ko-KR" altLang="en-US" sz="1400" dirty="0">
              <a:latin typeface="Arial" panose="020B0604020202020204" pitchFamily="34" charset="0"/>
              <a:cs typeface="Arial" panose="020B0604020202020204" pitchFamily="34" charset="0"/>
            </a:endParaRPr>
          </a:p>
        </p:txBody>
      </p:sp>
      <p:sp>
        <p:nvSpPr>
          <p:cNvPr id="24" name="TextBox 23"/>
          <p:cNvSpPr txBox="1"/>
          <p:nvPr/>
        </p:nvSpPr>
        <p:spPr>
          <a:xfrm>
            <a:off x="4673600" y="6012016"/>
            <a:ext cx="383438" cy="307777"/>
          </a:xfrm>
          <a:prstGeom prst="rect">
            <a:avLst/>
          </a:prstGeom>
          <a:noFill/>
        </p:spPr>
        <p:txBody>
          <a:bodyPr wrap="none" rtlCol="0">
            <a:spAutoFit/>
          </a:bodyPr>
          <a:lstStyle/>
          <a:p>
            <a:r>
              <a:rPr lang="en-US" altLang="ko-KR" sz="1400" dirty="0">
                <a:latin typeface="Arial" panose="020B0604020202020204" pitchFamily="34" charset="0"/>
                <a:cs typeface="Arial" panose="020B0604020202020204" pitchFamily="34" charset="0"/>
              </a:rPr>
              <a:t>p2</a:t>
            </a:r>
            <a:endParaRPr lang="ko-KR" altLang="en-US" sz="1400" dirty="0">
              <a:latin typeface="Arial" panose="020B0604020202020204" pitchFamily="34" charset="0"/>
              <a:cs typeface="Arial" panose="020B0604020202020204" pitchFamily="34" charset="0"/>
            </a:endParaRPr>
          </a:p>
        </p:txBody>
      </p:sp>
      <p:sp>
        <p:nvSpPr>
          <p:cNvPr id="25" name="TextBox 24"/>
          <p:cNvSpPr txBox="1"/>
          <p:nvPr/>
        </p:nvSpPr>
        <p:spPr>
          <a:xfrm>
            <a:off x="5744176" y="5987887"/>
            <a:ext cx="383438" cy="307777"/>
          </a:xfrm>
          <a:prstGeom prst="rect">
            <a:avLst/>
          </a:prstGeom>
          <a:noFill/>
        </p:spPr>
        <p:txBody>
          <a:bodyPr wrap="none" rtlCol="0">
            <a:spAutoFit/>
          </a:bodyPr>
          <a:lstStyle/>
          <a:p>
            <a:r>
              <a:rPr lang="en-US" altLang="ko-KR" sz="1400" dirty="0">
                <a:latin typeface="Arial" panose="020B0604020202020204" pitchFamily="34" charset="0"/>
                <a:cs typeface="Arial" panose="020B0604020202020204" pitchFamily="34" charset="0"/>
              </a:rPr>
              <a:t>p1</a:t>
            </a:r>
            <a:endParaRPr lang="ko-KR" altLang="en-US" sz="1400" dirty="0">
              <a:latin typeface="Arial" panose="020B0604020202020204" pitchFamily="34" charset="0"/>
              <a:cs typeface="Arial" panose="020B0604020202020204" pitchFamily="34" charset="0"/>
            </a:endParaRPr>
          </a:p>
        </p:txBody>
      </p:sp>
      <p:sp>
        <p:nvSpPr>
          <p:cNvPr id="26" name="TextBox 25"/>
          <p:cNvSpPr txBox="1"/>
          <p:nvPr/>
        </p:nvSpPr>
        <p:spPr>
          <a:xfrm>
            <a:off x="6127614" y="5273290"/>
            <a:ext cx="383438" cy="307777"/>
          </a:xfrm>
          <a:prstGeom prst="rect">
            <a:avLst/>
          </a:prstGeom>
          <a:noFill/>
        </p:spPr>
        <p:txBody>
          <a:bodyPr wrap="none" rtlCol="0">
            <a:spAutoFit/>
          </a:bodyPr>
          <a:lstStyle/>
          <a:p>
            <a:r>
              <a:rPr lang="en-US" altLang="ko-KR" sz="1400" dirty="0">
                <a:latin typeface="Arial" panose="020B0604020202020204" pitchFamily="34" charset="0"/>
                <a:cs typeface="Arial" panose="020B0604020202020204" pitchFamily="34" charset="0"/>
              </a:rPr>
              <a:t>p2</a:t>
            </a:r>
            <a:endParaRPr lang="ko-KR" altLang="en-US" sz="1400" dirty="0">
              <a:latin typeface="Arial" panose="020B0604020202020204" pitchFamily="34" charset="0"/>
              <a:cs typeface="Arial" panose="020B0604020202020204" pitchFamily="34" charset="0"/>
            </a:endParaRPr>
          </a:p>
        </p:txBody>
      </p:sp>
      <p:pic>
        <p:nvPicPr>
          <p:cNvPr id="27" name="Picture 5" descr="ICON_NetworkSwitch_Q308"/>
          <p:cNvPicPr>
            <a:picLocks noChangeAspect="1" noChangeArrowheads="1"/>
          </p:cNvPicPr>
          <p:nvPr/>
        </p:nvPicPr>
        <p:blipFill>
          <a:blip r:embed="rId4"/>
          <a:srcRect/>
          <a:stretch>
            <a:fillRect/>
          </a:stretch>
        </p:blipFill>
        <p:spPr bwMode="auto">
          <a:xfrm>
            <a:off x="4112157" y="5504590"/>
            <a:ext cx="884564" cy="630778"/>
          </a:xfrm>
          <a:prstGeom prst="rect">
            <a:avLst/>
          </a:prstGeom>
          <a:noFill/>
          <a:ln w="9525">
            <a:noFill/>
            <a:miter lim="800000"/>
            <a:headEnd/>
            <a:tailEnd/>
          </a:ln>
        </p:spPr>
      </p:pic>
      <p:pic>
        <p:nvPicPr>
          <p:cNvPr id="28" name="Picture 5" descr="ICON_NetworkSwitch_Q308"/>
          <p:cNvPicPr>
            <a:picLocks noChangeAspect="1" noChangeArrowheads="1"/>
          </p:cNvPicPr>
          <p:nvPr/>
        </p:nvPicPr>
        <p:blipFill>
          <a:blip r:embed="rId4"/>
          <a:srcRect/>
          <a:stretch>
            <a:fillRect/>
          </a:stretch>
        </p:blipFill>
        <p:spPr bwMode="auto">
          <a:xfrm>
            <a:off x="5817693" y="5508740"/>
            <a:ext cx="884564" cy="630778"/>
          </a:xfrm>
          <a:prstGeom prst="rect">
            <a:avLst/>
          </a:prstGeom>
          <a:noFill/>
          <a:ln w="9525">
            <a:noFill/>
            <a:miter lim="800000"/>
            <a:headEnd/>
            <a:tailEnd/>
          </a:ln>
        </p:spPr>
      </p:pic>
    </p:spTree>
    <p:extLst>
      <p:ext uri="{BB962C8B-B14F-4D97-AF65-F5344CB8AC3E}">
        <p14:creationId xmlns:p14="http://schemas.microsoft.com/office/powerpoint/2010/main" val="390907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852265" y="-126063"/>
            <a:ext cx="10515600" cy="931725"/>
          </a:xfrm>
        </p:spPr>
        <p:txBody>
          <a:bodyPr/>
          <a:lstStyle/>
          <a:p>
            <a:r>
              <a:rPr lang="en-US" altLang="ko-KR" dirty="0" err="1"/>
              <a:t>OpenFlow</a:t>
            </a:r>
            <a:r>
              <a:rPr lang="en-US" altLang="ko-KR" dirty="0"/>
              <a:t> Group Table</a:t>
            </a:r>
            <a:endParaRPr lang="ko-KR" altLang="en-US" dirty="0"/>
          </a:p>
        </p:txBody>
      </p:sp>
      <p:sp>
        <p:nvSpPr>
          <p:cNvPr id="3" name="내용 개체 틀 2"/>
          <p:cNvSpPr>
            <a:spLocks noGrp="1"/>
          </p:cNvSpPr>
          <p:nvPr>
            <p:ph idx="1"/>
          </p:nvPr>
        </p:nvSpPr>
        <p:spPr>
          <a:xfrm>
            <a:off x="1757528" y="861077"/>
            <a:ext cx="8512822" cy="2025692"/>
          </a:xfrm>
        </p:spPr>
        <p:txBody>
          <a:bodyPr/>
          <a:lstStyle/>
          <a:p>
            <a:r>
              <a:rPr lang="en-US" altLang="ko-KR" sz="2400" dirty="0"/>
              <a:t>Group Table &amp; Types (version 1.1)</a:t>
            </a:r>
          </a:p>
          <a:p>
            <a:pPr lvl="1"/>
            <a:r>
              <a:rPr lang="en-US" altLang="ko-KR" sz="2000" dirty="0"/>
              <a:t>All: multicast</a:t>
            </a:r>
          </a:p>
          <a:p>
            <a:pPr lvl="1"/>
            <a:r>
              <a:rPr lang="en-US" altLang="ko-KR" sz="2000" dirty="0"/>
              <a:t>Select: load sharing</a:t>
            </a:r>
          </a:p>
          <a:p>
            <a:pPr lvl="1"/>
            <a:r>
              <a:rPr lang="en-US" altLang="ko-KR" sz="2000" dirty="0"/>
              <a:t>Indirect: simple indirection</a:t>
            </a:r>
          </a:p>
          <a:p>
            <a:pPr lvl="1"/>
            <a:r>
              <a:rPr lang="en-US" altLang="ko-KR" sz="2000" dirty="0"/>
              <a:t>Fast-failover: rerouting</a:t>
            </a:r>
          </a:p>
          <a:p>
            <a:endParaRPr lang="ko-KR" altLang="en-US" dirty="0"/>
          </a:p>
        </p:txBody>
      </p:sp>
      <p:grpSp>
        <p:nvGrpSpPr>
          <p:cNvPr id="4" name="그룹 3"/>
          <p:cNvGrpSpPr/>
          <p:nvPr/>
        </p:nvGrpSpPr>
        <p:grpSpPr>
          <a:xfrm>
            <a:off x="5600764" y="1098017"/>
            <a:ext cx="4922654" cy="2141324"/>
            <a:chOff x="791581" y="4909586"/>
            <a:chExt cx="2952328" cy="1682497"/>
          </a:xfrm>
        </p:grpSpPr>
        <p:sp>
          <p:nvSpPr>
            <p:cNvPr id="5" name="모서리가 둥근 직사각형 4"/>
            <p:cNvSpPr/>
            <p:nvPr/>
          </p:nvSpPr>
          <p:spPr>
            <a:xfrm>
              <a:off x="886817" y="5716170"/>
              <a:ext cx="2666619" cy="875913"/>
            </a:xfrm>
            <a:prstGeom prst="roundRect">
              <a:avLst>
                <a:gd name="adj" fmla="val 6399"/>
              </a:avLst>
            </a:prstGeom>
            <a:solidFill>
              <a:srgbClr val="FFECD9"/>
            </a:solidFill>
            <a:ln w="952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latin typeface="Arial" panose="020B0604020202020204" pitchFamily="34" charset="0"/>
                <a:cs typeface="Arial" panose="020B0604020202020204" pitchFamily="34" charset="0"/>
              </a:endParaRPr>
            </a:p>
          </p:txBody>
        </p:sp>
        <p:sp>
          <p:nvSpPr>
            <p:cNvPr id="6" name="직사각형 5"/>
            <p:cNvSpPr/>
            <p:nvPr/>
          </p:nvSpPr>
          <p:spPr>
            <a:xfrm>
              <a:off x="1172527" y="5966431"/>
              <a:ext cx="476182" cy="312826"/>
            </a:xfrm>
            <a:prstGeom prst="rect">
              <a:avLst/>
            </a:prstGeom>
            <a:solidFill>
              <a:srgbClr val="C6E6E8"/>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Arial" panose="020B0604020202020204" pitchFamily="34" charset="0"/>
                  <a:cs typeface="Arial" panose="020B0604020202020204" pitchFamily="34" charset="0"/>
                </a:rPr>
                <a:t>Table 0</a:t>
              </a:r>
              <a:endParaRPr lang="ko-KR" altLang="en-US" sz="1200" b="1" dirty="0">
                <a:solidFill>
                  <a:schemeClr val="tx1"/>
                </a:solidFill>
                <a:latin typeface="Arial" panose="020B0604020202020204" pitchFamily="34" charset="0"/>
                <a:cs typeface="Arial" panose="020B0604020202020204" pitchFamily="34" charset="0"/>
              </a:endParaRPr>
            </a:p>
          </p:txBody>
        </p:sp>
        <p:sp>
          <p:nvSpPr>
            <p:cNvPr id="7" name="직사각형 6"/>
            <p:cNvSpPr/>
            <p:nvPr/>
          </p:nvSpPr>
          <p:spPr>
            <a:xfrm>
              <a:off x="1172527" y="6279257"/>
              <a:ext cx="476182" cy="218978"/>
            </a:xfrm>
            <a:prstGeom prst="rect">
              <a:avLst/>
            </a:prstGeom>
            <a:solidFill>
              <a:srgbClr val="FFECD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a:solidFill>
                    <a:schemeClr val="tx1"/>
                  </a:solidFill>
                  <a:latin typeface="Arial" panose="020B0604020202020204" pitchFamily="34" charset="0"/>
                  <a:cs typeface="Arial" panose="020B0604020202020204" pitchFamily="34" charset="0"/>
                </a:rPr>
                <a:t>Instruction/Action</a:t>
              </a:r>
              <a:endParaRPr lang="ko-KR" altLang="en-US" sz="1000" dirty="0">
                <a:solidFill>
                  <a:schemeClr val="tx1"/>
                </a:solidFill>
                <a:latin typeface="Arial" panose="020B0604020202020204" pitchFamily="34" charset="0"/>
                <a:cs typeface="Arial" panose="020B0604020202020204" pitchFamily="34" charset="0"/>
              </a:endParaRPr>
            </a:p>
          </p:txBody>
        </p:sp>
        <p:sp>
          <p:nvSpPr>
            <p:cNvPr id="8" name="직사각형 7"/>
            <p:cNvSpPr/>
            <p:nvPr/>
          </p:nvSpPr>
          <p:spPr>
            <a:xfrm>
              <a:off x="1791563" y="5966431"/>
              <a:ext cx="476182" cy="312826"/>
            </a:xfrm>
            <a:prstGeom prst="rect">
              <a:avLst/>
            </a:prstGeom>
            <a:solidFill>
              <a:srgbClr val="C6E6E8"/>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Arial" panose="020B0604020202020204" pitchFamily="34" charset="0"/>
                  <a:cs typeface="Arial" panose="020B0604020202020204" pitchFamily="34" charset="0"/>
                </a:rPr>
                <a:t>Table 1</a:t>
              </a:r>
              <a:endParaRPr lang="ko-KR" altLang="en-US" sz="1200" b="1" dirty="0">
                <a:solidFill>
                  <a:schemeClr val="tx1"/>
                </a:solidFill>
                <a:latin typeface="Arial" panose="020B0604020202020204" pitchFamily="34" charset="0"/>
                <a:cs typeface="Arial" panose="020B0604020202020204" pitchFamily="34" charset="0"/>
              </a:endParaRPr>
            </a:p>
          </p:txBody>
        </p:sp>
        <p:sp>
          <p:nvSpPr>
            <p:cNvPr id="9" name="직사각형 8"/>
            <p:cNvSpPr/>
            <p:nvPr/>
          </p:nvSpPr>
          <p:spPr>
            <a:xfrm>
              <a:off x="1791563" y="6279257"/>
              <a:ext cx="476182" cy="218978"/>
            </a:xfrm>
            <a:prstGeom prst="rect">
              <a:avLst/>
            </a:prstGeom>
            <a:solidFill>
              <a:srgbClr val="FFECD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a:solidFill>
                    <a:schemeClr val="tx1"/>
                  </a:solidFill>
                  <a:latin typeface="Arial" panose="020B0604020202020204" pitchFamily="34" charset="0"/>
                  <a:cs typeface="Arial" panose="020B0604020202020204" pitchFamily="34" charset="0"/>
                </a:rPr>
                <a:t>Instruction/Action</a:t>
              </a:r>
            </a:p>
          </p:txBody>
        </p:sp>
        <p:sp>
          <p:nvSpPr>
            <p:cNvPr id="10" name="직사각형 9"/>
            <p:cNvSpPr/>
            <p:nvPr/>
          </p:nvSpPr>
          <p:spPr>
            <a:xfrm>
              <a:off x="2886782" y="5966431"/>
              <a:ext cx="476182" cy="312826"/>
            </a:xfrm>
            <a:prstGeom prst="rect">
              <a:avLst/>
            </a:prstGeom>
            <a:solidFill>
              <a:srgbClr val="C6E6E8"/>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Arial" panose="020B0604020202020204" pitchFamily="34" charset="0"/>
                  <a:cs typeface="Arial" panose="020B0604020202020204" pitchFamily="34" charset="0"/>
                </a:rPr>
                <a:t>Table n</a:t>
              </a:r>
              <a:endParaRPr lang="ko-KR" altLang="en-US" sz="1200" b="1" dirty="0">
                <a:solidFill>
                  <a:schemeClr val="tx1"/>
                </a:solidFill>
                <a:latin typeface="Arial" panose="020B0604020202020204" pitchFamily="34" charset="0"/>
                <a:cs typeface="Arial" panose="020B0604020202020204" pitchFamily="34" charset="0"/>
              </a:endParaRPr>
            </a:p>
          </p:txBody>
        </p:sp>
        <p:sp>
          <p:nvSpPr>
            <p:cNvPr id="11" name="직사각형 10"/>
            <p:cNvSpPr/>
            <p:nvPr/>
          </p:nvSpPr>
          <p:spPr>
            <a:xfrm>
              <a:off x="2886782" y="6279257"/>
              <a:ext cx="476182" cy="218978"/>
            </a:xfrm>
            <a:prstGeom prst="rect">
              <a:avLst/>
            </a:prstGeom>
            <a:solidFill>
              <a:srgbClr val="FFECD9"/>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a:solidFill>
                    <a:schemeClr val="tx1"/>
                  </a:solidFill>
                  <a:latin typeface="Arial" panose="020B0604020202020204" pitchFamily="34" charset="0"/>
                  <a:cs typeface="Arial" panose="020B0604020202020204" pitchFamily="34" charset="0"/>
                </a:rPr>
                <a:t>Instruction/Action</a:t>
              </a:r>
              <a:endParaRPr lang="ko-KR" altLang="en-US" sz="1000" dirty="0">
                <a:solidFill>
                  <a:schemeClr val="tx1"/>
                </a:solidFill>
                <a:latin typeface="Arial" panose="020B0604020202020204" pitchFamily="34" charset="0"/>
                <a:cs typeface="Arial" panose="020B0604020202020204" pitchFamily="34" charset="0"/>
              </a:endParaRPr>
            </a:p>
          </p:txBody>
        </p:sp>
        <p:sp>
          <p:nvSpPr>
            <p:cNvPr id="12" name="TextBox 11"/>
            <p:cNvSpPr txBox="1"/>
            <p:nvPr/>
          </p:nvSpPr>
          <p:spPr>
            <a:xfrm>
              <a:off x="2374886" y="5877072"/>
              <a:ext cx="452373" cy="314377"/>
            </a:xfrm>
            <a:prstGeom prst="rect">
              <a:avLst/>
            </a:prstGeom>
            <a:solidFill>
              <a:srgbClr val="FFECD9"/>
            </a:solidFill>
          </p:spPr>
          <p:txBody>
            <a:bodyPr wrap="square" rtlCol="0">
              <a:spAutoFit/>
            </a:bodyPr>
            <a:lstStyle/>
            <a:p>
              <a:r>
                <a:rPr lang="en-US" altLang="ko-KR" sz="2000" b="1" dirty="0">
                  <a:latin typeface="Arial" panose="020B0604020202020204" pitchFamily="34" charset="0"/>
                  <a:cs typeface="Arial" panose="020B0604020202020204" pitchFamily="34" charset="0"/>
                </a:rPr>
                <a:t>……</a:t>
              </a:r>
              <a:endParaRPr lang="ko-KR" altLang="en-US" sz="2000" b="1" dirty="0">
                <a:latin typeface="Arial" panose="020B0604020202020204" pitchFamily="34" charset="0"/>
                <a:cs typeface="Arial" panose="020B0604020202020204" pitchFamily="34" charset="0"/>
              </a:endParaRPr>
            </a:p>
          </p:txBody>
        </p:sp>
        <p:cxnSp>
          <p:nvCxnSpPr>
            <p:cNvPr id="13" name="직선 화살표 연결선 12"/>
            <p:cNvCxnSpPr>
              <a:endCxn id="6" idx="1"/>
            </p:cNvCxnSpPr>
            <p:nvPr/>
          </p:nvCxnSpPr>
          <p:spPr>
            <a:xfrm>
              <a:off x="791581" y="6122844"/>
              <a:ext cx="380946" cy="0"/>
            </a:xfrm>
            <a:prstGeom prst="straightConnector1">
              <a:avLst/>
            </a:prstGeom>
            <a:solidFill>
              <a:srgbClr val="FFECD9"/>
            </a:solidFill>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직선 화살표 연결선 13"/>
            <p:cNvCxnSpPr/>
            <p:nvPr/>
          </p:nvCxnSpPr>
          <p:spPr>
            <a:xfrm>
              <a:off x="3362963" y="6122844"/>
              <a:ext cx="380946" cy="0"/>
            </a:xfrm>
            <a:prstGeom prst="straightConnector1">
              <a:avLst/>
            </a:prstGeom>
            <a:solidFill>
              <a:srgbClr val="FFECD9"/>
            </a:solidFill>
            <a:ln w="28575">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사다리꼴 14"/>
            <p:cNvSpPr/>
            <p:nvPr/>
          </p:nvSpPr>
          <p:spPr>
            <a:xfrm flipV="1">
              <a:off x="2327268" y="4941168"/>
              <a:ext cx="1178550" cy="625652"/>
            </a:xfrm>
            <a:prstGeom prst="trapezoid">
              <a:avLst/>
            </a:prstGeom>
            <a:solidFill>
              <a:srgbClr val="FFECD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latin typeface="Arial" panose="020B0604020202020204" pitchFamily="34" charset="0"/>
                <a:cs typeface="Arial" panose="020B0604020202020204" pitchFamily="34" charset="0"/>
              </a:endParaRPr>
            </a:p>
          </p:txBody>
        </p:sp>
        <p:grpSp>
          <p:nvGrpSpPr>
            <p:cNvPr id="16" name="그룹 37"/>
            <p:cNvGrpSpPr/>
            <p:nvPr/>
          </p:nvGrpSpPr>
          <p:grpSpPr>
            <a:xfrm>
              <a:off x="2696313" y="5116958"/>
              <a:ext cx="632660" cy="338559"/>
              <a:chOff x="7740352" y="2956777"/>
              <a:chExt cx="956705" cy="779317"/>
            </a:xfrm>
            <a:solidFill>
              <a:srgbClr val="FFECD9"/>
            </a:solidFill>
          </p:grpSpPr>
          <p:sp>
            <p:nvSpPr>
              <p:cNvPr id="20" name="사다리꼴 19"/>
              <p:cNvSpPr/>
              <p:nvPr/>
            </p:nvSpPr>
            <p:spPr>
              <a:xfrm flipV="1">
                <a:off x="7740352" y="2996952"/>
                <a:ext cx="956705" cy="674802"/>
              </a:xfrm>
              <a:prstGeom prst="trapezoid">
                <a:avLst/>
              </a:prstGeom>
              <a:solidFill>
                <a:srgbClr val="AFDC7E"/>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latin typeface="Arial" panose="020B0604020202020204" pitchFamily="34" charset="0"/>
                  <a:cs typeface="Arial" panose="020B0604020202020204" pitchFamily="34" charset="0"/>
                </a:endParaRPr>
              </a:p>
            </p:txBody>
          </p:sp>
          <p:sp>
            <p:nvSpPr>
              <p:cNvPr id="21" name="TextBox 20"/>
              <p:cNvSpPr txBox="1"/>
              <p:nvPr/>
            </p:nvSpPr>
            <p:spPr>
              <a:xfrm>
                <a:off x="7911036" y="2956777"/>
                <a:ext cx="648072" cy="779317"/>
              </a:xfrm>
              <a:prstGeom prst="rect">
                <a:avLst/>
              </a:prstGeom>
              <a:noFill/>
            </p:spPr>
            <p:txBody>
              <a:bodyPr wrap="square" rtlCol="0">
                <a:spAutoFit/>
              </a:bodyPr>
              <a:lstStyle/>
              <a:p>
                <a:r>
                  <a:rPr lang="en-US" altLang="ko-KR" sz="1100" b="1" dirty="0">
                    <a:latin typeface="Arial" panose="020B0604020202020204" pitchFamily="34" charset="0"/>
                    <a:cs typeface="Arial" panose="020B0604020202020204" pitchFamily="34" charset="0"/>
                  </a:rPr>
                  <a:t>Action</a:t>
                </a:r>
              </a:p>
              <a:p>
                <a:r>
                  <a:rPr lang="en-US" altLang="ko-KR" sz="1100" b="1" dirty="0">
                    <a:latin typeface="Arial" panose="020B0604020202020204" pitchFamily="34" charset="0"/>
                    <a:cs typeface="Arial" panose="020B0604020202020204" pitchFamily="34" charset="0"/>
                  </a:rPr>
                  <a:t>Bucket</a:t>
                </a:r>
                <a:endParaRPr lang="ko-KR" altLang="en-US" sz="1100" b="1" dirty="0">
                  <a:latin typeface="Arial" panose="020B0604020202020204" pitchFamily="34" charset="0"/>
                  <a:cs typeface="Arial" panose="020B0604020202020204" pitchFamily="34" charset="0"/>
                </a:endParaRPr>
              </a:p>
            </p:txBody>
          </p:sp>
        </p:grpSp>
        <p:sp>
          <p:nvSpPr>
            <p:cNvPr id="17" name="TextBox 16"/>
            <p:cNvSpPr txBox="1"/>
            <p:nvPr/>
          </p:nvSpPr>
          <p:spPr>
            <a:xfrm>
              <a:off x="2390045" y="4909586"/>
              <a:ext cx="857127" cy="266011"/>
            </a:xfrm>
            <a:prstGeom prst="rect">
              <a:avLst/>
            </a:prstGeom>
            <a:noFill/>
            <a:ln>
              <a:noFill/>
            </a:ln>
          </p:spPr>
          <p:txBody>
            <a:bodyPr wrap="square" rtlCol="0">
              <a:spAutoFit/>
            </a:bodyPr>
            <a:lstStyle/>
            <a:p>
              <a:r>
                <a:rPr lang="en-US" altLang="ko-KR" sz="1600" b="1" dirty="0">
                  <a:latin typeface="Arial" panose="020B0604020202020204" pitchFamily="34" charset="0"/>
                  <a:cs typeface="Arial" panose="020B0604020202020204" pitchFamily="34" charset="0"/>
                </a:rPr>
                <a:t>Group Table</a:t>
              </a:r>
              <a:endParaRPr lang="ko-KR" altLang="en-US" sz="1600" b="1" dirty="0">
                <a:latin typeface="Arial" panose="020B0604020202020204" pitchFamily="34" charset="0"/>
                <a:cs typeface="Arial" panose="020B0604020202020204" pitchFamily="34" charset="0"/>
              </a:endParaRPr>
            </a:p>
          </p:txBody>
        </p:sp>
        <p:cxnSp>
          <p:nvCxnSpPr>
            <p:cNvPr id="18" name="꺾인 연결선 17"/>
            <p:cNvCxnSpPr>
              <a:stCxn id="8" idx="0"/>
              <a:endCxn id="17" idx="0"/>
            </p:cNvCxnSpPr>
            <p:nvPr/>
          </p:nvCxnSpPr>
          <p:spPr>
            <a:xfrm rot="5400000" flipH="1" flipV="1">
              <a:off x="1895709" y="5043531"/>
              <a:ext cx="1056845" cy="788955"/>
            </a:xfrm>
            <a:prstGeom prst="bentConnector3">
              <a:avLst>
                <a:gd name="adj1" fmla="val 116996"/>
              </a:avLst>
            </a:prstGeom>
            <a:solidFill>
              <a:srgbClr val="FFECD9"/>
            </a:solidFill>
            <a:ln w="28575">
              <a:solidFill>
                <a:schemeClr val="accent2">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직선 화살표 연결선 18"/>
            <p:cNvCxnSpPr/>
            <p:nvPr/>
          </p:nvCxnSpPr>
          <p:spPr>
            <a:xfrm>
              <a:off x="3101063" y="5545818"/>
              <a:ext cx="0" cy="429380"/>
            </a:xfrm>
            <a:prstGeom prst="straightConnector1">
              <a:avLst/>
            </a:prstGeom>
            <a:solidFill>
              <a:srgbClr val="FFECD9"/>
            </a:solidFill>
            <a:ln w="28575">
              <a:solidFill>
                <a:schemeClr val="accent2">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37" name="그룹 36"/>
          <p:cNvGrpSpPr/>
          <p:nvPr/>
        </p:nvGrpSpPr>
        <p:grpSpPr>
          <a:xfrm>
            <a:off x="5659990" y="3657919"/>
            <a:ext cx="5161492" cy="2050177"/>
            <a:chOff x="4693642" y="5034961"/>
            <a:chExt cx="3532643" cy="1403188"/>
          </a:xfrm>
        </p:grpSpPr>
        <p:sp>
          <p:nvSpPr>
            <p:cNvPr id="22" name="Rectangle 22"/>
            <p:cNvSpPr>
              <a:spLocks/>
            </p:cNvSpPr>
            <p:nvPr/>
          </p:nvSpPr>
          <p:spPr bwMode="auto">
            <a:xfrm>
              <a:off x="4744657" y="6016020"/>
              <a:ext cx="769278" cy="243077"/>
            </a:xfrm>
            <a:prstGeom prst="rect">
              <a:avLst/>
            </a:prstGeom>
            <a:solidFill>
              <a:schemeClr val="accent5">
                <a:lumMod val="40000"/>
                <a:lumOff val="60000"/>
              </a:schemeClr>
            </a:solidFill>
            <a:ln w="12700">
              <a:solidFill>
                <a:schemeClr val="tx1"/>
              </a:solidFill>
              <a:miter lim="800000"/>
              <a:headEnd/>
              <a:tailEnd/>
            </a:ln>
          </p:spPr>
          <p:txBody>
            <a:bodyPr wrap="none" lIns="0" tIns="0" rIns="0" bIns="0" anchor="ctr" anchorCtr="1"/>
            <a:lstStyle/>
            <a:p>
              <a:pPr defTabSz="457200"/>
              <a:r>
                <a:rPr lang="en-US" altLang="ko-KR" sz="1400" dirty="0">
                  <a:latin typeface="Arial" panose="020B0604020202020204" pitchFamily="34" charset="0"/>
                  <a:cs typeface="Arial" panose="020B0604020202020204" pitchFamily="34" charset="0"/>
                </a:rPr>
                <a:t>Match field</a:t>
              </a:r>
              <a:endParaRPr lang="ko-KR" altLang="ko-KR" sz="1400" dirty="0">
                <a:latin typeface="Arial" panose="020B0604020202020204" pitchFamily="34" charset="0"/>
                <a:cs typeface="Arial" panose="020B0604020202020204" pitchFamily="34" charset="0"/>
              </a:endParaRPr>
            </a:p>
          </p:txBody>
        </p:sp>
        <p:sp>
          <p:nvSpPr>
            <p:cNvPr id="23" name="Rectangle 24"/>
            <p:cNvSpPr>
              <a:spLocks/>
            </p:cNvSpPr>
            <p:nvPr/>
          </p:nvSpPr>
          <p:spPr bwMode="auto">
            <a:xfrm>
              <a:off x="5513935" y="6016020"/>
              <a:ext cx="769278" cy="243077"/>
            </a:xfrm>
            <a:prstGeom prst="rect">
              <a:avLst/>
            </a:prstGeom>
            <a:solidFill>
              <a:srgbClr val="FFFF61"/>
            </a:solidFill>
            <a:ln w="12700">
              <a:solidFill>
                <a:srgbClr val="697D3A"/>
              </a:solidFill>
              <a:miter lim="800000"/>
              <a:headEnd/>
              <a:tailEnd/>
            </a:ln>
          </p:spPr>
          <p:txBody>
            <a:bodyPr wrap="none" lIns="0" tIns="0" rIns="0" bIns="0" anchor="ctr" anchorCtr="1"/>
            <a:lstStyle/>
            <a:p>
              <a:pPr defTabSz="457200"/>
              <a:r>
                <a:rPr lang="en-US" altLang="ko-KR" sz="1400" dirty="0">
                  <a:latin typeface="Arial" panose="020B0604020202020204" pitchFamily="34" charset="0"/>
                  <a:cs typeface="Arial" panose="020B0604020202020204" pitchFamily="34" charset="0"/>
                </a:rPr>
                <a:t>Counter</a:t>
              </a:r>
              <a:endParaRPr lang="ko-KR" altLang="ko-KR" sz="1400" dirty="0">
                <a:latin typeface="Arial" panose="020B0604020202020204" pitchFamily="34" charset="0"/>
                <a:cs typeface="Arial" panose="020B0604020202020204" pitchFamily="34" charset="0"/>
              </a:endParaRPr>
            </a:p>
          </p:txBody>
        </p:sp>
        <p:sp>
          <p:nvSpPr>
            <p:cNvPr id="24" name="Rectangle 26"/>
            <p:cNvSpPr>
              <a:spLocks/>
            </p:cNvSpPr>
            <p:nvPr/>
          </p:nvSpPr>
          <p:spPr bwMode="auto">
            <a:xfrm>
              <a:off x="6283213" y="6016020"/>
              <a:ext cx="770123" cy="243077"/>
            </a:xfrm>
            <a:prstGeom prst="rect">
              <a:avLst/>
            </a:prstGeom>
            <a:solidFill>
              <a:srgbClr val="AFDC7E"/>
            </a:solidFill>
            <a:ln w="12700">
              <a:solidFill>
                <a:srgbClr val="800000"/>
              </a:solidFill>
              <a:miter lim="800000"/>
              <a:headEnd/>
              <a:tailEnd/>
            </a:ln>
          </p:spPr>
          <p:txBody>
            <a:bodyPr wrap="none" lIns="0" tIns="0" rIns="0" bIns="0" anchor="ctr" anchorCtr="1"/>
            <a:lstStyle/>
            <a:p>
              <a:pPr defTabSz="457200"/>
              <a:r>
                <a:rPr lang="en-US" altLang="ko-KR" sz="1400" dirty="0">
                  <a:latin typeface="Arial" panose="020B0604020202020204" pitchFamily="34" charset="0"/>
                  <a:cs typeface="Arial" panose="020B0604020202020204" pitchFamily="34" charset="0"/>
                </a:rPr>
                <a:t> Action</a:t>
              </a:r>
              <a:endParaRPr lang="ko-KR" altLang="ko-KR" sz="1400" dirty="0">
                <a:latin typeface="Arial" panose="020B0604020202020204" pitchFamily="34" charset="0"/>
                <a:cs typeface="Arial" panose="020B0604020202020204" pitchFamily="34" charset="0"/>
              </a:endParaRPr>
            </a:p>
          </p:txBody>
        </p:sp>
        <p:sp>
          <p:nvSpPr>
            <p:cNvPr id="25" name="Rectangle 22"/>
            <p:cNvSpPr>
              <a:spLocks/>
            </p:cNvSpPr>
            <p:nvPr/>
          </p:nvSpPr>
          <p:spPr bwMode="auto">
            <a:xfrm>
              <a:off x="4693642" y="5267209"/>
              <a:ext cx="769278" cy="235804"/>
            </a:xfrm>
            <a:prstGeom prst="rect">
              <a:avLst/>
            </a:prstGeom>
            <a:solidFill>
              <a:srgbClr val="C6E6E8"/>
            </a:solidFill>
            <a:ln w="12700">
              <a:solidFill>
                <a:schemeClr val="tx1"/>
              </a:solidFill>
              <a:miter lim="800000"/>
              <a:headEnd/>
              <a:tailEnd/>
            </a:ln>
          </p:spPr>
          <p:txBody>
            <a:bodyPr wrap="none" lIns="0" tIns="0" rIns="0" bIns="0" anchor="ctr" anchorCtr="1"/>
            <a:lstStyle/>
            <a:p>
              <a:pPr defTabSz="457200"/>
              <a:r>
                <a:rPr lang="en-US" altLang="ko-KR" sz="1400" dirty="0">
                  <a:latin typeface="Arial" panose="020B0604020202020204" pitchFamily="34" charset="0"/>
                  <a:cs typeface="Arial" panose="020B0604020202020204" pitchFamily="34" charset="0"/>
                </a:rPr>
                <a:t> Group ID</a:t>
              </a:r>
              <a:endParaRPr lang="ko-KR" altLang="ko-KR" sz="1400" dirty="0">
                <a:latin typeface="Arial" panose="020B0604020202020204" pitchFamily="34" charset="0"/>
                <a:cs typeface="Arial" panose="020B0604020202020204" pitchFamily="34" charset="0"/>
              </a:endParaRPr>
            </a:p>
          </p:txBody>
        </p:sp>
        <p:sp>
          <p:nvSpPr>
            <p:cNvPr id="26" name="Rectangle 24"/>
            <p:cNvSpPr>
              <a:spLocks/>
            </p:cNvSpPr>
            <p:nvPr/>
          </p:nvSpPr>
          <p:spPr bwMode="auto">
            <a:xfrm>
              <a:off x="6203229" y="5267209"/>
              <a:ext cx="769278" cy="235804"/>
            </a:xfrm>
            <a:prstGeom prst="rect">
              <a:avLst/>
            </a:prstGeom>
            <a:solidFill>
              <a:srgbClr val="FFFF61"/>
            </a:solidFill>
            <a:ln w="12700">
              <a:solidFill>
                <a:srgbClr val="697D3A"/>
              </a:solidFill>
              <a:miter lim="800000"/>
              <a:headEnd/>
              <a:tailEnd/>
            </a:ln>
          </p:spPr>
          <p:txBody>
            <a:bodyPr wrap="none" lIns="0" tIns="0" rIns="0" bIns="0" anchor="ctr" anchorCtr="1"/>
            <a:lstStyle/>
            <a:p>
              <a:pPr defTabSz="457200"/>
              <a:r>
                <a:rPr lang="en-US" altLang="ko-KR" sz="1400" dirty="0">
                  <a:latin typeface="Arial" panose="020B0604020202020204" pitchFamily="34" charset="0"/>
                  <a:cs typeface="Arial" panose="020B0604020202020204" pitchFamily="34" charset="0"/>
                </a:rPr>
                <a:t> Counter</a:t>
              </a:r>
              <a:endParaRPr lang="ko-KR" altLang="ko-KR" sz="1400" dirty="0">
                <a:latin typeface="Arial" panose="020B0604020202020204" pitchFamily="34" charset="0"/>
                <a:cs typeface="Arial" panose="020B0604020202020204" pitchFamily="34" charset="0"/>
              </a:endParaRPr>
            </a:p>
          </p:txBody>
        </p:sp>
        <p:sp>
          <p:nvSpPr>
            <p:cNvPr id="27" name="Rectangle 26"/>
            <p:cNvSpPr>
              <a:spLocks/>
            </p:cNvSpPr>
            <p:nvPr/>
          </p:nvSpPr>
          <p:spPr bwMode="auto">
            <a:xfrm>
              <a:off x="6972507" y="5267209"/>
              <a:ext cx="1121711" cy="235804"/>
            </a:xfrm>
            <a:prstGeom prst="rect">
              <a:avLst/>
            </a:prstGeom>
            <a:solidFill>
              <a:srgbClr val="AFDC7E"/>
            </a:solidFill>
            <a:ln w="12700">
              <a:solidFill>
                <a:srgbClr val="800000"/>
              </a:solidFill>
              <a:miter lim="800000"/>
              <a:headEnd/>
              <a:tailEnd/>
            </a:ln>
          </p:spPr>
          <p:txBody>
            <a:bodyPr wrap="none" lIns="0" tIns="0" rIns="0" bIns="0" anchor="ctr" anchorCtr="1"/>
            <a:lstStyle/>
            <a:p>
              <a:pPr defTabSz="457200"/>
              <a:r>
                <a:rPr lang="en-US" altLang="ko-KR" sz="1400" dirty="0">
                  <a:latin typeface="Arial" panose="020B0604020202020204" pitchFamily="34" charset="0"/>
                  <a:cs typeface="Arial" panose="020B0604020202020204" pitchFamily="34" charset="0"/>
                </a:rPr>
                <a:t> Action buckets</a:t>
              </a:r>
              <a:endParaRPr lang="ko-KR" altLang="ko-KR" sz="1400" dirty="0">
                <a:latin typeface="Arial" panose="020B0604020202020204" pitchFamily="34" charset="0"/>
                <a:cs typeface="Arial" panose="020B0604020202020204" pitchFamily="34" charset="0"/>
              </a:endParaRPr>
            </a:p>
          </p:txBody>
        </p:sp>
        <p:sp>
          <p:nvSpPr>
            <p:cNvPr id="28" name="Rectangle 24"/>
            <p:cNvSpPr>
              <a:spLocks/>
            </p:cNvSpPr>
            <p:nvPr/>
          </p:nvSpPr>
          <p:spPr bwMode="auto">
            <a:xfrm>
              <a:off x="5462920" y="5267209"/>
              <a:ext cx="769278" cy="235804"/>
            </a:xfrm>
            <a:prstGeom prst="rect">
              <a:avLst/>
            </a:prstGeom>
            <a:solidFill>
              <a:srgbClr val="FFFF61"/>
            </a:solidFill>
            <a:ln w="12700">
              <a:solidFill>
                <a:srgbClr val="697D3A"/>
              </a:solidFill>
              <a:miter lim="800000"/>
              <a:headEnd/>
              <a:tailEnd/>
            </a:ln>
          </p:spPr>
          <p:txBody>
            <a:bodyPr wrap="none" lIns="0" tIns="0" rIns="0" bIns="0" anchor="ctr" anchorCtr="1"/>
            <a:lstStyle/>
            <a:p>
              <a:pPr defTabSz="457200"/>
              <a:r>
                <a:rPr lang="en-US" altLang="ko-KR" sz="1400" dirty="0">
                  <a:latin typeface="Arial" panose="020B0604020202020204" pitchFamily="34" charset="0"/>
                  <a:cs typeface="Arial" panose="020B0604020202020204" pitchFamily="34" charset="0"/>
                </a:rPr>
                <a:t>Group type</a:t>
              </a:r>
              <a:endParaRPr lang="ko-KR" altLang="ko-KR" sz="1400" dirty="0">
                <a:latin typeface="Arial" panose="020B0604020202020204" pitchFamily="34" charset="0"/>
                <a:cs typeface="Arial" panose="020B0604020202020204" pitchFamily="34" charset="0"/>
              </a:endParaRPr>
            </a:p>
          </p:txBody>
        </p:sp>
        <p:sp>
          <p:nvSpPr>
            <p:cNvPr id="29" name="TextBox 28"/>
            <p:cNvSpPr txBox="1"/>
            <p:nvPr/>
          </p:nvSpPr>
          <p:spPr>
            <a:xfrm>
              <a:off x="4765650" y="6259097"/>
              <a:ext cx="1368152" cy="179052"/>
            </a:xfrm>
            <a:prstGeom prst="rect">
              <a:avLst/>
            </a:prstGeom>
            <a:noFill/>
          </p:spPr>
          <p:txBody>
            <a:bodyPr wrap="square" rtlCol="0">
              <a:spAutoFit/>
            </a:bodyPr>
            <a:lstStyle/>
            <a:p>
              <a:r>
                <a:rPr lang="en-US" altLang="ko-KR" sz="1100" b="1" dirty="0">
                  <a:latin typeface="Arial" panose="020B0604020202020204" pitchFamily="34" charset="0"/>
                  <a:cs typeface="Arial" panose="020B0604020202020204" pitchFamily="34" charset="0"/>
                </a:rPr>
                <a:t>Dst IP= 224.2.3.9</a:t>
              </a:r>
              <a:endParaRPr lang="ko-KR" altLang="en-US" sz="1100" b="1" dirty="0">
                <a:latin typeface="Arial" panose="020B0604020202020204" pitchFamily="34" charset="0"/>
                <a:cs typeface="Arial" panose="020B0604020202020204" pitchFamily="34" charset="0"/>
              </a:endParaRPr>
            </a:p>
          </p:txBody>
        </p:sp>
        <p:sp>
          <p:nvSpPr>
            <p:cNvPr id="30" name="TextBox 29"/>
            <p:cNvSpPr txBox="1"/>
            <p:nvPr/>
          </p:nvSpPr>
          <p:spPr>
            <a:xfrm>
              <a:off x="7087787" y="6049105"/>
              <a:ext cx="1138498" cy="210650"/>
            </a:xfrm>
            <a:prstGeom prst="rect">
              <a:avLst/>
            </a:prstGeom>
            <a:noFill/>
          </p:spPr>
          <p:txBody>
            <a:bodyPr wrap="square" rtlCol="0">
              <a:spAutoFit/>
            </a:bodyPr>
            <a:lstStyle/>
            <a:p>
              <a:r>
                <a:rPr lang="en-US" altLang="ko-KR" sz="1400" b="1" dirty="0">
                  <a:latin typeface="Arial" panose="020B0604020202020204" pitchFamily="34" charset="0"/>
                  <a:cs typeface="Arial" panose="020B0604020202020204" pitchFamily="34" charset="0"/>
                </a:rPr>
                <a:t>Flow table</a:t>
              </a:r>
              <a:endParaRPr lang="ko-KR" altLang="en-US" sz="1400" b="1" dirty="0">
                <a:latin typeface="Arial" panose="020B0604020202020204" pitchFamily="34" charset="0"/>
                <a:cs typeface="Arial" panose="020B0604020202020204" pitchFamily="34" charset="0"/>
              </a:endParaRPr>
            </a:p>
          </p:txBody>
        </p:sp>
        <p:sp>
          <p:nvSpPr>
            <p:cNvPr id="31" name="TextBox 30"/>
            <p:cNvSpPr txBox="1"/>
            <p:nvPr/>
          </p:nvSpPr>
          <p:spPr>
            <a:xfrm>
              <a:off x="7105910" y="5034961"/>
              <a:ext cx="976535" cy="210650"/>
            </a:xfrm>
            <a:prstGeom prst="rect">
              <a:avLst/>
            </a:prstGeom>
            <a:noFill/>
          </p:spPr>
          <p:txBody>
            <a:bodyPr wrap="square" rtlCol="0">
              <a:spAutoFit/>
            </a:bodyPr>
            <a:lstStyle/>
            <a:p>
              <a:r>
                <a:rPr lang="en-US" altLang="ko-KR" sz="1400" b="1" dirty="0">
                  <a:latin typeface="Arial" panose="020B0604020202020204" pitchFamily="34" charset="0"/>
                  <a:cs typeface="Arial" panose="020B0604020202020204" pitchFamily="34" charset="0"/>
                </a:rPr>
                <a:t>Group table</a:t>
              </a:r>
              <a:endParaRPr lang="ko-KR" altLang="en-US" sz="1400" b="1" dirty="0">
                <a:latin typeface="Arial" panose="020B0604020202020204" pitchFamily="34" charset="0"/>
                <a:cs typeface="Arial" panose="020B0604020202020204" pitchFamily="34" charset="0"/>
              </a:endParaRPr>
            </a:p>
          </p:txBody>
        </p:sp>
        <p:sp>
          <p:nvSpPr>
            <p:cNvPr id="32" name="TextBox 31"/>
            <p:cNvSpPr txBox="1"/>
            <p:nvPr/>
          </p:nvSpPr>
          <p:spPr>
            <a:xfrm>
              <a:off x="6313822" y="6259097"/>
              <a:ext cx="1041666" cy="179052"/>
            </a:xfrm>
            <a:prstGeom prst="rect">
              <a:avLst/>
            </a:prstGeom>
            <a:noFill/>
          </p:spPr>
          <p:txBody>
            <a:bodyPr wrap="square" rtlCol="0">
              <a:spAutoFit/>
            </a:bodyPr>
            <a:lstStyle/>
            <a:p>
              <a:r>
                <a:rPr lang="en-US" altLang="ko-KR" sz="1100" b="1" dirty="0">
                  <a:latin typeface="Arial" panose="020B0604020202020204" pitchFamily="34" charset="0"/>
                  <a:cs typeface="Arial" panose="020B0604020202020204" pitchFamily="34" charset="0"/>
                </a:rPr>
                <a:t>Group</a:t>
              </a:r>
              <a:r>
                <a:rPr lang="ko-KR" altLang="en-US" sz="1100" b="1" dirty="0">
                  <a:latin typeface="Arial" panose="020B0604020202020204" pitchFamily="34" charset="0"/>
                  <a:cs typeface="Arial" panose="020B0604020202020204" pitchFamily="34" charset="0"/>
                </a:rPr>
                <a:t> </a:t>
              </a:r>
              <a:r>
                <a:rPr lang="en-US" altLang="ko-KR" sz="1100" b="1" dirty="0">
                  <a:latin typeface="Arial" panose="020B0604020202020204" pitchFamily="34" charset="0"/>
                  <a:cs typeface="Arial" panose="020B0604020202020204" pitchFamily="34" charset="0"/>
                </a:rPr>
                <a:t>100</a:t>
              </a:r>
              <a:endParaRPr lang="ko-KR" altLang="en-US" sz="1100" b="1" dirty="0">
                <a:latin typeface="Arial" panose="020B0604020202020204" pitchFamily="34" charset="0"/>
                <a:cs typeface="Arial" panose="020B0604020202020204" pitchFamily="34" charset="0"/>
              </a:endParaRPr>
            </a:p>
          </p:txBody>
        </p:sp>
        <p:sp>
          <p:nvSpPr>
            <p:cNvPr id="33" name="TextBox 32"/>
            <p:cNvSpPr txBox="1"/>
            <p:nvPr/>
          </p:nvSpPr>
          <p:spPr>
            <a:xfrm>
              <a:off x="4909666" y="5503013"/>
              <a:ext cx="464711" cy="179052"/>
            </a:xfrm>
            <a:prstGeom prst="rect">
              <a:avLst/>
            </a:prstGeom>
            <a:noFill/>
          </p:spPr>
          <p:txBody>
            <a:bodyPr wrap="square" rtlCol="0">
              <a:spAutoFit/>
            </a:bodyPr>
            <a:lstStyle/>
            <a:p>
              <a:r>
                <a:rPr lang="en-US" altLang="ko-KR" sz="1100" b="1" dirty="0">
                  <a:latin typeface="Arial" panose="020B0604020202020204" pitchFamily="34" charset="0"/>
                  <a:cs typeface="Arial" panose="020B0604020202020204" pitchFamily="34" charset="0"/>
                </a:rPr>
                <a:t>100</a:t>
              </a:r>
              <a:endParaRPr lang="ko-KR" altLang="en-US" sz="1100" b="1" dirty="0">
                <a:latin typeface="Arial" panose="020B0604020202020204" pitchFamily="34" charset="0"/>
                <a:cs typeface="Arial" panose="020B0604020202020204" pitchFamily="34" charset="0"/>
              </a:endParaRPr>
            </a:p>
          </p:txBody>
        </p:sp>
        <p:sp>
          <p:nvSpPr>
            <p:cNvPr id="34" name="TextBox 33"/>
            <p:cNvSpPr txBox="1"/>
            <p:nvPr/>
          </p:nvSpPr>
          <p:spPr>
            <a:xfrm>
              <a:off x="5629746" y="5503013"/>
              <a:ext cx="464711" cy="179052"/>
            </a:xfrm>
            <a:prstGeom prst="rect">
              <a:avLst/>
            </a:prstGeom>
            <a:noFill/>
          </p:spPr>
          <p:txBody>
            <a:bodyPr wrap="square" rtlCol="0">
              <a:spAutoFit/>
            </a:bodyPr>
            <a:lstStyle/>
            <a:p>
              <a:r>
                <a:rPr lang="en-US" altLang="ko-KR" sz="1100" b="1" dirty="0">
                  <a:latin typeface="Arial" panose="020B0604020202020204" pitchFamily="34" charset="0"/>
                  <a:cs typeface="Arial" panose="020B0604020202020204" pitchFamily="34" charset="0"/>
                </a:rPr>
                <a:t>all</a:t>
              </a:r>
              <a:endParaRPr lang="ko-KR" altLang="en-US" sz="1100" b="1" dirty="0">
                <a:latin typeface="Arial" panose="020B0604020202020204" pitchFamily="34" charset="0"/>
                <a:cs typeface="Arial" panose="020B0604020202020204" pitchFamily="34" charset="0"/>
              </a:endParaRPr>
            </a:p>
          </p:txBody>
        </p:sp>
        <p:sp>
          <p:nvSpPr>
            <p:cNvPr id="35" name="TextBox 34"/>
            <p:cNvSpPr txBox="1"/>
            <p:nvPr/>
          </p:nvSpPr>
          <p:spPr>
            <a:xfrm>
              <a:off x="7069906" y="5503013"/>
              <a:ext cx="1005244" cy="526623"/>
            </a:xfrm>
            <a:prstGeom prst="rect">
              <a:avLst/>
            </a:prstGeom>
            <a:noFill/>
          </p:spPr>
          <p:txBody>
            <a:bodyPr wrap="square" rtlCol="0">
              <a:spAutoFit/>
            </a:bodyPr>
            <a:lstStyle/>
            <a:p>
              <a:r>
                <a:rPr lang="en-US" altLang="ko-KR" sz="1100" b="1" dirty="0">
                  <a:latin typeface="Arial" panose="020B0604020202020204" pitchFamily="34" charset="0"/>
                  <a:cs typeface="Arial" panose="020B0604020202020204" pitchFamily="34" charset="0"/>
                </a:rPr>
                <a:t>Port1 : output</a:t>
              </a:r>
            </a:p>
            <a:p>
              <a:r>
                <a:rPr lang="en-US" altLang="ko-KR" sz="1100" b="1" dirty="0">
                  <a:latin typeface="Arial" panose="020B0604020202020204" pitchFamily="34" charset="0"/>
                  <a:cs typeface="Arial" panose="020B0604020202020204" pitchFamily="34" charset="0"/>
                </a:rPr>
                <a:t>Port3 : output</a:t>
              </a:r>
            </a:p>
            <a:p>
              <a:r>
                <a:rPr lang="en-US" altLang="ko-KR" sz="1100" b="1" dirty="0">
                  <a:latin typeface="Arial" panose="020B0604020202020204" pitchFamily="34" charset="0"/>
                  <a:cs typeface="Arial" panose="020B0604020202020204" pitchFamily="34" charset="0"/>
                </a:rPr>
                <a:t>Port5 : output</a:t>
              </a:r>
            </a:p>
            <a:p>
              <a:r>
                <a:rPr lang="en-US" altLang="ko-KR" sz="1100" dirty="0">
                  <a:latin typeface="Arial" panose="020B0604020202020204" pitchFamily="34" charset="0"/>
                  <a:cs typeface="Arial" panose="020B0604020202020204" pitchFamily="34" charset="0"/>
                </a:rPr>
                <a:t> ……… </a:t>
              </a:r>
              <a:endParaRPr lang="ko-KR" altLang="en-US" sz="1100" dirty="0">
                <a:latin typeface="Arial" panose="020B0604020202020204" pitchFamily="34" charset="0"/>
                <a:cs typeface="Arial" panose="020B0604020202020204" pitchFamily="34" charset="0"/>
              </a:endParaRPr>
            </a:p>
          </p:txBody>
        </p:sp>
        <p:cxnSp>
          <p:nvCxnSpPr>
            <p:cNvPr id="36" name="Shape 54"/>
            <p:cNvCxnSpPr>
              <a:stCxn id="32" idx="2"/>
              <a:endCxn id="33" idx="1"/>
            </p:cNvCxnSpPr>
            <p:nvPr/>
          </p:nvCxnSpPr>
          <p:spPr>
            <a:xfrm rot="5400000" flipH="1">
              <a:off x="5449356" y="5052849"/>
              <a:ext cx="845610" cy="1924990"/>
            </a:xfrm>
            <a:prstGeom prst="bentConnector4">
              <a:avLst>
                <a:gd name="adj1" fmla="val -18503"/>
                <a:gd name="adj2" fmla="val 108128"/>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81" name="그룹 80"/>
          <p:cNvGrpSpPr/>
          <p:nvPr/>
        </p:nvGrpSpPr>
        <p:grpSpPr>
          <a:xfrm>
            <a:off x="1636306" y="3134117"/>
            <a:ext cx="3782402" cy="3361306"/>
            <a:chOff x="112306" y="2848367"/>
            <a:chExt cx="3782402" cy="3361306"/>
          </a:xfrm>
        </p:grpSpPr>
        <p:grpSp>
          <p:nvGrpSpPr>
            <p:cNvPr id="49" name="그룹 48"/>
            <p:cNvGrpSpPr/>
            <p:nvPr/>
          </p:nvGrpSpPr>
          <p:grpSpPr>
            <a:xfrm>
              <a:off x="112306" y="2852936"/>
              <a:ext cx="1800200" cy="1525075"/>
              <a:chOff x="112306" y="2852936"/>
              <a:chExt cx="1800200" cy="1525075"/>
            </a:xfrm>
          </p:grpSpPr>
          <p:sp>
            <p:nvSpPr>
              <p:cNvPr id="39" name="모서리가 둥근 직사각형 38"/>
              <p:cNvSpPr/>
              <p:nvPr/>
            </p:nvSpPr>
            <p:spPr bwMode="auto">
              <a:xfrm>
                <a:off x="1019340" y="2852936"/>
                <a:ext cx="893166" cy="1152128"/>
              </a:xfrm>
              <a:prstGeom prst="roundRect">
                <a:avLst/>
              </a:prstGeom>
              <a:gradFill>
                <a:gsLst>
                  <a:gs pos="0">
                    <a:schemeClr val="accent1">
                      <a:shade val="51000"/>
                      <a:satMod val="130000"/>
                    </a:schemeClr>
                  </a:gs>
                  <a:gs pos="100000">
                    <a:schemeClr val="accent1">
                      <a:shade val="94000"/>
                      <a:satMod val="135000"/>
                    </a:schemeClr>
                  </a:gs>
                </a:gsLst>
                <a:lin ang="10800000" scaled="0"/>
              </a:gradFill>
              <a:ln>
                <a:headEnd/>
                <a:tailEnd/>
              </a:ln>
              <a:effectLst/>
            </p:spPr>
            <p:style>
              <a:lnRef idx="1">
                <a:schemeClr val="accent1"/>
              </a:lnRef>
              <a:fillRef idx="3">
                <a:schemeClr val="accent1"/>
              </a:fillRef>
              <a:effectRef idx="2">
                <a:schemeClr val="accent1"/>
              </a:effectRef>
              <a:fontRef idx="minor">
                <a:schemeClr val="lt1"/>
              </a:fontRef>
            </p:style>
            <p:txBody>
              <a:bodyPr wrap="none" lIns="91380" tIns="45692" rIns="91380" bIns="45692" rtlCol="0" anchor="ctr"/>
              <a:lstStyle/>
              <a:p>
                <a:pPr algn="ctr"/>
                <a:endParaRPr lang="ko-KR" altLang="en-US"/>
              </a:p>
            </p:txBody>
          </p:sp>
          <p:sp>
            <p:nvSpPr>
              <p:cNvPr id="40" name="타원 39"/>
              <p:cNvSpPr/>
              <p:nvPr/>
            </p:nvSpPr>
            <p:spPr bwMode="auto">
              <a:xfrm>
                <a:off x="876686" y="3284984"/>
                <a:ext cx="288032" cy="288032"/>
              </a:xfrm>
              <a:prstGeom prst="ellipse">
                <a:avLst/>
              </a:prstGeom>
              <a:ln>
                <a:noFill/>
                <a:headEnd/>
                <a:tailEnd/>
              </a:ln>
              <a:effectLst/>
            </p:spPr>
            <p:style>
              <a:lnRef idx="1">
                <a:schemeClr val="accent4"/>
              </a:lnRef>
              <a:fillRef idx="3">
                <a:schemeClr val="accent4"/>
              </a:fillRef>
              <a:effectRef idx="2">
                <a:schemeClr val="accent4"/>
              </a:effectRef>
              <a:fontRef idx="minor">
                <a:schemeClr val="lt1"/>
              </a:fontRef>
            </p:style>
            <p:txBody>
              <a:bodyPr wrap="none" lIns="91380" tIns="45692" rIns="91380" bIns="45692" rtlCol="0" anchor="ctr"/>
              <a:lstStyle/>
              <a:p>
                <a:pPr algn="ctr"/>
                <a:endParaRPr lang="ko-KR" altLang="en-US"/>
              </a:p>
            </p:txBody>
          </p:sp>
          <p:sp>
            <p:nvSpPr>
              <p:cNvPr id="41" name="모서리가 둥근 직사각형 40"/>
              <p:cNvSpPr/>
              <p:nvPr/>
            </p:nvSpPr>
            <p:spPr bwMode="auto">
              <a:xfrm>
                <a:off x="1533994" y="2987716"/>
                <a:ext cx="216024" cy="216024"/>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wrap="none" lIns="91380" tIns="45692" rIns="91380" bIns="45692" rtlCol="0" anchor="ctr"/>
              <a:lstStyle/>
              <a:p>
                <a:pPr algn="ctr"/>
                <a:endParaRPr lang="ko-KR" altLang="en-US"/>
              </a:p>
            </p:txBody>
          </p:sp>
          <p:sp>
            <p:nvSpPr>
              <p:cNvPr id="42" name="모서리가 둥근 직사각형 41"/>
              <p:cNvSpPr/>
              <p:nvPr/>
            </p:nvSpPr>
            <p:spPr bwMode="auto">
              <a:xfrm>
                <a:off x="1533994" y="3320988"/>
                <a:ext cx="216024" cy="216024"/>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wrap="none" lIns="91380" tIns="45692" rIns="91380" bIns="45692" rtlCol="0" anchor="ctr"/>
              <a:lstStyle/>
              <a:p>
                <a:pPr algn="ctr"/>
                <a:endParaRPr lang="ko-KR" altLang="en-US"/>
              </a:p>
            </p:txBody>
          </p:sp>
          <p:sp>
            <p:nvSpPr>
              <p:cNvPr id="43" name="모서리가 둥근 직사각형 42"/>
              <p:cNvSpPr/>
              <p:nvPr/>
            </p:nvSpPr>
            <p:spPr bwMode="auto">
              <a:xfrm>
                <a:off x="1533994" y="3654260"/>
                <a:ext cx="216024" cy="216024"/>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wrap="none" lIns="91380" tIns="45692" rIns="91380" bIns="45692" rtlCol="0" anchor="ctr"/>
              <a:lstStyle/>
              <a:p>
                <a:pPr algn="ctr"/>
                <a:endParaRPr lang="ko-KR" altLang="en-US"/>
              </a:p>
            </p:txBody>
          </p:sp>
          <p:cxnSp>
            <p:nvCxnSpPr>
              <p:cNvPr id="44" name="직선 화살표 연결선 43"/>
              <p:cNvCxnSpPr>
                <a:stCxn id="40" idx="7"/>
                <a:endCxn id="41" idx="1"/>
              </p:cNvCxnSpPr>
              <p:nvPr/>
            </p:nvCxnSpPr>
            <p:spPr>
              <a:xfrm flipV="1">
                <a:off x="1122537" y="3095728"/>
                <a:ext cx="411457" cy="231437"/>
              </a:xfrm>
              <a:prstGeom prst="straightConnector1">
                <a:avLst/>
              </a:prstGeom>
              <a:ln>
                <a:solidFill>
                  <a:srgbClr val="FFFF00"/>
                </a:solidFill>
                <a:headEnd type="none"/>
                <a:tailEnd type="triangle"/>
              </a:ln>
            </p:spPr>
            <p:style>
              <a:lnRef idx="1">
                <a:schemeClr val="dk1"/>
              </a:lnRef>
              <a:fillRef idx="0">
                <a:schemeClr val="dk1"/>
              </a:fillRef>
              <a:effectRef idx="0">
                <a:schemeClr val="dk1"/>
              </a:effectRef>
              <a:fontRef idx="minor">
                <a:schemeClr val="tx1"/>
              </a:fontRef>
            </p:style>
          </p:cxnSp>
          <p:cxnSp>
            <p:nvCxnSpPr>
              <p:cNvPr id="45" name="직선 화살표 연결선 44"/>
              <p:cNvCxnSpPr>
                <a:stCxn id="40" idx="6"/>
                <a:endCxn id="42" idx="1"/>
              </p:cNvCxnSpPr>
              <p:nvPr/>
            </p:nvCxnSpPr>
            <p:spPr>
              <a:xfrm>
                <a:off x="1164718" y="3429000"/>
                <a:ext cx="369276" cy="0"/>
              </a:xfrm>
              <a:prstGeom prst="straightConnector1">
                <a:avLst/>
              </a:prstGeom>
              <a:ln>
                <a:solidFill>
                  <a:srgbClr val="FFFF00"/>
                </a:solidFill>
                <a:headEnd type="none"/>
                <a:tailEnd type="triangle"/>
              </a:ln>
            </p:spPr>
            <p:style>
              <a:lnRef idx="1">
                <a:schemeClr val="dk1"/>
              </a:lnRef>
              <a:fillRef idx="0">
                <a:schemeClr val="dk1"/>
              </a:fillRef>
              <a:effectRef idx="0">
                <a:schemeClr val="dk1"/>
              </a:effectRef>
              <a:fontRef idx="minor">
                <a:schemeClr val="tx1"/>
              </a:fontRef>
            </p:style>
          </p:cxnSp>
          <p:cxnSp>
            <p:nvCxnSpPr>
              <p:cNvPr id="46" name="직선 화살표 연결선 45"/>
              <p:cNvCxnSpPr>
                <a:stCxn id="40" idx="5"/>
                <a:endCxn id="43" idx="1"/>
              </p:cNvCxnSpPr>
              <p:nvPr/>
            </p:nvCxnSpPr>
            <p:spPr>
              <a:xfrm>
                <a:off x="1122537" y="3530835"/>
                <a:ext cx="411457" cy="231437"/>
              </a:xfrm>
              <a:prstGeom prst="straightConnector1">
                <a:avLst/>
              </a:prstGeom>
              <a:ln>
                <a:solidFill>
                  <a:srgbClr val="FFFF00"/>
                </a:solidFill>
                <a:headEnd type="none"/>
                <a:tailEnd type="triangle"/>
              </a:ln>
            </p:spPr>
            <p:style>
              <a:lnRef idx="1">
                <a:schemeClr val="dk1"/>
              </a:lnRef>
              <a:fillRef idx="0">
                <a:schemeClr val="dk1"/>
              </a:fillRef>
              <a:effectRef idx="0">
                <a:schemeClr val="dk1"/>
              </a:effectRef>
              <a:fontRef idx="minor">
                <a:schemeClr val="tx1"/>
              </a:fontRef>
            </p:style>
          </p:cxnSp>
          <p:cxnSp>
            <p:nvCxnSpPr>
              <p:cNvPr id="47" name="직선 화살표 연결선 46"/>
              <p:cNvCxnSpPr>
                <a:endCxn id="40" idx="2"/>
              </p:cNvCxnSpPr>
              <p:nvPr/>
            </p:nvCxnSpPr>
            <p:spPr>
              <a:xfrm>
                <a:off x="112306" y="3429000"/>
                <a:ext cx="764380" cy="0"/>
              </a:xfrm>
              <a:prstGeom prst="straightConnector1">
                <a:avLst/>
              </a:prstGeom>
              <a:ln w="19050">
                <a:solidFill>
                  <a:schemeClr val="accent6">
                    <a:lumMod val="50000"/>
                  </a:schemeClr>
                </a:solidFill>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48" name="TextBox 47"/>
              <p:cNvSpPr txBox="1"/>
              <p:nvPr/>
            </p:nvSpPr>
            <p:spPr>
              <a:xfrm>
                <a:off x="625445" y="4039457"/>
                <a:ext cx="994183" cy="338554"/>
              </a:xfrm>
              <a:prstGeom prst="rect">
                <a:avLst/>
              </a:prstGeom>
              <a:noFill/>
            </p:spPr>
            <p:txBody>
              <a:bodyPr wrap="none" rtlCol="0">
                <a:spAutoFit/>
              </a:bodyPr>
              <a:lstStyle/>
              <a:p>
                <a:r>
                  <a:rPr lang="en-US" altLang="ko-KR" sz="1600" dirty="0">
                    <a:latin typeface="Arial" panose="020B0604020202020204" pitchFamily="34" charset="0"/>
                    <a:cs typeface="Arial" panose="020B0604020202020204" pitchFamily="34" charset="0"/>
                  </a:rPr>
                  <a:t>Multicast</a:t>
                </a:r>
                <a:endParaRPr lang="ko-KR" altLang="en-US" sz="1600" dirty="0">
                  <a:latin typeface="Arial" panose="020B0604020202020204" pitchFamily="34" charset="0"/>
                  <a:cs typeface="Arial" panose="020B0604020202020204" pitchFamily="34" charset="0"/>
                </a:endParaRPr>
              </a:p>
            </p:txBody>
          </p:sp>
        </p:grpSp>
        <p:grpSp>
          <p:nvGrpSpPr>
            <p:cNvPr id="59" name="그룹 58"/>
            <p:cNvGrpSpPr/>
            <p:nvPr/>
          </p:nvGrpSpPr>
          <p:grpSpPr>
            <a:xfrm>
              <a:off x="2094508" y="2848367"/>
              <a:ext cx="1800200" cy="1532473"/>
              <a:chOff x="2094508" y="2848367"/>
              <a:chExt cx="1800200" cy="1532473"/>
            </a:xfrm>
          </p:grpSpPr>
          <p:sp>
            <p:nvSpPr>
              <p:cNvPr id="51" name="모서리가 둥근 직사각형 50"/>
              <p:cNvSpPr/>
              <p:nvPr/>
            </p:nvSpPr>
            <p:spPr bwMode="auto">
              <a:xfrm>
                <a:off x="3001542" y="2848367"/>
                <a:ext cx="893166" cy="1152128"/>
              </a:xfrm>
              <a:prstGeom prst="roundRect">
                <a:avLst/>
              </a:prstGeom>
              <a:gradFill>
                <a:gsLst>
                  <a:gs pos="0">
                    <a:schemeClr val="accent1">
                      <a:shade val="51000"/>
                      <a:satMod val="130000"/>
                    </a:schemeClr>
                  </a:gs>
                  <a:gs pos="100000">
                    <a:schemeClr val="accent1">
                      <a:shade val="94000"/>
                      <a:satMod val="135000"/>
                    </a:schemeClr>
                  </a:gs>
                </a:gsLst>
                <a:lin ang="10800000" scaled="0"/>
              </a:gradFill>
              <a:ln>
                <a:headEnd/>
                <a:tailEnd/>
              </a:ln>
              <a:effectLst/>
            </p:spPr>
            <p:style>
              <a:lnRef idx="1">
                <a:schemeClr val="accent1"/>
              </a:lnRef>
              <a:fillRef idx="3">
                <a:schemeClr val="accent1"/>
              </a:fillRef>
              <a:effectRef idx="2">
                <a:schemeClr val="accent1"/>
              </a:effectRef>
              <a:fontRef idx="minor">
                <a:schemeClr val="lt1"/>
              </a:fontRef>
            </p:style>
            <p:txBody>
              <a:bodyPr wrap="none" lIns="91380" tIns="45692" rIns="91380" bIns="45692" rtlCol="0" anchor="ctr"/>
              <a:lstStyle/>
              <a:p>
                <a:pPr algn="ctr"/>
                <a:endParaRPr lang="ko-KR" altLang="en-US"/>
              </a:p>
            </p:txBody>
          </p:sp>
          <p:sp>
            <p:nvSpPr>
              <p:cNvPr id="52" name="타원 51"/>
              <p:cNvSpPr/>
              <p:nvPr/>
            </p:nvSpPr>
            <p:spPr bwMode="auto">
              <a:xfrm>
                <a:off x="2858888" y="3280415"/>
                <a:ext cx="288032" cy="288032"/>
              </a:xfrm>
              <a:prstGeom prst="ellipse">
                <a:avLst/>
              </a:prstGeom>
              <a:ln>
                <a:noFill/>
                <a:headEnd/>
                <a:tailEnd/>
              </a:ln>
              <a:effectLst/>
            </p:spPr>
            <p:style>
              <a:lnRef idx="1">
                <a:schemeClr val="accent4"/>
              </a:lnRef>
              <a:fillRef idx="3">
                <a:schemeClr val="accent4"/>
              </a:fillRef>
              <a:effectRef idx="2">
                <a:schemeClr val="accent4"/>
              </a:effectRef>
              <a:fontRef idx="minor">
                <a:schemeClr val="lt1"/>
              </a:fontRef>
            </p:style>
            <p:txBody>
              <a:bodyPr wrap="none" lIns="91380" tIns="45692" rIns="91380" bIns="45692" rtlCol="0" anchor="ctr"/>
              <a:lstStyle/>
              <a:p>
                <a:pPr algn="ctr"/>
                <a:endParaRPr lang="ko-KR" altLang="en-US"/>
              </a:p>
            </p:txBody>
          </p:sp>
          <p:sp>
            <p:nvSpPr>
              <p:cNvPr id="53" name="모서리가 둥근 직사각형 52"/>
              <p:cNvSpPr/>
              <p:nvPr/>
            </p:nvSpPr>
            <p:spPr bwMode="auto">
              <a:xfrm>
                <a:off x="3516196" y="3316419"/>
                <a:ext cx="216024" cy="216024"/>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wrap="none" lIns="91380" tIns="45692" rIns="91380" bIns="45692" rtlCol="0" anchor="ctr"/>
              <a:lstStyle/>
              <a:p>
                <a:pPr algn="ctr"/>
                <a:endParaRPr lang="ko-KR" altLang="en-US"/>
              </a:p>
            </p:txBody>
          </p:sp>
          <p:cxnSp>
            <p:nvCxnSpPr>
              <p:cNvPr id="54" name="직선 화살표 연결선 53"/>
              <p:cNvCxnSpPr>
                <a:stCxn id="52" idx="6"/>
                <a:endCxn id="53" idx="1"/>
              </p:cNvCxnSpPr>
              <p:nvPr/>
            </p:nvCxnSpPr>
            <p:spPr>
              <a:xfrm>
                <a:off x="3146920" y="3424431"/>
                <a:ext cx="369276" cy="0"/>
              </a:xfrm>
              <a:prstGeom prst="straightConnector1">
                <a:avLst/>
              </a:prstGeom>
              <a:ln>
                <a:solidFill>
                  <a:srgbClr val="FFFF00"/>
                </a:solidFill>
                <a:headEnd type="none"/>
                <a:tailEnd type="triangle"/>
              </a:ln>
            </p:spPr>
            <p:style>
              <a:lnRef idx="1">
                <a:schemeClr val="dk1"/>
              </a:lnRef>
              <a:fillRef idx="0">
                <a:schemeClr val="dk1"/>
              </a:fillRef>
              <a:effectRef idx="0">
                <a:schemeClr val="dk1"/>
              </a:effectRef>
              <a:fontRef idx="minor">
                <a:schemeClr val="tx1"/>
              </a:fontRef>
            </p:style>
          </p:cxnSp>
          <p:cxnSp>
            <p:nvCxnSpPr>
              <p:cNvPr id="55" name="직선 화살표 연결선 54"/>
              <p:cNvCxnSpPr>
                <a:endCxn id="52" idx="1"/>
              </p:cNvCxnSpPr>
              <p:nvPr/>
            </p:nvCxnSpPr>
            <p:spPr>
              <a:xfrm>
                <a:off x="2111100" y="2848367"/>
                <a:ext cx="789969" cy="474229"/>
              </a:xfrm>
              <a:prstGeom prst="straightConnector1">
                <a:avLst/>
              </a:prstGeom>
              <a:ln w="19050">
                <a:solidFill>
                  <a:schemeClr val="accent6">
                    <a:lumMod val="50000"/>
                  </a:schemeClr>
                </a:solidFill>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56" name="직선 화살표 연결선 55"/>
              <p:cNvCxnSpPr/>
              <p:nvPr/>
            </p:nvCxnSpPr>
            <p:spPr>
              <a:xfrm>
                <a:off x="2094508" y="3424431"/>
                <a:ext cx="764380" cy="0"/>
              </a:xfrm>
              <a:prstGeom prst="straightConnector1">
                <a:avLst/>
              </a:prstGeom>
              <a:ln w="19050">
                <a:solidFill>
                  <a:schemeClr val="accent6">
                    <a:lumMod val="50000"/>
                  </a:schemeClr>
                </a:solidFill>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57" name="직선 화살표 연결선 56"/>
              <p:cNvCxnSpPr>
                <a:endCxn id="52" idx="3"/>
              </p:cNvCxnSpPr>
              <p:nvPr/>
            </p:nvCxnSpPr>
            <p:spPr>
              <a:xfrm flipV="1">
                <a:off x="2111100" y="3526266"/>
                <a:ext cx="789969" cy="474229"/>
              </a:xfrm>
              <a:prstGeom prst="straightConnector1">
                <a:avLst/>
              </a:prstGeom>
              <a:ln w="19050">
                <a:solidFill>
                  <a:schemeClr val="accent6">
                    <a:lumMod val="50000"/>
                  </a:schemeClr>
                </a:solidFill>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58" name="TextBox 57"/>
              <p:cNvSpPr txBox="1"/>
              <p:nvPr/>
            </p:nvSpPr>
            <p:spPr>
              <a:xfrm>
                <a:off x="2320895" y="4042286"/>
                <a:ext cx="1369286" cy="338554"/>
              </a:xfrm>
              <a:prstGeom prst="rect">
                <a:avLst/>
              </a:prstGeom>
              <a:noFill/>
            </p:spPr>
            <p:txBody>
              <a:bodyPr wrap="none" rtlCol="0">
                <a:spAutoFit/>
              </a:bodyPr>
              <a:lstStyle/>
              <a:p>
                <a:r>
                  <a:rPr lang="en-US" altLang="ko-KR" sz="1600" dirty="0">
                    <a:latin typeface="Arial" panose="020B0604020202020204" pitchFamily="34" charset="0"/>
                    <a:cs typeface="Arial" panose="020B0604020202020204" pitchFamily="34" charset="0"/>
                  </a:rPr>
                  <a:t>Load sharing</a:t>
                </a:r>
                <a:endParaRPr lang="ko-KR" altLang="en-US" sz="1600" dirty="0">
                  <a:latin typeface="Arial" panose="020B0604020202020204" pitchFamily="34" charset="0"/>
                  <a:cs typeface="Arial" panose="020B0604020202020204" pitchFamily="34" charset="0"/>
                </a:endParaRPr>
              </a:p>
            </p:txBody>
          </p:sp>
        </p:grpSp>
        <p:grpSp>
          <p:nvGrpSpPr>
            <p:cNvPr id="68" name="그룹 67"/>
            <p:cNvGrpSpPr/>
            <p:nvPr/>
          </p:nvGrpSpPr>
          <p:grpSpPr>
            <a:xfrm>
              <a:off x="112306" y="4680892"/>
              <a:ext cx="1800200" cy="1528781"/>
              <a:chOff x="112306" y="4680892"/>
              <a:chExt cx="1800200" cy="1528781"/>
            </a:xfrm>
          </p:grpSpPr>
          <p:sp>
            <p:nvSpPr>
              <p:cNvPr id="60" name="모서리가 둥근 직사각형 59"/>
              <p:cNvSpPr/>
              <p:nvPr/>
            </p:nvSpPr>
            <p:spPr bwMode="auto">
              <a:xfrm>
                <a:off x="1019340" y="4680892"/>
                <a:ext cx="893166" cy="1152128"/>
              </a:xfrm>
              <a:prstGeom prst="roundRect">
                <a:avLst/>
              </a:prstGeom>
              <a:gradFill>
                <a:gsLst>
                  <a:gs pos="0">
                    <a:schemeClr val="accent1">
                      <a:shade val="51000"/>
                      <a:satMod val="130000"/>
                    </a:schemeClr>
                  </a:gs>
                  <a:gs pos="100000">
                    <a:schemeClr val="accent1">
                      <a:shade val="94000"/>
                      <a:satMod val="135000"/>
                    </a:schemeClr>
                  </a:gs>
                </a:gsLst>
                <a:lin ang="10800000" scaled="0"/>
              </a:gradFill>
              <a:ln>
                <a:headEnd/>
                <a:tailEnd/>
              </a:ln>
              <a:effectLst/>
            </p:spPr>
            <p:style>
              <a:lnRef idx="1">
                <a:schemeClr val="accent1"/>
              </a:lnRef>
              <a:fillRef idx="3">
                <a:schemeClr val="accent1"/>
              </a:fillRef>
              <a:effectRef idx="2">
                <a:schemeClr val="accent1"/>
              </a:effectRef>
              <a:fontRef idx="minor">
                <a:schemeClr val="lt1"/>
              </a:fontRef>
            </p:style>
            <p:txBody>
              <a:bodyPr wrap="none" lIns="91380" tIns="45692" rIns="91380" bIns="45692" rtlCol="0" anchor="ctr"/>
              <a:lstStyle/>
              <a:p>
                <a:pPr algn="ctr"/>
                <a:endParaRPr lang="ko-KR" altLang="en-US"/>
              </a:p>
            </p:txBody>
          </p:sp>
          <p:sp>
            <p:nvSpPr>
              <p:cNvPr id="61" name="타원 60"/>
              <p:cNvSpPr/>
              <p:nvPr/>
            </p:nvSpPr>
            <p:spPr bwMode="auto">
              <a:xfrm>
                <a:off x="876686" y="5112940"/>
                <a:ext cx="288032" cy="288032"/>
              </a:xfrm>
              <a:prstGeom prst="ellipse">
                <a:avLst/>
              </a:prstGeom>
              <a:ln>
                <a:noFill/>
                <a:headEnd/>
                <a:tailEnd/>
              </a:ln>
              <a:effectLst/>
            </p:spPr>
            <p:style>
              <a:lnRef idx="1">
                <a:schemeClr val="accent4"/>
              </a:lnRef>
              <a:fillRef idx="3">
                <a:schemeClr val="accent4"/>
              </a:fillRef>
              <a:effectRef idx="2">
                <a:schemeClr val="accent4"/>
              </a:effectRef>
              <a:fontRef idx="minor">
                <a:schemeClr val="lt1"/>
              </a:fontRef>
            </p:style>
            <p:txBody>
              <a:bodyPr wrap="none" lIns="91380" tIns="45692" rIns="91380" bIns="45692" rtlCol="0" anchor="ctr"/>
              <a:lstStyle/>
              <a:p>
                <a:pPr algn="ctr"/>
                <a:endParaRPr lang="ko-KR" altLang="en-US"/>
              </a:p>
            </p:txBody>
          </p:sp>
          <p:sp>
            <p:nvSpPr>
              <p:cNvPr id="62" name="모서리가 둥근 직사각형 61"/>
              <p:cNvSpPr/>
              <p:nvPr/>
            </p:nvSpPr>
            <p:spPr bwMode="auto">
              <a:xfrm>
                <a:off x="1533994" y="4815672"/>
                <a:ext cx="216024" cy="216024"/>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wrap="none" lIns="91380" tIns="45692" rIns="91380" bIns="45692" rtlCol="0" anchor="ctr"/>
              <a:lstStyle/>
              <a:p>
                <a:pPr algn="ctr"/>
                <a:endParaRPr lang="ko-KR" altLang="en-US"/>
              </a:p>
            </p:txBody>
          </p:sp>
          <p:sp>
            <p:nvSpPr>
              <p:cNvPr id="63" name="모서리가 둥근 직사각형 62"/>
              <p:cNvSpPr/>
              <p:nvPr/>
            </p:nvSpPr>
            <p:spPr bwMode="auto">
              <a:xfrm>
                <a:off x="1533994" y="5148944"/>
                <a:ext cx="216024" cy="216024"/>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wrap="none" lIns="91380" tIns="45692" rIns="91380" bIns="45692" rtlCol="0" anchor="ctr"/>
              <a:lstStyle/>
              <a:p>
                <a:pPr algn="ctr"/>
                <a:endParaRPr lang="ko-KR" altLang="en-US"/>
              </a:p>
            </p:txBody>
          </p:sp>
          <p:sp>
            <p:nvSpPr>
              <p:cNvPr id="64" name="모서리가 둥근 직사각형 63"/>
              <p:cNvSpPr/>
              <p:nvPr/>
            </p:nvSpPr>
            <p:spPr bwMode="auto">
              <a:xfrm>
                <a:off x="1533994" y="5482216"/>
                <a:ext cx="216024" cy="216024"/>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wrap="none" lIns="91380" tIns="45692" rIns="91380" bIns="45692" rtlCol="0" anchor="ctr"/>
              <a:lstStyle/>
              <a:p>
                <a:pPr algn="ctr"/>
                <a:endParaRPr lang="ko-KR" altLang="en-US"/>
              </a:p>
            </p:txBody>
          </p:sp>
          <p:cxnSp>
            <p:nvCxnSpPr>
              <p:cNvPr id="65" name="직선 화살표 연결선 64"/>
              <p:cNvCxnSpPr>
                <a:stCxn id="61" idx="6"/>
                <a:endCxn id="63" idx="1"/>
              </p:cNvCxnSpPr>
              <p:nvPr/>
            </p:nvCxnSpPr>
            <p:spPr>
              <a:xfrm>
                <a:off x="1164718" y="5256956"/>
                <a:ext cx="369276" cy="0"/>
              </a:xfrm>
              <a:prstGeom prst="straightConnector1">
                <a:avLst/>
              </a:prstGeom>
              <a:ln>
                <a:solidFill>
                  <a:srgbClr val="FFFF00"/>
                </a:solidFill>
                <a:headEnd type="none"/>
                <a:tailEnd type="triangle"/>
              </a:ln>
            </p:spPr>
            <p:style>
              <a:lnRef idx="1">
                <a:schemeClr val="dk1"/>
              </a:lnRef>
              <a:fillRef idx="0">
                <a:schemeClr val="dk1"/>
              </a:fillRef>
              <a:effectRef idx="0">
                <a:schemeClr val="dk1"/>
              </a:effectRef>
              <a:fontRef idx="minor">
                <a:schemeClr val="tx1"/>
              </a:fontRef>
            </p:style>
          </p:cxnSp>
          <p:cxnSp>
            <p:nvCxnSpPr>
              <p:cNvPr id="66" name="직선 화살표 연결선 65"/>
              <p:cNvCxnSpPr>
                <a:endCxn id="61" idx="2"/>
              </p:cNvCxnSpPr>
              <p:nvPr/>
            </p:nvCxnSpPr>
            <p:spPr>
              <a:xfrm>
                <a:off x="112306" y="5256956"/>
                <a:ext cx="764380" cy="0"/>
              </a:xfrm>
              <a:prstGeom prst="straightConnector1">
                <a:avLst/>
              </a:prstGeom>
              <a:ln w="19050">
                <a:solidFill>
                  <a:schemeClr val="accent6">
                    <a:lumMod val="50000"/>
                  </a:schemeClr>
                </a:solidFill>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67" name="TextBox 66"/>
              <p:cNvSpPr txBox="1"/>
              <p:nvPr/>
            </p:nvSpPr>
            <p:spPr>
              <a:xfrm>
                <a:off x="428357" y="5871119"/>
                <a:ext cx="1130438" cy="338554"/>
              </a:xfrm>
              <a:prstGeom prst="rect">
                <a:avLst/>
              </a:prstGeom>
              <a:noFill/>
            </p:spPr>
            <p:txBody>
              <a:bodyPr wrap="none" rtlCol="0">
                <a:spAutoFit/>
              </a:bodyPr>
              <a:lstStyle/>
              <a:p>
                <a:r>
                  <a:rPr lang="en-US" altLang="ko-KR" sz="1600" dirty="0">
                    <a:latin typeface="Arial" panose="020B0604020202020204" pitchFamily="34" charset="0"/>
                    <a:cs typeface="Arial" panose="020B0604020202020204" pitchFamily="34" charset="0"/>
                  </a:rPr>
                  <a:t>Indirection</a:t>
                </a:r>
                <a:endParaRPr lang="ko-KR" altLang="en-US" sz="1600" dirty="0">
                  <a:latin typeface="Arial" panose="020B0604020202020204" pitchFamily="34" charset="0"/>
                  <a:cs typeface="Arial" panose="020B0604020202020204" pitchFamily="34" charset="0"/>
                </a:endParaRPr>
              </a:p>
            </p:txBody>
          </p:sp>
        </p:grpSp>
        <p:grpSp>
          <p:nvGrpSpPr>
            <p:cNvPr id="80" name="그룹 79"/>
            <p:cNvGrpSpPr/>
            <p:nvPr/>
          </p:nvGrpSpPr>
          <p:grpSpPr>
            <a:xfrm>
              <a:off x="2090817" y="4680146"/>
              <a:ext cx="1800200" cy="1527904"/>
              <a:chOff x="2090817" y="4680146"/>
              <a:chExt cx="1800200" cy="1527904"/>
            </a:xfrm>
          </p:grpSpPr>
          <p:sp>
            <p:nvSpPr>
              <p:cNvPr id="69" name="모서리가 둥근 직사각형 68"/>
              <p:cNvSpPr/>
              <p:nvPr/>
            </p:nvSpPr>
            <p:spPr bwMode="auto">
              <a:xfrm>
                <a:off x="2997851" y="4680146"/>
                <a:ext cx="893166" cy="1152128"/>
              </a:xfrm>
              <a:prstGeom prst="roundRect">
                <a:avLst/>
              </a:prstGeom>
              <a:gradFill>
                <a:gsLst>
                  <a:gs pos="0">
                    <a:schemeClr val="accent1">
                      <a:shade val="51000"/>
                      <a:satMod val="130000"/>
                    </a:schemeClr>
                  </a:gs>
                  <a:gs pos="100000">
                    <a:schemeClr val="accent1">
                      <a:shade val="94000"/>
                      <a:satMod val="135000"/>
                    </a:schemeClr>
                  </a:gs>
                </a:gsLst>
                <a:lin ang="10800000" scaled="0"/>
              </a:gradFill>
              <a:ln>
                <a:headEnd/>
                <a:tailEnd/>
              </a:ln>
              <a:effectLst/>
            </p:spPr>
            <p:style>
              <a:lnRef idx="1">
                <a:schemeClr val="accent1"/>
              </a:lnRef>
              <a:fillRef idx="3">
                <a:schemeClr val="accent1"/>
              </a:fillRef>
              <a:effectRef idx="2">
                <a:schemeClr val="accent1"/>
              </a:effectRef>
              <a:fontRef idx="minor">
                <a:schemeClr val="lt1"/>
              </a:fontRef>
            </p:style>
            <p:txBody>
              <a:bodyPr wrap="none" lIns="91380" tIns="45692" rIns="91380" bIns="45692" rtlCol="0" anchor="ctr"/>
              <a:lstStyle/>
              <a:p>
                <a:pPr algn="ctr"/>
                <a:endParaRPr lang="ko-KR" altLang="en-US"/>
              </a:p>
            </p:txBody>
          </p:sp>
          <p:sp>
            <p:nvSpPr>
              <p:cNvPr id="70" name="타원 69"/>
              <p:cNvSpPr/>
              <p:nvPr/>
            </p:nvSpPr>
            <p:spPr bwMode="auto">
              <a:xfrm>
                <a:off x="2855197" y="5112194"/>
                <a:ext cx="288032" cy="288032"/>
              </a:xfrm>
              <a:prstGeom prst="ellipse">
                <a:avLst/>
              </a:prstGeom>
              <a:ln>
                <a:noFill/>
                <a:headEnd/>
                <a:tailEnd/>
              </a:ln>
              <a:effectLst/>
            </p:spPr>
            <p:style>
              <a:lnRef idx="1">
                <a:schemeClr val="accent4"/>
              </a:lnRef>
              <a:fillRef idx="3">
                <a:schemeClr val="accent4"/>
              </a:fillRef>
              <a:effectRef idx="2">
                <a:schemeClr val="accent4"/>
              </a:effectRef>
              <a:fontRef idx="minor">
                <a:schemeClr val="lt1"/>
              </a:fontRef>
            </p:style>
            <p:txBody>
              <a:bodyPr wrap="none" lIns="91380" tIns="45692" rIns="91380" bIns="45692" rtlCol="0" anchor="ctr"/>
              <a:lstStyle/>
              <a:p>
                <a:pPr algn="ctr"/>
                <a:endParaRPr lang="ko-KR" altLang="en-US"/>
              </a:p>
            </p:txBody>
          </p:sp>
          <p:sp>
            <p:nvSpPr>
              <p:cNvPr id="71" name="모서리가 둥근 직사각형 70"/>
              <p:cNvSpPr/>
              <p:nvPr/>
            </p:nvSpPr>
            <p:spPr bwMode="auto">
              <a:xfrm>
                <a:off x="3512505" y="4814926"/>
                <a:ext cx="216024" cy="216024"/>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wrap="none" lIns="91380" tIns="45692" rIns="91380" bIns="45692" rtlCol="0" anchor="ctr"/>
              <a:lstStyle/>
              <a:p>
                <a:pPr algn="ctr"/>
                <a:endParaRPr lang="ko-KR" altLang="en-US"/>
              </a:p>
            </p:txBody>
          </p:sp>
          <p:sp>
            <p:nvSpPr>
              <p:cNvPr id="72" name="모서리가 둥근 직사각형 71"/>
              <p:cNvSpPr/>
              <p:nvPr/>
            </p:nvSpPr>
            <p:spPr bwMode="auto">
              <a:xfrm>
                <a:off x="3512505" y="5148198"/>
                <a:ext cx="216024" cy="216024"/>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wrap="none" lIns="91380" tIns="45692" rIns="91380" bIns="45692" rtlCol="0" anchor="ctr"/>
              <a:lstStyle/>
              <a:p>
                <a:pPr algn="ctr"/>
                <a:endParaRPr lang="ko-KR" altLang="en-US"/>
              </a:p>
            </p:txBody>
          </p:sp>
          <p:sp>
            <p:nvSpPr>
              <p:cNvPr id="73" name="모서리가 둥근 직사각형 72"/>
              <p:cNvSpPr/>
              <p:nvPr/>
            </p:nvSpPr>
            <p:spPr bwMode="auto">
              <a:xfrm>
                <a:off x="3512505" y="5481470"/>
                <a:ext cx="216024" cy="216024"/>
              </a:xfrm>
              <a:prstGeom prst="roundRect">
                <a:avLst/>
              </a:prstGeom>
              <a:ln>
                <a:headEnd/>
                <a:tailEnd/>
              </a:ln>
            </p:spPr>
            <p:style>
              <a:lnRef idx="2">
                <a:schemeClr val="accent5"/>
              </a:lnRef>
              <a:fillRef idx="1">
                <a:schemeClr val="lt1"/>
              </a:fillRef>
              <a:effectRef idx="0">
                <a:schemeClr val="accent5"/>
              </a:effectRef>
              <a:fontRef idx="minor">
                <a:schemeClr val="dk1"/>
              </a:fontRef>
            </p:style>
            <p:txBody>
              <a:bodyPr wrap="none" lIns="91380" tIns="45692" rIns="91380" bIns="45692" rtlCol="0" anchor="ctr"/>
              <a:lstStyle/>
              <a:p>
                <a:pPr algn="ctr"/>
                <a:endParaRPr lang="ko-KR" altLang="en-US"/>
              </a:p>
            </p:txBody>
          </p:sp>
          <p:cxnSp>
            <p:nvCxnSpPr>
              <p:cNvPr id="74" name="직선 화살표 연결선 73"/>
              <p:cNvCxnSpPr>
                <a:stCxn id="70" idx="6"/>
                <a:endCxn id="71" idx="1"/>
              </p:cNvCxnSpPr>
              <p:nvPr/>
            </p:nvCxnSpPr>
            <p:spPr>
              <a:xfrm flipV="1">
                <a:off x="3143229" y="4922938"/>
                <a:ext cx="369276" cy="333272"/>
              </a:xfrm>
              <a:prstGeom prst="straightConnector1">
                <a:avLst/>
              </a:prstGeom>
              <a:ln>
                <a:solidFill>
                  <a:srgbClr val="FFFF00"/>
                </a:solidFill>
                <a:headEnd type="none"/>
                <a:tailEnd type="triangle"/>
              </a:ln>
            </p:spPr>
            <p:style>
              <a:lnRef idx="1">
                <a:schemeClr val="dk1"/>
              </a:lnRef>
              <a:fillRef idx="0">
                <a:schemeClr val="dk1"/>
              </a:fillRef>
              <a:effectRef idx="0">
                <a:schemeClr val="dk1"/>
              </a:effectRef>
              <a:fontRef idx="minor">
                <a:schemeClr val="tx1"/>
              </a:fontRef>
            </p:style>
          </p:cxnSp>
          <p:cxnSp>
            <p:nvCxnSpPr>
              <p:cNvPr id="75" name="직선 화살표 연결선 74"/>
              <p:cNvCxnSpPr>
                <a:endCxn id="70" idx="2"/>
              </p:cNvCxnSpPr>
              <p:nvPr/>
            </p:nvCxnSpPr>
            <p:spPr>
              <a:xfrm>
                <a:off x="2090817" y="5256210"/>
                <a:ext cx="764380" cy="0"/>
              </a:xfrm>
              <a:prstGeom prst="straightConnector1">
                <a:avLst/>
              </a:prstGeom>
              <a:ln w="19050">
                <a:solidFill>
                  <a:schemeClr val="accent6">
                    <a:lumMod val="50000"/>
                  </a:schemeClr>
                </a:solidFill>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76" name="직선 화살표 연결선 75"/>
              <p:cNvCxnSpPr>
                <a:stCxn id="70" idx="6"/>
              </p:cNvCxnSpPr>
              <p:nvPr/>
            </p:nvCxnSpPr>
            <p:spPr>
              <a:xfrm>
                <a:off x="3143229" y="5256210"/>
                <a:ext cx="369276" cy="0"/>
              </a:xfrm>
              <a:prstGeom prst="straightConnector1">
                <a:avLst/>
              </a:prstGeom>
              <a:ln>
                <a:solidFill>
                  <a:srgbClr val="FFFF00"/>
                </a:solidFill>
                <a:prstDash val="dash"/>
                <a:headEnd type="none"/>
                <a:tailEnd type="triangle"/>
              </a:ln>
            </p:spPr>
            <p:style>
              <a:lnRef idx="1">
                <a:schemeClr val="dk1"/>
              </a:lnRef>
              <a:fillRef idx="0">
                <a:schemeClr val="dk1"/>
              </a:fillRef>
              <a:effectRef idx="0">
                <a:schemeClr val="dk1"/>
              </a:effectRef>
              <a:fontRef idx="minor">
                <a:schemeClr val="tx1"/>
              </a:fontRef>
            </p:style>
          </p:cxnSp>
          <p:cxnSp>
            <p:nvCxnSpPr>
              <p:cNvPr id="77" name="직선 화살표 연결선 76"/>
              <p:cNvCxnSpPr>
                <a:endCxn id="73" idx="1"/>
              </p:cNvCxnSpPr>
              <p:nvPr/>
            </p:nvCxnSpPr>
            <p:spPr>
              <a:xfrm>
                <a:off x="3143229" y="5256210"/>
                <a:ext cx="369276" cy="333272"/>
              </a:xfrm>
              <a:prstGeom prst="straightConnector1">
                <a:avLst/>
              </a:prstGeom>
              <a:ln>
                <a:solidFill>
                  <a:srgbClr val="FFFF00"/>
                </a:solidFill>
                <a:prstDash val="dash"/>
                <a:headEnd type="none"/>
                <a:tailEnd type="triangle"/>
              </a:ln>
            </p:spPr>
            <p:style>
              <a:lnRef idx="1">
                <a:schemeClr val="dk1"/>
              </a:lnRef>
              <a:fillRef idx="0">
                <a:schemeClr val="dk1"/>
              </a:fillRef>
              <a:effectRef idx="0">
                <a:schemeClr val="dk1"/>
              </a:effectRef>
              <a:fontRef idx="minor">
                <a:schemeClr val="tx1"/>
              </a:fontRef>
            </p:style>
          </p:cxnSp>
          <p:sp>
            <p:nvSpPr>
              <p:cNvPr id="78" name="아래로 구부러진 화살표 77"/>
              <p:cNvSpPr/>
              <p:nvPr/>
            </p:nvSpPr>
            <p:spPr bwMode="auto">
              <a:xfrm rot="5400000">
                <a:off x="3078128" y="5154208"/>
                <a:ext cx="374495" cy="225260"/>
              </a:xfrm>
              <a:prstGeom prst="curvedDownArrow">
                <a:avLst/>
              </a:prstGeom>
              <a:ln>
                <a:headEnd/>
                <a:tailEnd/>
              </a:ln>
              <a:effectLst/>
            </p:spPr>
            <p:style>
              <a:lnRef idx="2">
                <a:schemeClr val="accent5"/>
              </a:lnRef>
              <a:fillRef idx="1">
                <a:schemeClr val="lt1"/>
              </a:fillRef>
              <a:effectRef idx="0">
                <a:schemeClr val="accent5"/>
              </a:effectRef>
              <a:fontRef idx="minor">
                <a:schemeClr val="dk1"/>
              </a:fontRef>
            </p:style>
            <p:txBody>
              <a:bodyPr wrap="none" lIns="91380" tIns="45692" rIns="91380" bIns="45692" rtlCol="0" anchor="ctr"/>
              <a:lstStyle/>
              <a:p>
                <a:pPr algn="ctr"/>
                <a:endParaRPr lang="ko-KR" altLang="en-US"/>
              </a:p>
            </p:txBody>
          </p:sp>
          <p:sp>
            <p:nvSpPr>
              <p:cNvPr id="79" name="TextBox 78"/>
              <p:cNvSpPr txBox="1"/>
              <p:nvPr/>
            </p:nvSpPr>
            <p:spPr>
              <a:xfrm>
                <a:off x="2494859" y="5869496"/>
                <a:ext cx="1072730" cy="338554"/>
              </a:xfrm>
              <a:prstGeom prst="rect">
                <a:avLst/>
              </a:prstGeom>
              <a:noFill/>
            </p:spPr>
            <p:txBody>
              <a:bodyPr wrap="none" rtlCol="0">
                <a:spAutoFit/>
              </a:bodyPr>
              <a:lstStyle/>
              <a:p>
                <a:r>
                  <a:rPr lang="en-US" altLang="ko-KR" sz="1600" dirty="0">
                    <a:latin typeface="Arial" panose="020B0604020202020204" pitchFamily="34" charset="0"/>
                    <a:cs typeface="Arial" panose="020B0604020202020204" pitchFamily="34" charset="0"/>
                  </a:rPr>
                  <a:t>Rerouting</a:t>
                </a:r>
                <a:endParaRPr lang="ko-KR" altLang="en-US" sz="1600" dirty="0">
                  <a:latin typeface="Arial" panose="020B0604020202020204" pitchFamily="34" charset="0"/>
                  <a:cs typeface="Arial" panose="020B0604020202020204" pitchFamily="34" charset="0"/>
                </a:endParaRPr>
              </a:p>
            </p:txBody>
          </p:sp>
        </p:grpSp>
      </p:grpSp>
    </p:spTree>
    <p:extLst>
      <p:ext uri="{BB962C8B-B14F-4D97-AF65-F5344CB8AC3E}">
        <p14:creationId xmlns:p14="http://schemas.microsoft.com/office/powerpoint/2010/main" val="113891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389608" y="-39722"/>
            <a:ext cx="10515600" cy="931725"/>
          </a:xfrm>
        </p:spPr>
        <p:txBody>
          <a:bodyPr/>
          <a:lstStyle/>
          <a:p>
            <a:r>
              <a:rPr lang="en-US" altLang="ko-KR" dirty="0" err="1"/>
              <a:t>OpenFlow</a:t>
            </a:r>
            <a:r>
              <a:rPr lang="en-US" altLang="ko-KR" dirty="0"/>
              <a:t> Group Table</a:t>
            </a:r>
            <a:endParaRPr lang="ko-KR" altLang="en-US" dirty="0"/>
          </a:p>
        </p:txBody>
      </p:sp>
      <p:sp>
        <p:nvSpPr>
          <p:cNvPr id="3" name="내용 개체 틀 2"/>
          <p:cNvSpPr>
            <a:spLocks noGrp="1"/>
          </p:cNvSpPr>
          <p:nvPr>
            <p:ph idx="1"/>
          </p:nvPr>
        </p:nvSpPr>
        <p:spPr>
          <a:xfrm>
            <a:off x="1839589" y="954861"/>
            <a:ext cx="8512822" cy="1010090"/>
          </a:xfrm>
        </p:spPr>
        <p:txBody>
          <a:bodyPr>
            <a:normAutofit/>
          </a:bodyPr>
          <a:lstStyle/>
          <a:p>
            <a:r>
              <a:rPr lang="en-US" altLang="ko-KR" sz="2400" dirty="0"/>
              <a:t>Multicast</a:t>
            </a:r>
          </a:p>
          <a:p>
            <a:pPr lvl="1"/>
            <a:r>
              <a:rPr lang="en-US" altLang="ko-KR" sz="2000" dirty="0"/>
              <a:t>Type=all</a:t>
            </a:r>
          </a:p>
          <a:p>
            <a:pPr lvl="1"/>
            <a:endParaRPr lang="en-US" altLang="ko-KR" sz="2000" dirty="0"/>
          </a:p>
          <a:p>
            <a:pPr lvl="1"/>
            <a:endParaRPr lang="en-US" altLang="ko-KR" sz="2000" dirty="0"/>
          </a:p>
          <a:p>
            <a:pPr lvl="1"/>
            <a:endParaRPr lang="en-US" altLang="ko-KR" sz="2000" dirty="0"/>
          </a:p>
          <a:p>
            <a:pPr lvl="1"/>
            <a:endParaRPr lang="en-US" altLang="ko-KR" sz="2000" dirty="0"/>
          </a:p>
          <a:p>
            <a:pPr lvl="1"/>
            <a:endParaRPr lang="en-US" altLang="ko-KR" sz="2000" dirty="0"/>
          </a:p>
        </p:txBody>
      </p:sp>
      <p:pic>
        <p:nvPicPr>
          <p:cNvPr id="8" name="Picture 2"/>
          <p:cNvPicPr>
            <a:picLocks noChangeAspect="1" noChangeArrowheads="1"/>
          </p:cNvPicPr>
          <p:nvPr/>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brightnessContrast bright="49000"/>
                    </a14:imgEffect>
                  </a14:imgLayer>
                </a14:imgProps>
              </a:ext>
              <a:ext uri="{28A0092B-C50C-407E-A947-70E740481C1C}">
                <a14:useLocalDpi xmlns:a14="http://schemas.microsoft.com/office/drawing/2010/main" val="0"/>
              </a:ext>
            </a:extLst>
          </a:blip>
          <a:srcRect/>
          <a:stretch>
            <a:fillRect/>
          </a:stretch>
        </p:blipFill>
        <p:spPr bwMode="auto">
          <a:xfrm>
            <a:off x="2940075" y="4587251"/>
            <a:ext cx="899067" cy="713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6"/>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flipH="1">
            <a:off x="6820884" y="4693856"/>
            <a:ext cx="999292" cy="514780"/>
          </a:xfrm>
          <a:prstGeom prst="rect">
            <a:avLst/>
          </a:prstGeom>
          <a:noFill/>
          <a:ln w="3175" algn="ctr">
            <a:noFill/>
            <a:miter lim="800000"/>
            <a:headEnd/>
            <a:tailEnd/>
          </a:ln>
          <a:effectLst/>
        </p:spPr>
      </p:pic>
      <p:cxnSp>
        <p:nvCxnSpPr>
          <p:cNvPr id="13" name="직선 연결선 12"/>
          <p:cNvCxnSpPr/>
          <p:nvPr/>
        </p:nvCxnSpPr>
        <p:spPr>
          <a:xfrm>
            <a:off x="3701329" y="4946778"/>
            <a:ext cx="14824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직선 연결선 13"/>
          <p:cNvCxnSpPr>
            <a:endCxn id="10" idx="3"/>
          </p:cNvCxnSpPr>
          <p:nvPr/>
        </p:nvCxnSpPr>
        <p:spPr>
          <a:xfrm>
            <a:off x="6183026" y="4946778"/>
            <a:ext cx="637859" cy="44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 14"/>
          <p:cNvCxnSpPr/>
          <p:nvPr/>
        </p:nvCxnSpPr>
        <p:spPr>
          <a:xfrm>
            <a:off x="7757528" y="5078962"/>
            <a:ext cx="1100557" cy="11516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직선 연결선 15"/>
          <p:cNvCxnSpPr/>
          <p:nvPr/>
        </p:nvCxnSpPr>
        <p:spPr>
          <a:xfrm flipV="1">
            <a:off x="7820177" y="4689389"/>
            <a:ext cx="1038203" cy="1858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직선 연결선 16"/>
          <p:cNvCxnSpPr>
            <a:endCxn id="133" idx="1"/>
          </p:cNvCxnSpPr>
          <p:nvPr/>
        </p:nvCxnSpPr>
        <p:spPr>
          <a:xfrm>
            <a:off x="7784090" y="4979208"/>
            <a:ext cx="1073995" cy="5258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9" name="표 108"/>
          <p:cNvGraphicFramePr>
            <a:graphicFrameLocks noGrp="1"/>
          </p:cNvGraphicFramePr>
          <p:nvPr/>
        </p:nvGraphicFramePr>
        <p:xfrm>
          <a:off x="5699910" y="1347807"/>
          <a:ext cx="4642566" cy="741680"/>
        </p:xfrm>
        <a:graphic>
          <a:graphicData uri="http://schemas.openxmlformats.org/drawingml/2006/table">
            <a:tbl>
              <a:tblPr>
                <a:tableStyleId>{D7AC3CCA-C797-4891-BE02-D94E43425B78}</a:tableStyleId>
              </a:tblPr>
              <a:tblGrid>
                <a:gridCol w="965915">
                  <a:extLst>
                    <a:ext uri="{9D8B030D-6E8A-4147-A177-3AD203B41FA5}">
                      <a16:colId xmlns:a16="http://schemas.microsoft.com/office/drawing/2014/main" val="20000"/>
                    </a:ext>
                  </a:extLst>
                </a:gridCol>
                <a:gridCol w="1123950">
                  <a:extLst>
                    <a:ext uri="{9D8B030D-6E8A-4147-A177-3AD203B41FA5}">
                      <a16:colId xmlns:a16="http://schemas.microsoft.com/office/drawing/2014/main" val="20001"/>
                    </a:ext>
                  </a:extLst>
                </a:gridCol>
                <a:gridCol w="847725">
                  <a:extLst>
                    <a:ext uri="{9D8B030D-6E8A-4147-A177-3AD203B41FA5}">
                      <a16:colId xmlns:a16="http://schemas.microsoft.com/office/drawing/2014/main" val="20002"/>
                    </a:ext>
                  </a:extLst>
                </a:gridCol>
                <a:gridCol w="1704976">
                  <a:extLst>
                    <a:ext uri="{9D8B030D-6E8A-4147-A177-3AD203B41FA5}">
                      <a16:colId xmlns:a16="http://schemas.microsoft.com/office/drawing/2014/main" val="20003"/>
                    </a:ext>
                  </a:extLst>
                </a:gridCol>
              </a:tblGrid>
              <a:tr h="370840">
                <a:tc>
                  <a:txBody>
                    <a:bodyPr/>
                    <a:lstStyle/>
                    <a:p>
                      <a:pPr algn="ctr" latinLnBrk="1"/>
                      <a:r>
                        <a:rPr lang="en-US" altLang="ko-KR" sz="1400" dirty="0">
                          <a:latin typeface="Arial" panose="020B0604020202020204" pitchFamily="34" charset="0"/>
                          <a:cs typeface="Arial" panose="020B0604020202020204" pitchFamily="34" charset="0"/>
                        </a:rPr>
                        <a:t>Group ID</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Group Type</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Counter</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Action</a:t>
                      </a:r>
                      <a:r>
                        <a:rPr lang="en-US" altLang="ko-KR" sz="1400" baseline="0" dirty="0">
                          <a:latin typeface="Arial" panose="020B0604020202020204" pitchFamily="34" charset="0"/>
                          <a:cs typeface="Arial" panose="020B0604020202020204" pitchFamily="34" charset="0"/>
                        </a:rPr>
                        <a:t> Buckets</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pPr algn="ctr" latinLnBrk="1"/>
                      <a:r>
                        <a:rPr lang="en-US" altLang="ko-KR" sz="1400" dirty="0">
                          <a:latin typeface="Arial" panose="020B0604020202020204" pitchFamily="34" charset="0"/>
                          <a:cs typeface="Arial" panose="020B0604020202020204" pitchFamily="34" charset="0"/>
                        </a:rPr>
                        <a:t>100</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All</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999</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Port</a:t>
                      </a:r>
                      <a:r>
                        <a:rPr lang="en-US" altLang="ko-KR" sz="1400" baseline="0" dirty="0">
                          <a:latin typeface="Arial" panose="020B0604020202020204" pitchFamily="34" charset="0"/>
                          <a:cs typeface="Arial" panose="020B0604020202020204" pitchFamily="34" charset="0"/>
                        </a:rPr>
                        <a:t>2, Port3, Port4</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sp>
        <p:nvSpPr>
          <p:cNvPr id="110" name="TextBox 109"/>
          <p:cNvSpPr txBox="1"/>
          <p:nvPr/>
        </p:nvSpPr>
        <p:spPr>
          <a:xfrm>
            <a:off x="5683380" y="957348"/>
            <a:ext cx="1437317"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Group Table</a:t>
            </a:r>
            <a:endParaRPr lang="ko-KR" altLang="en-US" dirty="0">
              <a:latin typeface="Arial" panose="020B0604020202020204" pitchFamily="34" charset="0"/>
              <a:cs typeface="Arial" panose="020B0604020202020204" pitchFamily="34" charset="0"/>
            </a:endParaRPr>
          </a:p>
        </p:txBody>
      </p:sp>
      <p:graphicFrame>
        <p:nvGraphicFramePr>
          <p:cNvPr id="111" name="표 110"/>
          <p:cNvGraphicFramePr>
            <a:graphicFrameLocks noGrp="1"/>
          </p:cNvGraphicFramePr>
          <p:nvPr/>
        </p:nvGraphicFramePr>
        <p:xfrm>
          <a:off x="1813523" y="2522651"/>
          <a:ext cx="8515356" cy="1407160"/>
        </p:xfrm>
        <a:graphic>
          <a:graphicData uri="http://schemas.openxmlformats.org/drawingml/2006/table">
            <a:tbl>
              <a:tblPr>
                <a:tableStyleId>{D7AC3CCA-C797-4891-BE02-D94E43425B78}</a:tableStyleId>
              </a:tblPr>
              <a:tblGrid>
                <a:gridCol w="742952">
                  <a:extLst>
                    <a:ext uri="{9D8B030D-6E8A-4147-A177-3AD203B41FA5}">
                      <a16:colId xmlns:a16="http://schemas.microsoft.com/office/drawing/2014/main" val="20000"/>
                    </a:ext>
                  </a:extLst>
                </a:gridCol>
                <a:gridCol w="777275">
                  <a:extLst>
                    <a:ext uri="{9D8B030D-6E8A-4147-A177-3AD203B41FA5}">
                      <a16:colId xmlns:a16="http://schemas.microsoft.com/office/drawing/2014/main" val="20001"/>
                    </a:ext>
                  </a:extLst>
                </a:gridCol>
                <a:gridCol w="8610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666750">
                  <a:extLst>
                    <a:ext uri="{9D8B030D-6E8A-4147-A177-3AD203B41FA5}">
                      <a16:colId xmlns:a16="http://schemas.microsoft.com/office/drawing/2014/main" val="20005"/>
                    </a:ext>
                  </a:extLst>
                </a:gridCol>
                <a:gridCol w="733425">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gridCol w="733425">
                  <a:extLst>
                    <a:ext uri="{9D8B030D-6E8A-4147-A177-3AD203B41FA5}">
                      <a16:colId xmlns:a16="http://schemas.microsoft.com/office/drawing/2014/main" val="20009"/>
                    </a:ext>
                  </a:extLst>
                </a:gridCol>
                <a:gridCol w="723904">
                  <a:extLst>
                    <a:ext uri="{9D8B030D-6E8A-4147-A177-3AD203B41FA5}">
                      <a16:colId xmlns:a16="http://schemas.microsoft.com/office/drawing/2014/main" val="20010"/>
                    </a:ext>
                  </a:extLst>
                </a:gridCol>
              </a:tblGrid>
              <a:tr h="370840">
                <a:tc>
                  <a:txBody>
                    <a:bodyPr/>
                    <a:lstStyle/>
                    <a:p>
                      <a:pPr algn="ctr" latinLnBrk="1"/>
                      <a:r>
                        <a:rPr lang="en-US" altLang="ko-KR" sz="1400" dirty="0">
                          <a:latin typeface="Arial" panose="020B0604020202020204" pitchFamily="34" charset="0"/>
                          <a:cs typeface="Arial" panose="020B0604020202020204" pitchFamily="34" charset="0"/>
                        </a:rPr>
                        <a:t>Switch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MAC </a:t>
                      </a:r>
                      <a:r>
                        <a:rPr lang="en-US" altLang="ko-KR" sz="1400" dirty="0" err="1">
                          <a:latin typeface="Arial" panose="020B0604020202020204" pitchFamily="34" charset="0"/>
                          <a:cs typeface="Arial" panose="020B0604020202020204" pitchFamily="34" charset="0"/>
                        </a:rPr>
                        <a:t>src</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MAC </a:t>
                      </a:r>
                      <a:r>
                        <a:rPr lang="en-US" altLang="ko-KR" sz="1400" dirty="0" err="1">
                          <a:latin typeface="Arial" panose="020B0604020202020204" pitchFamily="34" charset="0"/>
                          <a:cs typeface="Arial" panose="020B0604020202020204" pitchFamily="34" charset="0"/>
                        </a:rPr>
                        <a:t>dst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Ether Type</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VLAN ID</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err="1">
                          <a:latin typeface="Arial" panose="020B0604020202020204" pitchFamily="34" charset="0"/>
                          <a:cs typeface="Arial" panose="020B0604020202020204" pitchFamily="34" charset="0"/>
                        </a:rPr>
                        <a:t>Src</a:t>
                      </a:r>
                      <a:r>
                        <a:rPr lang="en-US" altLang="ko-KR" sz="1400" dirty="0">
                          <a:latin typeface="Arial" panose="020B0604020202020204" pitchFamily="34" charset="0"/>
                          <a:cs typeface="Arial" panose="020B0604020202020204" pitchFamily="34" charset="0"/>
                        </a:rPr>
                        <a:t> IP</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err="1">
                          <a:latin typeface="Arial" panose="020B0604020202020204" pitchFamily="34" charset="0"/>
                          <a:cs typeface="Arial" panose="020B0604020202020204" pitchFamily="34" charset="0"/>
                        </a:rPr>
                        <a:t>Dst</a:t>
                      </a:r>
                      <a:r>
                        <a:rPr lang="en-US" altLang="ko-KR" sz="1400" dirty="0">
                          <a:latin typeface="Arial" panose="020B0604020202020204" pitchFamily="34" charset="0"/>
                          <a:cs typeface="Arial" panose="020B0604020202020204" pitchFamily="34" charset="0"/>
                        </a:rPr>
                        <a:t> IP</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Proto No.</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TCP S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TCP D</a:t>
                      </a:r>
                      <a:r>
                        <a:rPr lang="en-US" altLang="ko-KR" sz="1400" baseline="0" dirty="0">
                          <a:latin typeface="Arial" panose="020B0604020202020204" pitchFamily="34" charset="0"/>
                          <a:cs typeface="Arial" panose="020B0604020202020204" pitchFamily="34" charset="0"/>
                        </a:rPr>
                        <a:t>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Action</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00:FF:..</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Port 6</a:t>
                      </a:r>
                      <a:endParaRPr lang="ko-KR" altLang="en-US" sz="1400" dirty="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10001"/>
                  </a:ext>
                </a:extLst>
              </a:tr>
              <a:tr h="370840">
                <a:tc>
                  <a:txBody>
                    <a:bodyPr/>
                    <a:lstStyle/>
                    <a:p>
                      <a:pPr algn="ctr" latinLnBrk="1"/>
                      <a:r>
                        <a:rPr lang="en-US" altLang="ko-KR" sz="1400" dirty="0">
                          <a:latin typeface="Arial" panose="020B0604020202020204" pitchFamily="34" charset="0"/>
                          <a:cs typeface="Arial" panose="020B0604020202020204" pitchFamily="34" charset="0"/>
                        </a:rPr>
                        <a:t>Port</a:t>
                      </a:r>
                      <a:r>
                        <a:rPr lang="en-US" altLang="ko-KR" sz="1400" baseline="0" dirty="0">
                          <a:latin typeface="Arial" panose="020B0604020202020204" pitchFamily="34" charset="0"/>
                          <a:cs typeface="Arial" panose="020B0604020202020204" pitchFamily="34" charset="0"/>
                        </a:rPr>
                        <a:t> 1</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0800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224…</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224…</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4</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4566</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6633</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Group 100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extLst>
                  <a:ext uri="{0D108BD9-81ED-4DB2-BD59-A6C34878D82A}">
                    <a16:rowId xmlns:a16="http://schemas.microsoft.com/office/drawing/2014/main" val="10002"/>
                  </a:ext>
                </a:extLst>
              </a:tr>
            </a:tbl>
          </a:graphicData>
        </a:graphic>
      </p:graphicFrame>
      <p:cxnSp>
        <p:nvCxnSpPr>
          <p:cNvPr id="115" name="직선 연결선 114"/>
          <p:cNvCxnSpPr/>
          <p:nvPr/>
        </p:nvCxnSpPr>
        <p:spPr>
          <a:xfrm>
            <a:off x="1839589" y="3933825"/>
            <a:ext cx="5370836" cy="78105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7" name="직선 연결선 116"/>
          <p:cNvCxnSpPr/>
          <p:nvPr/>
        </p:nvCxnSpPr>
        <p:spPr>
          <a:xfrm flipV="1">
            <a:off x="7757527" y="3947954"/>
            <a:ext cx="2551436" cy="80962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6" name="꺾인 연결선 125"/>
          <p:cNvCxnSpPr/>
          <p:nvPr/>
        </p:nvCxnSpPr>
        <p:spPr>
          <a:xfrm flipH="1" flipV="1">
            <a:off x="5695951" y="1895476"/>
            <a:ext cx="4619625" cy="1776413"/>
          </a:xfrm>
          <a:prstGeom prst="bentConnector5">
            <a:avLst>
              <a:gd name="adj1" fmla="val -4948"/>
              <a:gd name="adj2" fmla="val 75603"/>
              <a:gd name="adj3" fmla="val 104948"/>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pic>
        <p:nvPicPr>
          <p:cNvPr id="129" name="Picture 5" descr="VMW_ICON_MonitorWide_2D(F).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58085" y="4485616"/>
            <a:ext cx="685099" cy="557601"/>
          </a:xfrm>
          <a:prstGeom prst="rect">
            <a:avLst/>
          </a:prstGeom>
        </p:spPr>
      </p:pic>
      <p:pic>
        <p:nvPicPr>
          <p:cNvPr id="133" name="Picture 5" descr="VMW_ICON_MonitorWide_2D(F).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58085" y="5226218"/>
            <a:ext cx="685099" cy="557601"/>
          </a:xfrm>
          <a:prstGeom prst="rect">
            <a:avLst/>
          </a:prstGeom>
        </p:spPr>
      </p:pic>
      <p:pic>
        <p:nvPicPr>
          <p:cNvPr id="134" name="Picture 5" descr="VMW_ICON_MonitorWide_2D(F).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58085" y="5951804"/>
            <a:ext cx="685099" cy="557601"/>
          </a:xfrm>
          <a:prstGeom prst="rect">
            <a:avLst/>
          </a:prstGeom>
        </p:spPr>
      </p:pic>
      <p:sp>
        <p:nvSpPr>
          <p:cNvPr id="136" name="TextBox 135"/>
          <p:cNvSpPr txBox="1"/>
          <p:nvPr/>
        </p:nvSpPr>
        <p:spPr>
          <a:xfrm>
            <a:off x="1752900" y="2139424"/>
            <a:ext cx="1283428"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Flow Table</a:t>
            </a:r>
            <a:endParaRPr lang="ko-KR" altLang="en-US" dirty="0">
              <a:latin typeface="Arial" panose="020B0604020202020204" pitchFamily="34" charset="0"/>
              <a:cs typeface="Arial" panose="020B0604020202020204" pitchFamily="34" charset="0"/>
            </a:endParaRPr>
          </a:p>
        </p:txBody>
      </p:sp>
      <p:sp>
        <p:nvSpPr>
          <p:cNvPr id="137" name="타원 136"/>
          <p:cNvSpPr/>
          <p:nvPr/>
        </p:nvSpPr>
        <p:spPr>
          <a:xfrm>
            <a:off x="8127333" y="4652349"/>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2</a:t>
            </a:r>
            <a:endParaRPr lang="ko-KR" altLang="en-US" dirty="0">
              <a:latin typeface="Arial" panose="020B0604020202020204" pitchFamily="34" charset="0"/>
              <a:cs typeface="Arial" panose="020B0604020202020204" pitchFamily="34" charset="0"/>
            </a:endParaRPr>
          </a:p>
        </p:txBody>
      </p:sp>
      <p:sp>
        <p:nvSpPr>
          <p:cNvPr id="138" name="타원 137"/>
          <p:cNvSpPr/>
          <p:nvPr/>
        </p:nvSpPr>
        <p:spPr>
          <a:xfrm>
            <a:off x="8127333" y="5043216"/>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3</a:t>
            </a:r>
            <a:endParaRPr lang="ko-KR" altLang="en-US" dirty="0">
              <a:latin typeface="Arial" panose="020B0604020202020204" pitchFamily="34" charset="0"/>
              <a:cs typeface="Arial" panose="020B0604020202020204" pitchFamily="34" charset="0"/>
            </a:endParaRPr>
          </a:p>
        </p:txBody>
      </p:sp>
      <p:sp>
        <p:nvSpPr>
          <p:cNvPr id="139" name="타원 138"/>
          <p:cNvSpPr/>
          <p:nvPr/>
        </p:nvSpPr>
        <p:spPr>
          <a:xfrm>
            <a:off x="8127333" y="5491413"/>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4</a:t>
            </a:r>
            <a:endParaRPr lang="ko-KR" altLang="en-US" dirty="0">
              <a:latin typeface="Arial" panose="020B0604020202020204" pitchFamily="34" charset="0"/>
              <a:cs typeface="Arial" panose="020B0604020202020204" pitchFamily="34" charset="0"/>
            </a:endParaRPr>
          </a:p>
        </p:txBody>
      </p:sp>
      <p:sp>
        <p:nvSpPr>
          <p:cNvPr id="140" name="타원 139"/>
          <p:cNvSpPr/>
          <p:nvPr/>
        </p:nvSpPr>
        <p:spPr>
          <a:xfrm>
            <a:off x="6423342" y="4770171"/>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1</a:t>
            </a:r>
            <a:endParaRPr lang="ko-KR" altLang="en-US" dirty="0">
              <a:latin typeface="Arial" panose="020B0604020202020204" pitchFamily="34" charset="0"/>
              <a:cs typeface="Arial" panose="020B0604020202020204" pitchFamily="34" charset="0"/>
            </a:endParaRPr>
          </a:p>
        </p:txBody>
      </p:sp>
      <p:pic>
        <p:nvPicPr>
          <p:cNvPr id="27" name="Picture 46"/>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flipH="1">
            <a:off x="5183733" y="4689388"/>
            <a:ext cx="999292" cy="514780"/>
          </a:xfrm>
          <a:prstGeom prst="rect">
            <a:avLst/>
          </a:prstGeom>
          <a:noFill/>
          <a:ln w="3175" algn="ctr">
            <a:noFill/>
            <a:miter lim="800000"/>
            <a:headEnd/>
            <a:tailEnd/>
          </a:ln>
          <a:effectLst/>
        </p:spPr>
      </p:pic>
    </p:spTree>
    <p:extLst>
      <p:ext uri="{BB962C8B-B14F-4D97-AF65-F5344CB8AC3E}">
        <p14:creationId xmlns:p14="http://schemas.microsoft.com/office/powerpoint/2010/main" val="4119472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499727" y="-34982"/>
            <a:ext cx="10515600" cy="931725"/>
          </a:xfrm>
        </p:spPr>
        <p:txBody>
          <a:bodyPr/>
          <a:lstStyle/>
          <a:p>
            <a:r>
              <a:rPr lang="en-US" altLang="ko-KR" dirty="0" err="1"/>
              <a:t>OpenFlow</a:t>
            </a:r>
            <a:r>
              <a:rPr lang="en-US" altLang="ko-KR" dirty="0"/>
              <a:t> Group Table</a:t>
            </a:r>
            <a:endParaRPr lang="ko-KR" altLang="en-US" dirty="0"/>
          </a:p>
        </p:txBody>
      </p:sp>
      <p:sp>
        <p:nvSpPr>
          <p:cNvPr id="3" name="내용 개체 틀 2"/>
          <p:cNvSpPr>
            <a:spLocks noGrp="1"/>
          </p:cNvSpPr>
          <p:nvPr>
            <p:ph idx="1"/>
          </p:nvPr>
        </p:nvSpPr>
        <p:spPr>
          <a:xfrm>
            <a:off x="616974" y="963844"/>
            <a:ext cx="10515600" cy="4351338"/>
          </a:xfrm>
        </p:spPr>
        <p:txBody>
          <a:bodyPr>
            <a:normAutofit/>
          </a:bodyPr>
          <a:lstStyle/>
          <a:p>
            <a:r>
              <a:rPr lang="en-US" altLang="ko-KR" sz="2400" dirty="0"/>
              <a:t>Load Balancing</a:t>
            </a:r>
          </a:p>
          <a:p>
            <a:pPr lvl="1"/>
            <a:r>
              <a:rPr lang="en-US" altLang="ko-KR" sz="2000" dirty="0"/>
              <a:t>Type=select</a:t>
            </a:r>
            <a:endParaRPr lang="ko-KR" altLang="en-US" sz="2000" dirty="0"/>
          </a:p>
        </p:txBody>
      </p:sp>
      <p:pic>
        <p:nvPicPr>
          <p:cNvPr id="4" name="Picture 46"/>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flipH="1">
            <a:off x="5183733" y="4689388"/>
            <a:ext cx="999292" cy="514780"/>
          </a:xfrm>
          <a:prstGeom prst="rect">
            <a:avLst/>
          </a:prstGeom>
          <a:noFill/>
          <a:ln w="3175" algn="ctr">
            <a:noFill/>
            <a:miter lim="800000"/>
            <a:headEnd/>
            <a:tailEnd/>
          </a:ln>
          <a:effectLst/>
        </p:spPr>
      </p:pic>
      <p:pic>
        <p:nvPicPr>
          <p:cNvPr id="6" name="Picture 46"/>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flipH="1">
            <a:off x="6820884" y="4693856"/>
            <a:ext cx="999292" cy="514780"/>
          </a:xfrm>
          <a:prstGeom prst="rect">
            <a:avLst/>
          </a:prstGeom>
          <a:noFill/>
          <a:ln w="3175" algn="ctr">
            <a:noFill/>
            <a:miter lim="800000"/>
            <a:headEnd/>
            <a:tailEnd/>
          </a:ln>
          <a:effectLst/>
        </p:spPr>
      </p:pic>
      <p:cxnSp>
        <p:nvCxnSpPr>
          <p:cNvPr id="7" name="직선 연결선 6"/>
          <p:cNvCxnSpPr>
            <a:endCxn id="4" idx="3"/>
          </p:cNvCxnSpPr>
          <p:nvPr/>
        </p:nvCxnSpPr>
        <p:spPr>
          <a:xfrm>
            <a:off x="4219575" y="4600576"/>
            <a:ext cx="964158" cy="34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직선 연결선 7"/>
          <p:cNvCxnSpPr>
            <a:stCxn id="4" idx="1"/>
            <a:endCxn id="6" idx="3"/>
          </p:cNvCxnSpPr>
          <p:nvPr/>
        </p:nvCxnSpPr>
        <p:spPr>
          <a:xfrm>
            <a:off x="6183026" y="4946778"/>
            <a:ext cx="637859" cy="44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직선 연결선 8"/>
          <p:cNvCxnSpPr/>
          <p:nvPr/>
        </p:nvCxnSpPr>
        <p:spPr>
          <a:xfrm>
            <a:off x="7757528" y="5078962"/>
            <a:ext cx="1100557" cy="11516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p:nvCxnSpPr>
        <p:spPr>
          <a:xfrm flipV="1">
            <a:off x="7820177" y="4689389"/>
            <a:ext cx="1038203" cy="1858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a:off x="7784090" y="4979208"/>
            <a:ext cx="1073995" cy="5258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2" name="표 11"/>
          <p:cNvGraphicFramePr>
            <a:graphicFrameLocks noGrp="1"/>
          </p:cNvGraphicFramePr>
          <p:nvPr/>
        </p:nvGraphicFramePr>
        <p:xfrm>
          <a:off x="5699910" y="1347807"/>
          <a:ext cx="4642566" cy="741680"/>
        </p:xfrm>
        <a:graphic>
          <a:graphicData uri="http://schemas.openxmlformats.org/drawingml/2006/table">
            <a:tbl>
              <a:tblPr>
                <a:tableStyleId>{D7AC3CCA-C797-4891-BE02-D94E43425B78}</a:tableStyleId>
              </a:tblPr>
              <a:tblGrid>
                <a:gridCol w="965915">
                  <a:extLst>
                    <a:ext uri="{9D8B030D-6E8A-4147-A177-3AD203B41FA5}">
                      <a16:colId xmlns:a16="http://schemas.microsoft.com/office/drawing/2014/main" val="20000"/>
                    </a:ext>
                  </a:extLst>
                </a:gridCol>
                <a:gridCol w="1123950">
                  <a:extLst>
                    <a:ext uri="{9D8B030D-6E8A-4147-A177-3AD203B41FA5}">
                      <a16:colId xmlns:a16="http://schemas.microsoft.com/office/drawing/2014/main" val="20001"/>
                    </a:ext>
                  </a:extLst>
                </a:gridCol>
                <a:gridCol w="847725">
                  <a:extLst>
                    <a:ext uri="{9D8B030D-6E8A-4147-A177-3AD203B41FA5}">
                      <a16:colId xmlns:a16="http://schemas.microsoft.com/office/drawing/2014/main" val="20002"/>
                    </a:ext>
                  </a:extLst>
                </a:gridCol>
                <a:gridCol w="1704976">
                  <a:extLst>
                    <a:ext uri="{9D8B030D-6E8A-4147-A177-3AD203B41FA5}">
                      <a16:colId xmlns:a16="http://schemas.microsoft.com/office/drawing/2014/main" val="20003"/>
                    </a:ext>
                  </a:extLst>
                </a:gridCol>
              </a:tblGrid>
              <a:tr h="370840">
                <a:tc>
                  <a:txBody>
                    <a:bodyPr/>
                    <a:lstStyle/>
                    <a:p>
                      <a:pPr algn="ctr" latinLnBrk="1"/>
                      <a:r>
                        <a:rPr lang="en-US" altLang="ko-KR" sz="1400" dirty="0">
                          <a:latin typeface="Arial" panose="020B0604020202020204" pitchFamily="34" charset="0"/>
                          <a:cs typeface="Arial" panose="020B0604020202020204" pitchFamily="34" charset="0"/>
                        </a:rPr>
                        <a:t>Group ID</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Group Type</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Counter</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Action</a:t>
                      </a:r>
                      <a:r>
                        <a:rPr lang="en-US" altLang="ko-KR" sz="1400" baseline="0" dirty="0">
                          <a:latin typeface="Arial" panose="020B0604020202020204" pitchFamily="34" charset="0"/>
                          <a:cs typeface="Arial" panose="020B0604020202020204" pitchFamily="34" charset="0"/>
                        </a:rPr>
                        <a:t> Buckets</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pPr algn="ctr" latinLnBrk="1"/>
                      <a:r>
                        <a:rPr lang="en-US" altLang="ko-KR" sz="1400" dirty="0">
                          <a:latin typeface="Arial" panose="020B0604020202020204" pitchFamily="34" charset="0"/>
                          <a:cs typeface="Arial" panose="020B0604020202020204" pitchFamily="34" charset="0"/>
                        </a:rPr>
                        <a:t>100</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Select</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999</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Port</a:t>
                      </a:r>
                      <a:r>
                        <a:rPr lang="en-US" altLang="ko-KR" sz="1400" baseline="0" dirty="0">
                          <a:latin typeface="Arial" panose="020B0604020202020204" pitchFamily="34" charset="0"/>
                          <a:cs typeface="Arial" panose="020B0604020202020204" pitchFamily="34" charset="0"/>
                        </a:rPr>
                        <a:t>2, Port3</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5683380" y="957348"/>
            <a:ext cx="1437317"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Group Table</a:t>
            </a:r>
            <a:endParaRPr lang="ko-KR" altLang="en-US" dirty="0">
              <a:latin typeface="Arial" panose="020B0604020202020204" pitchFamily="34" charset="0"/>
              <a:cs typeface="Arial" panose="020B0604020202020204" pitchFamily="34" charset="0"/>
            </a:endParaRPr>
          </a:p>
        </p:txBody>
      </p:sp>
      <p:graphicFrame>
        <p:nvGraphicFramePr>
          <p:cNvPr id="14" name="표 13"/>
          <p:cNvGraphicFramePr>
            <a:graphicFrameLocks noGrp="1"/>
          </p:cNvGraphicFramePr>
          <p:nvPr/>
        </p:nvGraphicFramePr>
        <p:xfrm>
          <a:off x="1813523" y="2522651"/>
          <a:ext cx="8515356" cy="1407160"/>
        </p:xfrm>
        <a:graphic>
          <a:graphicData uri="http://schemas.openxmlformats.org/drawingml/2006/table">
            <a:tbl>
              <a:tblPr>
                <a:tableStyleId>{D7AC3CCA-C797-4891-BE02-D94E43425B78}</a:tableStyleId>
              </a:tblPr>
              <a:tblGrid>
                <a:gridCol w="742952">
                  <a:extLst>
                    <a:ext uri="{9D8B030D-6E8A-4147-A177-3AD203B41FA5}">
                      <a16:colId xmlns:a16="http://schemas.microsoft.com/office/drawing/2014/main" val="20000"/>
                    </a:ext>
                  </a:extLst>
                </a:gridCol>
                <a:gridCol w="777275">
                  <a:extLst>
                    <a:ext uri="{9D8B030D-6E8A-4147-A177-3AD203B41FA5}">
                      <a16:colId xmlns:a16="http://schemas.microsoft.com/office/drawing/2014/main" val="20001"/>
                    </a:ext>
                  </a:extLst>
                </a:gridCol>
                <a:gridCol w="8610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666750">
                  <a:extLst>
                    <a:ext uri="{9D8B030D-6E8A-4147-A177-3AD203B41FA5}">
                      <a16:colId xmlns:a16="http://schemas.microsoft.com/office/drawing/2014/main" val="20005"/>
                    </a:ext>
                  </a:extLst>
                </a:gridCol>
                <a:gridCol w="733425">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gridCol w="733425">
                  <a:extLst>
                    <a:ext uri="{9D8B030D-6E8A-4147-A177-3AD203B41FA5}">
                      <a16:colId xmlns:a16="http://schemas.microsoft.com/office/drawing/2014/main" val="20009"/>
                    </a:ext>
                  </a:extLst>
                </a:gridCol>
                <a:gridCol w="723904">
                  <a:extLst>
                    <a:ext uri="{9D8B030D-6E8A-4147-A177-3AD203B41FA5}">
                      <a16:colId xmlns:a16="http://schemas.microsoft.com/office/drawing/2014/main" val="20010"/>
                    </a:ext>
                  </a:extLst>
                </a:gridCol>
              </a:tblGrid>
              <a:tr h="370840">
                <a:tc>
                  <a:txBody>
                    <a:bodyPr/>
                    <a:lstStyle/>
                    <a:p>
                      <a:pPr algn="ctr" latinLnBrk="1"/>
                      <a:r>
                        <a:rPr lang="en-US" altLang="ko-KR" sz="1400" dirty="0">
                          <a:latin typeface="Arial" panose="020B0604020202020204" pitchFamily="34" charset="0"/>
                          <a:cs typeface="Arial" panose="020B0604020202020204" pitchFamily="34" charset="0"/>
                        </a:rPr>
                        <a:t>Switch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MAC </a:t>
                      </a:r>
                      <a:r>
                        <a:rPr lang="en-US" altLang="ko-KR" sz="1400" dirty="0" err="1">
                          <a:latin typeface="Arial" panose="020B0604020202020204" pitchFamily="34" charset="0"/>
                          <a:cs typeface="Arial" panose="020B0604020202020204" pitchFamily="34" charset="0"/>
                        </a:rPr>
                        <a:t>src</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MAC </a:t>
                      </a:r>
                      <a:r>
                        <a:rPr lang="en-US" altLang="ko-KR" sz="1400" dirty="0" err="1">
                          <a:latin typeface="Arial" panose="020B0604020202020204" pitchFamily="34" charset="0"/>
                          <a:cs typeface="Arial" panose="020B0604020202020204" pitchFamily="34" charset="0"/>
                        </a:rPr>
                        <a:t>dst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Ether Type</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VLAN ID</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err="1">
                          <a:latin typeface="Arial" panose="020B0604020202020204" pitchFamily="34" charset="0"/>
                          <a:cs typeface="Arial" panose="020B0604020202020204" pitchFamily="34" charset="0"/>
                        </a:rPr>
                        <a:t>Src</a:t>
                      </a:r>
                      <a:r>
                        <a:rPr lang="en-US" altLang="ko-KR" sz="1400" dirty="0">
                          <a:latin typeface="Arial" panose="020B0604020202020204" pitchFamily="34" charset="0"/>
                          <a:cs typeface="Arial" panose="020B0604020202020204" pitchFamily="34" charset="0"/>
                        </a:rPr>
                        <a:t> IP</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err="1">
                          <a:latin typeface="Arial" panose="020B0604020202020204" pitchFamily="34" charset="0"/>
                          <a:cs typeface="Arial" panose="020B0604020202020204" pitchFamily="34" charset="0"/>
                        </a:rPr>
                        <a:t>Dst</a:t>
                      </a:r>
                      <a:r>
                        <a:rPr lang="en-US" altLang="ko-KR" sz="1400" dirty="0">
                          <a:latin typeface="Arial" panose="020B0604020202020204" pitchFamily="34" charset="0"/>
                          <a:cs typeface="Arial" panose="020B0604020202020204" pitchFamily="34" charset="0"/>
                        </a:rPr>
                        <a:t> IP</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Proto No.</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TCP S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TCP D</a:t>
                      </a:r>
                      <a:r>
                        <a:rPr lang="en-US" altLang="ko-KR" sz="1400" baseline="0" dirty="0">
                          <a:latin typeface="Arial" panose="020B0604020202020204" pitchFamily="34" charset="0"/>
                          <a:cs typeface="Arial" panose="020B0604020202020204" pitchFamily="34" charset="0"/>
                        </a:rPr>
                        <a:t>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Action</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00:FF:..</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Port 1</a:t>
                      </a:r>
                      <a:endParaRPr lang="ko-KR" altLang="en-US" sz="1400" dirty="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10001"/>
                  </a:ext>
                </a:extLst>
              </a:tr>
              <a:tr h="370840">
                <a:tc>
                  <a:txBody>
                    <a:bodyPr/>
                    <a:lstStyle/>
                    <a:p>
                      <a:pPr algn="ctr" latinLnBrk="1"/>
                      <a:r>
                        <a:rPr lang="en-US" altLang="ko-KR" sz="1400" dirty="0">
                          <a:latin typeface="Arial" panose="020B0604020202020204" pitchFamily="34" charset="0"/>
                          <a:cs typeface="Arial" panose="020B0604020202020204" pitchFamily="34" charset="0"/>
                        </a:rPr>
                        <a:t>Port</a:t>
                      </a:r>
                      <a:r>
                        <a:rPr lang="en-US" altLang="ko-KR" sz="1400" baseline="0" dirty="0">
                          <a:latin typeface="Arial" panose="020B0604020202020204" pitchFamily="34" charset="0"/>
                          <a:cs typeface="Arial" panose="020B0604020202020204" pitchFamily="34" charset="0"/>
                        </a:rPr>
                        <a:t> 1</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0800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1.2.3…</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4</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80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Group 100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extLst>
                  <a:ext uri="{0D108BD9-81ED-4DB2-BD59-A6C34878D82A}">
                    <a16:rowId xmlns:a16="http://schemas.microsoft.com/office/drawing/2014/main" val="10002"/>
                  </a:ext>
                </a:extLst>
              </a:tr>
            </a:tbl>
          </a:graphicData>
        </a:graphic>
      </p:graphicFrame>
      <p:cxnSp>
        <p:nvCxnSpPr>
          <p:cNvPr id="15" name="직선 연결선 14"/>
          <p:cNvCxnSpPr/>
          <p:nvPr/>
        </p:nvCxnSpPr>
        <p:spPr>
          <a:xfrm>
            <a:off x="1839589" y="3933825"/>
            <a:ext cx="5370836" cy="78105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직선 연결선 15"/>
          <p:cNvCxnSpPr/>
          <p:nvPr/>
        </p:nvCxnSpPr>
        <p:spPr>
          <a:xfrm flipV="1">
            <a:off x="7757527" y="3947954"/>
            <a:ext cx="2551436" cy="80962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꺾인 연결선 16"/>
          <p:cNvCxnSpPr/>
          <p:nvPr/>
        </p:nvCxnSpPr>
        <p:spPr>
          <a:xfrm flipH="1" flipV="1">
            <a:off x="5695951" y="1895476"/>
            <a:ext cx="4619625" cy="1776413"/>
          </a:xfrm>
          <a:prstGeom prst="bentConnector5">
            <a:avLst>
              <a:gd name="adj1" fmla="val -4948"/>
              <a:gd name="adj2" fmla="val 75603"/>
              <a:gd name="adj3" fmla="val 104948"/>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pic>
        <p:nvPicPr>
          <p:cNvPr id="21" name="Picture 9" descr="C:\Users\testuser\AppData\Local\Temp\VMwareDnD\9aa2d99f\VMW_09Q3_ICON_ExternalDrive.png"/>
          <p:cNvPicPr>
            <a:picLocks noChangeAspect="1" noChangeArrowheads="1"/>
          </p:cNvPicPr>
          <p:nvPr/>
        </p:nvPicPr>
        <p:blipFill>
          <a:blip r:embed="rId3"/>
          <a:srcRect/>
          <a:stretch>
            <a:fillRect/>
          </a:stretch>
        </p:blipFill>
        <p:spPr bwMode="auto">
          <a:xfrm>
            <a:off x="8783382" y="4324350"/>
            <a:ext cx="594707" cy="821502"/>
          </a:xfrm>
          <a:prstGeom prst="rect">
            <a:avLst/>
          </a:prstGeom>
          <a:noFill/>
        </p:spPr>
      </p:pic>
      <p:pic>
        <p:nvPicPr>
          <p:cNvPr id="22" name="Picture 9" descr="C:\Users\testuser\AppData\Local\Temp\VMwareDnD\9aa2d99f\VMW_09Q3_ICON_ExternalDrive.png"/>
          <p:cNvPicPr>
            <a:picLocks noChangeAspect="1" noChangeArrowheads="1"/>
          </p:cNvPicPr>
          <p:nvPr/>
        </p:nvPicPr>
        <p:blipFill>
          <a:blip r:embed="rId3"/>
          <a:srcRect/>
          <a:stretch>
            <a:fillRect/>
          </a:stretch>
        </p:blipFill>
        <p:spPr bwMode="auto">
          <a:xfrm>
            <a:off x="8783381" y="5046309"/>
            <a:ext cx="594707" cy="821502"/>
          </a:xfrm>
          <a:prstGeom prst="rect">
            <a:avLst/>
          </a:prstGeom>
          <a:noFill/>
        </p:spPr>
      </p:pic>
      <p:pic>
        <p:nvPicPr>
          <p:cNvPr id="23" name="Picture 9" descr="C:\Users\testuser\AppData\Local\Temp\VMwareDnD\9aa2d99f\VMW_09Q3_ICON_ExternalDrive.png"/>
          <p:cNvPicPr>
            <a:picLocks noChangeAspect="1" noChangeArrowheads="1"/>
          </p:cNvPicPr>
          <p:nvPr/>
        </p:nvPicPr>
        <p:blipFill>
          <a:blip r:embed="rId3"/>
          <a:srcRect/>
          <a:stretch>
            <a:fillRect/>
          </a:stretch>
        </p:blipFill>
        <p:spPr bwMode="auto">
          <a:xfrm>
            <a:off x="8783381" y="5802342"/>
            <a:ext cx="594707" cy="821502"/>
          </a:xfrm>
          <a:prstGeom prst="rect">
            <a:avLst/>
          </a:prstGeom>
          <a:noFill/>
        </p:spPr>
      </p:pic>
      <p:pic>
        <p:nvPicPr>
          <p:cNvPr id="24" name="Picture 40" descr="ICON_Laptop_Q308"/>
          <p:cNvPicPr>
            <a:picLocks noChangeAspect="1" noChangeArrowheads="1"/>
          </p:cNvPicPr>
          <p:nvPr/>
        </p:nvPicPr>
        <p:blipFill>
          <a:blip r:embed="rId4"/>
          <a:srcRect/>
          <a:stretch>
            <a:fillRect/>
          </a:stretch>
        </p:blipFill>
        <p:spPr bwMode="auto">
          <a:xfrm>
            <a:off x="3666468" y="4234881"/>
            <a:ext cx="626657" cy="686912"/>
          </a:xfrm>
          <a:prstGeom prst="rect">
            <a:avLst/>
          </a:prstGeom>
          <a:noFill/>
          <a:ln w="9525">
            <a:noFill/>
            <a:miter lim="800000"/>
            <a:headEnd/>
            <a:tailEnd/>
          </a:ln>
        </p:spPr>
      </p:pic>
      <p:pic>
        <p:nvPicPr>
          <p:cNvPr id="25" name="Picture 41" descr="ICON_ThinClient_Q308"/>
          <p:cNvPicPr>
            <a:picLocks noChangeAspect="1" noChangeArrowheads="1"/>
          </p:cNvPicPr>
          <p:nvPr/>
        </p:nvPicPr>
        <p:blipFill>
          <a:blip r:embed="rId5"/>
          <a:srcRect/>
          <a:stretch>
            <a:fillRect/>
          </a:stretch>
        </p:blipFill>
        <p:spPr bwMode="auto">
          <a:xfrm>
            <a:off x="4150382" y="5858311"/>
            <a:ext cx="648177" cy="744586"/>
          </a:xfrm>
          <a:prstGeom prst="rect">
            <a:avLst/>
          </a:prstGeom>
          <a:noFill/>
          <a:ln w="9525">
            <a:noFill/>
            <a:miter lim="800000"/>
            <a:headEnd/>
            <a:tailEnd/>
          </a:ln>
        </p:spPr>
      </p:pic>
      <p:pic>
        <p:nvPicPr>
          <p:cNvPr id="26" name="Picture 42" descr="ICON_Desktop_Q308"/>
          <p:cNvPicPr>
            <a:picLocks noChangeAspect="1" noChangeArrowheads="1"/>
          </p:cNvPicPr>
          <p:nvPr/>
        </p:nvPicPr>
        <p:blipFill>
          <a:blip r:embed="rId6"/>
          <a:srcRect/>
          <a:stretch>
            <a:fillRect/>
          </a:stretch>
        </p:blipFill>
        <p:spPr bwMode="auto">
          <a:xfrm>
            <a:off x="3774698" y="5078962"/>
            <a:ext cx="519058" cy="552629"/>
          </a:xfrm>
          <a:prstGeom prst="rect">
            <a:avLst/>
          </a:prstGeom>
          <a:noFill/>
          <a:ln w="9525">
            <a:noFill/>
            <a:miter lim="800000"/>
            <a:headEnd/>
            <a:tailEnd/>
          </a:ln>
        </p:spPr>
      </p:pic>
      <p:cxnSp>
        <p:nvCxnSpPr>
          <p:cNvPr id="28" name="직선 연결선 27"/>
          <p:cNvCxnSpPr/>
          <p:nvPr/>
        </p:nvCxnSpPr>
        <p:spPr>
          <a:xfrm flipV="1">
            <a:off x="4276484" y="5019676"/>
            <a:ext cx="905117" cy="3619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연결선 30"/>
          <p:cNvCxnSpPr/>
          <p:nvPr/>
        </p:nvCxnSpPr>
        <p:spPr>
          <a:xfrm flipV="1">
            <a:off x="4714875" y="5133977"/>
            <a:ext cx="742950" cy="8953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752900" y="2139424"/>
            <a:ext cx="1283428"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Flow Table</a:t>
            </a:r>
            <a:endParaRPr lang="ko-KR" altLang="en-US" dirty="0">
              <a:latin typeface="Arial" panose="020B0604020202020204" pitchFamily="34" charset="0"/>
              <a:cs typeface="Arial" panose="020B0604020202020204" pitchFamily="34" charset="0"/>
            </a:endParaRPr>
          </a:p>
        </p:txBody>
      </p:sp>
      <p:sp>
        <p:nvSpPr>
          <p:cNvPr id="35" name="타원 34"/>
          <p:cNvSpPr/>
          <p:nvPr/>
        </p:nvSpPr>
        <p:spPr>
          <a:xfrm>
            <a:off x="8127333" y="4652349"/>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2</a:t>
            </a:r>
            <a:endParaRPr lang="ko-KR" altLang="en-US" dirty="0">
              <a:latin typeface="Arial" panose="020B0604020202020204" pitchFamily="34" charset="0"/>
              <a:cs typeface="Arial" panose="020B0604020202020204" pitchFamily="34" charset="0"/>
            </a:endParaRPr>
          </a:p>
        </p:txBody>
      </p:sp>
      <p:sp>
        <p:nvSpPr>
          <p:cNvPr id="36" name="타원 35"/>
          <p:cNvSpPr/>
          <p:nvPr/>
        </p:nvSpPr>
        <p:spPr>
          <a:xfrm>
            <a:off x="8127333" y="5043216"/>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3</a:t>
            </a:r>
            <a:endParaRPr lang="ko-KR" altLang="en-US" dirty="0">
              <a:latin typeface="Arial" panose="020B0604020202020204" pitchFamily="34" charset="0"/>
              <a:cs typeface="Arial" panose="020B0604020202020204" pitchFamily="34" charset="0"/>
            </a:endParaRPr>
          </a:p>
        </p:txBody>
      </p:sp>
      <p:sp>
        <p:nvSpPr>
          <p:cNvPr id="37" name="타원 36"/>
          <p:cNvSpPr/>
          <p:nvPr/>
        </p:nvSpPr>
        <p:spPr>
          <a:xfrm>
            <a:off x="6423342" y="4770171"/>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1</a:t>
            </a:r>
            <a:endParaRPr lang="ko-KR"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174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170252" y="-23454"/>
            <a:ext cx="10515600" cy="931725"/>
          </a:xfrm>
        </p:spPr>
        <p:txBody>
          <a:bodyPr/>
          <a:lstStyle/>
          <a:p>
            <a:r>
              <a:rPr lang="en-US" altLang="ko-KR" dirty="0" err="1"/>
              <a:t>OpenFlow</a:t>
            </a:r>
            <a:r>
              <a:rPr lang="en-US" altLang="ko-KR" dirty="0"/>
              <a:t> Group Table</a:t>
            </a:r>
            <a:endParaRPr lang="ko-KR" altLang="en-US" dirty="0"/>
          </a:p>
        </p:txBody>
      </p:sp>
      <p:sp>
        <p:nvSpPr>
          <p:cNvPr id="3" name="내용 개체 틀 2"/>
          <p:cNvSpPr>
            <a:spLocks noGrp="1"/>
          </p:cNvSpPr>
          <p:nvPr>
            <p:ph idx="1"/>
          </p:nvPr>
        </p:nvSpPr>
        <p:spPr>
          <a:xfrm>
            <a:off x="813401" y="925422"/>
            <a:ext cx="10515600" cy="4351338"/>
          </a:xfrm>
        </p:spPr>
        <p:txBody>
          <a:bodyPr>
            <a:normAutofit/>
          </a:bodyPr>
          <a:lstStyle/>
          <a:p>
            <a:r>
              <a:rPr lang="en-US" altLang="ko-KR" sz="2400" dirty="0"/>
              <a:t>Indirection</a:t>
            </a:r>
          </a:p>
          <a:p>
            <a:pPr lvl="1"/>
            <a:r>
              <a:rPr lang="en-US" altLang="ko-KR" sz="2000" dirty="0"/>
              <a:t>Type=indirect</a:t>
            </a:r>
            <a:endParaRPr lang="ko-KR" altLang="en-US" sz="2000" dirty="0"/>
          </a:p>
        </p:txBody>
      </p:sp>
      <p:pic>
        <p:nvPicPr>
          <p:cNvPr id="4" name="Picture 46"/>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flipH="1">
            <a:off x="5183733" y="4689388"/>
            <a:ext cx="999292" cy="514780"/>
          </a:xfrm>
          <a:prstGeom prst="rect">
            <a:avLst/>
          </a:prstGeom>
          <a:noFill/>
          <a:ln w="3175" algn="ctr">
            <a:noFill/>
            <a:miter lim="800000"/>
            <a:headEnd/>
            <a:tailEnd/>
          </a:ln>
          <a:effectLst/>
        </p:spPr>
      </p:pic>
      <p:pic>
        <p:nvPicPr>
          <p:cNvPr id="5" name="Picture 46"/>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flipH="1">
            <a:off x="6820884" y="4693856"/>
            <a:ext cx="999292" cy="514780"/>
          </a:xfrm>
          <a:prstGeom prst="rect">
            <a:avLst/>
          </a:prstGeom>
          <a:noFill/>
          <a:ln w="3175" algn="ctr">
            <a:noFill/>
            <a:miter lim="800000"/>
            <a:headEnd/>
            <a:tailEnd/>
          </a:ln>
          <a:effectLst/>
        </p:spPr>
      </p:pic>
      <p:cxnSp>
        <p:nvCxnSpPr>
          <p:cNvPr id="6" name="직선 연결선 5"/>
          <p:cNvCxnSpPr>
            <a:endCxn id="4" idx="3"/>
          </p:cNvCxnSpPr>
          <p:nvPr/>
        </p:nvCxnSpPr>
        <p:spPr>
          <a:xfrm flipV="1">
            <a:off x="3981451" y="4946779"/>
            <a:ext cx="1202283" cy="347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직선 연결선 6"/>
          <p:cNvCxnSpPr>
            <a:stCxn id="4" idx="1"/>
            <a:endCxn id="5" idx="3"/>
          </p:cNvCxnSpPr>
          <p:nvPr/>
        </p:nvCxnSpPr>
        <p:spPr>
          <a:xfrm>
            <a:off x="6183026" y="4946778"/>
            <a:ext cx="637859" cy="44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직선 연결선 8"/>
          <p:cNvCxnSpPr/>
          <p:nvPr/>
        </p:nvCxnSpPr>
        <p:spPr>
          <a:xfrm flipV="1">
            <a:off x="7820176" y="4752975"/>
            <a:ext cx="1533374" cy="122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p:nvCxnSpPr>
        <p:spPr>
          <a:xfrm>
            <a:off x="7784089" y="4979207"/>
            <a:ext cx="919740" cy="6119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p:cNvGraphicFramePr>
            <a:graphicFrameLocks noGrp="1"/>
          </p:cNvGraphicFramePr>
          <p:nvPr/>
        </p:nvGraphicFramePr>
        <p:xfrm>
          <a:off x="5699910" y="1347807"/>
          <a:ext cx="4642566" cy="741680"/>
        </p:xfrm>
        <a:graphic>
          <a:graphicData uri="http://schemas.openxmlformats.org/drawingml/2006/table">
            <a:tbl>
              <a:tblPr>
                <a:tableStyleId>{D7AC3CCA-C797-4891-BE02-D94E43425B78}</a:tableStyleId>
              </a:tblPr>
              <a:tblGrid>
                <a:gridCol w="965915">
                  <a:extLst>
                    <a:ext uri="{9D8B030D-6E8A-4147-A177-3AD203B41FA5}">
                      <a16:colId xmlns:a16="http://schemas.microsoft.com/office/drawing/2014/main" val="20000"/>
                    </a:ext>
                  </a:extLst>
                </a:gridCol>
                <a:gridCol w="1123950">
                  <a:extLst>
                    <a:ext uri="{9D8B030D-6E8A-4147-A177-3AD203B41FA5}">
                      <a16:colId xmlns:a16="http://schemas.microsoft.com/office/drawing/2014/main" val="20001"/>
                    </a:ext>
                  </a:extLst>
                </a:gridCol>
                <a:gridCol w="847725">
                  <a:extLst>
                    <a:ext uri="{9D8B030D-6E8A-4147-A177-3AD203B41FA5}">
                      <a16:colId xmlns:a16="http://schemas.microsoft.com/office/drawing/2014/main" val="20002"/>
                    </a:ext>
                  </a:extLst>
                </a:gridCol>
                <a:gridCol w="1704976">
                  <a:extLst>
                    <a:ext uri="{9D8B030D-6E8A-4147-A177-3AD203B41FA5}">
                      <a16:colId xmlns:a16="http://schemas.microsoft.com/office/drawing/2014/main" val="20003"/>
                    </a:ext>
                  </a:extLst>
                </a:gridCol>
              </a:tblGrid>
              <a:tr h="370840">
                <a:tc>
                  <a:txBody>
                    <a:bodyPr/>
                    <a:lstStyle/>
                    <a:p>
                      <a:pPr algn="ctr" latinLnBrk="1"/>
                      <a:r>
                        <a:rPr lang="en-US" altLang="ko-KR" sz="1400" dirty="0">
                          <a:latin typeface="Arial" panose="020B0604020202020204" pitchFamily="34" charset="0"/>
                          <a:cs typeface="Arial" panose="020B0604020202020204" pitchFamily="34" charset="0"/>
                        </a:rPr>
                        <a:t>Group ID</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Group Type</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Counter</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Action</a:t>
                      </a:r>
                      <a:r>
                        <a:rPr lang="en-US" altLang="ko-KR" sz="1400" baseline="0" dirty="0">
                          <a:latin typeface="Arial" panose="020B0604020202020204" pitchFamily="34" charset="0"/>
                          <a:cs typeface="Arial" panose="020B0604020202020204" pitchFamily="34" charset="0"/>
                        </a:rPr>
                        <a:t> Buckets</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pPr algn="ctr" latinLnBrk="1"/>
                      <a:r>
                        <a:rPr lang="en-US" altLang="ko-KR" sz="1400" dirty="0">
                          <a:latin typeface="Arial" panose="020B0604020202020204" pitchFamily="34" charset="0"/>
                          <a:cs typeface="Arial" panose="020B0604020202020204" pitchFamily="34" charset="0"/>
                        </a:rPr>
                        <a:t>100</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Indirect</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777</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Port 5</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sp>
        <p:nvSpPr>
          <p:cNvPr id="12" name="TextBox 11"/>
          <p:cNvSpPr txBox="1"/>
          <p:nvPr/>
        </p:nvSpPr>
        <p:spPr>
          <a:xfrm>
            <a:off x="5683380" y="957348"/>
            <a:ext cx="1437317"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Group Table</a:t>
            </a:r>
            <a:endParaRPr lang="ko-KR" altLang="en-US" dirty="0">
              <a:latin typeface="Arial" panose="020B0604020202020204" pitchFamily="34" charset="0"/>
              <a:cs typeface="Arial" panose="020B0604020202020204" pitchFamily="34" charset="0"/>
            </a:endParaRPr>
          </a:p>
        </p:txBody>
      </p:sp>
      <p:graphicFrame>
        <p:nvGraphicFramePr>
          <p:cNvPr id="13" name="표 12"/>
          <p:cNvGraphicFramePr>
            <a:graphicFrameLocks noGrp="1"/>
          </p:cNvGraphicFramePr>
          <p:nvPr/>
        </p:nvGraphicFramePr>
        <p:xfrm>
          <a:off x="1813523" y="2522651"/>
          <a:ext cx="8515356" cy="1554480"/>
        </p:xfrm>
        <a:graphic>
          <a:graphicData uri="http://schemas.openxmlformats.org/drawingml/2006/table">
            <a:tbl>
              <a:tblPr>
                <a:tableStyleId>{D7AC3CCA-C797-4891-BE02-D94E43425B78}</a:tableStyleId>
              </a:tblPr>
              <a:tblGrid>
                <a:gridCol w="742952">
                  <a:extLst>
                    <a:ext uri="{9D8B030D-6E8A-4147-A177-3AD203B41FA5}">
                      <a16:colId xmlns:a16="http://schemas.microsoft.com/office/drawing/2014/main" val="20000"/>
                    </a:ext>
                  </a:extLst>
                </a:gridCol>
                <a:gridCol w="777275">
                  <a:extLst>
                    <a:ext uri="{9D8B030D-6E8A-4147-A177-3AD203B41FA5}">
                      <a16:colId xmlns:a16="http://schemas.microsoft.com/office/drawing/2014/main" val="20001"/>
                    </a:ext>
                  </a:extLst>
                </a:gridCol>
                <a:gridCol w="8610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666750">
                  <a:extLst>
                    <a:ext uri="{9D8B030D-6E8A-4147-A177-3AD203B41FA5}">
                      <a16:colId xmlns:a16="http://schemas.microsoft.com/office/drawing/2014/main" val="20005"/>
                    </a:ext>
                  </a:extLst>
                </a:gridCol>
                <a:gridCol w="733425">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gridCol w="733425">
                  <a:extLst>
                    <a:ext uri="{9D8B030D-6E8A-4147-A177-3AD203B41FA5}">
                      <a16:colId xmlns:a16="http://schemas.microsoft.com/office/drawing/2014/main" val="20009"/>
                    </a:ext>
                  </a:extLst>
                </a:gridCol>
                <a:gridCol w="723904">
                  <a:extLst>
                    <a:ext uri="{9D8B030D-6E8A-4147-A177-3AD203B41FA5}">
                      <a16:colId xmlns:a16="http://schemas.microsoft.com/office/drawing/2014/main" val="20010"/>
                    </a:ext>
                  </a:extLst>
                </a:gridCol>
              </a:tblGrid>
              <a:tr h="370840">
                <a:tc>
                  <a:txBody>
                    <a:bodyPr/>
                    <a:lstStyle/>
                    <a:p>
                      <a:pPr algn="ctr" latinLnBrk="1"/>
                      <a:r>
                        <a:rPr lang="en-US" altLang="ko-KR" sz="1400" dirty="0">
                          <a:latin typeface="Arial" panose="020B0604020202020204" pitchFamily="34" charset="0"/>
                          <a:cs typeface="Arial" panose="020B0604020202020204" pitchFamily="34" charset="0"/>
                        </a:rPr>
                        <a:t>Switch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MAC </a:t>
                      </a:r>
                      <a:r>
                        <a:rPr lang="en-US" altLang="ko-KR" sz="1400" dirty="0" err="1">
                          <a:latin typeface="Arial" panose="020B0604020202020204" pitchFamily="34" charset="0"/>
                          <a:cs typeface="Arial" panose="020B0604020202020204" pitchFamily="34" charset="0"/>
                        </a:rPr>
                        <a:t>src</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MAC </a:t>
                      </a:r>
                      <a:r>
                        <a:rPr lang="en-US" altLang="ko-KR" sz="1400" dirty="0" err="1">
                          <a:latin typeface="Arial" panose="020B0604020202020204" pitchFamily="34" charset="0"/>
                          <a:cs typeface="Arial" panose="020B0604020202020204" pitchFamily="34" charset="0"/>
                        </a:rPr>
                        <a:t>dst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Ether Type</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VLAN ID</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err="1">
                          <a:latin typeface="Arial" panose="020B0604020202020204" pitchFamily="34" charset="0"/>
                          <a:cs typeface="Arial" panose="020B0604020202020204" pitchFamily="34" charset="0"/>
                        </a:rPr>
                        <a:t>Src</a:t>
                      </a:r>
                      <a:r>
                        <a:rPr lang="en-US" altLang="ko-KR" sz="1400" dirty="0">
                          <a:latin typeface="Arial" panose="020B0604020202020204" pitchFamily="34" charset="0"/>
                          <a:cs typeface="Arial" panose="020B0604020202020204" pitchFamily="34" charset="0"/>
                        </a:rPr>
                        <a:t> IP</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err="1">
                          <a:latin typeface="Arial" panose="020B0604020202020204" pitchFamily="34" charset="0"/>
                          <a:cs typeface="Arial" panose="020B0604020202020204" pitchFamily="34" charset="0"/>
                        </a:rPr>
                        <a:t>Dst</a:t>
                      </a:r>
                      <a:r>
                        <a:rPr lang="en-US" altLang="ko-KR" sz="1400" dirty="0">
                          <a:latin typeface="Arial" panose="020B0604020202020204" pitchFamily="34" charset="0"/>
                          <a:cs typeface="Arial" panose="020B0604020202020204" pitchFamily="34" charset="0"/>
                        </a:rPr>
                        <a:t> IP</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Proto No.</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TCP S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TCP D</a:t>
                      </a:r>
                      <a:r>
                        <a:rPr lang="en-US" altLang="ko-KR" sz="1400" baseline="0" dirty="0">
                          <a:latin typeface="Arial" panose="020B0604020202020204" pitchFamily="34" charset="0"/>
                          <a:cs typeface="Arial" panose="020B0604020202020204" pitchFamily="34" charset="0"/>
                        </a:rPr>
                        <a:t>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Action</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00:FF…</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0800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1.2.2…</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11.1…</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Group 100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extLst>
                  <a:ext uri="{0D108BD9-81ED-4DB2-BD59-A6C34878D82A}">
                    <a16:rowId xmlns:a16="http://schemas.microsoft.com/office/drawing/2014/main" val="10001"/>
                  </a:ext>
                </a:extLst>
              </a:tr>
              <a:tr h="370840">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00:FF...</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0800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1.2.3…</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11.1…</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Group 100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extLst>
                  <a:ext uri="{0D108BD9-81ED-4DB2-BD59-A6C34878D82A}">
                    <a16:rowId xmlns:a16="http://schemas.microsoft.com/office/drawing/2014/main" val="10002"/>
                  </a:ext>
                </a:extLst>
              </a:tr>
            </a:tbl>
          </a:graphicData>
        </a:graphic>
      </p:graphicFrame>
      <p:cxnSp>
        <p:nvCxnSpPr>
          <p:cNvPr id="14" name="직선 연결선 13"/>
          <p:cNvCxnSpPr/>
          <p:nvPr/>
        </p:nvCxnSpPr>
        <p:spPr>
          <a:xfrm>
            <a:off x="1839589" y="4088253"/>
            <a:ext cx="3713486" cy="60757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직선 연결선 14"/>
          <p:cNvCxnSpPr/>
          <p:nvPr/>
        </p:nvCxnSpPr>
        <p:spPr>
          <a:xfrm flipV="1">
            <a:off x="6153151" y="4088254"/>
            <a:ext cx="4162425" cy="655197"/>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꺾인 연결선 15"/>
          <p:cNvCxnSpPr/>
          <p:nvPr/>
        </p:nvCxnSpPr>
        <p:spPr>
          <a:xfrm flipH="1" flipV="1">
            <a:off x="5695951" y="1895476"/>
            <a:ext cx="4619625" cy="1776413"/>
          </a:xfrm>
          <a:prstGeom prst="bentConnector5">
            <a:avLst>
              <a:gd name="adj1" fmla="val -4948"/>
              <a:gd name="adj2" fmla="val 75603"/>
              <a:gd name="adj3" fmla="val 104948"/>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pic>
        <p:nvPicPr>
          <p:cNvPr id="17" name="Picture 9" descr="C:\Users\testuser\AppData\Local\Temp\VMwareDnD\9aa2d99f\VMW_09Q3_ICON_ExternalDrive.png"/>
          <p:cNvPicPr>
            <a:picLocks noChangeAspect="1" noChangeArrowheads="1"/>
          </p:cNvPicPr>
          <p:nvPr/>
        </p:nvPicPr>
        <p:blipFill>
          <a:blip r:embed="rId3"/>
          <a:srcRect/>
          <a:stretch>
            <a:fillRect/>
          </a:stretch>
        </p:blipFill>
        <p:spPr bwMode="auto">
          <a:xfrm>
            <a:off x="9284172" y="4363602"/>
            <a:ext cx="594707" cy="821502"/>
          </a:xfrm>
          <a:prstGeom prst="rect">
            <a:avLst/>
          </a:prstGeom>
          <a:noFill/>
        </p:spPr>
      </p:pic>
      <p:pic>
        <p:nvPicPr>
          <p:cNvPr id="18" name="Picture 9" descr="C:\Users\testuser\AppData\Local\Temp\VMwareDnD\9aa2d99f\VMW_09Q3_ICON_ExternalDrive.png"/>
          <p:cNvPicPr>
            <a:picLocks noChangeAspect="1" noChangeArrowheads="1"/>
          </p:cNvPicPr>
          <p:nvPr/>
        </p:nvPicPr>
        <p:blipFill>
          <a:blip r:embed="rId3"/>
          <a:srcRect/>
          <a:stretch>
            <a:fillRect/>
          </a:stretch>
        </p:blipFill>
        <p:spPr bwMode="auto">
          <a:xfrm>
            <a:off x="8588529" y="5198843"/>
            <a:ext cx="594707" cy="821502"/>
          </a:xfrm>
          <a:prstGeom prst="rect">
            <a:avLst/>
          </a:prstGeom>
          <a:noFill/>
        </p:spPr>
      </p:pic>
      <p:pic>
        <p:nvPicPr>
          <p:cNvPr id="19" name="Picture 9" descr="C:\Users\testuser\AppData\Local\Temp\VMwareDnD\9aa2d99f\VMW_09Q3_ICON_ExternalDrive.png"/>
          <p:cNvPicPr>
            <a:picLocks noChangeAspect="1" noChangeArrowheads="1"/>
          </p:cNvPicPr>
          <p:nvPr/>
        </p:nvPicPr>
        <p:blipFill>
          <a:blip r:embed="rId3"/>
          <a:srcRect/>
          <a:stretch>
            <a:fillRect/>
          </a:stretch>
        </p:blipFill>
        <p:spPr bwMode="auto">
          <a:xfrm>
            <a:off x="9231856" y="5760251"/>
            <a:ext cx="594707" cy="821502"/>
          </a:xfrm>
          <a:prstGeom prst="rect">
            <a:avLst/>
          </a:prstGeom>
          <a:noFill/>
        </p:spPr>
      </p:pic>
      <p:pic>
        <p:nvPicPr>
          <p:cNvPr id="20" name="Picture 40" descr="ICON_Laptop_Q308"/>
          <p:cNvPicPr>
            <a:picLocks noChangeAspect="1" noChangeArrowheads="1"/>
          </p:cNvPicPr>
          <p:nvPr/>
        </p:nvPicPr>
        <p:blipFill>
          <a:blip r:embed="rId4"/>
          <a:srcRect/>
          <a:stretch>
            <a:fillRect/>
          </a:stretch>
        </p:blipFill>
        <p:spPr bwMode="auto">
          <a:xfrm>
            <a:off x="3374147" y="4689388"/>
            <a:ext cx="626657" cy="686912"/>
          </a:xfrm>
          <a:prstGeom prst="rect">
            <a:avLst/>
          </a:prstGeom>
          <a:noFill/>
          <a:ln w="9525">
            <a:noFill/>
            <a:miter lim="800000"/>
            <a:headEnd/>
            <a:tailEnd/>
          </a:ln>
        </p:spPr>
      </p:pic>
      <p:pic>
        <p:nvPicPr>
          <p:cNvPr id="21" name="Picture 41" descr="ICON_ThinClient_Q308"/>
          <p:cNvPicPr>
            <a:picLocks noChangeAspect="1" noChangeArrowheads="1"/>
          </p:cNvPicPr>
          <p:nvPr/>
        </p:nvPicPr>
        <p:blipFill>
          <a:blip r:embed="rId5"/>
          <a:srcRect/>
          <a:stretch>
            <a:fillRect/>
          </a:stretch>
        </p:blipFill>
        <p:spPr bwMode="auto">
          <a:xfrm>
            <a:off x="4150382" y="5858311"/>
            <a:ext cx="648177" cy="744586"/>
          </a:xfrm>
          <a:prstGeom prst="rect">
            <a:avLst/>
          </a:prstGeom>
          <a:noFill/>
          <a:ln w="9525">
            <a:noFill/>
            <a:miter lim="800000"/>
            <a:headEnd/>
            <a:tailEnd/>
          </a:ln>
        </p:spPr>
      </p:pic>
      <p:pic>
        <p:nvPicPr>
          <p:cNvPr id="22" name="Picture 42" descr="ICON_Desktop_Q308"/>
          <p:cNvPicPr>
            <a:picLocks noChangeAspect="1" noChangeArrowheads="1"/>
          </p:cNvPicPr>
          <p:nvPr/>
        </p:nvPicPr>
        <p:blipFill>
          <a:blip r:embed="rId6"/>
          <a:srcRect/>
          <a:stretch>
            <a:fillRect/>
          </a:stretch>
        </p:blipFill>
        <p:spPr bwMode="auto">
          <a:xfrm>
            <a:off x="3774433" y="5437091"/>
            <a:ext cx="519058" cy="552629"/>
          </a:xfrm>
          <a:prstGeom prst="rect">
            <a:avLst/>
          </a:prstGeom>
          <a:noFill/>
          <a:ln w="9525">
            <a:noFill/>
            <a:miter lim="800000"/>
            <a:headEnd/>
            <a:tailEnd/>
          </a:ln>
        </p:spPr>
      </p:pic>
      <p:cxnSp>
        <p:nvCxnSpPr>
          <p:cNvPr id="23" name="직선 연결선 22"/>
          <p:cNvCxnSpPr/>
          <p:nvPr/>
        </p:nvCxnSpPr>
        <p:spPr>
          <a:xfrm flipV="1">
            <a:off x="4219576" y="5019677"/>
            <a:ext cx="962025" cy="5714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p:cNvCxnSpPr/>
          <p:nvPr/>
        </p:nvCxnSpPr>
        <p:spPr>
          <a:xfrm flipV="1">
            <a:off x="4714875" y="5133977"/>
            <a:ext cx="742950" cy="8953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752900" y="2139424"/>
            <a:ext cx="1283428"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Flow Table</a:t>
            </a:r>
            <a:endParaRPr lang="ko-KR" altLang="en-US" dirty="0">
              <a:latin typeface="Arial" panose="020B0604020202020204" pitchFamily="34" charset="0"/>
              <a:cs typeface="Arial" panose="020B0604020202020204" pitchFamily="34" charset="0"/>
            </a:endParaRPr>
          </a:p>
        </p:txBody>
      </p:sp>
      <p:pic>
        <p:nvPicPr>
          <p:cNvPr id="33" name="Picture 46"/>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flipH="1">
            <a:off x="6802698" y="5913612"/>
            <a:ext cx="999292" cy="514780"/>
          </a:xfrm>
          <a:prstGeom prst="rect">
            <a:avLst/>
          </a:prstGeom>
          <a:noFill/>
          <a:ln w="3175" algn="ctr">
            <a:noFill/>
            <a:miter lim="800000"/>
            <a:headEnd/>
            <a:tailEnd/>
          </a:ln>
          <a:effectLst/>
        </p:spPr>
      </p:pic>
      <p:sp>
        <p:nvSpPr>
          <p:cNvPr id="34" name="타원 33"/>
          <p:cNvSpPr/>
          <p:nvPr/>
        </p:nvSpPr>
        <p:spPr>
          <a:xfrm>
            <a:off x="4537640" y="5198843"/>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2</a:t>
            </a:r>
            <a:endParaRPr lang="ko-KR" altLang="en-US" dirty="0">
              <a:latin typeface="Arial" panose="020B0604020202020204" pitchFamily="34" charset="0"/>
              <a:cs typeface="Arial" panose="020B0604020202020204" pitchFamily="34" charset="0"/>
            </a:endParaRPr>
          </a:p>
        </p:txBody>
      </p:sp>
      <p:sp>
        <p:nvSpPr>
          <p:cNvPr id="35" name="타원 34"/>
          <p:cNvSpPr/>
          <p:nvPr/>
        </p:nvSpPr>
        <p:spPr>
          <a:xfrm>
            <a:off x="5086350" y="527676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3</a:t>
            </a:r>
            <a:endParaRPr lang="ko-KR" altLang="en-US" dirty="0">
              <a:latin typeface="Arial" panose="020B0604020202020204" pitchFamily="34" charset="0"/>
              <a:cs typeface="Arial" panose="020B0604020202020204" pitchFamily="34" charset="0"/>
            </a:endParaRPr>
          </a:p>
        </p:txBody>
      </p:sp>
      <p:sp>
        <p:nvSpPr>
          <p:cNvPr id="36" name="타원 35"/>
          <p:cNvSpPr/>
          <p:nvPr/>
        </p:nvSpPr>
        <p:spPr>
          <a:xfrm>
            <a:off x="6291004" y="4828746"/>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4</a:t>
            </a:r>
            <a:endParaRPr lang="ko-KR" altLang="en-US" dirty="0">
              <a:latin typeface="Arial" panose="020B0604020202020204" pitchFamily="34" charset="0"/>
              <a:cs typeface="Arial" panose="020B0604020202020204" pitchFamily="34" charset="0"/>
            </a:endParaRPr>
          </a:p>
        </p:txBody>
      </p:sp>
      <p:sp>
        <p:nvSpPr>
          <p:cNvPr id="37" name="타원 36"/>
          <p:cNvSpPr/>
          <p:nvPr/>
        </p:nvSpPr>
        <p:spPr>
          <a:xfrm>
            <a:off x="4615848" y="4820773"/>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1</a:t>
            </a:r>
            <a:endParaRPr lang="ko-KR" altLang="en-US" dirty="0">
              <a:latin typeface="Arial" panose="020B0604020202020204" pitchFamily="34" charset="0"/>
              <a:cs typeface="Arial" panose="020B0604020202020204" pitchFamily="34" charset="0"/>
            </a:endParaRPr>
          </a:p>
        </p:txBody>
      </p:sp>
      <p:cxnSp>
        <p:nvCxnSpPr>
          <p:cNvPr id="40" name="직선 연결선 39"/>
          <p:cNvCxnSpPr>
            <a:endCxn id="33" idx="3"/>
          </p:cNvCxnSpPr>
          <p:nvPr/>
        </p:nvCxnSpPr>
        <p:spPr>
          <a:xfrm>
            <a:off x="6073466" y="5077778"/>
            <a:ext cx="729233" cy="10932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타원 41"/>
          <p:cNvSpPr/>
          <p:nvPr/>
        </p:nvSpPr>
        <p:spPr>
          <a:xfrm>
            <a:off x="6173809" y="5265696"/>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5</a:t>
            </a:r>
            <a:endParaRPr lang="ko-KR" altLang="en-US" dirty="0">
              <a:latin typeface="Arial" panose="020B0604020202020204" pitchFamily="34" charset="0"/>
              <a:cs typeface="Arial" panose="020B0604020202020204" pitchFamily="34" charset="0"/>
            </a:endParaRPr>
          </a:p>
        </p:txBody>
      </p:sp>
      <p:cxnSp>
        <p:nvCxnSpPr>
          <p:cNvPr id="43" name="직선 연결선 42"/>
          <p:cNvCxnSpPr>
            <a:stCxn id="33" idx="1"/>
            <a:endCxn id="19" idx="1"/>
          </p:cNvCxnSpPr>
          <p:nvPr/>
        </p:nvCxnSpPr>
        <p:spPr>
          <a:xfrm>
            <a:off x="7801991" y="6171002"/>
            <a:ext cx="14298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244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747963" y="-38184"/>
            <a:ext cx="10515600" cy="931725"/>
          </a:xfrm>
        </p:spPr>
        <p:txBody>
          <a:bodyPr/>
          <a:lstStyle/>
          <a:p>
            <a:r>
              <a:rPr lang="en-US" altLang="ko-KR" dirty="0" err="1"/>
              <a:t>OpenFlow</a:t>
            </a:r>
            <a:r>
              <a:rPr lang="en-US" altLang="ko-KR" dirty="0"/>
              <a:t> Group Table</a:t>
            </a:r>
            <a:endParaRPr lang="ko-KR" altLang="en-US" dirty="0"/>
          </a:p>
        </p:txBody>
      </p:sp>
      <p:sp>
        <p:nvSpPr>
          <p:cNvPr id="3" name="내용 개체 틀 2"/>
          <p:cNvSpPr>
            <a:spLocks noGrp="1"/>
          </p:cNvSpPr>
          <p:nvPr>
            <p:ph idx="1"/>
          </p:nvPr>
        </p:nvSpPr>
        <p:spPr>
          <a:xfrm>
            <a:off x="671211" y="1044377"/>
            <a:ext cx="10515600" cy="4351338"/>
          </a:xfrm>
        </p:spPr>
        <p:txBody>
          <a:bodyPr>
            <a:normAutofit/>
          </a:bodyPr>
          <a:lstStyle/>
          <a:p>
            <a:r>
              <a:rPr lang="en-US" altLang="ko-KR" sz="2400" dirty="0"/>
              <a:t>Fast Failover</a:t>
            </a:r>
          </a:p>
          <a:p>
            <a:pPr lvl="1"/>
            <a:r>
              <a:rPr lang="en-US" altLang="ko-KR" sz="2000" dirty="0"/>
              <a:t>Type=fast-failover (</a:t>
            </a:r>
            <a:r>
              <a:rPr lang="en-US" altLang="ko-KR" sz="2000" dirty="0" err="1"/>
              <a:t>ff</a:t>
            </a:r>
            <a:r>
              <a:rPr lang="en-US" altLang="ko-KR" sz="2000" dirty="0"/>
              <a:t>)</a:t>
            </a:r>
            <a:endParaRPr lang="ko-KR" altLang="en-US" sz="2000" dirty="0"/>
          </a:p>
        </p:txBody>
      </p:sp>
      <p:pic>
        <p:nvPicPr>
          <p:cNvPr id="4" name="Picture 46"/>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flipH="1">
            <a:off x="5183733" y="4689388"/>
            <a:ext cx="999292" cy="514780"/>
          </a:xfrm>
          <a:prstGeom prst="rect">
            <a:avLst/>
          </a:prstGeom>
          <a:noFill/>
          <a:ln w="3175" algn="ctr">
            <a:noFill/>
            <a:miter lim="800000"/>
            <a:headEnd/>
            <a:tailEnd/>
          </a:ln>
          <a:effectLst/>
        </p:spPr>
      </p:pic>
      <p:pic>
        <p:nvPicPr>
          <p:cNvPr id="5" name="Picture 46"/>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flipH="1">
            <a:off x="6820884" y="4693856"/>
            <a:ext cx="999292" cy="514780"/>
          </a:xfrm>
          <a:prstGeom prst="rect">
            <a:avLst/>
          </a:prstGeom>
          <a:noFill/>
          <a:ln w="3175" algn="ctr">
            <a:noFill/>
            <a:miter lim="800000"/>
            <a:headEnd/>
            <a:tailEnd/>
          </a:ln>
          <a:effectLst/>
        </p:spPr>
      </p:pic>
      <p:cxnSp>
        <p:nvCxnSpPr>
          <p:cNvPr id="6" name="직선 연결선 5"/>
          <p:cNvCxnSpPr>
            <a:endCxn id="4" idx="3"/>
          </p:cNvCxnSpPr>
          <p:nvPr/>
        </p:nvCxnSpPr>
        <p:spPr>
          <a:xfrm flipV="1">
            <a:off x="3981451" y="4946779"/>
            <a:ext cx="1202283" cy="347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직선 연결선 6"/>
          <p:cNvCxnSpPr>
            <a:stCxn id="4" idx="1"/>
            <a:endCxn id="5" idx="3"/>
          </p:cNvCxnSpPr>
          <p:nvPr/>
        </p:nvCxnSpPr>
        <p:spPr>
          <a:xfrm>
            <a:off x="6183026" y="4946778"/>
            <a:ext cx="637859" cy="44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직선 연결선 7"/>
          <p:cNvCxnSpPr/>
          <p:nvPr/>
        </p:nvCxnSpPr>
        <p:spPr>
          <a:xfrm flipV="1">
            <a:off x="7820176" y="4752975"/>
            <a:ext cx="1533374" cy="122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직선 연결선 8"/>
          <p:cNvCxnSpPr/>
          <p:nvPr/>
        </p:nvCxnSpPr>
        <p:spPr>
          <a:xfrm>
            <a:off x="7784089" y="4979207"/>
            <a:ext cx="919740" cy="6119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 name="표 9"/>
          <p:cNvGraphicFramePr>
            <a:graphicFrameLocks noGrp="1"/>
          </p:cNvGraphicFramePr>
          <p:nvPr/>
        </p:nvGraphicFramePr>
        <p:xfrm>
          <a:off x="5699910" y="1347807"/>
          <a:ext cx="4729965" cy="741680"/>
        </p:xfrm>
        <a:graphic>
          <a:graphicData uri="http://schemas.openxmlformats.org/drawingml/2006/table">
            <a:tbl>
              <a:tblPr>
                <a:tableStyleId>{D7AC3CCA-C797-4891-BE02-D94E43425B78}</a:tableStyleId>
              </a:tblPr>
              <a:tblGrid>
                <a:gridCol w="984099">
                  <a:extLst>
                    <a:ext uri="{9D8B030D-6E8A-4147-A177-3AD203B41FA5}">
                      <a16:colId xmlns:a16="http://schemas.microsoft.com/office/drawing/2014/main" val="20000"/>
                    </a:ext>
                  </a:extLst>
                </a:gridCol>
                <a:gridCol w="1195337">
                  <a:extLst>
                    <a:ext uri="{9D8B030D-6E8A-4147-A177-3AD203B41FA5}">
                      <a16:colId xmlns:a16="http://schemas.microsoft.com/office/drawing/2014/main" val="20001"/>
                    </a:ext>
                  </a:extLst>
                </a:gridCol>
                <a:gridCol w="883093">
                  <a:extLst>
                    <a:ext uri="{9D8B030D-6E8A-4147-A177-3AD203B41FA5}">
                      <a16:colId xmlns:a16="http://schemas.microsoft.com/office/drawing/2014/main" val="20002"/>
                    </a:ext>
                  </a:extLst>
                </a:gridCol>
                <a:gridCol w="1667436">
                  <a:extLst>
                    <a:ext uri="{9D8B030D-6E8A-4147-A177-3AD203B41FA5}">
                      <a16:colId xmlns:a16="http://schemas.microsoft.com/office/drawing/2014/main" val="20003"/>
                    </a:ext>
                  </a:extLst>
                </a:gridCol>
              </a:tblGrid>
              <a:tr h="370840">
                <a:tc>
                  <a:txBody>
                    <a:bodyPr/>
                    <a:lstStyle/>
                    <a:p>
                      <a:pPr algn="ctr" latinLnBrk="1"/>
                      <a:r>
                        <a:rPr lang="en-US" altLang="ko-KR" sz="1400" dirty="0">
                          <a:latin typeface="Arial" panose="020B0604020202020204" pitchFamily="34" charset="0"/>
                          <a:cs typeface="Arial" panose="020B0604020202020204" pitchFamily="34" charset="0"/>
                        </a:rPr>
                        <a:t>Group ID</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Group Type</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Counter</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Action</a:t>
                      </a:r>
                      <a:r>
                        <a:rPr lang="en-US" altLang="ko-KR" sz="1400" baseline="0" dirty="0">
                          <a:latin typeface="Arial" panose="020B0604020202020204" pitchFamily="34" charset="0"/>
                          <a:cs typeface="Arial" panose="020B0604020202020204" pitchFamily="34" charset="0"/>
                        </a:rPr>
                        <a:t> Buckets</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pPr algn="ctr" latinLnBrk="1"/>
                      <a:r>
                        <a:rPr lang="en-US" altLang="ko-KR" sz="1400" dirty="0">
                          <a:latin typeface="Arial" panose="020B0604020202020204" pitchFamily="34" charset="0"/>
                          <a:cs typeface="Arial" panose="020B0604020202020204" pitchFamily="34" charset="0"/>
                        </a:rPr>
                        <a:t>100</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Fast-failover</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777</a:t>
                      </a:r>
                      <a:endParaRPr lang="ko-KR" altLang="en-US" sz="1400" dirty="0">
                        <a:latin typeface="Arial" panose="020B0604020202020204" pitchFamily="34" charset="0"/>
                        <a:cs typeface="Arial" panose="020B0604020202020204" pitchFamily="34" charset="0"/>
                      </a:endParaRPr>
                    </a:p>
                  </a:txBody>
                  <a:tcP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Port</a:t>
                      </a:r>
                      <a:r>
                        <a:rPr lang="en-US" altLang="ko-KR" sz="1400" baseline="0" dirty="0">
                          <a:latin typeface="Arial" panose="020B0604020202020204" pitchFamily="34" charset="0"/>
                          <a:cs typeface="Arial" panose="020B0604020202020204" pitchFamily="34" charset="0"/>
                        </a:rPr>
                        <a:t>4, Port5, Port6</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sp>
        <p:nvSpPr>
          <p:cNvPr id="11" name="TextBox 10"/>
          <p:cNvSpPr txBox="1"/>
          <p:nvPr/>
        </p:nvSpPr>
        <p:spPr>
          <a:xfrm>
            <a:off x="5683380" y="957348"/>
            <a:ext cx="1437317"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Group Table</a:t>
            </a:r>
            <a:endParaRPr lang="ko-KR" altLang="en-US" dirty="0">
              <a:latin typeface="Arial" panose="020B0604020202020204" pitchFamily="34" charset="0"/>
              <a:cs typeface="Arial" panose="020B0604020202020204" pitchFamily="34" charset="0"/>
            </a:endParaRPr>
          </a:p>
        </p:txBody>
      </p:sp>
      <p:graphicFrame>
        <p:nvGraphicFramePr>
          <p:cNvPr id="12" name="표 11"/>
          <p:cNvGraphicFramePr>
            <a:graphicFrameLocks noGrp="1"/>
          </p:cNvGraphicFramePr>
          <p:nvPr/>
        </p:nvGraphicFramePr>
        <p:xfrm>
          <a:off x="1813523" y="2522651"/>
          <a:ext cx="8515356" cy="1407160"/>
        </p:xfrm>
        <a:graphic>
          <a:graphicData uri="http://schemas.openxmlformats.org/drawingml/2006/table">
            <a:tbl>
              <a:tblPr>
                <a:tableStyleId>{D7AC3CCA-C797-4891-BE02-D94E43425B78}</a:tableStyleId>
              </a:tblPr>
              <a:tblGrid>
                <a:gridCol w="742952">
                  <a:extLst>
                    <a:ext uri="{9D8B030D-6E8A-4147-A177-3AD203B41FA5}">
                      <a16:colId xmlns:a16="http://schemas.microsoft.com/office/drawing/2014/main" val="20000"/>
                    </a:ext>
                  </a:extLst>
                </a:gridCol>
                <a:gridCol w="777275">
                  <a:extLst>
                    <a:ext uri="{9D8B030D-6E8A-4147-A177-3AD203B41FA5}">
                      <a16:colId xmlns:a16="http://schemas.microsoft.com/office/drawing/2014/main" val="20001"/>
                    </a:ext>
                  </a:extLst>
                </a:gridCol>
                <a:gridCol w="8610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666750">
                  <a:extLst>
                    <a:ext uri="{9D8B030D-6E8A-4147-A177-3AD203B41FA5}">
                      <a16:colId xmlns:a16="http://schemas.microsoft.com/office/drawing/2014/main" val="20005"/>
                    </a:ext>
                  </a:extLst>
                </a:gridCol>
                <a:gridCol w="733425">
                  <a:extLst>
                    <a:ext uri="{9D8B030D-6E8A-4147-A177-3AD203B41FA5}">
                      <a16:colId xmlns:a16="http://schemas.microsoft.com/office/drawing/2014/main" val="20006"/>
                    </a:ext>
                  </a:extLst>
                </a:gridCol>
                <a:gridCol w="723900">
                  <a:extLst>
                    <a:ext uri="{9D8B030D-6E8A-4147-A177-3AD203B41FA5}">
                      <a16:colId xmlns:a16="http://schemas.microsoft.com/office/drawing/2014/main" val="20007"/>
                    </a:ext>
                  </a:extLst>
                </a:gridCol>
                <a:gridCol w="847725">
                  <a:extLst>
                    <a:ext uri="{9D8B030D-6E8A-4147-A177-3AD203B41FA5}">
                      <a16:colId xmlns:a16="http://schemas.microsoft.com/office/drawing/2014/main" val="20008"/>
                    </a:ext>
                  </a:extLst>
                </a:gridCol>
                <a:gridCol w="733425">
                  <a:extLst>
                    <a:ext uri="{9D8B030D-6E8A-4147-A177-3AD203B41FA5}">
                      <a16:colId xmlns:a16="http://schemas.microsoft.com/office/drawing/2014/main" val="20009"/>
                    </a:ext>
                  </a:extLst>
                </a:gridCol>
                <a:gridCol w="723904">
                  <a:extLst>
                    <a:ext uri="{9D8B030D-6E8A-4147-A177-3AD203B41FA5}">
                      <a16:colId xmlns:a16="http://schemas.microsoft.com/office/drawing/2014/main" val="20010"/>
                    </a:ext>
                  </a:extLst>
                </a:gridCol>
              </a:tblGrid>
              <a:tr h="370840">
                <a:tc>
                  <a:txBody>
                    <a:bodyPr/>
                    <a:lstStyle/>
                    <a:p>
                      <a:pPr algn="ctr" latinLnBrk="1"/>
                      <a:r>
                        <a:rPr lang="en-US" altLang="ko-KR" sz="1400" dirty="0">
                          <a:latin typeface="Arial" panose="020B0604020202020204" pitchFamily="34" charset="0"/>
                          <a:cs typeface="Arial" panose="020B0604020202020204" pitchFamily="34" charset="0"/>
                        </a:rPr>
                        <a:t>Switch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MAC </a:t>
                      </a:r>
                      <a:r>
                        <a:rPr lang="en-US" altLang="ko-KR" sz="1400" dirty="0" err="1">
                          <a:latin typeface="Arial" panose="020B0604020202020204" pitchFamily="34" charset="0"/>
                          <a:cs typeface="Arial" panose="020B0604020202020204" pitchFamily="34" charset="0"/>
                        </a:rPr>
                        <a:t>src</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MAC </a:t>
                      </a:r>
                      <a:r>
                        <a:rPr lang="en-US" altLang="ko-KR" sz="1400" dirty="0" err="1">
                          <a:latin typeface="Arial" panose="020B0604020202020204" pitchFamily="34" charset="0"/>
                          <a:cs typeface="Arial" panose="020B0604020202020204" pitchFamily="34" charset="0"/>
                        </a:rPr>
                        <a:t>dst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Ether Type</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VLAN ID</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err="1">
                          <a:latin typeface="Arial" panose="020B0604020202020204" pitchFamily="34" charset="0"/>
                          <a:cs typeface="Arial" panose="020B0604020202020204" pitchFamily="34" charset="0"/>
                        </a:rPr>
                        <a:t>Src</a:t>
                      </a:r>
                      <a:r>
                        <a:rPr lang="en-US" altLang="ko-KR" sz="1400" dirty="0">
                          <a:latin typeface="Arial" panose="020B0604020202020204" pitchFamily="34" charset="0"/>
                          <a:cs typeface="Arial" panose="020B0604020202020204" pitchFamily="34" charset="0"/>
                        </a:rPr>
                        <a:t> IP</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err="1">
                          <a:latin typeface="Arial" panose="020B0604020202020204" pitchFamily="34" charset="0"/>
                          <a:cs typeface="Arial" panose="020B0604020202020204" pitchFamily="34" charset="0"/>
                        </a:rPr>
                        <a:t>Dst</a:t>
                      </a:r>
                      <a:r>
                        <a:rPr lang="en-US" altLang="ko-KR" sz="1400" dirty="0">
                          <a:latin typeface="Arial" panose="020B0604020202020204" pitchFamily="34" charset="0"/>
                          <a:cs typeface="Arial" panose="020B0604020202020204" pitchFamily="34" charset="0"/>
                        </a:rPr>
                        <a:t> IP</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Proto No.</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TCP S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TCP D</a:t>
                      </a:r>
                      <a:r>
                        <a:rPr lang="en-US" altLang="ko-KR" sz="1400" baseline="0" dirty="0">
                          <a:latin typeface="Arial" panose="020B0604020202020204" pitchFamily="34" charset="0"/>
                          <a:cs typeface="Arial" panose="020B0604020202020204" pitchFamily="34" charset="0"/>
                        </a:rPr>
                        <a:t>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Action</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pPr algn="ctr" latinLnBrk="1"/>
                      <a:r>
                        <a:rPr lang="en-US" altLang="ko-KR" sz="1400" dirty="0">
                          <a:latin typeface="Arial" panose="020B0604020202020204" pitchFamily="34" charset="0"/>
                          <a:cs typeface="Arial" panose="020B0604020202020204" pitchFamily="34" charset="0"/>
                        </a:rPr>
                        <a:t>Port</a:t>
                      </a:r>
                      <a:r>
                        <a:rPr lang="en-US" altLang="ko-KR" sz="1400" baseline="0" dirty="0">
                          <a:latin typeface="Arial" panose="020B0604020202020204" pitchFamily="34" charset="0"/>
                          <a:cs typeface="Arial" panose="020B0604020202020204" pitchFamily="34" charset="0"/>
                        </a:rPr>
                        <a:t> 1</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1.2.2</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Port 7</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extLst>
                  <a:ext uri="{0D108BD9-81ED-4DB2-BD59-A6C34878D82A}">
                    <a16:rowId xmlns:a16="http://schemas.microsoft.com/office/drawing/2014/main" val="10001"/>
                  </a:ext>
                </a:extLst>
              </a:tr>
              <a:tr h="370840">
                <a:tc>
                  <a:txBody>
                    <a:bodyPr/>
                    <a:lstStyle/>
                    <a:p>
                      <a:pPr algn="ctr" latinLnBrk="1"/>
                      <a:r>
                        <a:rPr lang="en-US" altLang="ko-KR" sz="1400" dirty="0">
                          <a:latin typeface="Arial" panose="020B0604020202020204" pitchFamily="34" charset="0"/>
                          <a:cs typeface="Arial" panose="020B0604020202020204" pitchFamily="34" charset="0"/>
                        </a:rPr>
                        <a:t>Port</a:t>
                      </a:r>
                      <a:r>
                        <a:rPr lang="en-US" altLang="ko-KR" sz="1400" baseline="0" dirty="0">
                          <a:latin typeface="Arial" panose="020B0604020202020204" pitchFamily="34" charset="0"/>
                          <a:cs typeface="Arial" panose="020B0604020202020204" pitchFamily="34" charset="0"/>
                        </a:rPr>
                        <a:t> 1</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00:FF…</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0800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1.2.3…</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11.1…</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Group 100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extLst>
                  <a:ext uri="{0D108BD9-81ED-4DB2-BD59-A6C34878D82A}">
                    <a16:rowId xmlns:a16="http://schemas.microsoft.com/office/drawing/2014/main" val="10002"/>
                  </a:ext>
                </a:extLst>
              </a:tr>
            </a:tbl>
          </a:graphicData>
        </a:graphic>
      </p:graphicFrame>
      <p:cxnSp>
        <p:nvCxnSpPr>
          <p:cNvPr id="13" name="직선 연결선 12"/>
          <p:cNvCxnSpPr/>
          <p:nvPr/>
        </p:nvCxnSpPr>
        <p:spPr>
          <a:xfrm>
            <a:off x="1809751" y="3933826"/>
            <a:ext cx="3743325" cy="77152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직선 연결선 13"/>
          <p:cNvCxnSpPr/>
          <p:nvPr/>
        </p:nvCxnSpPr>
        <p:spPr>
          <a:xfrm flipV="1">
            <a:off x="6153150" y="3933825"/>
            <a:ext cx="4171950" cy="80962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꺾인 연결선 14"/>
          <p:cNvCxnSpPr/>
          <p:nvPr/>
        </p:nvCxnSpPr>
        <p:spPr>
          <a:xfrm flipH="1" flipV="1">
            <a:off x="5695951" y="1895476"/>
            <a:ext cx="4619625" cy="1776413"/>
          </a:xfrm>
          <a:prstGeom prst="bentConnector5">
            <a:avLst>
              <a:gd name="adj1" fmla="val -4948"/>
              <a:gd name="adj2" fmla="val 75603"/>
              <a:gd name="adj3" fmla="val 104948"/>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pic>
        <p:nvPicPr>
          <p:cNvPr id="16" name="Picture 9" descr="C:\Users\testuser\AppData\Local\Temp\VMwareDnD\9aa2d99f\VMW_09Q3_ICON_ExternalDrive.png"/>
          <p:cNvPicPr>
            <a:picLocks noChangeAspect="1" noChangeArrowheads="1"/>
          </p:cNvPicPr>
          <p:nvPr/>
        </p:nvPicPr>
        <p:blipFill>
          <a:blip r:embed="rId3"/>
          <a:srcRect/>
          <a:stretch>
            <a:fillRect/>
          </a:stretch>
        </p:blipFill>
        <p:spPr bwMode="auto">
          <a:xfrm>
            <a:off x="9284172" y="4363602"/>
            <a:ext cx="594707" cy="821502"/>
          </a:xfrm>
          <a:prstGeom prst="rect">
            <a:avLst/>
          </a:prstGeom>
          <a:noFill/>
        </p:spPr>
      </p:pic>
      <p:pic>
        <p:nvPicPr>
          <p:cNvPr id="17" name="Picture 9" descr="C:\Users\testuser\AppData\Local\Temp\VMwareDnD\9aa2d99f\VMW_09Q3_ICON_ExternalDrive.png"/>
          <p:cNvPicPr>
            <a:picLocks noChangeAspect="1" noChangeArrowheads="1"/>
          </p:cNvPicPr>
          <p:nvPr/>
        </p:nvPicPr>
        <p:blipFill>
          <a:blip r:embed="rId3"/>
          <a:srcRect/>
          <a:stretch>
            <a:fillRect/>
          </a:stretch>
        </p:blipFill>
        <p:spPr bwMode="auto">
          <a:xfrm>
            <a:off x="8588529" y="5198843"/>
            <a:ext cx="594707" cy="821502"/>
          </a:xfrm>
          <a:prstGeom prst="rect">
            <a:avLst/>
          </a:prstGeom>
          <a:noFill/>
        </p:spPr>
      </p:pic>
      <p:pic>
        <p:nvPicPr>
          <p:cNvPr id="19" name="Picture 40" descr="ICON_Laptop_Q308"/>
          <p:cNvPicPr>
            <a:picLocks noChangeAspect="1" noChangeArrowheads="1"/>
          </p:cNvPicPr>
          <p:nvPr/>
        </p:nvPicPr>
        <p:blipFill>
          <a:blip r:embed="rId4"/>
          <a:srcRect/>
          <a:stretch>
            <a:fillRect/>
          </a:stretch>
        </p:blipFill>
        <p:spPr bwMode="auto">
          <a:xfrm>
            <a:off x="3374147" y="4689388"/>
            <a:ext cx="626657" cy="686912"/>
          </a:xfrm>
          <a:prstGeom prst="rect">
            <a:avLst/>
          </a:prstGeom>
          <a:noFill/>
          <a:ln w="9525">
            <a:noFill/>
            <a:miter lim="800000"/>
            <a:headEnd/>
            <a:tailEnd/>
          </a:ln>
        </p:spPr>
      </p:pic>
      <p:pic>
        <p:nvPicPr>
          <p:cNvPr id="20" name="Picture 41" descr="ICON_ThinClient_Q308"/>
          <p:cNvPicPr>
            <a:picLocks noChangeAspect="1" noChangeArrowheads="1"/>
          </p:cNvPicPr>
          <p:nvPr/>
        </p:nvPicPr>
        <p:blipFill>
          <a:blip r:embed="rId5"/>
          <a:srcRect/>
          <a:stretch>
            <a:fillRect/>
          </a:stretch>
        </p:blipFill>
        <p:spPr bwMode="auto">
          <a:xfrm>
            <a:off x="4150382" y="5858311"/>
            <a:ext cx="648177" cy="744586"/>
          </a:xfrm>
          <a:prstGeom prst="rect">
            <a:avLst/>
          </a:prstGeom>
          <a:noFill/>
          <a:ln w="9525">
            <a:noFill/>
            <a:miter lim="800000"/>
            <a:headEnd/>
            <a:tailEnd/>
          </a:ln>
        </p:spPr>
      </p:pic>
      <p:pic>
        <p:nvPicPr>
          <p:cNvPr id="21" name="Picture 42" descr="ICON_Desktop_Q308"/>
          <p:cNvPicPr>
            <a:picLocks noChangeAspect="1" noChangeArrowheads="1"/>
          </p:cNvPicPr>
          <p:nvPr/>
        </p:nvPicPr>
        <p:blipFill>
          <a:blip r:embed="rId6"/>
          <a:srcRect/>
          <a:stretch>
            <a:fillRect/>
          </a:stretch>
        </p:blipFill>
        <p:spPr bwMode="auto">
          <a:xfrm>
            <a:off x="3774433" y="5437091"/>
            <a:ext cx="519058" cy="552629"/>
          </a:xfrm>
          <a:prstGeom prst="rect">
            <a:avLst/>
          </a:prstGeom>
          <a:noFill/>
          <a:ln w="9525">
            <a:noFill/>
            <a:miter lim="800000"/>
            <a:headEnd/>
            <a:tailEnd/>
          </a:ln>
        </p:spPr>
      </p:pic>
      <p:cxnSp>
        <p:nvCxnSpPr>
          <p:cNvPr id="22" name="직선 연결선 21"/>
          <p:cNvCxnSpPr/>
          <p:nvPr/>
        </p:nvCxnSpPr>
        <p:spPr>
          <a:xfrm flipV="1">
            <a:off x="4219576" y="5019677"/>
            <a:ext cx="962025" cy="5714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flipV="1">
            <a:off x="4714875" y="5133977"/>
            <a:ext cx="742950" cy="8953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752900" y="2139424"/>
            <a:ext cx="1283428"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Flow Table</a:t>
            </a:r>
            <a:endParaRPr lang="ko-KR" altLang="en-US" dirty="0">
              <a:latin typeface="Arial" panose="020B0604020202020204" pitchFamily="34" charset="0"/>
              <a:cs typeface="Arial" panose="020B0604020202020204" pitchFamily="34" charset="0"/>
            </a:endParaRPr>
          </a:p>
        </p:txBody>
      </p:sp>
      <p:pic>
        <p:nvPicPr>
          <p:cNvPr id="25" name="Picture 46"/>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flipH="1">
            <a:off x="6802698" y="5913612"/>
            <a:ext cx="999292" cy="514780"/>
          </a:xfrm>
          <a:prstGeom prst="rect">
            <a:avLst/>
          </a:prstGeom>
          <a:noFill/>
          <a:ln w="3175" algn="ctr">
            <a:noFill/>
            <a:miter lim="800000"/>
            <a:headEnd/>
            <a:tailEnd/>
          </a:ln>
          <a:effectLst/>
        </p:spPr>
      </p:pic>
      <p:sp>
        <p:nvSpPr>
          <p:cNvPr id="26" name="타원 25"/>
          <p:cNvSpPr/>
          <p:nvPr/>
        </p:nvSpPr>
        <p:spPr>
          <a:xfrm>
            <a:off x="4537640" y="5198843"/>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2</a:t>
            </a:r>
            <a:endParaRPr lang="ko-KR" altLang="en-US" dirty="0">
              <a:latin typeface="Arial" panose="020B0604020202020204" pitchFamily="34" charset="0"/>
              <a:cs typeface="Arial" panose="020B0604020202020204" pitchFamily="34" charset="0"/>
            </a:endParaRPr>
          </a:p>
        </p:txBody>
      </p:sp>
      <p:sp>
        <p:nvSpPr>
          <p:cNvPr id="27" name="타원 26"/>
          <p:cNvSpPr/>
          <p:nvPr/>
        </p:nvSpPr>
        <p:spPr>
          <a:xfrm>
            <a:off x="5086350" y="5276760"/>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3</a:t>
            </a:r>
            <a:endParaRPr lang="ko-KR" altLang="en-US" dirty="0">
              <a:latin typeface="Arial" panose="020B0604020202020204" pitchFamily="34" charset="0"/>
              <a:cs typeface="Arial" panose="020B0604020202020204" pitchFamily="34" charset="0"/>
            </a:endParaRPr>
          </a:p>
        </p:txBody>
      </p:sp>
      <p:sp>
        <p:nvSpPr>
          <p:cNvPr id="28" name="타원 27"/>
          <p:cNvSpPr/>
          <p:nvPr/>
        </p:nvSpPr>
        <p:spPr>
          <a:xfrm>
            <a:off x="6291004" y="4828746"/>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4</a:t>
            </a:r>
            <a:endParaRPr lang="ko-KR" altLang="en-US" dirty="0">
              <a:latin typeface="Arial" panose="020B0604020202020204" pitchFamily="34" charset="0"/>
              <a:cs typeface="Arial" panose="020B0604020202020204" pitchFamily="34" charset="0"/>
            </a:endParaRPr>
          </a:p>
        </p:txBody>
      </p:sp>
      <p:sp>
        <p:nvSpPr>
          <p:cNvPr id="29" name="타원 28"/>
          <p:cNvSpPr/>
          <p:nvPr/>
        </p:nvSpPr>
        <p:spPr>
          <a:xfrm>
            <a:off x="4615848" y="4820773"/>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1</a:t>
            </a:r>
            <a:endParaRPr lang="ko-KR" altLang="en-US" dirty="0">
              <a:latin typeface="Arial" panose="020B0604020202020204" pitchFamily="34" charset="0"/>
              <a:cs typeface="Arial" panose="020B0604020202020204" pitchFamily="34" charset="0"/>
            </a:endParaRPr>
          </a:p>
        </p:txBody>
      </p:sp>
      <p:cxnSp>
        <p:nvCxnSpPr>
          <p:cNvPr id="30" name="직선 연결선 29"/>
          <p:cNvCxnSpPr/>
          <p:nvPr/>
        </p:nvCxnSpPr>
        <p:spPr>
          <a:xfrm>
            <a:off x="6073465" y="5077779"/>
            <a:ext cx="965510" cy="9134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타원 30"/>
          <p:cNvSpPr/>
          <p:nvPr/>
        </p:nvSpPr>
        <p:spPr>
          <a:xfrm>
            <a:off x="6249637" y="5249949"/>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5</a:t>
            </a:r>
            <a:endParaRPr lang="ko-KR" altLang="en-US" dirty="0">
              <a:latin typeface="Arial" panose="020B0604020202020204" pitchFamily="34" charset="0"/>
              <a:cs typeface="Arial" panose="020B0604020202020204" pitchFamily="34" charset="0"/>
            </a:endParaRPr>
          </a:p>
        </p:txBody>
      </p:sp>
      <p:cxnSp>
        <p:nvCxnSpPr>
          <p:cNvPr id="35" name="직선 연결선 34"/>
          <p:cNvCxnSpPr/>
          <p:nvPr/>
        </p:nvCxnSpPr>
        <p:spPr>
          <a:xfrm>
            <a:off x="7305675" y="5153026"/>
            <a:ext cx="152400" cy="7905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0" name="Picture 46"/>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flipH="1">
            <a:off x="5429365" y="5858311"/>
            <a:ext cx="999292" cy="514780"/>
          </a:xfrm>
          <a:prstGeom prst="rect">
            <a:avLst/>
          </a:prstGeom>
          <a:noFill/>
          <a:ln w="3175" algn="ctr">
            <a:noFill/>
            <a:miter lim="800000"/>
            <a:headEnd/>
            <a:tailEnd/>
          </a:ln>
          <a:effectLst/>
        </p:spPr>
      </p:pic>
      <p:cxnSp>
        <p:nvCxnSpPr>
          <p:cNvPr id="41" name="직선 연결선 40"/>
          <p:cNvCxnSpPr/>
          <p:nvPr/>
        </p:nvCxnSpPr>
        <p:spPr>
          <a:xfrm>
            <a:off x="5915026" y="5200650"/>
            <a:ext cx="161925" cy="685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타원 43"/>
          <p:cNvSpPr/>
          <p:nvPr/>
        </p:nvSpPr>
        <p:spPr>
          <a:xfrm>
            <a:off x="5830537" y="5383316"/>
            <a:ext cx="304800" cy="3048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ko-KR" dirty="0">
                <a:latin typeface="Arial" panose="020B0604020202020204" pitchFamily="34" charset="0"/>
                <a:cs typeface="Arial" panose="020B0604020202020204" pitchFamily="34" charset="0"/>
              </a:rPr>
              <a:t>6</a:t>
            </a:r>
            <a:endParaRPr lang="ko-KR" altLang="en-US" dirty="0">
              <a:latin typeface="Arial" panose="020B0604020202020204" pitchFamily="34" charset="0"/>
              <a:cs typeface="Arial" panose="020B0604020202020204" pitchFamily="34" charset="0"/>
            </a:endParaRPr>
          </a:p>
        </p:txBody>
      </p:sp>
      <p:cxnSp>
        <p:nvCxnSpPr>
          <p:cNvPr id="45" name="직선 연결선 44"/>
          <p:cNvCxnSpPr>
            <a:stCxn id="40" idx="1"/>
            <a:endCxn id="25" idx="3"/>
          </p:cNvCxnSpPr>
          <p:nvPr/>
        </p:nvCxnSpPr>
        <p:spPr>
          <a:xfrm>
            <a:off x="6428658" y="6115702"/>
            <a:ext cx="374041" cy="553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곱셈 기호 47"/>
          <p:cNvSpPr/>
          <p:nvPr/>
        </p:nvSpPr>
        <p:spPr>
          <a:xfrm>
            <a:off x="6532384" y="4791622"/>
            <a:ext cx="331808" cy="331808"/>
          </a:xfrm>
          <a:prstGeom prst="mathMultiply">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3846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108230" y="227365"/>
            <a:ext cx="10515600" cy="931725"/>
          </a:xfrm>
        </p:spPr>
        <p:txBody>
          <a:bodyPr/>
          <a:lstStyle/>
          <a:p>
            <a:r>
              <a:rPr lang="en-US" altLang="ko-KR" dirty="0" err="1"/>
              <a:t>OpenFlow</a:t>
            </a:r>
            <a:r>
              <a:rPr lang="en-US" altLang="ko-KR" dirty="0"/>
              <a:t> Meter Table</a:t>
            </a:r>
            <a:endParaRPr lang="ko-KR" altLang="en-US" dirty="0"/>
          </a:p>
        </p:txBody>
      </p:sp>
      <p:sp>
        <p:nvSpPr>
          <p:cNvPr id="3" name="내용 개체 틀 2"/>
          <p:cNvSpPr>
            <a:spLocks noGrp="1"/>
          </p:cNvSpPr>
          <p:nvPr>
            <p:ph idx="1"/>
          </p:nvPr>
        </p:nvSpPr>
        <p:spPr>
          <a:xfrm>
            <a:off x="806749" y="1253331"/>
            <a:ext cx="10515600" cy="4351338"/>
          </a:xfrm>
        </p:spPr>
        <p:txBody>
          <a:bodyPr>
            <a:normAutofit/>
          </a:bodyPr>
          <a:lstStyle/>
          <a:p>
            <a:r>
              <a:rPr lang="en-US" altLang="ko-KR" sz="2400" dirty="0"/>
              <a:t>Meter Table (</a:t>
            </a:r>
            <a:r>
              <a:rPr lang="en-US" altLang="ko-KR" sz="2400" dirty="0" err="1"/>
              <a:t>ver</a:t>
            </a:r>
            <a:r>
              <a:rPr lang="en-US" altLang="ko-KR" sz="2400" dirty="0"/>
              <a:t> 1.3)</a:t>
            </a:r>
          </a:p>
          <a:p>
            <a:pPr lvl="1"/>
            <a:r>
              <a:rPr lang="en-US" altLang="ko-KR" sz="2000" dirty="0"/>
              <a:t>Counts packet rate of a matched flow</a:t>
            </a:r>
          </a:p>
          <a:p>
            <a:pPr lvl="1"/>
            <a:r>
              <a:rPr lang="en-US" altLang="ko-KR" sz="2000" dirty="0" err="1"/>
              <a:t>QoS</a:t>
            </a:r>
            <a:r>
              <a:rPr lang="en-US" altLang="ko-KR" sz="2000" dirty="0"/>
              <a:t> control </a:t>
            </a:r>
            <a:r>
              <a:rPr lang="en-US" altLang="ko-KR" sz="2000" dirty="0">
                <a:sym typeface="Wingdings" panose="05000000000000000000" pitchFamily="2" charset="2"/>
              </a:rPr>
              <a:t> Rate-limit, </a:t>
            </a:r>
            <a:r>
              <a:rPr lang="en-US" altLang="ko-KR" sz="2000" dirty="0" err="1">
                <a:sym typeface="Wingdings" panose="05000000000000000000" pitchFamily="2" charset="2"/>
              </a:rPr>
              <a:t>DiffServ</a:t>
            </a:r>
            <a:r>
              <a:rPr lang="en-US" altLang="ko-KR" sz="2000" dirty="0">
                <a:sym typeface="Wingdings" panose="05000000000000000000" pitchFamily="2" charset="2"/>
              </a:rPr>
              <a:t> …</a:t>
            </a:r>
            <a:endParaRPr lang="ko-KR" altLang="en-US" sz="2000" dirty="0"/>
          </a:p>
        </p:txBody>
      </p:sp>
      <p:graphicFrame>
        <p:nvGraphicFramePr>
          <p:cNvPr id="4" name="표 3"/>
          <p:cNvGraphicFramePr>
            <a:graphicFrameLocks noGrp="1"/>
          </p:cNvGraphicFramePr>
          <p:nvPr/>
        </p:nvGraphicFramePr>
        <p:xfrm>
          <a:off x="4657725" y="2747000"/>
          <a:ext cx="5772150" cy="889000"/>
        </p:xfrm>
        <a:graphic>
          <a:graphicData uri="http://schemas.openxmlformats.org/drawingml/2006/table">
            <a:tbl>
              <a:tblPr>
                <a:tableStyleId>{D7AC3CCA-C797-4891-BE02-D94E43425B78}</a:tableStyleId>
              </a:tblPr>
              <a:tblGrid>
                <a:gridCol w="942975">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171575">
                  <a:extLst>
                    <a:ext uri="{9D8B030D-6E8A-4147-A177-3AD203B41FA5}">
                      <a16:colId xmlns:a16="http://schemas.microsoft.com/office/drawing/2014/main" val="20002"/>
                    </a:ext>
                  </a:extLst>
                </a:gridCol>
                <a:gridCol w="1306568">
                  <a:extLst>
                    <a:ext uri="{9D8B030D-6E8A-4147-A177-3AD203B41FA5}">
                      <a16:colId xmlns:a16="http://schemas.microsoft.com/office/drawing/2014/main" val="20003"/>
                    </a:ext>
                  </a:extLst>
                </a:gridCol>
                <a:gridCol w="1055632">
                  <a:extLst>
                    <a:ext uri="{9D8B030D-6E8A-4147-A177-3AD203B41FA5}">
                      <a16:colId xmlns:a16="http://schemas.microsoft.com/office/drawing/2014/main" val="20004"/>
                    </a:ext>
                  </a:extLst>
                </a:gridCol>
              </a:tblGrid>
              <a:tr h="370840">
                <a:tc>
                  <a:txBody>
                    <a:bodyPr/>
                    <a:lstStyle/>
                    <a:p>
                      <a:pPr algn="ctr" latinLnBrk="1"/>
                      <a:r>
                        <a:rPr lang="en-US" altLang="ko-KR" sz="1400" dirty="0">
                          <a:latin typeface="Arial" panose="020B0604020202020204" pitchFamily="34" charset="0"/>
                          <a:cs typeface="Arial" panose="020B0604020202020204" pitchFamily="34" charset="0"/>
                        </a:rPr>
                        <a:t>Meter ID</a:t>
                      </a:r>
                      <a:endParaRPr lang="ko-KR" altLang="en-US" sz="1400" dirty="0">
                        <a:latin typeface="Arial" panose="020B0604020202020204" pitchFamily="34" charset="0"/>
                        <a:cs typeface="Arial" panose="020B0604020202020204" pitchFamily="34" charset="0"/>
                      </a:endParaRPr>
                    </a:p>
                  </a:txBody>
                  <a:tcPr anchor="ct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Band Type</a:t>
                      </a:r>
                      <a:endParaRPr lang="ko-KR" altLang="en-US" sz="1400" dirty="0">
                        <a:latin typeface="Arial" panose="020B0604020202020204" pitchFamily="34" charset="0"/>
                        <a:cs typeface="Arial" panose="020B0604020202020204" pitchFamily="34" charset="0"/>
                      </a:endParaRPr>
                    </a:p>
                  </a:txBody>
                  <a:tcPr anchor="ct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Rate</a:t>
                      </a:r>
                      <a:endParaRPr lang="ko-KR" altLang="en-US" sz="1400" dirty="0">
                        <a:latin typeface="Arial" panose="020B0604020202020204" pitchFamily="34" charset="0"/>
                        <a:cs typeface="Arial" panose="020B0604020202020204" pitchFamily="34" charset="0"/>
                      </a:endParaRPr>
                    </a:p>
                  </a:txBody>
                  <a:tcPr anchor="ct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Counter</a:t>
                      </a:r>
                      <a:endParaRPr lang="ko-KR" altLang="en-US" sz="1400" dirty="0">
                        <a:latin typeface="Arial" panose="020B0604020202020204" pitchFamily="34" charset="0"/>
                        <a:cs typeface="Arial" panose="020B0604020202020204" pitchFamily="34" charset="0"/>
                      </a:endParaRPr>
                    </a:p>
                  </a:txBody>
                  <a:tcPr anchor="ct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Argument</a:t>
                      </a:r>
                      <a:endParaRPr lang="ko-KR" altLang="en-US" sz="1400" dirty="0">
                        <a:latin typeface="Arial" panose="020B0604020202020204" pitchFamily="34" charset="0"/>
                        <a:cs typeface="Arial" panose="020B0604020202020204" pitchFamily="34" charset="0"/>
                      </a:endParaRPr>
                    </a:p>
                  </a:txBody>
                  <a:tcPr anchor="ctr">
                    <a:solidFill>
                      <a:srgbClr val="FFFF00"/>
                    </a:solidFill>
                  </a:tcPr>
                </a:tc>
                <a:extLst>
                  <a:ext uri="{0D108BD9-81ED-4DB2-BD59-A6C34878D82A}">
                    <a16:rowId xmlns:a16="http://schemas.microsoft.com/office/drawing/2014/main" val="10000"/>
                  </a:ext>
                </a:extLst>
              </a:tr>
              <a:tr h="370840">
                <a:tc>
                  <a:txBody>
                    <a:bodyPr/>
                    <a:lstStyle/>
                    <a:p>
                      <a:pPr algn="ctr" latinLnBrk="1"/>
                      <a:r>
                        <a:rPr lang="en-US" altLang="ko-KR" sz="1400" dirty="0">
                          <a:latin typeface="Arial" panose="020B0604020202020204" pitchFamily="34" charset="0"/>
                          <a:cs typeface="Arial" panose="020B0604020202020204" pitchFamily="34" charset="0"/>
                        </a:rPr>
                        <a:t>100</a:t>
                      </a:r>
                      <a:endParaRPr lang="ko-KR" altLang="en-US" sz="1400" dirty="0">
                        <a:latin typeface="Arial" panose="020B0604020202020204" pitchFamily="34" charset="0"/>
                        <a:cs typeface="Arial" panose="020B0604020202020204" pitchFamily="34" charset="0"/>
                      </a:endParaRPr>
                    </a:p>
                  </a:txBody>
                  <a:tcPr anchor="ct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Drop</a:t>
                      </a:r>
                      <a:r>
                        <a:rPr lang="en-US" altLang="ko-KR" sz="1400" baseline="0" dirty="0">
                          <a:latin typeface="Arial" panose="020B0604020202020204" pitchFamily="34" charset="0"/>
                          <a:cs typeface="Arial" panose="020B0604020202020204" pitchFamily="34" charset="0"/>
                        </a:rPr>
                        <a:t> </a:t>
                      </a:r>
                      <a:r>
                        <a:rPr lang="en-US" altLang="ko-KR" sz="1400" dirty="0">
                          <a:latin typeface="Arial" panose="020B0604020202020204" pitchFamily="34" charset="0"/>
                          <a:cs typeface="Arial" panose="020B0604020202020204" pitchFamily="34" charset="0"/>
                        </a:rPr>
                        <a:t>(remark</a:t>
                      </a:r>
                      <a:r>
                        <a:rPr lang="en-US" altLang="ko-KR" sz="1400" baseline="0" dirty="0">
                          <a:latin typeface="Arial" panose="020B0604020202020204" pitchFamily="34" charset="0"/>
                          <a:cs typeface="Arial" panose="020B0604020202020204" pitchFamily="34" charset="0"/>
                        </a:rPr>
                        <a:t> DSCP)</a:t>
                      </a:r>
                      <a:endParaRPr lang="ko-KR" altLang="en-US" sz="1400" dirty="0">
                        <a:latin typeface="Arial" panose="020B0604020202020204" pitchFamily="34" charset="0"/>
                        <a:cs typeface="Arial" panose="020B0604020202020204" pitchFamily="34" charset="0"/>
                      </a:endParaRPr>
                    </a:p>
                  </a:txBody>
                  <a:tcPr anchor="ct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1000 kbps</a:t>
                      </a:r>
                      <a:endParaRPr lang="ko-KR" altLang="en-US" sz="1400" dirty="0">
                        <a:latin typeface="Arial" panose="020B0604020202020204" pitchFamily="34" charset="0"/>
                        <a:cs typeface="Arial" panose="020B0604020202020204" pitchFamily="34" charset="0"/>
                      </a:endParaRPr>
                    </a:p>
                  </a:txBody>
                  <a:tcPr anchor="ct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1000</a:t>
                      </a:r>
                      <a:endParaRPr lang="ko-KR" altLang="en-US" sz="1400" dirty="0">
                        <a:latin typeface="Arial" panose="020B0604020202020204" pitchFamily="34" charset="0"/>
                        <a:cs typeface="Arial" panose="020B0604020202020204" pitchFamily="34" charset="0"/>
                      </a:endParaRPr>
                    </a:p>
                  </a:txBody>
                  <a:tcPr anchor="ctr">
                    <a:solidFill>
                      <a:srgbClr val="FFFF00"/>
                    </a:solidFill>
                  </a:tcPr>
                </a:tc>
                <a:tc>
                  <a:txBody>
                    <a:bodyPr/>
                    <a:lstStyle/>
                    <a:p>
                      <a:pPr algn="ctr" latinLnBrk="1"/>
                      <a:r>
                        <a:rPr lang="en-US" altLang="ko-KR" sz="1400" dirty="0">
                          <a:latin typeface="Arial" panose="020B0604020202020204" pitchFamily="34" charset="0"/>
                          <a:cs typeface="Arial" panose="020B0604020202020204" pitchFamily="34" charset="0"/>
                        </a:rPr>
                        <a:t>xxx</a:t>
                      </a:r>
                      <a:endParaRPr lang="ko-KR" altLang="en-US" sz="1400" dirty="0">
                        <a:latin typeface="Arial" panose="020B0604020202020204" pitchFamily="34" charset="0"/>
                        <a:cs typeface="Arial" panose="020B0604020202020204" pitchFamily="34" charset="0"/>
                      </a:endParaRPr>
                    </a:p>
                  </a:txBody>
                  <a:tcPr anchor="ctr">
                    <a:solidFill>
                      <a:srgbClr val="FFFF00"/>
                    </a:solidFill>
                  </a:tcPr>
                </a:tc>
                <a:extLst>
                  <a:ext uri="{0D108BD9-81ED-4DB2-BD59-A6C34878D82A}">
                    <a16:rowId xmlns:a16="http://schemas.microsoft.com/office/drawing/2014/main" val="10001"/>
                  </a:ext>
                </a:extLst>
              </a:tr>
            </a:tbl>
          </a:graphicData>
        </a:graphic>
      </p:graphicFrame>
      <p:sp>
        <p:nvSpPr>
          <p:cNvPr id="5" name="TextBox 4"/>
          <p:cNvSpPr txBox="1"/>
          <p:nvPr/>
        </p:nvSpPr>
        <p:spPr>
          <a:xfrm>
            <a:off x="4578479" y="2356541"/>
            <a:ext cx="1386020"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Meter Table</a:t>
            </a:r>
            <a:endParaRPr lang="ko-KR" altLang="en-US" dirty="0">
              <a:latin typeface="Arial" panose="020B0604020202020204" pitchFamily="34" charset="0"/>
              <a:cs typeface="Arial" panose="020B0604020202020204" pitchFamily="34" charset="0"/>
            </a:endParaRPr>
          </a:p>
        </p:txBody>
      </p:sp>
      <p:graphicFrame>
        <p:nvGraphicFramePr>
          <p:cNvPr id="6" name="표 5"/>
          <p:cNvGraphicFramePr>
            <a:graphicFrameLocks noGrp="1"/>
          </p:cNvGraphicFramePr>
          <p:nvPr/>
        </p:nvGraphicFramePr>
        <p:xfrm>
          <a:off x="1813523" y="4090421"/>
          <a:ext cx="8502053" cy="1407160"/>
        </p:xfrm>
        <a:graphic>
          <a:graphicData uri="http://schemas.openxmlformats.org/drawingml/2006/table">
            <a:tbl>
              <a:tblPr>
                <a:tableStyleId>{D7AC3CCA-C797-4891-BE02-D94E43425B78}</a:tableStyleId>
              </a:tblPr>
              <a:tblGrid>
                <a:gridCol w="744289">
                  <a:extLst>
                    <a:ext uri="{9D8B030D-6E8A-4147-A177-3AD203B41FA5}">
                      <a16:colId xmlns:a16="http://schemas.microsoft.com/office/drawing/2014/main" val="20000"/>
                    </a:ext>
                  </a:extLst>
                </a:gridCol>
                <a:gridCol w="778674">
                  <a:extLst>
                    <a:ext uri="{9D8B030D-6E8A-4147-A177-3AD203B41FA5}">
                      <a16:colId xmlns:a16="http://schemas.microsoft.com/office/drawing/2014/main" val="20001"/>
                    </a:ext>
                  </a:extLst>
                </a:gridCol>
                <a:gridCol w="862574">
                  <a:extLst>
                    <a:ext uri="{9D8B030D-6E8A-4147-A177-3AD203B41FA5}">
                      <a16:colId xmlns:a16="http://schemas.microsoft.com/office/drawing/2014/main" val="20002"/>
                    </a:ext>
                  </a:extLst>
                </a:gridCol>
                <a:gridCol w="944671">
                  <a:extLst>
                    <a:ext uri="{9D8B030D-6E8A-4147-A177-3AD203B41FA5}">
                      <a16:colId xmlns:a16="http://schemas.microsoft.com/office/drawing/2014/main" val="20003"/>
                    </a:ext>
                  </a:extLst>
                </a:gridCol>
                <a:gridCol w="667950">
                  <a:extLst>
                    <a:ext uri="{9D8B030D-6E8A-4147-A177-3AD203B41FA5}">
                      <a16:colId xmlns:a16="http://schemas.microsoft.com/office/drawing/2014/main" val="20004"/>
                    </a:ext>
                  </a:extLst>
                </a:gridCol>
                <a:gridCol w="734745">
                  <a:extLst>
                    <a:ext uri="{9D8B030D-6E8A-4147-A177-3AD203B41FA5}">
                      <a16:colId xmlns:a16="http://schemas.microsoft.com/office/drawing/2014/main" val="20005"/>
                    </a:ext>
                  </a:extLst>
                </a:gridCol>
                <a:gridCol w="725203">
                  <a:extLst>
                    <a:ext uri="{9D8B030D-6E8A-4147-A177-3AD203B41FA5}">
                      <a16:colId xmlns:a16="http://schemas.microsoft.com/office/drawing/2014/main" val="20006"/>
                    </a:ext>
                  </a:extLst>
                </a:gridCol>
                <a:gridCol w="849251">
                  <a:extLst>
                    <a:ext uri="{9D8B030D-6E8A-4147-A177-3AD203B41FA5}">
                      <a16:colId xmlns:a16="http://schemas.microsoft.com/office/drawing/2014/main" val="20007"/>
                    </a:ext>
                  </a:extLst>
                </a:gridCol>
                <a:gridCol w="734745">
                  <a:extLst>
                    <a:ext uri="{9D8B030D-6E8A-4147-A177-3AD203B41FA5}">
                      <a16:colId xmlns:a16="http://schemas.microsoft.com/office/drawing/2014/main" val="20008"/>
                    </a:ext>
                  </a:extLst>
                </a:gridCol>
                <a:gridCol w="734745">
                  <a:extLst>
                    <a:ext uri="{9D8B030D-6E8A-4147-A177-3AD203B41FA5}">
                      <a16:colId xmlns:a16="http://schemas.microsoft.com/office/drawing/2014/main" val="20009"/>
                    </a:ext>
                  </a:extLst>
                </a:gridCol>
                <a:gridCol w="725206">
                  <a:extLst>
                    <a:ext uri="{9D8B030D-6E8A-4147-A177-3AD203B41FA5}">
                      <a16:colId xmlns:a16="http://schemas.microsoft.com/office/drawing/2014/main" val="20010"/>
                    </a:ext>
                  </a:extLst>
                </a:gridCol>
              </a:tblGrid>
              <a:tr h="370840">
                <a:tc>
                  <a:txBody>
                    <a:bodyPr/>
                    <a:lstStyle/>
                    <a:p>
                      <a:pPr algn="ctr" latinLnBrk="1"/>
                      <a:r>
                        <a:rPr lang="en-US" altLang="ko-KR" sz="1400" dirty="0">
                          <a:latin typeface="Arial" panose="020B0604020202020204" pitchFamily="34" charset="0"/>
                          <a:cs typeface="Arial" panose="020B0604020202020204" pitchFamily="34" charset="0"/>
                        </a:rPr>
                        <a:t>Switch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MAC </a:t>
                      </a:r>
                      <a:r>
                        <a:rPr lang="en-US" altLang="ko-KR" sz="1400" dirty="0" err="1">
                          <a:latin typeface="Arial" panose="020B0604020202020204" pitchFamily="34" charset="0"/>
                          <a:cs typeface="Arial" panose="020B0604020202020204" pitchFamily="34" charset="0"/>
                        </a:rPr>
                        <a:t>src</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MAC </a:t>
                      </a:r>
                      <a:r>
                        <a:rPr lang="en-US" altLang="ko-KR" sz="1400" dirty="0" err="1">
                          <a:latin typeface="Arial" panose="020B0604020202020204" pitchFamily="34" charset="0"/>
                          <a:cs typeface="Arial" panose="020B0604020202020204" pitchFamily="34" charset="0"/>
                        </a:rPr>
                        <a:t>dst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Ether Type</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err="1">
                          <a:latin typeface="Arial" panose="020B0604020202020204" pitchFamily="34" charset="0"/>
                          <a:cs typeface="Arial" panose="020B0604020202020204" pitchFamily="34" charset="0"/>
                        </a:rPr>
                        <a:t>Src</a:t>
                      </a:r>
                      <a:r>
                        <a:rPr lang="en-US" altLang="ko-KR" sz="1400" dirty="0">
                          <a:latin typeface="Arial" panose="020B0604020202020204" pitchFamily="34" charset="0"/>
                          <a:cs typeface="Arial" panose="020B0604020202020204" pitchFamily="34" charset="0"/>
                        </a:rPr>
                        <a:t> IP</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err="1">
                          <a:latin typeface="Arial" panose="020B0604020202020204" pitchFamily="34" charset="0"/>
                          <a:cs typeface="Arial" panose="020B0604020202020204" pitchFamily="34" charset="0"/>
                        </a:rPr>
                        <a:t>Dst</a:t>
                      </a:r>
                      <a:r>
                        <a:rPr lang="en-US" altLang="ko-KR" sz="1400" dirty="0">
                          <a:latin typeface="Arial" panose="020B0604020202020204" pitchFamily="34" charset="0"/>
                          <a:cs typeface="Arial" panose="020B0604020202020204" pitchFamily="34" charset="0"/>
                        </a:rPr>
                        <a:t> IP</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Proto No.</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TCP S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TCP D</a:t>
                      </a:r>
                      <a:r>
                        <a:rPr lang="en-US" altLang="ko-KR" sz="1400" baseline="0" dirty="0">
                          <a:latin typeface="Arial" panose="020B0604020202020204" pitchFamily="34" charset="0"/>
                          <a:cs typeface="Arial" panose="020B0604020202020204" pitchFamily="34" charset="0"/>
                        </a:rPr>
                        <a:t> Port</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Inst.</a:t>
                      </a:r>
                      <a:br>
                        <a:rPr lang="en-US" altLang="ko-KR" sz="1400" dirty="0">
                          <a:latin typeface="Arial" panose="020B0604020202020204" pitchFamily="34" charset="0"/>
                          <a:cs typeface="Arial" panose="020B0604020202020204" pitchFamily="34" charset="0"/>
                        </a:rPr>
                      </a:br>
                      <a:r>
                        <a:rPr lang="en-US" altLang="ko-KR" sz="1400" dirty="0">
                          <a:latin typeface="Arial" panose="020B0604020202020204" pitchFamily="34" charset="0"/>
                          <a:cs typeface="Arial" panose="020B0604020202020204" pitchFamily="34" charset="0"/>
                        </a:rPr>
                        <a:t>Meter</a:t>
                      </a:r>
                      <a:endParaRPr lang="ko-KR" altLang="en-US" sz="1400" dirty="0">
                        <a:latin typeface="Arial" panose="020B0604020202020204" pitchFamily="34" charset="0"/>
                        <a:cs typeface="Arial" panose="020B0604020202020204" pitchFamily="34" charset="0"/>
                      </a:endParaRPr>
                    </a:p>
                  </a:txBody>
                  <a:tcPr>
                    <a:solidFill>
                      <a:schemeClr val="accent5">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Action</a:t>
                      </a:r>
                      <a:endParaRPr lang="ko-KR" altLang="en-US" sz="1400" dirty="0">
                        <a:latin typeface="Arial" panose="020B0604020202020204" pitchFamily="34" charset="0"/>
                        <a:cs typeface="Arial" panose="020B0604020202020204" pitchFamily="34" charset="0"/>
                      </a:endParaRPr>
                    </a:p>
                  </a:txBody>
                  <a:tcP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pPr algn="ctr" latinLnBrk="1"/>
                      <a:r>
                        <a:rPr lang="en-US" altLang="ko-KR" sz="1400" dirty="0">
                          <a:latin typeface="Arial" panose="020B0604020202020204" pitchFamily="34" charset="0"/>
                          <a:cs typeface="Arial" panose="020B0604020202020204" pitchFamily="34" charset="0"/>
                        </a:rPr>
                        <a:t>Port</a:t>
                      </a:r>
                      <a:r>
                        <a:rPr lang="en-US" altLang="ko-KR" sz="1400" baseline="0" dirty="0">
                          <a:latin typeface="Arial" panose="020B0604020202020204" pitchFamily="34" charset="0"/>
                          <a:cs typeface="Arial" panose="020B0604020202020204" pitchFamily="34" charset="0"/>
                        </a:rPr>
                        <a:t> 1</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1.2.2</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N/A</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ctr" latinLnBrk="1"/>
                      <a:r>
                        <a:rPr lang="en-US" altLang="ko-KR" sz="1400" dirty="0">
                          <a:latin typeface="Arial" panose="020B0604020202020204" pitchFamily="34" charset="0"/>
                          <a:cs typeface="Arial" panose="020B0604020202020204" pitchFamily="34" charset="0"/>
                        </a:rPr>
                        <a:t>Port 7</a:t>
                      </a:r>
                      <a:endParaRPr lang="ko-KR" altLang="en-US" sz="1400" dirty="0">
                        <a:latin typeface="Arial" panose="020B0604020202020204" pitchFamily="34" charset="0"/>
                        <a:cs typeface="Arial" panose="020B0604020202020204" pitchFamily="34" charset="0"/>
                      </a:endParaRPr>
                    </a:p>
                  </a:txBody>
                  <a:tcPr anchor="ctr">
                    <a:solidFill>
                      <a:schemeClr val="bg1"/>
                    </a:solidFill>
                  </a:tcPr>
                </a:tc>
                <a:extLst>
                  <a:ext uri="{0D108BD9-81ED-4DB2-BD59-A6C34878D82A}">
                    <a16:rowId xmlns:a16="http://schemas.microsoft.com/office/drawing/2014/main" val="10001"/>
                  </a:ext>
                </a:extLst>
              </a:tr>
              <a:tr h="370840">
                <a:tc>
                  <a:txBody>
                    <a:bodyPr/>
                    <a:lstStyle/>
                    <a:p>
                      <a:pPr algn="ctr" latinLnBrk="1"/>
                      <a:r>
                        <a:rPr lang="en-US" altLang="ko-KR" sz="1400" dirty="0">
                          <a:latin typeface="Arial" panose="020B0604020202020204" pitchFamily="34" charset="0"/>
                          <a:cs typeface="Arial" panose="020B0604020202020204" pitchFamily="34" charset="0"/>
                        </a:rPr>
                        <a:t>Port</a:t>
                      </a:r>
                      <a:r>
                        <a:rPr lang="en-US" altLang="ko-KR" sz="1400" baseline="0" dirty="0">
                          <a:latin typeface="Arial" panose="020B0604020202020204" pitchFamily="34" charset="0"/>
                          <a:cs typeface="Arial" panose="020B0604020202020204" pitchFamily="34" charset="0"/>
                        </a:rPr>
                        <a:t> 1</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00:FF…</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0800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1.2.3…</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11.1…</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Meter 100</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tc>
                  <a:txBody>
                    <a:bodyPr/>
                    <a:lstStyle/>
                    <a:p>
                      <a:pPr algn="ctr" latinLnBrk="1"/>
                      <a:r>
                        <a:rPr lang="en-US" altLang="ko-KR" sz="1400" dirty="0">
                          <a:latin typeface="Arial" panose="020B0604020202020204" pitchFamily="34" charset="0"/>
                          <a:cs typeface="Arial" panose="020B0604020202020204" pitchFamily="34" charset="0"/>
                        </a:rPr>
                        <a:t>Port 2</a:t>
                      </a:r>
                      <a:endParaRPr lang="ko-KR" altLang="en-US" sz="1400" dirty="0">
                        <a:latin typeface="Arial" panose="020B0604020202020204" pitchFamily="34" charset="0"/>
                        <a:cs typeface="Arial" panose="020B0604020202020204" pitchFamily="34" charset="0"/>
                      </a:endParaRPr>
                    </a:p>
                  </a:txBody>
                  <a:tcPr anchor="ctr">
                    <a:solidFill>
                      <a:schemeClr val="accent6">
                        <a:lumMod val="40000"/>
                        <a:lumOff val="60000"/>
                      </a:schemeClr>
                    </a:solidFill>
                  </a:tcPr>
                </a:tc>
                <a:extLst>
                  <a:ext uri="{0D108BD9-81ED-4DB2-BD59-A6C34878D82A}">
                    <a16:rowId xmlns:a16="http://schemas.microsoft.com/office/drawing/2014/main" val="10002"/>
                  </a:ext>
                </a:extLst>
              </a:tr>
            </a:tbl>
          </a:graphicData>
        </a:graphic>
      </p:graphicFrame>
      <p:cxnSp>
        <p:nvCxnSpPr>
          <p:cNvPr id="7" name="꺾인 연결선 6"/>
          <p:cNvCxnSpPr/>
          <p:nvPr/>
        </p:nvCxnSpPr>
        <p:spPr>
          <a:xfrm flipH="1" flipV="1">
            <a:off x="4667250" y="3377873"/>
            <a:ext cx="5648326" cy="1866900"/>
          </a:xfrm>
          <a:prstGeom prst="bentConnector5">
            <a:avLst>
              <a:gd name="adj1" fmla="val -4047"/>
              <a:gd name="adj2" fmla="val 74490"/>
              <a:gd name="adj3" fmla="val 104047"/>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752900" y="3707194"/>
            <a:ext cx="1283428" cy="369332"/>
          </a:xfrm>
          <a:prstGeom prst="rect">
            <a:avLst/>
          </a:prstGeom>
          <a:noFill/>
        </p:spPr>
        <p:txBody>
          <a:bodyPr wrap="none" rtlCol="0">
            <a:spAutoFit/>
          </a:bodyPr>
          <a:lstStyle/>
          <a:p>
            <a:r>
              <a:rPr lang="en-US" altLang="ko-KR" dirty="0">
                <a:latin typeface="Arial" panose="020B0604020202020204" pitchFamily="34" charset="0"/>
                <a:cs typeface="Arial" panose="020B0604020202020204" pitchFamily="34" charset="0"/>
              </a:rPr>
              <a:t>Flow Table</a:t>
            </a:r>
            <a:endParaRPr lang="ko-KR"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6726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FDBC4-4FB0-1404-18D0-4509FBF10EA5}"/>
              </a:ext>
            </a:extLst>
          </p:cNvPr>
          <p:cNvSpPr>
            <a:spLocks noGrp="1"/>
          </p:cNvSpPr>
          <p:nvPr>
            <p:ph type="title"/>
          </p:nvPr>
        </p:nvSpPr>
        <p:spPr/>
        <p:txBody>
          <a:bodyPr>
            <a:normAutofit/>
          </a:bodyPr>
          <a:lstStyle/>
          <a:p>
            <a:r>
              <a:rPr lang="en-GB" dirty="0"/>
              <a:t>Advantages of using OpenFlow</a:t>
            </a:r>
            <a:endParaRPr lang="en-IE" dirty="0"/>
          </a:p>
        </p:txBody>
      </p:sp>
      <p:sp>
        <p:nvSpPr>
          <p:cNvPr id="3" name="Content Placeholder 2">
            <a:extLst>
              <a:ext uri="{FF2B5EF4-FFF2-40B4-BE49-F238E27FC236}">
                <a16:creationId xmlns:a16="http://schemas.microsoft.com/office/drawing/2014/main" id="{D16985B4-68A7-1FE7-EAAE-650C6522BA91}"/>
              </a:ext>
            </a:extLst>
          </p:cNvPr>
          <p:cNvSpPr>
            <a:spLocks noGrp="1"/>
          </p:cNvSpPr>
          <p:nvPr>
            <p:ph idx="1"/>
          </p:nvPr>
        </p:nvSpPr>
        <p:spPr/>
        <p:txBody>
          <a:bodyPr>
            <a:normAutofit lnSpcReduction="10000"/>
          </a:bodyPr>
          <a:lstStyle/>
          <a:p>
            <a:r>
              <a:rPr lang="en-GB" dirty="0"/>
              <a:t>There are several advantages of OpenFlow and SDN rather than traditional networks:</a:t>
            </a:r>
          </a:p>
          <a:p>
            <a:pPr lvl="1"/>
            <a:r>
              <a:rPr lang="en-GB" dirty="0"/>
              <a:t>SDN enables the separation of control and data plane, which means switches can use all their hardware resources in just forwarding data instead of computing routes.</a:t>
            </a:r>
          </a:p>
          <a:p>
            <a:pPr lvl="1"/>
            <a:r>
              <a:rPr lang="en-GB" dirty="0"/>
              <a:t>OpenFlow provides an easy way of communication between the controller and switch, easily implemented in an existing network.</a:t>
            </a:r>
          </a:p>
          <a:p>
            <a:pPr lvl="1"/>
            <a:r>
              <a:rPr lang="en-GB" dirty="0"/>
              <a:t>Most current devices support OpenFlow; it is not enabled by default, but we can easily enable and use it to transition to SDN.</a:t>
            </a:r>
          </a:p>
          <a:p>
            <a:pPr lvl="1"/>
            <a:r>
              <a:rPr lang="en-GB" dirty="0"/>
              <a:t>It provides security with a TLS connection to prevent snooping and DoS attacks on the controller and/or the network.</a:t>
            </a:r>
          </a:p>
          <a:p>
            <a:pPr lvl="1"/>
            <a:r>
              <a:rPr lang="en-GB" dirty="0"/>
              <a:t>OpenFlow does NOT change the configuration for a switch. It just updates the flow tables, which define the path for a packet.</a:t>
            </a:r>
            <a:endParaRPr lang="en-IE" dirty="0"/>
          </a:p>
        </p:txBody>
      </p:sp>
    </p:spTree>
    <p:extLst>
      <p:ext uri="{BB962C8B-B14F-4D97-AF65-F5344CB8AC3E}">
        <p14:creationId xmlns:p14="http://schemas.microsoft.com/office/powerpoint/2010/main" val="1538853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EC145-4608-E57C-848F-5718D493ED9A}"/>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BC4CA28E-C192-4665-613E-9964C8EE8EE3}"/>
              </a:ext>
            </a:extLst>
          </p:cNvPr>
          <p:cNvSpPr>
            <a:spLocks noGrp="1"/>
          </p:cNvSpPr>
          <p:nvPr>
            <p:ph idx="1"/>
          </p:nvPr>
        </p:nvSpPr>
        <p:spPr/>
        <p:txBody>
          <a:bodyPr/>
          <a:lstStyle/>
          <a:p>
            <a:endParaRPr lang="en-IE"/>
          </a:p>
        </p:txBody>
      </p:sp>
      <p:pic>
        <p:nvPicPr>
          <p:cNvPr id="3074" name="Picture 2" descr="OpenFlow Wireshark">
            <a:extLst>
              <a:ext uri="{FF2B5EF4-FFF2-40B4-BE49-F238E27FC236}">
                <a16:creationId xmlns:a16="http://schemas.microsoft.com/office/drawing/2014/main" id="{0ADA5D7E-8FE7-9C1A-BA8F-AB99A7541D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4970" y="398697"/>
            <a:ext cx="8122060" cy="5778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6591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FAB29-48FC-BCEB-E7A5-FABA7DCF7E35}"/>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719D7372-D540-5EFE-8E93-40D28E4E1B8B}"/>
              </a:ext>
            </a:extLst>
          </p:cNvPr>
          <p:cNvSpPr>
            <a:spLocks noGrp="1"/>
          </p:cNvSpPr>
          <p:nvPr>
            <p:ph idx="1"/>
          </p:nvPr>
        </p:nvSpPr>
        <p:spPr/>
        <p:txBody>
          <a:bodyPr/>
          <a:lstStyle/>
          <a:p>
            <a:endParaRPr lang="en-IE"/>
          </a:p>
        </p:txBody>
      </p:sp>
      <p:pic>
        <p:nvPicPr>
          <p:cNvPr id="4098" name="Picture 2" descr="OpenFlow Wireshark">
            <a:extLst>
              <a:ext uri="{FF2B5EF4-FFF2-40B4-BE49-F238E27FC236}">
                <a16:creationId xmlns:a16="http://schemas.microsoft.com/office/drawing/2014/main" id="{5F0D580B-551D-4757-D760-47268591C4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1841" y="1420762"/>
            <a:ext cx="8048318" cy="3495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06559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F3ACD-3567-54B0-DB36-4AE3940610BC}"/>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F942CF61-883D-5BA9-3E82-10C3D497DC9F}"/>
              </a:ext>
            </a:extLst>
          </p:cNvPr>
          <p:cNvSpPr>
            <a:spLocks noGrp="1"/>
          </p:cNvSpPr>
          <p:nvPr>
            <p:ph idx="1"/>
          </p:nvPr>
        </p:nvSpPr>
        <p:spPr/>
        <p:txBody>
          <a:bodyPr/>
          <a:lstStyle/>
          <a:p>
            <a:r>
              <a:rPr lang="en-IE" dirty="0"/>
              <a:t>Who controls OpenFlow?</a:t>
            </a:r>
          </a:p>
          <a:p>
            <a:r>
              <a:rPr lang="en-IE" dirty="0"/>
              <a:t>Open Network Foundation (ONF), which is a non-profit consortium. </a:t>
            </a:r>
            <a:r>
              <a:rPr lang="en-US" dirty="0"/>
              <a:t>Dedicated to “the transformation of networks through SDN” </a:t>
            </a:r>
          </a:p>
          <a:p>
            <a:r>
              <a:rPr lang="en-US" dirty="0"/>
              <a:t>Which companies make up ONF?</a:t>
            </a:r>
          </a:p>
          <a:p>
            <a:r>
              <a:rPr lang="en-IE" dirty="0"/>
              <a:t> Deutsche Telekom, Facebook, Yahoo, Google, Microsoft, NTT Communications, Verizon, HP, Huawei, IBM, Infinera, Korea Telecom, Cisco, ZTE Corp, and many more</a:t>
            </a:r>
          </a:p>
        </p:txBody>
      </p:sp>
    </p:spTree>
    <p:extLst>
      <p:ext uri="{BB962C8B-B14F-4D97-AF65-F5344CB8AC3E}">
        <p14:creationId xmlns:p14="http://schemas.microsoft.com/office/powerpoint/2010/main" val="1587662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3468</Words>
  <Application>Microsoft Office PowerPoint</Application>
  <PresentationFormat>Widescreen</PresentationFormat>
  <Paragraphs>746</Paragraphs>
  <Slides>41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Times New Roman</vt:lpstr>
      <vt:lpstr>Wingdings</vt:lpstr>
      <vt:lpstr>Office Theme</vt:lpstr>
      <vt:lpstr>SDN and WN security</vt:lpstr>
      <vt:lpstr>SDN operation</vt:lpstr>
      <vt:lpstr>Switch components</vt:lpstr>
      <vt:lpstr>OpenFlow Protocol Specification</vt:lpstr>
      <vt:lpstr>SDN vs. OpenFlow</vt:lpstr>
      <vt:lpstr>OpenFlow</vt:lpstr>
      <vt:lpstr>How Does OpenFlow Work?</vt:lpstr>
      <vt:lpstr>OpenFlow Communication</vt:lpstr>
      <vt:lpstr>Current Status of SDN Products and Solutions</vt:lpstr>
      <vt:lpstr>OpenFlow Protocol Format</vt:lpstr>
      <vt:lpstr>Flow tables</vt:lpstr>
      <vt:lpstr>Flow Tables and ﬂow entries</vt:lpstr>
      <vt:lpstr>OpenFlow: Flow Table</vt:lpstr>
      <vt:lpstr>OpenFlow: Flow Table</vt:lpstr>
      <vt:lpstr>PowerPoint Presentation</vt:lpstr>
      <vt:lpstr>PowerPoint Presentation</vt:lpstr>
      <vt:lpstr>PowerPoint Presentation</vt:lpstr>
      <vt:lpstr>OpenFlow Pipelining</vt:lpstr>
      <vt:lpstr>PowerPoint Presentation</vt:lpstr>
      <vt:lpstr>PowerPoint Presentation</vt:lpstr>
      <vt:lpstr>PowerPoint Presentation</vt:lpstr>
      <vt:lpstr>PowerPoint Presentation</vt:lpstr>
      <vt:lpstr>OpenFlow ports</vt:lpstr>
      <vt:lpstr>PowerPoint Presentation</vt:lpstr>
      <vt:lpstr>OpenFlow Messages</vt:lpstr>
      <vt:lpstr>Controller-to-switch Messages</vt:lpstr>
      <vt:lpstr>Asynchronous Messages</vt:lpstr>
      <vt:lpstr>Symmetric Messages</vt:lpstr>
      <vt:lpstr>OpenFlow Protocol Messages</vt:lpstr>
      <vt:lpstr>Packet Forwarding in OpenFlow</vt:lpstr>
      <vt:lpstr>Topology Discovery in OpenFlow</vt:lpstr>
      <vt:lpstr>OpenFlow Group Table</vt:lpstr>
      <vt:lpstr>OpenFlow Group Table</vt:lpstr>
      <vt:lpstr>OpenFlow Group Table</vt:lpstr>
      <vt:lpstr>OpenFlow Group Table</vt:lpstr>
      <vt:lpstr>OpenFlow Group Table</vt:lpstr>
      <vt:lpstr>OpenFlow Meter Table</vt:lpstr>
      <vt:lpstr>Advantages of using OpenFlow</vt:lpstr>
      <vt:lpstr>PowerPoint Presentation</vt:lpstr>
      <vt:lpstr>PowerPoint Presentation</vt:lpstr>
      <vt:lpstr>PowerPoint Presentation</vt:lpstr>
    </vt:vector>
  </TitlesOfParts>
  <Company>LYIT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lyit</dc:creator>
  <cp:lastModifiedBy>Saim Ghafoor</cp:lastModifiedBy>
  <cp:revision>157</cp:revision>
  <dcterms:created xsi:type="dcterms:W3CDTF">2014-10-06T13:03:33Z</dcterms:created>
  <dcterms:modified xsi:type="dcterms:W3CDTF">2025-10-05T19:46:55Z</dcterms:modified>
</cp:coreProperties>
</file>