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27"/>
  </p:notesMasterIdLst>
  <p:sldIdLst>
    <p:sldId id="258" r:id="rId2"/>
    <p:sldId id="296" r:id="rId3"/>
    <p:sldId id="297" r:id="rId4"/>
    <p:sldId id="299" r:id="rId5"/>
    <p:sldId id="300" r:id="rId6"/>
    <p:sldId id="301" r:id="rId7"/>
    <p:sldId id="302" r:id="rId8"/>
    <p:sldId id="303" r:id="rId9"/>
    <p:sldId id="304" r:id="rId10"/>
    <p:sldId id="306" r:id="rId11"/>
    <p:sldId id="307" r:id="rId12"/>
    <p:sldId id="308" r:id="rId13"/>
    <p:sldId id="316" r:id="rId14"/>
    <p:sldId id="311" r:id="rId15"/>
    <p:sldId id="333" r:id="rId16"/>
    <p:sldId id="332" r:id="rId17"/>
    <p:sldId id="334" r:id="rId18"/>
    <p:sldId id="335" r:id="rId19"/>
    <p:sldId id="318" r:id="rId20"/>
    <p:sldId id="324" r:id="rId21"/>
    <p:sldId id="325" r:id="rId22"/>
    <p:sldId id="329" r:id="rId23"/>
    <p:sldId id="328" r:id="rId24"/>
    <p:sldId id="326" r:id="rId25"/>
    <p:sldId id="33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9AAE26-7816-411B-990B-77629E0D6209}" v="1" dt="2025-09-21T14:44:01.9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m Ghafoor" userId="b484e196-97e0-4a37-9647-714f4ebb2ce2" providerId="ADAL" clId="{5A9AAE26-7816-411B-990B-77629E0D6209}"/>
    <pc:docChg chg="modSld">
      <pc:chgData name="Saim Ghafoor" userId="b484e196-97e0-4a37-9647-714f4ebb2ce2" providerId="ADAL" clId="{5A9AAE26-7816-411B-990B-77629E0D6209}" dt="2025-09-21T14:44:24.969" v="13" actId="20577"/>
      <pc:docMkLst>
        <pc:docMk/>
      </pc:docMkLst>
      <pc:sldChg chg="modSp mod">
        <pc:chgData name="Saim Ghafoor" userId="b484e196-97e0-4a37-9647-714f4ebb2ce2" providerId="ADAL" clId="{5A9AAE26-7816-411B-990B-77629E0D6209}" dt="2025-09-21T14:44:24.969" v="13" actId="20577"/>
        <pc:sldMkLst>
          <pc:docMk/>
          <pc:sldMk cId="463403378" sldId="296"/>
        </pc:sldMkLst>
        <pc:spChg chg="mod">
          <ac:chgData name="Saim Ghafoor" userId="b484e196-97e0-4a37-9647-714f4ebb2ce2" providerId="ADAL" clId="{5A9AAE26-7816-411B-990B-77629E0D6209}" dt="2025-09-21T14:44:24.969" v="13" actId="20577"/>
          <ac:spMkLst>
            <pc:docMk/>
            <pc:sldMk cId="463403378" sldId="296"/>
            <ac:spMk id="3" creationId="{00000000-0000-0000-0000-000000000000}"/>
          </ac:spMkLst>
        </pc:spChg>
      </pc:sldChg>
    </pc:docChg>
  </pc:docChgLst>
  <pc:docChgLst>
    <pc:chgData name="Saim Ghafoor" userId="b484e196-97e0-4a37-9647-714f4ebb2ce2" providerId="ADAL" clId="{C71AFF09-4BB6-48F4-8689-A1E84DB3F12F}"/>
    <pc:docChg chg="custSel modSld">
      <pc:chgData name="Saim Ghafoor" userId="b484e196-97e0-4a37-9647-714f4ebb2ce2" providerId="ADAL" clId="{C71AFF09-4BB6-48F4-8689-A1E84DB3F12F}" dt="2024-09-22T19:38:45.994" v="9" actId="13822"/>
      <pc:docMkLst>
        <pc:docMk/>
      </pc:docMkLst>
      <pc:sldChg chg="addSp modSp mod">
        <pc:chgData name="Saim Ghafoor" userId="b484e196-97e0-4a37-9647-714f4ebb2ce2" providerId="ADAL" clId="{C71AFF09-4BB6-48F4-8689-A1E84DB3F12F}" dt="2024-09-22T19:38:45.994" v="9" actId="13822"/>
        <pc:sldMkLst>
          <pc:docMk/>
          <pc:sldMk cId="2806788013" sldId="33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BE251D-97B3-4F06-8608-3B1ADED79B1C}" type="datetimeFigureOut">
              <a:rPr lang="en-IE" smtClean="0"/>
              <a:t>21/09/2025</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49E036-CB38-4818-B98A-A61A334C2102}" type="slidenum">
              <a:rPr lang="en-IE" smtClean="0"/>
              <a:t>‹#›</a:t>
            </a:fld>
            <a:endParaRPr lang="en-IE"/>
          </a:p>
        </p:txBody>
      </p:sp>
    </p:spTree>
    <p:extLst>
      <p:ext uri="{BB962C8B-B14F-4D97-AF65-F5344CB8AC3E}">
        <p14:creationId xmlns:p14="http://schemas.microsoft.com/office/powerpoint/2010/main" val="100373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E"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p:cNvSpPr>
            <a:spLocks noGrp="1"/>
          </p:cNvSpPr>
          <p:nvPr>
            <p:ph type="dt" sz="half" idx="10"/>
          </p:nvPr>
        </p:nvSpPr>
        <p:spPr/>
        <p:txBody>
          <a:bodyPr/>
          <a:lstStyle/>
          <a:p>
            <a:fld id="{4C8F0F3A-F91E-4FDA-8568-4D8EBD0FEF63}" type="datetime1">
              <a:rPr lang="en-IE" smtClean="0"/>
              <a:t>21/09/2025</a:t>
            </a:fld>
            <a:endParaRPr lang="en-IE" dirty="0"/>
          </a:p>
        </p:txBody>
      </p:sp>
      <p:sp>
        <p:nvSpPr>
          <p:cNvPr id="5" name="Footer Placeholder 4"/>
          <p:cNvSpPr>
            <a:spLocks noGrp="1"/>
          </p:cNvSpPr>
          <p:nvPr>
            <p:ph type="ftr" sz="quarter" idx="11"/>
          </p:nvPr>
        </p:nvSpPr>
        <p:spPr/>
        <p:txBody>
          <a:bodyPr/>
          <a:lstStyle/>
          <a:p>
            <a:r>
              <a:rPr lang="en-US"/>
              <a:t>Department of Computing © Saim Ghafoor 2025</a:t>
            </a:r>
            <a:endParaRPr lang="en-IE" dirty="0"/>
          </a:p>
        </p:txBody>
      </p:sp>
      <p:sp>
        <p:nvSpPr>
          <p:cNvPr id="6" name="Slide Number Placeholder 5"/>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3832766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B6B66299-F36F-4CCD-B895-5865A1C28346}" type="datetime1">
              <a:rPr lang="en-IE" smtClean="0"/>
              <a:t>21/09/2025</a:t>
            </a:fld>
            <a:endParaRPr lang="en-IE"/>
          </a:p>
        </p:txBody>
      </p:sp>
      <p:sp>
        <p:nvSpPr>
          <p:cNvPr id="5" name="Footer Placeholder 4"/>
          <p:cNvSpPr>
            <a:spLocks noGrp="1"/>
          </p:cNvSpPr>
          <p:nvPr>
            <p:ph type="ftr" sz="quarter" idx="11"/>
          </p:nvPr>
        </p:nvSpPr>
        <p:spPr/>
        <p:txBody>
          <a:bodyPr/>
          <a:lstStyle/>
          <a:p>
            <a:r>
              <a:rPr lang="en-US"/>
              <a:t>Department of Computing © Saim Ghafoor 2025</a:t>
            </a:r>
            <a:endParaRPr lang="en-IE" dirty="0"/>
          </a:p>
        </p:txBody>
      </p:sp>
      <p:sp>
        <p:nvSpPr>
          <p:cNvPr id="6" name="Slide Number Placeholder 5"/>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4203863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IE"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779466-309C-42B2-A47C-D9773D171449}" type="datetime1">
              <a:rPr lang="en-IE" smtClean="0"/>
              <a:t>21/09/2025</a:t>
            </a:fld>
            <a:endParaRPr lang="en-IE"/>
          </a:p>
        </p:txBody>
      </p:sp>
      <p:sp>
        <p:nvSpPr>
          <p:cNvPr id="5" name="Footer Placeholder 4"/>
          <p:cNvSpPr>
            <a:spLocks noGrp="1"/>
          </p:cNvSpPr>
          <p:nvPr>
            <p:ph type="ftr" sz="quarter" idx="11"/>
          </p:nvPr>
        </p:nvSpPr>
        <p:spPr/>
        <p:txBody>
          <a:bodyPr/>
          <a:lstStyle/>
          <a:p>
            <a:r>
              <a:rPr lang="en-US"/>
              <a:t>Department of Computing © Saim Ghafoor 2025</a:t>
            </a:r>
            <a:endParaRPr lang="en-IE" dirty="0"/>
          </a:p>
        </p:txBody>
      </p:sp>
      <p:sp>
        <p:nvSpPr>
          <p:cNvPr id="6" name="Slide Number Placeholder 5"/>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356537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p:cNvSpPr>
            <a:spLocks noGrp="1"/>
          </p:cNvSpPr>
          <p:nvPr>
            <p:ph type="dt" sz="half" idx="10"/>
          </p:nvPr>
        </p:nvSpPr>
        <p:spPr/>
        <p:txBody>
          <a:bodyPr/>
          <a:lstStyle/>
          <a:p>
            <a:fld id="{59ED82A9-CD65-42C0-836A-9113128A35FA}" type="datetime1">
              <a:rPr lang="en-IE" smtClean="0"/>
              <a:t>21/09/2025</a:t>
            </a:fld>
            <a:endParaRPr lang="en-IE"/>
          </a:p>
        </p:txBody>
      </p:sp>
      <p:sp>
        <p:nvSpPr>
          <p:cNvPr id="6" name="Footer Placeholder 5"/>
          <p:cNvSpPr>
            <a:spLocks noGrp="1"/>
          </p:cNvSpPr>
          <p:nvPr>
            <p:ph type="ftr" sz="quarter" idx="11"/>
          </p:nvPr>
        </p:nvSpPr>
        <p:spPr/>
        <p:txBody>
          <a:bodyPr/>
          <a:lstStyle/>
          <a:p>
            <a:r>
              <a:rPr lang="en-US"/>
              <a:t>Department of Computing © Saim Ghafoor 2025</a:t>
            </a:r>
            <a:endParaRPr lang="en-IE" dirty="0"/>
          </a:p>
        </p:txBody>
      </p:sp>
      <p:sp>
        <p:nvSpPr>
          <p:cNvPr id="7" name="Slide Number Placeholder 6"/>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1813901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689317"/>
            <a:ext cx="10515600" cy="1001371"/>
          </a:xfrm>
        </p:spPr>
        <p:txBody>
          <a:bodyPr/>
          <a:lstStyle/>
          <a:p>
            <a:r>
              <a:rPr lang="en-US"/>
              <a:t>Click to edit Master title style</a:t>
            </a:r>
            <a:endParaRPr lang="en-I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p:cNvSpPr>
            <a:spLocks noGrp="1"/>
          </p:cNvSpPr>
          <p:nvPr>
            <p:ph type="dt" sz="half" idx="10"/>
          </p:nvPr>
        </p:nvSpPr>
        <p:spPr/>
        <p:txBody>
          <a:bodyPr/>
          <a:lstStyle/>
          <a:p>
            <a:fld id="{12E7B44D-E11E-449A-BA46-F853102593E7}" type="datetime1">
              <a:rPr lang="en-IE" smtClean="0"/>
              <a:t>21/09/2025</a:t>
            </a:fld>
            <a:endParaRPr lang="en-IE"/>
          </a:p>
        </p:txBody>
      </p:sp>
      <p:sp>
        <p:nvSpPr>
          <p:cNvPr id="8" name="Footer Placeholder 7"/>
          <p:cNvSpPr>
            <a:spLocks noGrp="1"/>
          </p:cNvSpPr>
          <p:nvPr>
            <p:ph type="ftr" sz="quarter" idx="11"/>
          </p:nvPr>
        </p:nvSpPr>
        <p:spPr/>
        <p:txBody>
          <a:bodyPr/>
          <a:lstStyle/>
          <a:p>
            <a:r>
              <a:rPr lang="en-US"/>
              <a:t>Department of Computing © Saim Ghafoor 2025</a:t>
            </a:r>
            <a:endParaRPr lang="en-IE" dirty="0"/>
          </a:p>
        </p:txBody>
      </p:sp>
      <p:sp>
        <p:nvSpPr>
          <p:cNvPr id="9" name="Slide Number Placeholder 8"/>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2058568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Date Placeholder 2"/>
          <p:cNvSpPr>
            <a:spLocks noGrp="1"/>
          </p:cNvSpPr>
          <p:nvPr>
            <p:ph type="dt" sz="half" idx="10"/>
          </p:nvPr>
        </p:nvSpPr>
        <p:spPr/>
        <p:txBody>
          <a:bodyPr/>
          <a:lstStyle/>
          <a:p>
            <a:fld id="{05F075B5-AD60-4C91-AC18-A84835ADCC12}" type="datetime1">
              <a:rPr lang="en-IE" smtClean="0"/>
              <a:t>21/09/2025</a:t>
            </a:fld>
            <a:endParaRPr lang="en-IE"/>
          </a:p>
        </p:txBody>
      </p:sp>
      <p:sp>
        <p:nvSpPr>
          <p:cNvPr id="4" name="Footer Placeholder 3"/>
          <p:cNvSpPr>
            <a:spLocks noGrp="1"/>
          </p:cNvSpPr>
          <p:nvPr>
            <p:ph type="ftr" sz="quarter" idx="11"/>
          </p:nvPr>
        </p:nvSpPr>
        <p:spPr/>
        <p:txBody>
          <a:bodyPr/>
          <a:lstStyle/>
          <a:p>
            <a:r>
              <a:rPr lang="en-US"/>
              <a:t>Department of Computing © Saim Ghafoor 2025</a:t>
            </a:r>
            <a:endParaRPr lang="en-IE" dirty="0"/>
          </a:p>
        </p:txBody>
      </p:sp>
      <p:sp>
        <p:nvSpPr>
          <p:cNvPr id="5" name="Slide Number Placeholder 4"/>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3732119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3488AF-E5F3-4F92-94F3-DD3C04861170}" type="datetime1">
              <a:rPr lang="en-IE" smtClean="0"/>
              <a:t>21/09/2025</a:t>
            </a:fld>
            <a:endParaRPr lang="en-IE"/>
          </a:p>
        </p:txBody>
      </p:sp>
      <p:sp>
        <p:nvSpPr>
          <p:cNvPr id="3" name="Footer Placeholder 2"/>
          <p:cNvSpPr>
            <a:spLocks noGrp="1"/>
          </p:cNvSpPr>
          <p:nvPr>
            <p:ph type="ftr" sz="quarter" idx="11"/>
          </p:nvPr>
        </p:nvSpPr>
        <p:spPr/>
        <p:txBody>
          <a:bodyPr/>
          <a:lstStyle/>
          <a:p>
            <a:r>
              <a:rPr lang="en-US"/>
              <a:t>Department of Computing © Saim Ghafoor 2025</a:t>
            </a:r>
            <a:endParaRPr lang="en-IE" dirty="0"/>
          </a:p>
        </p:txBody>
      </p:sp>
      <p:sp>
        <p:nvSpPr>
          <p:cNvPr id="4" name="Slide Number Placeholder 3"/>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3399631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87424"/>
            <a:ext cx="3932237" cy="1069975"/>
          </a:xfrm>
        </p:spPr>
        <p:txBody>
          <a:bodyPr anchor="b"/>
          <a:lstStyle>
            <a:lvl1pPr>
              <a:defRPr sz="3200"/>
            </a:lvl1pPr>
          </a:lstStyle>
          <a:p>
            <a:r>
              <a:rPr lang="en-US"/>
              <a:t>Click to edit Master title style</a:t>
            </a:r>
            <a:endParaRPr lang="en-I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9C3CD0-A5D0-4D09-8D23-3D5B81E543BF}" type="datetime1">
              <a:rPr lang="en-IE" smtClean="0"/>
              <a:t>21/09/2025</a:t>
            </a:fld>
            <a:endParaRPr lang="en-IE"/>
          </a:p>
        </p:txBody>
      </p:sp>
      <p:sp>
        <p:nvSpPr>
          <p:cNvPr id="6" name="Footer Placeholder 5"/>
          <p:cNvSpPr>
            <a:spLocks noGrp="1"/>
          </p:cNvSpPr>
          <p:nvPr>
            <p:ph type="ftr" sz="quarter" idx="11"/>
          </p:nvPr>
        </p:nvSpPr>
        <p:spPr/>
        <p:txBody>
          <a:bodyPr/>
          <a:lstStyle/>
          <a:p>
            <a:r>
              <a:rPr lang="en-US"/>
              <a:t>Department of Computing © Saim Ghafoor 2025</a:t>
            </a:r>
            <a:endParaRPr lang="en-IE" dirty="0"/>
          </a:p>
        </p:txBody>
      </p:sp>
      <p:sp>
        <p:nvSpPr>
          <p:cNvPr id="7" name="Slide Number Placeholder 6"/>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1881443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987424"/>
            <a:ext cx="3932237" cy="1069975"/>
          </a:xfrm>
        </p:spPr>
        <p:txBody>
          <a:bodyPr anchor="b"/>
          <a:lstStyle>
            <a:lvl1pPr>
              <a:defRPr sz="3200"/>
            </a:lvl1pPr>
          </a:lstStyle>
          <a:p>
            <a:r>
              <a:rPr lang="en-US"/>
              <a:t>Click to edit Master title style</a:t>
            </a:r>
            <a:endParaRPr lang="en-I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BC8475E-DE12-48BA-81A7-28802ADC775D}" type="datetime1">
              <a:rPr lang="en-IE" smtClean="0"/>
              <a:t>21/09/2025</a:t>
            </a:fld>
            <a:endParaRPr lang="en-IE"/>
          </a:p>
        </p:txBody>
      </p:sp>
      <p:sp>
        <p:nvSpPr>
          <p:cNvPr id="6" name="Footer Placeholder 5"/>
          <p:cNvSpPr>
            <a:spLocks noGrp="1"/>
          </p:cNvSpPr>
          <p:nvPr>
            <p:ph type="ftr" sz="quarter" idx="11"/>
          </p:nvPr>
        </p:nvSpPr>
        <p:spPr/>
        <p:txBody>
          <a:bodyPr/>
          <a:lstStyle/>
          <a:p>
            <a:r>
              <a:rPr lang="en-US"/>
              <a:t>Department of Computing © Saim Ghafoor 2025</a:t>
            </a:r>
            <a:endParaRPr lang="en-IE" dirty="0"/>
          </a:p>
        </p:txBody>
      </p:sp>
      <p:sp>
        <p:nvSpPr>
          <p:cNvPr id="7" name="Slide Number Placeholder 6"/>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3648759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08EC39AD-9B71-4B6D-B594-5AF982DE35BF}" type="datetime1">
              <a:rPr lang="en-IE" smtClean="0"/>
              <a:t>21/09/2025</a:t>
            </a:fld>
            <a:endParaRPr lang="en-IE"/>
          </a:p>
        </p:txBody>
      </p:sp>
      <p:sp>
        <p:nvSpPr>
          <p:cNvPr id="5" name="Footer Placeholder 4"/>
          <p:cNvSpPr>
            <a:spLocks noGrp="1"/>
          </p:cNvSpPr>
          <p:nvPr>
            <p:ph type="ftr" sz="quarter" idx="11"/>
          </p:nvPr>
        </p:nvSpPr>
        <p:spPr/>
        <p:txBody>
          <a:bodyPr/>
          <a:lstStyle/>
          <a:p>
            <a:r>
              <a:rPr lang="en-US"/>
              <a:t>Department of Computing © Saim Ghafoor 2025</a:t>
            </a:r>
            <a:endParaRPr lang="en-IE" dirty="0"/>
          </a:p>
        </p:txBody>
      </p:sp>
      <p:sp>
        <p:nvSpPr>
          <p:cNvPr id="6" name="Slide Number Placeholder 5"/>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104720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75249"/>
            <a:ext cx="2628900" cy="5501714"/>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838200" y="675249"/>
            <a:ext cx="7734300" cy="550171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271459ED-9393-4201-B111-5EE3FE9AA9A9}" type="datetime1">
              <a:rPr lang="en-IE" smtClean="0"/>
              <a:t>21/09/2025</a:t>
            </a:fld>
            <a:endParaRPr lang="en-IE"/>
          </a:p>
        </p:txBody>
      </p:sp>
      <p:sp>
        <p:nvSpPr>
          <p:cNvPr id="5" name="Footer Placeholder 4"/>
          <p:cNvSpPr>
            <a:spLocks noGrp="1"/>
          </p:cNvSpPr>
          <p:nvPr>
            <p:ph type="ftr" sz="quarter" idx="11"/>
          </p:nvPr>
        </p:nvSpPr>
        <p:spPr/>
        <p:txBody>
          <a:bodyPr/>
          <a:lstStyle/>
          <a:p>
            <a:r>
              <a:rPr lang="en-US"/>
              <a:t>Department of Computing © Saim Ghafoor 2025</a:t>
            </a:r>
            <a:endParaRPr lang="en-IE" dirty="0"/>
          </a:p>
        </p:txBody>
      </p:sp>
      <p:sp>
        <p:nvSpPr>
          <p:cNvPr id="6" name="Slide Number Placeholder 5"/>
          <p:cNvSpPr>
            <a:spLocks noGrp="1"/>
          </p:cNvSpPr>
          <p:nvPr>
            <p:ph type="sldNum" sz="quarter" idx="12"/>
          </p:nvPr>
        </p:nvSpPr>
        <p:spPr/>
        <p:txBody>
          <a:bodyPr/>
          <a:lstStyle/>
          <a:p>
            <a:fld id="{4DADDF82-8990-4558-84CF-42B3CAB7C69C}" type="slidenum">
              <a:rPr lang="en-IE" smtClean="0"/>
              <a:t>‹#›</a:t>
            </a:fld>
            <a:endParaRPr lang="en-IE"/>
          </a:p>
        </p:txBody>
      </p:sp>
    </p:spTree>
    <p:extLst>
      <p:ext uri="{BB962C8B-B14F-4D97-AF65-F5344CB8AC3E}">
        <p14:creationId xmlns:p14="http://schemas.microsoft.com/office/powerpoint/2010/main" val="2454958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758962"/>
            <a:ext cx="10515600" cy="931725"/>
          </a:xfrm>
          <a:prstGeom prst="rect">
            <a:avLst/>
          </a:prstGeom>
        </p:spPr>
        <p:txBody>
          <a:bodyPr vert="horz" lIns="91440" tIns="45720" rIns="91440" bIns="45720" rtlCol="0" anchor="ctr">
            <a:normAutofit/>
          </a:bodyPr>
          <a:lstStyle/>
          <a:p>
            <a:r>
              <a:rPr lang="en-US" dirty="0"/>
              <a:t>Click to edit Master title style</a:t>
            </a:r>
            <a:endParaRPr lang="en-IE"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cs typeface="Times New Roman" panose="02020603050405020304" pitchFamily="18" charset="0"/>
              </a:defRPr>
            </a:lvl1pPr>
          </a:lstStyle>
          <a:p>
            <a:fld id="{934C25C3-60C1-4AD1-8386-0343370EF0B2}" type="datetime1">
              <a:rPr lang="en-IE" smtClean="0"/>
              <a:t>21/09/2025</a:t>
            </a:fld>
            <a:endParaRPr lang="en-I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cs typeface="Times New Roman" panose="02020603050405020304" pitchFamily="18" charset="0"/>
              </a:defRPr>
            </a:lvl1pPr>
          </a:lstStyle>
          <a:p>
            <a:r>
              <a:rPr lang="en-US"/>
              <a:t>Department of Computing © Saim Ghafoor 2025</a:t>
            </a:r>
            <a:endParaRPr lang="en-IE"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cs typeface="Times New Roman" panose="02020603050405020304" pitchFamily="18" charset="0"/>
              </a:defRPr>
            </a:lvl1pPr>
          </a:lstStyle>
          <a:p>
            <a:fld id="{4DADDF82-8990-4558-84CF-42B3CAB7C69C}" type="slidenum">
              <a:rPr lang="en-IE" smtClean="0"/>
              <a:pPr/>
              <a:t>‹#›</a:t>
            </a:fld>
            <a:endParaRPr lang="en-IE"/>
          </a:p>
        </p:txBody>
      </p:sp>
    </p:spTree>
    <p:extLst>
      <p:ext uri="{BB962C8B-B14F-4D97-AF65-F5344CB8AC3E}">
        <p14:creationId xmlns:p14="http://schemas.microsoft.com/office/powerpoint/2010/main" val="3869486882"/>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56520"/>
            <a:ext cx="9144000" cy="1376363"/>
          </a:xfrm>
        </p:spPr>
        <p:txBody>
          <a:bodyPr>
            <a:normAutofit fontScale="90000"/>
          </a:bodyPr>
          <a:lstStyle/>
          <a:p>
            <a:r>
              <a:rPr lang="en-IE" dirty="0"/>
              <a:t>SDN and Wireless Network Security</a:t>
            </a:r>
          </a:p>
        </p:txBody>
      </p:sp>
      <p:sp>
        <p:nvSpPr>
          <p:cNvPr id="3" name="Subtitle 2"/>
          <p:cNvSpPr>
            <a:spLocks noGrp="1"/>
          </p:cNvSpPr>
          <p:nvPr>
            <p:ph type="subTitle" idx="1"/>
          </p:nvPr>
        </p:nvSpPr>
        <p:spPr>
          <a:xfrm>
            <a:off x="1524000" y="4079875"/>
            <a:ext cx="9144000" cy="1655762"/>
          </a:xfrm>
        </p:spPr>
        <p:txBody>
          <a:bodyPr>
            <a:normAutofit/>
          </a:bodyPr>
          <a:lstStyle/>
          <a:p>
            <a:r>
              <a:rPr lang="en-IE" dirty="0"/>
              <a:t>Lecture 2-1</a:t>
            </a:r>
          </a:p>
          <a:p>
            <a:r>
              <a:rPr lang="en-IE" dirty="0"/>
              <a:t>SDN Architecture and planes</a:t>
            </a:r>
          </a:p>
        </p:txBody>
      </p:sp>
      <p:sp>
        <p:nvSpPr>
          <p:cNvPr id="4" name="Footer Placeholder 3"/>
          <p:cNvSpPr>
            <a:spLocks noGrp="1"/>
          </p:cNvSpPr>
          <p:nvPr>
            <p:ph type="ftr" sz="quarter" idx="11"/>
          </p:nvPr>
        </p:nvSpPr>
        <p:spPr/>
        <p:txBody>
          <a:bodyPr/>
          <a:lstStyle/>
          <a:p>
            <a:r>
              <a:rPr lang="en-US"/>
              <a:t>Department of Computing © Saim Ghafoor 2025</a:t>
            </a:r>
            <a:endParaRPr lang="en-IE" dirty="0"/>
          </a:p>
        </p:txBody>
      </p:sp>
      <p:sp>
        <p:nvSpPr>
          <p:cNvPr id="5" name="Subtitle 2"/>
          <p:cNvSpPr txBox="1">
            <a:spLocks/>
          </p:cNvSpPr>
          <p:nvPr/>
        </p:nvSpPr>
        <p:spPr>
          <a:xfrm>
            <a:off x="1524000" y="3032883"/>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E" dirty="0" err="1"/>
              <a:t>Saim</a:t>
            </a:r>
            <a:r>
              <a:rPr lang="en-IE" dirty="0"/>
              <a:t> </a:t>
            </a:r>
            <a:r>
              <a:rPr lang="en-IE" dirty="0" err="1"/>
              <a:t>Ghafoor</a:t>
            </a:r>
            <a:endParaRPr lang="en-IE" dirty="0"/>
          </a:p>
        </p:txBody>
      </p:sp>
    </p:spTree>
    <p:extLst>
      <p:ext uri="{BB962C8B-B14F-4D97-AF65-F5344CB8AC3E}">
        <p14:creationId xmlns:p14="http://schemas.microsoft.com/office/powerpoint/2010/main" val="979140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7257"/>
            <a:ext cx="10515600" cy="931725"/>
          </a:xfrm>
        </p:spPr>
        <p:txBody>
          <a:bodyPr/>
          <a:lstStyle/>
          <a:p>
            <a:r>
              <a:rPr lang="en-IE" dirty="0"/>
              <a:t>SDN Architecture</a:t>
            </a:r>
          </a:p>
        </p:txBody>
      </p:sp>
      <p:sp>
        <p:nvSpPr>
          <p:cNvPr id="3" name="Content Placeholder 2"/>
          <p:cNvSpPr>
            <a:spLocks noGrp="1"/>
          </p:cNvSpPr>
          <p:nvPr>
            <p:ph idx="1"/>
          </p:nvPr>
        </p:nvSpPr>
        <p:spPr>
          <a:xfrm>
            <a:off x="838200" y="1248982"/>
            <a:ext cx="7315200" cy="4351338"/>
          </a:xfrm>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pPr algn="l" fontAlgn="base"/>
            <a:r>
              <a:rPr lang="en-GB" b="0" i="0" dirty="0">
                <a:solidFill>
                  <a:srgbClr val="273239"/>
                </a:solidFill>
                <a:effectLst/>
                <a:latin typeface="Times New Roman" panose="02020603050405020304" pitchFamily="18" charset="0"/>
                <a:cs typeface="Times New Roman" panose="02020603050405020304" pitchFamily="18" charset="0"/>
              </a:rPr>
              <a:t>A typical SDN architecture consists of three layers.</a:t>
            </a:r>
          </a:p>
          <a:p>
            <a:pPr algn="l" fontAlgn="base"/>
            <a:endParaRPr lang="en-GB" b="0" i="0" dirty="0">
              <a:solidFill>
                <a:srgbClr val="273239"/>
              </a:solidFill>
              <a:effectLst/>
              <a:latin typeface="Times New Roman" panose="02020603050405020304" pitchFamily="18" charset="0"/>
              <a:cs typeface="Times New Roman" panose="02020603050405020304" pitchFamily="18" charset="0"/>
            </a:endParaRPr>
          </a:p>
          <a:p>
            <a:pPr algn="l" fontAlgn="base"/>
            <a:r>
              <a:rPr lang="en-GB" b="1" i="0" dirty="0">
                <a:solidFill>
                  <a:srgbClr val="273239"/>
                </a:solidFill>
                <a:effectLst/>
                <a:latin typeface="Times New Roman" panose="02020603050405020304" pitchFamily="18" charset="0"/>
                <a:cs typeface="Times New Roman" panose="02020603050405020304" pitchFamily="18" charset="0"/>
              </a:rPr>
              <a:t>Application layer:</a:t>
            </a:r>
          </a:p>
          <a:p>
            <a:pPr lvl="1" fontAlgn="base"/>
            <a:r>
              <a:rPr lang="en-GB" b="0" i="0" dirty="0">
                <a:solidFill>
                  <a:srgbClr val="273239"/>
                </a:solidFill>
                <a:effectLst/>
                <a:latin typeface="Times New Roman" panose="02020603050405020304" pitchFamily="18" charset="0"/>
                <a:cs typeface="Times New Roman" panose="02020603050405020304" pitchFamily="18" charset="0"/>
              </a:rPr>
              <a:t>It contains the typical network applications like intrusion detection, firewall, and load balancing</a:t>
            </a:r>
          </a:p>
          <a:p>
            <a:pPr algn="l" fontAlgn="base"/>
            <a:r>
              <a:rPr lang="en-GB" b="1" i="0" dirty="0">
                <a:solidFill>
                  <a:srgbClr val="273239"/>
                </a:solidFill>
                <a:effectLst/>
                <a:latin typeface="Times New Roman" panose="02020603050405020304" pitchFamily="18" charset="0"/>
                <a:cs typeface="Times New Roman" panose="02020603050405020304" pitchFamily="18" charset="0"/>
              </a:rPr>
              <a:t>Control layer:</a:t>
            </a:r>
          </a:p>
          <a:p>
            <a:pPr lvl="1" fontAlgn="base"/>
            <a:r>
              <a:rPr lang="en-GB" b="0" i="0" dirty="0">
                <a:solidFill>
                  <a:srgbClr val="273239"/>
                </a:solidFill>
                <a:effectLst/>
                <a:latin typeface="Times New Roman" panose="02020603050405020304" pitchFamily="18" charset="0"/>
                <a:cs typeface="Times New Roman" panose="02020603050405020304" pitchFamily="18" charset="0"/>
              </a:rPr>
              <a:t>It consists of the SDN controller, which acts as the brain of the network. It also allows hardware abstraction to the applications written on top of it.</a:t>
            </a:r>
          </a:p>
          <a:p>
            <a:pPr algn="l" fontAlgn="base"/>
            <a:r>
              <a:rPr lang="en-GB" b="1" i="0" dirty="0">
                <a:solidFill>
                  <a:srgbClr val="273239"/>
                </a:solidFill>
                <a:effectLst/>
                <a:latin typeface="Times New Roman" panose="02020603050405020304" pitchFamily="18" charset="0"/>
                <a:cs typeface="Times New Roman" panose="02020603050405020304" pitchFamily="18" charset="0"/>
              </a:rPr>
              <a:t>Infrastructure layer:</a:t>
            </a:r>
          </a:p>
          <a:p>
            <a:pPr lvl="1" fontAlgn="base"/>
            <a:r>
              <a:rPr lang="en-GB" b="0" i="0" dirty="0">
                <a:solidFill>
                  <a:srgbClr val="273239"/>
                </a:solidFill>
                <a:effectLst/>
                <a:latin typeface="Times New Roman" panose="02020603050405020304" pitchFamily="18" charset="0"/>
                <a:cs typeface="Times New Roman" panose="02020603050405020304" pitchFamily="18" charset="0"/>
              </a:rPr>
              <a:t>This consists of physical switches which form the data plane and carry out the actual movement of data packets.</a:t>
            </a:r>
          </a:p>
        </p:txBody>
      </p:sp>
      <p:sp>
        <p:nvSpPr>
          <p:cNvPr id="4" name="Footer Placeholder 3"/>
          <p:cNvSpPr>
            <a:spLocks noGrp="1"/>
          </p:cNvSpPr>
          <p:nvPr>
            <p:ph type="ftr" sz="quarter" idx="11"/>
          </p:nvPr>
        </p:nvSpPr>
        <p:spPr/>
        <p:txBody>
          <a:bodyPr/>
          <a:lstStyle/>
          <a:p>
            <a:r>
              <a:rPr lang="en-US"/>
              <a:t>Department of Computing © Saim Ghafoor 2025</a:t>
            </a:r>
            <a:endParaRPr lang="en-IE" dirty="0"/>
          </a:p>
        </p:txBody>
      </p:sp>
      <p:pic>
        <p:nvPicPr>
          <p:cNvPr id="6" name="Picture 5">
            <a:extLst>
              <a:ext uri="{FF2B5EF4-FFF2-40B4-BE49-F238E27FC236}">
                <a16:creationId xmlns:a16="http://schemas.microsoft.com/office/drawing/2014/main" id="{1F6F31D0-6605-6D58-16E4-3DCAD382B0CF}"/>
              </a:ext>
            </a:extLst>
          </p:cNvPr>
          <p:cNvPicPr>
            <a:picLocks noChangeAspect="1"/>
          </p:cNvPicPr>
          <p:nvPr/>
        </p:nvPicPr>
        <p:blipFill>
          <a:blip r:embed="rId2"/>
          <a:stretch>
            <a:fillRect/>
          </a:stretch>
        </p:blipFill>
        <p:spPr>
          <a:xfrm>
            <a:off x="8430491" y="1523187"/>
            <a:ext cx="3508231" cy="4653776"/>
          </a:xfrm>
          <a:prstGeom prst="rect">
            <a:avLst/>
          </a:prstGeom>
        </p:spPr>
      </p:pic>
      <p:sp>
        <p:nvSpPr>
          <p:cNvPr id="8" name="TextBox 7">
            <a:extLst>
              <a:ext uri="{FF2B5EF4-FFF2-40B4-BE49-F238E27FC236}">
                <a16:creationId xmlns:a16="http://schemas.microsoft.com/office/drawing/2014/main" id="{E10091B2-D6DB-2BD5-71BA-E4CC400B6E64}"/>
              </a:ext>
            </a:extLst>
          </p:cNvPr>
          <p:cNvSpPr txBox="1"/>
          <p:nvPr/>
        </p:nvSpPr>
        <p:spPr>
          <a:xfrm>
            <a:off x="1049482" y="5798145"/>
            <a:ext cx="6892636"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fontAlgn="base"/>
            <a:r>
              <a:rPr lang="en-GB" b="0" i="0" dirty="0">
                <a:solidFill>
                  <a:srgbClr val="273239"/>
                </a:solidFill>
                <a:effectLst/>
                <a:latin typeface="Times New Roman" panose="02020603050405020304" pitchFamily="18" charset="0"/>
                <a:cs typeface="Times New Roman" panose="02020603050405020304" pitchFamily="18" charset="0"/>
              </a:rPr>
              <a:t>The layers communicate via a set of interfaces called the northbound APIs(between application and control layer) and southbound APIs(between control and infrastructure layer).</a:t>
            </a:r>
            <a:endParaRPr lang="en-I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3403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D78D6-A13B-6ABF-4870-0CEBD6C9F098}"/>
              </a:ext>
            </a:extLst>
          </p:cNvPr>
          <p:cNvSpPr>
            <a:spLocks noGrp="1"/>
          </p:cNvSpPr>
          <p:nvPr>
            <p:ph type="title"/>
          </p:nvPr>
        </p:nvSpPr>
        <p:spPr/>
        <p:txBody>
          <a:bodyPr/>
          <a:lstStyle/>
          <a:p>
            <a:r>
              <a:rPr lang="en-IE" dirty="0"/>
              <a:t>Advantages/Disadvantages of SDN</a:t>
            </a:r>
          </a:p>
        </p:txBody>
      </p:sp>
      <p:sp>
        <p:nvSpPr>
          <p:cNvPr id="3" name="Content Placeholder 2">
            <a:extLst>
              <a:ext uri="{FF2B5EF4-FFF2-40B4-BE49-F238E27FC236}">
                <a16:creationId xmlns:a16="http://schemas.microsoft.com/office/drawing/2014/main" id="{D6209935-A3D4-37B3-8786-E2C4AB3E2D34}"/>
              </a:ext>
            </a:extLst>
          </p:cNvPr>
          <p:cNvSpPr>
            <a:spLocks noGrp="1"/>
          </p:cNvSpPr>
          <p:nvPr>
            <p:ph idx="1"/>
          </p:nvPr>
        </p:nvSpPr>
        <p:spPr/>
        <p:txBody>
          <a:bodyPr>
            <a:normAutofit fontScale="92500"/>
          </a:bodyPr>
          <a:lstStyle/>
          <a:p>
            <a:pPr algn="l" fontAlgn="base"/>
            <a:r>
              <a:rPr lang="en-GB" b="1" i="0" dirty="0">
                <a:solidFill>
                  <a:srgbClr val="273239"/>
                </a:solidFill>
                <a:effectLst/>
              </a:rPr>
              <a:t>Advantages of SDN:</a:t>
            </a:r>
            <a:endParaRPr lang="en-GB" b="0" i="0" dirty="0">
              <a:solidFill>
                <a:srgbClr val="273239"/>
              </a:solidFill>
              <a:effectLst/>
            </a:endParaRPr>
          </a:p>
          <a:p>
            <a:pPr lvl="1" fontAlgn="base"/>
            <a:r>
              <a:rPr lang="en-GB" b="0" i="0" u="sng" dirty="0">
                <a:solidFill>
                  <a:srgbClr val="273239"/>
                </a:solidFill>
                <a:effectLst/>
              </a:rPr>
              <a:t>Network is programmable </a:t>
            </a:r>
            <a:r>
              <a:rPr lang="en-GB" b="0" i="0" dirty="0">
                <a:solidFill>
                  <a:srgbClr val="273239"/>
                </a:solidFill>
                <a:effectLst/>
              </a:rPr>
              <a:t>hence can easily be modified via the controller rather than individual switches.</a:t>
            </a:r>
          </a:p>
          <a:p>
            <a:pPr lvl="1" fontAlgn="base"/>
            <a:r>
              <a:rPr lang="en-GB" b="0" i="0" dirty="0">
                <a:solidFill>
                  <a:srgbClr val="273239"/>
                </a:solidFill>
                <a:effectLst/>
              </a:rPr>
              <a:t>Switch </a:t>
            </a:r>
            <a:r>
              <a:rPr lang="en-GB" b="0" i="0" u="sng" dirty="0">
                <a:solidFill>
                  <a:srgbClr val="273239"/>
                </a:solidFill>
                <a:effectLst/>
              </a:rPr>
              <a:t>hardware becomes cheaper </a:t>
            </a:r>
            <a:r>
              <a:rPr lang="en-GB" b="0" i="0" dirty="0">
                <a:solidFill>
                  <a:srgbClr val="273239"/>
                </a:solidFill>
                <a:effectLst/>
              </a:rPr>
              <a:t>since each switch only needs a data plane.</a:t>
            </a:r>
          </a:p>
          <a:p>
            <a:pPr lvl="1" fontAlgn="base"/>
            <a:r>
              <a:rPr lang="en-GB" b="0" i="0" u="sng" dirty="0">
                <a:solidFill>
                  <a:srgbClr val="273239"/>
                </a:solidFill>
                <a:effectLst/>
              </a:rPr>
              <a:t>Hardware is abstracted</a:t>
            </a:r>
            <a:r>
              <a:rPr lang="en-GB" b="0" i="0" dirty="0">
                <a:solidFill>
                  <a:srgbClr val="273239"/>
                </a:solidFill>
                <a:effectLst/>
              </a:rPr>
              <a:t>, hence applications can be written on top of controller independent of switch vendor.</a:t>
            </a:r>
          </a:p>
          <a:p>
            <a:pPr lvl="1" fontAlgn="base"/>
            <a:r>
              <a:rPr lang="en-GB" b="0" i="0" dirty="0">
                <a:solidFill>
                  <a:srgbClr val="273239"/>
                </a:solidFill>
                <a:effectLst/>
              </a:rPr>
              <a:t>Provides </a:t>
            </a:r>
            <a:r>
              <a:rPr lang="en-GB" b="0" i="0" u="sng" dirty="0">
                <a:solidFill>
                  <a:srgbClr val="273239"/>
                </a:solidFill>
                <a:effectLst/>
              </a:rPr>
              <a:t>better security </a:t>
            </a:r>
            <a:r>
              <a:rPr lang="en-GB" b="0" i="0" dirty="0">
                <a:solidFill>
                  <a:srgbClr val="273239"/>
                </a:solidFill>
                <a:effectLst/>
              </a:rPr>
              <a:t>since the controller can monitor traffic and deploy security policies. For example, if the controller detects suspicious activity in network traffic, it can reroute or drop the packets.</a:t>
            </a:r>
          </a:p>
          <a:p>
            <a:pPr fontAlgn="base"/>
            <a:r>
              <a:rPr lang="en-GB" b="1" i="0" dirty="0">
                <a:solidFill>
                  <a:srgbClr val="273239"/>
                </a:solidFill>
                <a:effectLst/>
              </a:rPr>
              <a:t>Disadvantages of SDN:</a:t>
            </a:r>
            <a:br>
              <a:rPr lang="en-GB" b="0" i="0" dirty="0">
                <a:solidFill>
                  <a:srgbClr val="273239"/>
                </a:solidFill>
                <a:effectLst/>
              </a:rPr>
            </a:br>
            <a:r>
              <a:rPr lang="en-GB" b="0" i="0" dirty="0">
                <a:solidFill>
                  <a:srgbClr val="273239"/>
                </a:solidFill>
                <a:effectLst/>
              </a:rPr>
              <a:t>	The central dependency of the network means single point of failure, i.e. if the controller gets corrupted, the entire network will be affected.</a:t>
            </a:r>
          </a:p>
          <a:p>
            <a:endParaRPr lang="en-IE" dirty="0"/>
          </a:p>
        </p:txBody>
      </p:sp>
      <p:sp>
        <p:nvSpPr>
          <p:cNvPr id="4" name="Footer Placeholder 3">
            <a:extLst>
              <a:ext uri="{FF2B5EF4-FFF2-40B4-BE49-F238E27FC236}">
                <a16:creationId xmlns:a16="http://schemas.microsoft.com/office/drawing/2014/main" id="{716E1636-66CB-113A-805A-F292B04E67A1}"/>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3463503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7574C-ED27-9AA7-B652-1E2216B2A761}"/>
              </a:ext>
            </a:extLst>
          </p:cNvPr>
          <p:cNvSpPr>
            <a:spLocks noGrp="1"/>
          </p:cNvSpPr>
          <p:nvPr>
            <p:ph type="title"/>
          </p:nvPr>
        </p:nvSpPr>
        <p:spPr>
          <a:xfrm>
            <a:off x="838200" y="309717"/>
            <a:ext cx="10515600" cy="931725"/>
          </a:xfrm>
        </p:spPr>
        <p:txBody>
          <a:bodyPr/>
          <a:lstStyle/>
          <a:p>
            <a:r>
              <a:rPr lang="en-IE" dirty="0"/>
              <a:t>Planes</a:t>
            </a:r>
          </a:p>
        </p:txBody>
      </p:sp>
      <p:sp>
        <p:nvSpPr>
          <p:cNvPr id="3" name="Content Placeholder 2">
            <a:extLst>
              <a:ext uri="{FF2B5EF4-FFF2-40B4-BE49-F238E27FC236}">
                <a16:creationId xmlns:a16="http://schemas.microsoft.com/office/drawing/2014/main" id="{869371A0-1DDE-0DFF-6728-7F554203D3C1}"/>
              </a:ext>
            </a:extLst>
          </p:cNvPr>
          <p:cNvSpPr>
            <a:spLocks noGrp="1"/>
          </p:cNvSpPr>
          <p:nvPr>
            <p:ph idx="1"/>
          </p:nvPr>
        </p:nvSpPr>
        <p:spPr>
          <a:xfrm>
            <a:off x="838200" y="1241442"/>
            <a:ext cx="6182032" cy="5306841"/>
          </a:xfrm>
        </p:spPr>
        <p:txBody>
          <a:bodyPr>
            <a:normAutofit fontScale="77500" lnSpcReduction="20000"/>
          </a:bodyPr>
          <a:lstStyle/>
          <a:p>
            <a:pPr algn="l" fontAlgn="base"/>
            <a:r>
              <a:rPr lang="en-GB" b="0" i="0" dirty="0">
                <a:solidFill>
                  <a:srgbClr val="273239"/>
                </a:solidFill>
                <a:effectLst/>
              </a:rPr>
              <a:t>In order to understand software defined networks, we need to understand the various planes involved in networking.</a:t>
            </a:r>
          </a:p>
          <a:p>
            <a:pPr algn="l" fontAlgn="base"/>
            <a:endParaRPr lang="en-GB" b="0" i="0" dirty="0">
              <a:solidFill>
                <a:srgbClr val="273239"/>
              </a:solidFill>
              <a:effectLst/>
            </a:endParaRPr>
          </a:p>
          <a:p>
            <a:pPr algn="l" fontAlgn="base"/>
            <a:r>
              <a:rPr lang="en-GB" b="1" i="0" dirty="0">
                <a:solidFill>
                  <a:srgbClr val="273239"/>
                </a:solidFill>
                <a:effectLst/>
              </a:rPr>
              <a:t>Data plane:</a:t>
            </a:r>
            <a:br>
              <a:rPr lang="en-GB" b="0" i="0" dirty="0">
                <a:solidFill>
                  <a:srgbClr val="273239"/>
                </a:solidFill>
                <a:effectLst/>
              </a:rPr>
            </a:br>
            <a:r>
              <a:rPr lang="en-GB" b="0" i="0" dirty="0">
                <a:solidFill>
                  <a:srgbClr val="273239"/>
                </a:solidFill>
                <a:effectLst/>
              </a:rPr>
              <a:t>All the activities involving as well as resulting from data packets sent by the end user belong to this plane. This includes:</a:t>
            </a:r>
          </a:p>
          <a:p>
            <a:pPr lvl="1" fontAlgn="base"/>
            <a:r>
              <a:rPr lang="en-GB" b="0" i="0" dirty="0">
                <a:solidFill>
                  <a:srgbClr val="273239"/>
                </a:solidFill>
                <a:effectLst/>
              </a:rPr>
              <a:t>Forwarding of packets</a:t>
            </a:r>
          </a:p>
          <a:p>
            <a:pPr lvl="1" fontAlgn="base"/>
            <a:r>
              <a:rPr lang="en-GB" b="0" i="0" dirty="0">
                <a:solidFill>
                  <a:srgbClr val="273239"/>
                </a:solidFill>
                <a:effectLst/>
              </a:rPr>
              <a:t>Segmentation and reassembly of data</a:t>
            </a:r>
          </a:p>
          <a:p>
            <a:pPr lvl="1" fontAlgn="base"/>
            <a:r>
              <a:rPr lang="en-GB" b="0" i="0" dirty="0">
                <a:solidFill>
                  <a:srgbClr val="273239"/>
                </a:solidFill>
                <a:effectLst/>
              </a:rPr>
              <a:t>Replication of packets for multicasting</a:t>
            </a:r>
          </a:p>
          <a:p>
            <a:pPr algn="l" fontAlgn="base"/>
            <a:r>
              <a:rPr lang="en-GB" b="1" i="0" dirty="0">
                <a:solidFill>
                  <a:srgbClr val="273239"/>
                </a:solidFill>
                <a:effectLst/>
              </a:rPr>
              <a:t>Control plane:</a:t>
            </a:r>
            <a:br>
              <a:rPr lang="en-GB" b="0" i="0" dirty="0">
                <a:solidFill>
                  <a:srgbClr val="273239"/>
                </a:solidFill>
                <a:effectLst/>
              </a:rPr>
            </a:br>
            <a:r>
              <a:rPr lang="en-GB" b="0" i="0" dirty="0">
                <a:solidFill>
                  <a:srgbClr val="273239"/>
                </a:solidFill>
                <a:effectLst/>
              </a:rPr>
              <a:t>All activities necessary to perform data plane activities but do not involve end user data packets belong to this plane. In other words, this is the brain of the network. The activities of the control plane include:</a:t>
            </a:r>
          </a:p>
          <a:p>
            <a:pPr lvl="1" fontAlgn="base"/>
            <a:r>
              <a:rPr lang="en-GB" b="0" i="0" dirty="0">
                <a:solidFill>
                  <a:srgbClr val="273239"/>
                </a:solidFill>
                <a:effectLst/>
              </a:rPr>
              <a:t>Making routing tables</a:t>
            </a:r>
          </a:p>
          <a:p>
            <a:pPr lvl="1" fontAlgn="base"/>
            <a:r>
              <a:rPr lang="en-GB" b="0" i="0" dirty="0">
                <a:solidFill>
                  <a:srgbClr val="273239"/>
                </a:solidFill>
                <a:effectLst/>
              </a:rPr>
              <a:t>Setting packet handling policies</a:t>
            </a:r>
          </a:p>
          <a:p>
            <a:endParaRPr lang="en-IE" dirty="0"/>
          </a:p>
        </p:txBody>
      </p:sp>
      <p:sp>
        <p:nvSpPr>
          <p:cNvPr id="4" name="Footer Placeholder 3">
            <a:extLst>
              <a:ext uri="{FF2B5EF4-FFF2-40B4-BE49-F238E27FC236}">
                <a16:creationId xmlns:a16="http://schemas.microsoft.com/office/drawing/2014/main" id="{CDCFE4AB-F17A-A5FC-4201-A30ADD0C1211}"/>
              </a:ext>
            </a:extLst>
          </p:cNvPr>
          <p:cNvSpPr>
            <a:spLocks noGrp="1"/>
          </p:cNvSpPr>
          <p:nvPr>
            <p:ph type="ftr" sz="quarter" idx="11"/>
          </p:nvPr>
        </p:nvSpPr>
        <p:spPr/>
        <p:txBody>
          <a:bodyPr/>
          <a:lstStyle/>
          <a:p>
            <a:r>
              <a:rPr lang="en-US"/>
              <a:t>Department of Computing © Saim Ghafoor 2025</a:t>
            </a:r>
            <a:endParaRPr lang="en-IE" dirty="0"/>
          </a:p>
        </p:txBody>
      </p:sp>
      <p:pic>
        <p:nvPicPr>
          <p:cNvPr id="5" name="Picture 2" descr="How Will SDN Change the Future Network? | by Orenda | Medium">
            <a:extLst>
              <a:ext uri="{FF2B5EF4-FFF2-40B4-BE49-F238E27FC236}">
                <a16:creationId xmlns:a16="http://schemas.microsoft.com/office/drawing/2014/main" id="{B85BA5A1-EE24-8C5B-D931-BEA5026F58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2968" y="1582678"/>
            <a:ext cx="4929034" cy="3218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8016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0E828-0578-7D49-2B60-8F449E75B13E}"/>
              </a:ext>
            </a:extLst>
          </p:cNvPr>
          <p:cNvSpPr>
            <a:spLocks noGrp="1"/>
          </p:cNvSpPr>
          <p:nvPr>
            <p:ph type="title"/>
          </p:nvPr>
        </p:nvSpPr>
        <p:spPr/>
        <p:txBody>
          <a:bodyPr/>
          <a:lstStyle/>
          <a:p>
            <a:endParaRPr lang="en-IE" dirty="0"/>
          </a:p>
        </p:txBody>
      </p:sp>
      <p:sp>
        <p:nvSpPr>
          <p:cNvPr id="3" name="Content Placeholder 2">
            <a:extLst>
              <a:ext uri="{FF2B5EF4-FFF2-40B4-BE49-F238E27FC236}">
                <a16:creationId xmlns:a16="http://schemas.microsoft.com/office/drawing/2014/main" id="{00B57A10-8DBC-99E5-6D18-3068720DEF5E}"/>
              </a:ext>
            </a:extLst>
          </p:cNvPr>
          <p:cNvSpPr>
            <a:spLocks noGrp="1"/>
          </p:cNvSpPr>
          <p:nvPr>
            <p:ph idx="1"/>
          </p:nvPr>
        </p:nvSpPr>
        <p:spPr/>
        <p:txBody>
          <a:bodyPr/>
          <a:lstStyle/>
          <a:p>
            <a:pPr algn="l" fontAlgn="base"/>
            <a:r>
              <a:rPr lang="en-GB" b="0" i="0" dirty="0">
                <a:solidFill>
                  <a:srgbClr val="273239"/>
                </a:solidFill>
                <a:effectLst/>
              </a:rPr>
              <a:t>In a traditional network, each </a:t>
            </a:r>
            <a:r>
              <a:rPr lang="en-GB" b="0" i="0" u="sng" dirty="0">
                <a:solidFill>
                  <a:srgbClr val="273239"/>
                </a:solidFill>
                <a:effectLst/>
              </a:rPr>
              <a:t>switch</a:t>
            </a:r>
            <a:r>
              <a:rPr lang="en-GB" b="0" i="0" dirty="0">
                <a:solidFill>
                  <a:srgbClr val="273239"/>
                </a:solidFill>
                <a:effectLst/>
              </a:rPr>
              <a:t> has its own data plane as well as control plane. The control plane of various switches exchange </a:t>
            </a:r>
            <a:r>
              <a:rPr lang="en-GB" b="0" i="0" u="sng" dirty="0">
                <a:solidFill>
                  <a:srgbClr val="273239"/>
                </a:solidFill>
                <a:effectLst/>
              </a:rPr>
              <a:t>topology</a:t>
            </a:r>
            <a:r>
              <a:rPr lang="en-GB" b="0" i="0" dirty="0">
                <a:solidFill>
                  <a:srgbClr val="273239"/>
                </a:solidFill>
                <a:effectLst/>
              </a:rPr>
              <a:t> information and hence construct a forwarding table which decides where an incoming data packet has to be forwarded via the data plane.</a:t>
            </a:r>
          </a:p>
          <a:p>
            <a:pPr algn="l" fontAlgn="base"/>
            <a:r>
              <a:rPr lang="en-GB" b="0" i="0" dirty="0">
                <a:solidFill>
                  <a:srgbClr val="273239"/>
                </a:solidFill>
                <a:effectLst/>
              </a:rPr>
              <a:t>Software defined networking (SDN) is an approach via which we take the control plane away from the switch and assign it to a centralised unit called the SDN controller. Hence, a network administrator can shape traffic via a centralised console without having to touch the individual switches.</a:t>
            </a:r>
          </a:p>
          <a:p>
            <a:endParaRPr lang="en-IE" dirty="0"/>
          </a:p>
        </p:txBody>
      </p:sp>
      <p:sp>
        <p:nvSpPr>
          <p:cNvPr id="4" name="Footer Placeholder 3">
            <a:extLst>
              <a:ext uri="{FF2B5EF4-FFF2-40B4-BE49-F238E27FC236}">
                <a16:creationId xmlns:a16="http://schemas.microsoft.com/office/drawing/2014/main" id="{188CF9C2-CB1D-CE13-C830-92E837BD7A09}"/>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2107786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C3D44-6470-09E5-3081-F26644C92697}"/>
              </a:ext>
            </a:extLst>
          </p:cNvPr>
          <p:cNvSpPr>
            <a:spLocks noGrp="1"/>
          </p:cNvSpPr>
          <p:nvPr>
            <p:ph type="title"/>
          </p:nvPr>
        </p:nvSpPr>
        <p:spPr/>
        <p:txBody>
          <a:bodyPr>
            <a:normAutofit fontScale="90000"/>
          </a:bodyPr>
          <a:lstStyle/>
          <a:p>
            <a:r>
              <a:rPr lang="en-IE" dirty="0"/>
              <a:t>How switch decides when packet enters a switch?</a:t>
            </a:r>
          </a:p>
        </p:txBody>
      </p:sp>
      <p:sp>
        <p:nvSpPr>
          <p:cNvPr id="3" name="Content Placeholder 2">
            <a:extLst>
              <a:ext uri="{FF2B5EF4-FFF2-40B4-BE49-F238E27FC236}">
                <a16:creationId xmlns:a16="http://schemas.microsoft.com/office/drawing/2014/main" id="{8EB2BBD3-FC93-7430-2F82-A8BC9BBA5082}"/>
              </a:ext>
            </a:extLst>
          </p:cNvPr>
          <p:cNvSpPr>
            <a:spLocks noGrp="1"/>
          </p:cNvSpPr>
          <p:nvPr>
            <p:ph idx="1"/>
          </p:nvPr>
        </p:nvSpPr>
        <p:spPr/>
        <p:txBody>
          <a:bodyPr>
            <a:normAutofit fontScale="92500" lnSpcReduction="20000"/>
          </a:bodyPr>
          <a:lstStyle/>
          <a:p>
            <a:r>
              <a:rPr lang="en-GB" dirty="0"/>
              <a:t>The data plane still resides in the switch and when a packet enters a switch, its forwarding activity is decided based on the entries of flow tables, which are pre-assigned by the controller. A flow table consists of match fields (like input port number and packet header) and instructions. The packet is first matched against the match fields of the flow table entries.</a:t>
            </a:r>
          </a:p>
          <a:p>
            <a:endParaRPr lang="en-GB" dirty="0"/>
          </a:p>
          <a:p>
            <a:r>
              <a:rPr lang="en-GB" dirty="0"/>
              <a:t>Then the instructions of the corresponding flow entry are executed. The instructions can be </a:t>
            </a:r>
          </a:p>
          <a:p>
            <a:pPr lvl="1"/>
            <a:r>
              <a:rPr lang="en-GB" dirty="0"/>
              <a:t>forwarding the packet via one or multiple ports, </a:t>
            </a:r>
          </a:p>
          <a:p>
            <a:pPr lvl="1"/>
            <a:r>
              <a:rPr lang="en-GB" dirty="0"/>
              <a:t>dropping the packet or adding headers to the packet. </a:t>
            </a:r>
          </a:p>
          <a:p>
            <a:r>
              <a:rPr lang="en-GB" dirty="0"/>
              <a:t>If a packet doesn’t find a corresponding match in the flow table, the switch queries the controller which sends a new flow entry to the switch. The switch forwards or drops the packet based on this flow entry.</a:t>
            </a:r>
            <a:endParaRPr lang="en-IE" dirty="0"/>
          </a:p>
        </p:txBody>
      </p:sp>
      <p:sp>
        <p:nvSpPr>
          <p:cNvPr id="4" name="Footer Placeholder 3">
            <a:extLst>
              <a:ext uri="{FF2B5EF4-FFF2-40B4-BE49-F238E27FC236}">
                <a16:creationId xmlns:a16="http://schemas.microsoft.com/office/drawing/2014/main" id="{AF0C5A92-EDAD-206E-F8F9-2A2AAF118F2B}"/>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2246102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0FDAB-EB70-CE8E-0D0B-66651BEABD16}"/>
              </a:ext>
            </a:extLst>
          </p:cNvPr>
          <p:cNvSpPr>
            <a:spLocks noGrp="1"/>
          </p:cNvSpPr>
          <p:nvPr>
            <p:ph type="title"/>
          </p:nvPr>
        </p:nvSpPr>
        <p:spPr/>
        <p:txBody>
          <a:bodyPr/>
          <a:lstStyle/>
          <a:p>
            <a:r>
              <a:rPr lang="en-IE" dirty="0"/>
              <a:t>SDN Controller</a:t>
            </a:r>
          </a:p>
        </p:txBody>
      </p:sp>
      <p:sp>
        <p:nvSpPr>
          <p:cNvPr id="3" name="Content Placeholder 2">
            <a:extLst>
              <a:ext uri="{FF2B5EF4-FFF2-40B4-BE49-F238E27FC236}">
                <a16:creationId xmlns:a16="http://schemas.microsoft.com/office/drawing/2014/main" id="{62338AE2-6C6D-9861-9F63-D96010F262D2}"/>
              </a:ext>
            </a:extLst>
          </p:cNvPr>
          <p:cNvSpPr>
            <a:spLocks noGrp="1"/>
          </p:cNvSpPr>
          <p:nvPr>
            <p:ph idx="1"/>
          </p:nvPr>
        </p:nvSpPr>
        <p:spPr/>
        <p:txBody>
          <a:bodyPr/>
          <a:lstStyle/>
          <a:p>
            <a:r>
              <a:rPr lang="en-GB" dirty="0"/>
              <a:t>In Centralized control plane system, there is a device which contains control plane of all devices. This device control the activities of data plane of all networking devices simultaneously. This device is called Controller or SDN controller. </a:t>
            </a:r>
            <a:endParaRPr lang="en-IE" dirty="0"/>
          </a:p>
        </p:txBody>
      </p:sp>
      <p:pic>
        <p:nvPicPr>
          <p:cNvPr id="1026" name="Picture 2" descr="Lightbox">
            <a:extLst>
              <a:ext uri="{FF2B5EF4-FFF2-40B4-BE49-F238E27FC236}">
                <a16:creationId xmlns:a16="http://schemas.microsoft.com/office/drawing/2014/main" id="{B163E4AF-915B-A04D-AD7D-904E1F43352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9426" y="3548569"/>
            <a:ext cx="6654018" cy="3126868"/>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F1DB7A48-C3C3-561C-9446-1C42BD7C1009}"/>
              </a:ext>
            </a:extLst>
          </p:cNvPr>
          <p:cNvSpPr>
            <a:spLocks noGrp="1"/>
          </p:cNvSpPr>
          <p:nvPr>
            <p:ph type="ftr" sz="quarter" idx="11"/>
          </p:nvPr>
        </p:nvSpPr>
        <p:spPr>
          <a:xfrm>
            <a:off x="8507362" y="6492875"/>
            <a:ext cx="4114800" cy="365125"/>
          </a:xfrm>
        </p:spPr>
        <p:txBody>
          <a:bodyPr/>
          <a:lstStyle/>
          <a:p>
            <a:r>
              <a:rPr lang="en-US"/>
              <a:t>Department of Computing © Saim Ghafoor 2025</a:t>
            </a:r>
            <a:endParaRPr lang="en-IE" dirty="0"/>
          </a:p>
        </p:txBody>
      </p:sp>
    </p:spTree>
    <p:extLst>
      <p:ext uri="{BB962C8B-B14F-4D97-AF65-F5344CB8AC3E}">
        <p14:creationId xmlns:p14="http://schemas.microsoft.com/office/powerpoint/2010/main" val="756686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0BF40-149F-C977-8992-EA8E4A246404}"/>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F837B262-A9B1-DA16-72CC-632CBA4C09D3}"/>
              </a:ext>
            </a:extLst>
          </p:cNvPr>
          <p:cNvSpPr>
            <a:spLocks noGrp="1"/>
          </p:cNvSpPr>
          <p:nvPr>
            <p:ph idx="1"/>
          </p:nvPr>
        </p:nvSpPr>
        <p:spPr/>
        <p:txBody>
          <a:bodyPr>
            <a:normAutofit/>
          </a:bodyPr>
          <a:lstStyle/>
          <a:p>
            <a:r>
              <a:rPr lang="en-IE" dirty="0"/>
              <a:t>Southbound interface</a:t>
            </a:r>
          </a:p>
          <a:p>
            <a:pPr lvl="1"/>
            <a:r>
              <a:rPr lang="en-GB" dirty="0"/>
              <a:t>In SDN, all networking devices must be connected to controller so that it can regulate data planes of all devices. When drawing architecture of network, usually the network architect places networking devices below controller. Now according to map conventions, interface between controller and networking devices lies to south of controller. Hence, these interfaces are called Southbound Interface. </a:t>
            </a:r>
          </a:p>
          <a:p>
            <a:pPr lvl="1"/>
            <a:r>
              <a:rPr lang="en-GB" dirty="0"/>
              <a:t>Southbound interface is an interface between a program on controller and a program on networking device. Note that these interfaces we are discussing are software interface not physical one. </a:t>
            </a:r>
          </a:p>
        </p:txBody>
      </p:sp>
      <p:sp>
        <p:nvSpPr>
          <p:cNvPr id="4" name="Footer Placeholder 3">
            <a:extLst>
              <a:ext uri="{FF2B5EF4-FFF2-40B4-BE49-F238E27FC236}">
                <a16:creationId xmlns:a16="http://schemas.microsoft.com/office/drawing/2014/main" id="{948EBB32-113B-752D-8E60-0B153FE8B6D6}"/>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3005897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5E625-EDAF-E2E8-77B6-08C4D54DBEDB}"/>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D8BD54E8-C707-8185-7C28-3DDA3DA2FC6F}"/>
              </a:ext>
            </a:extLst>
          </p:cNvPr>
          <p:cNvSpPr>
            <a:spLocks noGrp="1"/>
          </p:cNvSpPr>
          <p:nvPr>
            <p:ph idx="1"/>
          </p:nvPr>
        </p:nvSpPr>
        <p:spPr/>
        <p:txBody>
          <a:bodyPr>
            <a:normAutofit fontScale="92500"/>
          </a:bodyPr>
          <a:lstStyle/>
          <a:p>
            <a:r>
              <a:rPr lang="en-IE" dirty="0"/>
              <a:t>Northbound Interface</a:t>
            </a:r>
          </a:p>
          <a:p>
            <a:pPr lvl="1"/>
            <a:r>
              <a:rPr lang="en-GB" dirty="0"/>
              <a:t>Controller need to know many information regarding network so that it can control data plane of networking devices. Provided by Network Programmer (NP). </a:t>
            </a:r>
          </a:p>
          <a:p>
            <a:pPr lvl="1"/>
            <a:r>
              <a:rPr lang="en-GB" dirty="0"/>
              <a:t>NP provide essential information to controller through various software or script about what functions it has to do. These </a:t>
            </a:r>
            <a:r>
              <a:rPr lang="en-GB" dirty="0" err="1"/>
              <a:t>softwares</a:t>
            </a:r>
            <a:r>
              <a:rPr lang="en-GB" dirty="0"/>
              <a:t>/scripts are placed above controller in network architecture. </a:t>
            </a:r>
          </a:p>
          <a:p>
            <a:pPr lvl="1"/>
            <a:r>
              <a:rPr lang="en-GB" dirty="0"/>
              <a:t>This placement of software/script makes interfaces between controller and software in north direction, according to map conventions. Hence, Interfaces between controller and </a:t>
            </a:r>
            <a:r>
              <a:rPr lang="en-GB" dirty="0" err="1"/>
              <a:t>softwares</a:t>
            </a:r>
            <a:r>
              <a:rPr lang="en-GB" dirty="0"/>
              <a:t> are called Northbound Interface. These interfaces enable programmability of network. </a:t>
            </a:r>
          </a:p>
          <a:p>
            <a:pPr lvl="1"/>
            <a:r>
              <a:rPr lang="en-GB" dirty="0"/>
              <a:t>All interfaces we discussed above are program based interfaces. These interfaces in a broader sense are called Application Program Interface (API). </a:t>
            </a:r>
          </a:p>
          <a:p>
            <a:pPr lvl="2"/>
            <a:r>
              <a:rPr lang="en-GB" dirty="0"/>
              <a:t>An API is an interface through which two program can exchange data between them.</a:t>
            </a:r>
            <a:endParaRPr lang="en-IE" dirty="0"/>
          </a:p>
        </p:txBody>
      </p:sp>
      <p:sp>
        <p:nvSpPr>
          <p:cNvPr id="4" name="Footer Placeholder 3">
            <a:extLst>
              <a:ext uri="{FF2B5EF4-FFF2-40B4-BE49-F238E27FC236}">
                <a16:creationId xmlns:a16="http://schemas.microsoft.com/office/drawing/2014/main" id="{F3F4BA8B-B88E-91DF-76FF-DA35331AD3F4}"/>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1324120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5C07B-74E5-EE94-57E3-CCB59C74A1BD}"/>
              </a:ext>
            </a:extLst>
          </p:cNvPr>
          <p:cNvSpPr>
            <a:spLocks noGrp="1"/>
          </p:cNvSpPr>
          <p:nvPr>
            <p:ph type="title"/>
          </p:nvPr>
        </p:nvSpPr>
        <p:spPr/>
        <p:txBody>
          <a:bodyPr/>
          <a:lstStyle/>
          <a:p>
            <a:r>
              <a:rPr lang="en-IE" dirty="0"/>
              <a:t>What are the control and data planes</a:t>
            </a:r>
          </a:p>
        </p:txBody>
      </p:sp>
      <p:sp>
        <p:nvSpPr>
          <p:cNvPr id="3" name="Content Placeholder 2">
            <a:extLst>
              <a:ext uri="{FF2B5EF4-FFF2-40B4-BE49-F238E27FC236}">
                <a16:creationId xmlns:a16="http://schemas.microsoft.com/office/drawing/2014/main" id="{A6EDF884-5C61-E25A-E9A0-6184E81EFD1D}"/>
              </a:ext>
            </a:extLst>
          </p:cNvPr>
          <p:cNvSpPr>
            <a:spLocks noGrp="1"/>
          </p:cNvSpPr>
          <p:nvPr>
            <p:ph idx="1"/>
          </p:nvPr>
        </p:nvSpPr>
        <p:spPr/>
        <p:txBody>
          <a:bodyPr/>
          <a:lstStyle/>
          <a:p>
            <a:r>
              <a:rPr lang="en-IE" dirty="0"/>
              <a:t>Control plane: Logic for controlling forwarding behaviour</a:t>
            </a:r>
          </a:p>
          <a:p>
            <a:pPr lvl="1"/>
            <a:r>
              <a:rPr lang="en-IE" dirty="0"/>
              <a:t>Examples routing protocols, network middlebox configuration</a:t>
            </a:r>
          </a:p>
          <a:p>
            <a:pPr lvl="1"/>
            <a:endParaRPr lang="en-IE" dirty="0"/>
          </a:p>
          <a:p>
            <a:r>
              <a:rPr lang="en-IE" dirty="0"/>
              <a:t>Data plane: Forwarding traffic according to control plane logic</a:t>
            </a:r>
          </a:p>
          <a:p>
            <a:pPr lvl="1"/>
            <a:r>
              <a:rPr lang="en-IE" dirty="0"/>
              <a:t>Examples: IP forwarding, layer 2 switching</a:t>
            </a:r>
          </a:p>
        </p:txBody>
      </p:sp>
      <p:sp>
        <p:nvSpPr>
          <p:cNvPr id="4" name="Footer Placeholder 3">
            <a:extLst>
              <a:ext uri="{FF2B5EF4-FFF2-40B4-BE49-F238E27FC236}">
                <a16:creationId xmlns:a16="http://schemas.microsoft.com/office/drawing/2014/main" id="{5DB6B5FB-9C21-6A89-020F-FF9F033FABB4}"/>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1595305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F1182-3E20-15E9-E8DD-61ECA787FE78}"/>
              </a:ext>
            </a:extLst>
          </p:cNvPr>
          <p:cNvSpPr>
            <a:spLocks noGrp="1"/>
          </p:cNvSpPr>
          <p:nvPr>
            <p:ph type="title"/>
          </p:nvPr>
        </p:nvSpPr>
        <p:spPr/>
        <p:txBody>
          <a:bodyPr/>
          <a:lstStyle/>
          <a:p>
            <a:r>
              <a:rPr lang="en-IE" dirty="0"/>
              <a:t>Why separate the control and data planes?</a:t>
            </a:r>
          </a:p>
        </p:txBody>
      </p:sp>
      <p:sp>
        <p:nvSpPr>
          <p:cNvPr id="3" name="Content Placeholder 2">
            <a:extLst>
              <a:ext uri="{FF2B5EF4-FFF2-40B4-BE49-F238E27FC236}">
                <a16:creationId xmlns:a16="http://schemas.microsoft.com/office/drawing/2014/main" id="{82B644EF-0D47-EF04-85F8-9FE83C1E3BF7}"/>
              </a:ext>
            </a:extLst>
          </p:cNvPr>
          <p:cNvSpPr>
            <a:spLocks noGrp="1"/>
          </p:cNvSpPr>
          <p:nvPr>
            <p:ph idx="1"/>
          </p:nvPr>
        </p:nvSpPr>
        <p:spPr/>
        <p:txBody>
          <a:bodyPr/>
          <a:lstStyle/>
          <a:p>
            <a:r>
              <a:rPr lang="en-IE" dirty="0"/>
              <a:t>Independent evolution and development</a:t>
            </a:r>
          </a:p>
          <a:p>
            <a:pPr lvl="1"/>
            <a:r>
              <a:rPr lang="en-IE" dirty="0"/>
              <a:t>The software control of the network can evolve independently of the hardware</a:t>
            </a:r>
          </a:p>
          <a:p>
            <a:r>
              <a:rPr lang="en-IE" dirty="0"/>
              <a:t>Control from high level software program</a:t>
            </a:r>
          </a:p>
          <a:p>
            <a:pPr lvl="1"/>
            <a:r>
              <a:rPr lang="en-IE" dirty="0"/>
              <a:t>Control </a:t>
            </a:r>
            <a:r>
              <a:rPr lang="en-IE" dirty="0" err="1"/>
              <a:t>behavior</a:t>
            </a:r>
            <a:r>
              <a:rPr lang="en-IE" dirty="0"/>
              <a:t> using higher order programs</a:t>
            </a:r>
          </a:p>
          <a:p>
            <a:pPr lvl="1"/>
            <a:r>
              <a:rPr lang="en-IE" dirty="0"/>
              <a:t>Debug and check </a:t>
            </a:r>
            <a:r>
              <a:rPr lang="en-IE" dirty="0" err="1"/>
              <a:t>behavior</a:t>
            </a:r>
            <a:r>
              <a:rPr lang="en-IE" dirty="0"/>
              <a:t> more easily</a:t>
            </a:r>
          </a:p>
        </p:txBody>
      </p:sp>
      <p:sp>
        <p:nvSpPr>
          <p:cNvPr id="4" name="Footer Placeholder 3">
            <a:extLst>
              <a:ext uri="{FF2B5EF4-FFF2-40B4-BE49-F238E27FC236}">
                <a16:creationId xmlns:a16="http://schemas.microsoft.com/office/drawing/2014/main" id="{D38C5312-53B8-C3FD-3034-55B60F630078}"/>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3248220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5A50B-934A-1356-6433-FBDA92063F4F}"/>
              </a:ext>
            </a:extLst>
          </p:cNvPr>
          <p:cNvSpPr>
            <a:spLocks noGrp="1"/>
          </p:cNvSpPr>
          <p:nvPr>
            <p:ph type="title"/>
          </p:nvPr>
        </p:nvSpPr>
        <p:spPr/>
        <p:txBody>
          <a:bodyPr/>
          <a:lstStyle/>
          <a:p>
            <a:r>
              <a:rPr lang="en-IE" dirty="0"/>
              <a:t>Opportunities: Where separation Helps</a:t>
            </a:r>
          </a:p>
        </p:txBody>
      </p:sp>
      <p:sp>
        <p:nvSpPr>
          <p:cNvPr id="3" name="Content Placeholder 2">
            <a:extLst>
              <a:ext uri="{FF2B5EF4-FFF2-40B4-BE49-F238E27FC236}">
                <a16:creationId xmlns:a16="http://schemas.microsoft.com/office/drawing/2014/main" id="{3B3BE1C1-7FF4-630A-CDAC-84DC524DCD26}"/>
              </a:ext>
            </a:extLst>
          </p:cNvPr>
          <p:cNvSpPr>
            <a:spLocks noGrp="1"/>
          </p:cNvSpPr>
          <p:nvPr>
            <p:ph idx="1"/>
          </p:nvPr>
        </p:nvSpPr>
        <p:spPr/>
        <p:txBody>
          <a:bodyPr/>
          <a:lstStyle/>
          <a:p>
            <a:r>
              <a:rPr lang="en-IE" dirty="0"/>
              <a:t>Data </a:t>
            </a:r>
            <a:r>
              <a:rPr lang="en-IE" dirty="0" err="1"/>
              <a:t>centers</a:t>
            </a:r>
            <a:r>
              <a:rPr lang="en-IE" dirty="0"/>
              <a:t>: VM migration, Layer 2 routing</a:t>
            </a:r>
          </a:p>
          <a:p>
            <a:r>
              <a:rPr lang="en-IE" dirty="0"/>
              <a:t>Routing: More control over decision logic</a:t>
            </a:r>
          </a:p>
          <a:p>
            <a:r>
              <a:rPr lang="en-IE" dirty="0"/>
              <a:t>Enterprise networks: Security applications</a:t>
            </a:r>
          </a:p>
          <a:p>
            <a:r>
              <a:rPr lang="en-IE" dirty="0"/>
              <a:t>Research networks: Coexistence with production</a:t>
            </a:r>
          </a:p>
        </p:txBody>
      </p:sp>
      <p:sp>
        <p:nvSpPr>
          <p:cNvPr id="4" name="Footer Placeholder 3">
            <a:extLst>
              <a:ext uri="{FF2B5EF4-FFF2-40B4-BE49-F238E27FC236}">
                <a16:creationId xmlns:a16="http://schemas.microsoft.com/office/drawing/2014/main" id="{53A2150F-90C6-8809-1AA8-E142CBC736CF}"/>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110432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42BF9-4C00-2081-B675-6AE66EFAA12D}"/>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2D792FEA-A906-CCA5-6FC0-1553E063ED32}"/>
              </a:ext>
            </a:extLst>
          </p:cNvPr>
          <p:cNvSpPr>
            <a:spLocks noGrp="1"/>
          </p:cNvSpPr>
          <p:nvPr>
            <p:ph idx="1"/>
          </p:nvPr>
        </p:nvSpPr>
        <p:spPr/>
        <p:txBody>
          <a:bodyPr>
            <a:normAutofit/>
          </a:bodyPr>
          <a:lstStyle/>
          <a:p>
            <a:r>
              <a:rPr lang="en-IE" dirty="0"/>
              <a:t>Other opportunities separating the control and data plane offers</a:t>
            </a:r>
          </a:p>
          <a:p>
            <a:pPr lvl="1"/>
            <a:r>
              <a:rPr lang="en-IE" dirty="0"/>
              <a:t>Dynamic access control</a:t>
            </a:r>
          </a:p>
          <a:p>
            <a:pPr lvl="1"/>
            <a:r>
              <a:rPr lang="en-IE" dirty="0"/>
              <a:t>Seamless mobility/migration </a:t>
            </a:r>
          </a:p>
          <a:p>
            <a:pPr lvl="1"/>
            <a:r>
              <a:rPr lang="en-IE" dirty="0"/>
              <a:t>Server load balancing</a:t>
            </a:r>
          </a:p>
          <a:p>
            <a:pPr lvl="1"/>
            <a:r>
              <a:rPr lang="en-IE" dirty="0"/>
              <a:t>Network virtualization</a:t>
            </a:r>
          </a:p>
          <a:p>
            <a:pPr lvl="1"/>
            <a:r>
              <a:rPr lang="en-IE" dirty="0"/>
              <a:t>Using multiple wireless access points</a:t>
            </a:r>
          </a:p>
          <a:p>
            <a:pPr lvl="1"/>
            <a:r>
              <a:rPr lang="en-IE" dirty="0"/>
              <a:t>Energy efficient networking</a:t>
            </a:r>
          </a:p>
          <a:p>
            <a:pPr lvl="1"/>
            <a:r>
              <a:rPr lang="en-IE" dirty="0"/>
              <a:t>Adaptive traffic monitoring</a:t>
            </a:r>
          </a:p>
          <a:p>
            <a:pPr lvl="1"/>
            <a:r>
              <a:rPr lang="en-IE" dirty="0"/>
              <a:t>Denial of service attack detection</a:t>
            </a:r>
          </a:p>
        </p:txBody>
      </p:sp>
      <p:sp>
        <p:nvSpPr>
          <p:cNvPr id="4" name="Footer Placeholder 3">
            <a:extLst>
              <a:ext uri="{FF2B5EF4-FFF2-40B4-BE49-F238E27FC236}">
                <a16:creationId xmlns:a16="http://schemas.microsoft.com/office/drawing/2014/main" id="{14D44524-9185-95E7-8E85-07D8AA7055FE}"/>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2829821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A45F0-24CD-E186-D8DE-0A0DC2A9874A}"/>
              </a:ext>
            </a:extLst>
          </p:cNvPr>
          <p:cNvSpPr>
            <a:spLocks noGrp="1"/>
          </p:cNvSpPr>
          <p:nvPr>
            <p:ph type="title"/>
          </p:nvPr>
        </p:nvSpPr>
        <p:spPr/>
        <p:txBody>
          <a:bodyPr>
            <a:normAutofit fontScale="90000"/>
          </a:bodyPr>
          <a:lstStyle/>
          <a:p>
            <a:r>
              <a:rPr lang="en-IE" dirty="0"/>
              <a:t>Challenges of separating Control and Data plane</a:t>
            </a:r>
          </a:p>
        </p:txBody>
      </p:sp>
      <p:sp>
        <p:nvSpPr>
          <p:cNvPr id="3" name="Content Placeholder 2">
            <a:extLst>
              <a:ext uri="{FF2B5EF4-FFF2-40B4-BE49-F238E27FC236}">
                <a16:creationId xmlns:a16="http://schemas.microsoft.com/office/drawing/2014/main" id="{223EA716-7D65-A893-5284-994E98E1182D}"/>
              </a:ext>
            </a:extLst>
          </p:cNvPr>
          <p:cNvSpPr>
            <a:spLocks noGrp="1"/>
          </p:cNvSpPr>
          <p:nvPr>
            <p:ph idx="1"/>
          </p:nvPr>
        </p:nvSpPr>
        <p:spPr/>
        <p:txBody>
          <a:bodyPr/>
          <a:lstStyle/>
          <a:p>
            <a:r>
              <a:rPr lang="en-IE" dirty="0"/>
              <a:t>Scalability: control elements responsible for many forwarding elements (often thousands +)</a:t>
            </a:r>
          </a:p>
          <a:p>
            <a:r>
              <a:rPr lang="en-IE" dirty="0"/>
              <a:t>Reliability/Security: What happens when a controller fails or is compromised</a:t>
            </a:r>
          </a:p>
        </p:txBody>
      </p:sp>
      <p:sp>
        <p:nvSpPr>
          <p:cNvPr id="4" name="Footer Placeholder 3">
            <a:extLst>
              <a:ext uri="{FF2B5EF4-FFF2-40B4-BE49-F238E27FC236}">
                <a16:creationId xmlns:a16="http://schemas.microsoft.com/office/drawing/2014/main" id="{1FB40FE0-AC82-7090-1497-20D226055998}"/>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2209280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9C873-CDBF-3A9A-E98C-4EB7169A5A94}"/>
              </a:ext>
            </a:extLst>
          </p:cNvPr>
          <p:cNvSpPr>
            <a:spLocks noGrp="1"/>
          </p:cNvSpPr>
          <p:nvPr>
            <p:ph type="title"/>
          </p:nvPr>
        </p:nvSpPr>
        <p:spPr/>
        <p:txBody>
          <a:bodyPr/>
          <a:lstStyle/>
          <a:p>
            <a:r>
              <a:rPr lang="en-IE" dirty="0"/>
              <a:t>Evolution of network programming</a:t>
            </a:r>
          </a:p>
        </p:txBody>
      </p:sp>
      <p:sp>
        <p:nvSpPr>
          <p:cNvPr id="3" name="Content Placeholder 2">
            <a:extLst>
              <a:ext uri="{FF2B5EF4-FFF2-40B4-BE49-F238E27FC236}">
                <a16:creationId xmlns:a16="http://schemas.microsoft.com/office/drawing/2014/main" id="{7C8E2679-1A6F-7E91-EC83-DB9373E1B424}"/>
              </a:ext>
            </a:extLst>
          </p:cNvPr>
          <p:cNvSpPr>
            <a:spLocks noGrp="1"/>
          </p:cNvSpPr>
          <p:nvPr>
            <p:ph idx="1"/>
          </p:nvPr>
        </p:nvSpPr>
        <p:spPr>
          <a:xfrm>
            <a:off x="838200" y="1825625"/>
            <a:ext cx="3674806" cy="1935214"/>
          </a:xfrm>
        </p:spPr>
        <p:txBody>
          <a:bodyPr/>
          <a:lstStyle/>
          <a:p>
            <a:r>
              <a:rPr lang="en-IE" dirty="0"/>
              <a:t>Evolution of SDN </a:t>
            </a:r>
          </a:p>
          <a:p>
            <a:pPr lvl="1"/>
            <a:r>
              <a:rPr lang="en-IE" dirty="0"/>
              <a:t>RCP </a:t>
            </a:r>
          </a:p>
          <a:p>
            <a:pPr lvl="1"/>
            <a:r>
              <a:rPr lang="en-IE" dirty="0"/>
              <a:t>4D architecture</a:t>
            </a:r>
          </a:p>
          <a:p>
            <a:pPr lvl="1"/>
            <a:r>
              <a:rPr lang="en-IE" dirty="0"/>
              <a:t>OpenFlow (SDN)</a:t>
            </a:r>
          </a:p>
        </p:txBody>
      </p:sp>
      <p:sp>
        <p:nvSpPr>
          <p:cNvPr id="4" name="Footer Placeholder 3">
            <a:extLst>
              <a:ext uri="{FF2B5EF4-FFF2-40B4-BE49-F238E27FC236}">
                <a16:creationId xmlns:a16="http://schemas.microsoft.com/office/drawing/2014/main" id="{C7976B2B-C020-71B5-98CC-39B7DE03BB8A}"/>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949006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04751-E94B-09BA-0774-A4B477414000}"/>
              </a:ext>
            </a:extLst>
          </p:cNvPr>
          <p:cNvSpPr>
            <a:spLocks noGrp="1"/>
          </p:cNvSpPr>
          <p:nvPr>
            <p:ph type="title"/>
          </p:nvPr>
        </p:nvSpPr>
        <p:spPr/>
        <p:txBody>
          <a:bodyPr>
            <a:normAutofit/>
          </a:bodyPr>
          <a:lstStyle/>
          <a:p>
            <a:r>
              <a:rPr lang="en-GB" dirty="0"/>
              <a:t>Routing Control Platform (RCP)</a:t>
            </a:r>
            <a:endParaRPr lang="en-IE" dirty="0"/>
          </a:p>
        </p:txBody>
      </p:sp>
      <p:sp>
        <p:nvSpPr>
          <p:cNvPr id="3" name="Content Placeholder 2">
            <a:extLst>
              <a:ext uri="{FF2B5EF4-FFF2-40B4-BE49-F238E27FC236}">
                <a16:creationId xmlns:a16="http://schemas.microsoft.com/office/drawing/2014/main" id="{1EE73080-96C0-4D41-FD44-800D53E9FA44}"/>
              </a:ext>
            </a:extLst>
          </p:cNvPr>
          <p:cNvSpPr>
            <a:spLocks noGrp="1"/>
          </p:cNvSpPr>
          <p:nvPr>
            <p:ph idx="1"/>
          </p:nvPr>
        </p:nvSpPr>
        <p:spPr>
          <a:xfrm>
            <a:off x="838200" y="1825625"/>
            <a:ext cx="10515600" cy="3023466"/>
          </a:xfrm>
        </p:spPr>
        <p:txBody>
          <a:bodyPr>
            <a:normAutofit/>
          </a:bodyPr>
          <a:lstStyle/>
          <a:p>
            <a:r>
              <a:rPr lang="en-GB" dirty="0"/>
              <a:t>The Routing Control Platform (RCP) is a centralized forwarding solution enabling the collection of a network topology map, running an algorithm, and selecting the preferred BGP route for each router in an Autonomous System (AS).</a:t>
            </a:r>
          </a:p>
          <a:p>
            <a:r>
              <a:rPr lang="en-IE" dirty="0"/>
              <a:t>RCP is the earliest example of control and data plane separation</a:t>
            </a:r>
          </a:p>
          <a:p>
            <a:r>
              <a:rPr lang="en-IE" dirty="0"/>
              <a:t>Designed for ISPs to control AS and using mainly BGP</a:t>
            </a:r>
          </a:p>
        </p:txBody>
      </p:sp>
      <p:sp>
        <p:nvSpPr>
          <p:cNvPr id="4" name="Footer Placeholder 3">
            <a:extLst>
              <a:ext uri="{FF2B5EF4-FFF2-40B4-BE49-F238E27FC236}">
                <a16:creationId xmlns:a16="http://schemas.microsoft.com/office/drawing/2014/main" id="{6F7F6E0C-FC48-3682-70E6-6A3699E42A55}"/>
              </a:ext>
            </a:extLst>
          </p:cNvPr>
          <p:cNvSpPr>
            <a:spLocks noGrp="1"/>
          </p:cNvSpPr>
          <p:nvPr>
            <p:ph type="ftr" sz="quarter" idx="11"/>
          </p:nvPr>
        </p:nvSpPr>
        <p:spPr/>
        <p:txBody>
          <a:bodyPr/>
          <a:lstStyle/>
          <a:p>
            <a:r>
              <a:rPr lang="en-US"/>
              <a:t>Department of Computing © Saim Ghafoor 2025</a:t>
            </a:r>
            <a:endParaRPr lang="en-IE" dirty="0"/>
          </a:p>
        </p:txBody>
      </p:sp>
      <p:sp>
        <p:nvSpPr>
          <p:cNvPr id="6" name="TextBox 5">
            <a:extLst>
              <a:ext uri="{FF2B5EF4-FFF2-40B4-BE49-F238E27FC236}">
                <a16:creationId xmlns:a16="http://schemas.microsoft.com/office/drawing/2014/main" id="{E8B89F0B-0E04-9B0C-6499-5146A5D2B930}"/>
              </a:ext>
            </a:extLst>
          </p:cNvPr>
          <p:cNvSpPr txBox="1"/>
          <p:nvPr/>
        </p:nvSpPr>
        <p:spPr>
          <a:xfrm>
            <a:off x="1898072" y="4984029"/>
            <a:ext cx="7453745"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GB" dirty="0"/>
              <a:t>A software-based solutions that give network administrators greater control over the routing decisions within their networks. </a:t>
            </a:r>
          </a:p>
          <a:p>
            <a:r>
              <a:rPr lang="en-GB" dirty="0"/>
              <a:t>A centralized interface for managing and distributing routing information</a:t>
            </a:r>
          </a:p>
        </p:txBody>
      </p:sp>
    </p:spTree>
    <p:extLst>
      <p:ext uri="{BB962C8B-B14F-4D97-AF65-F5344CB8AC3E}">
        <p14:creationId xmlns:p14="http://schemas.microsoft.com/office/powerpoint/2010/main" val="2806788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DE858-83C2-A49E-EF6A-5125868E85AA}"/>
              </a:ext>
            </a:extLst>
          </p:cNvPr>
          <p:cNvSpPr>
            <a:spLocks noGrp="1"/>
          </p:cNvSpPr>
          <p:nvPr>
            <p:ph type="title"/>
          </p:nvPr>
        </p:nvSpPr>
        <p:spPr/>
        <p:txBody>
          <a:bodyPr/>
          <a:lstStyle/>
          <a:p>
            <a:r>
              <a:rPr lang="en-IE" dirty="0"/>
              <a:t>Benefits of RCP</a:t>
            </a:r>
          </a:p>
        </p:txBody>
      </p:sp>
      <p:sp>
        <p:nvSpPr>
          <p:cNvPr id="3" name="Content Placeholder 2">
            <a:extLst>
              <a:ext uri="{FF2B5EF4-FFF2-40B4-BE49-F238E27FC236}">
                <a16:creationId xmlns:a16="http://schemas.microsoft.com/office/drawing/2014/main" id="{7D8EF5BC-C6DE-9AE4-43A6-30540B64B03F}"/>
              </a:ext>
            </a:extLst>
          </p:cNvPr>
          <p:cNvSpPr>
            <a:spLocks noGrp="1"/>
          </p:cNvSpPr>
          <p:nvPr>
            <p:ph idx="1"/>
          </p:nvPr>
        </p:nvSpPr>
        <p:spPr/>
        <p:txBody>
          <a:bodyPr/>
          <a:lstStyle/>
          <a:p>
            <a:r>
              <a:rPr lang="en-IE" dirty="0"/>
              <a:t>Enhanced Network Performance</a:t>
            </a:r>
          </a:p>
          <a:p>
            <a:r>
              <a:rPr lang="en-IE" dirty="0"/>
              <a:t>Improved Network Resilience</a:t>
            </a:r>
          </a:p>
          <a:p>
            <a:r>
              <a:rPr lang="en-IE" dirty="0"/>
              <a:t>Increased Security</a:t>
            </a:r>
          </a:p>
          <a:p>
            <a:r>
              <a:rPr lang="en-IE" dirty="0"/>
              <a:t>Scalability and flexibility</a:t>
            </a:r>
          </a:p>
          <a:p>
            <a:endParaRPr lang="en-IE" dirty="0"/>
          </a:p>
          <a:p>
            <a:endParaRPr lang="en-IE" dirty="0"/>
          </a:p>
        </p:txBody>
      </p:sp>
      <p:sp>
        <p:nvSpPr>
          <p:cNvPr id="4" name="Footer Placeholder 3">
            <a:extLst>
              <a:ext uri="{FF2B5EF4-FFF2-40B4-BE49-F238E27FC236}">
                <a16:creationId xmlns:a16="http://schemas.microsoft.com/office/drawing/2014/main" id="{87E31AEF-6812-4EBF-B31A-28EB2D5618B1}"/>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1994899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D76A8-8A3F-5B3B-30F3-C336A78F29E2}"/>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A396F3F3-440A-B2F8-B05F-7AA0680187D5}"/>
              </a:ext>
            </a:extLst>
          </p:cNvPr>
          <p:cNvSpPr>
            <a:spLocks noGrp="1"/>
          </p:cNvSpPr>
          <p:nvPr>
            <p:ph idx="1"/>
          </p:nvPr>
        </p:nvSpPr>
        <p:spPr>
          <a:xfrm>
            <a:off x="675968" y="2477295"/>
            <a:ext cx="10515600" cy="4351338"/>
          </a:xfrm>
        </p:spPr>
        <p:txBody>
          <a:bodyPr/>
          <a:lstStyle/>
          <a:p>
            <a:r>
              <a:rPr lang="en-GB" dirty="0"/>
              <a:t>The RCP must have complete visibility. Otherwise, it could assign routes that create black holes, forwarding loops, or other issues preventing packets from reaching their destinations.</a:t>
            </a:r>
          </a:p>
          <a:p>
            <a:r>
              <a:rPr lang="en-GB" dirty="0"/>
              <a:t>A potential issue with route reflection is that AS exit best path selection (hot potato routing) is performed by route reflectors from their IGP reference point, which in turn gets propagated to all RR clients scattered throughout the network. As a result, the best path selected may not be optimal for many RR clients as it depends on where the RR client is logically placed in the network.</a:t>
            </a:r>
          </a:p>
          <a:p>
            <a:r>
              <a:rPr lang="en-GB" dirty="0"/>
              <a:t>Limited to BGP</a:t>
            </a:r>
            <a:endParaRPr lang="en-IE" dirty="0"/>
          </a:p>
        </p:txBody>
      </p:sp>
      <p:sp>
        <p:nvSpPr>
          <p:cNvPr id="4" name="Footer Placeholder 3">
            <a:extLst>
              <a:ext uri="{FF2B5EF4-FFF2-40B4-BE49-F238E27FC236}">
                <a16:creationId xmlns:a16="http://schemas.microsoft.com/office/drawing/2014/main" id="{E57938D2-C783-73F4-1E8D-E42817564A13}"/>
              </a:ext>
            </a:extLst>
          </p:cNvPr>
          <p:cNvSpPr>
            <a:spLocks noGrp="1"/>
          </p:cNvSpPr>
          <p:nvPr>
            <p:ph type="ftr" sz="quarter" idx="11"/>
          </p:nvPr>
        </p:nvSpPr>
        <p:spPr/>
        <p:txBody>
          <a:bodyPr/>
          <a:lstStyle/>
          <a:p>
            <a:r>
              <a:rPr lang="en-US"/>
              <a:t>Department of Computing © Saim Ghafoor 2025</a:t>
            </a:r>
            <a:endParaRPr lang="en-IE" dirty="0"/>
          </a:p>
        </p:txBody>
      </p:sp>
      <p:pic>
        <p:nvPicPr>
          <p:cNvPr id="6" name="Picture 5">
            <a:extLst>
              <a:ext uri="{FF2B5EF4-FFF2-40B4-BE49-F238E27FC236}">
                <a16:creationId xmlns:a16="http://schemas.microsoft.com/office/drawing/2014/main" id="{36DA3077-97D2-5ADC-8E7C-DEC423CD0029}"/>
              </a:ext>
            </a:extLst>
          </p:cNvPr>
          <p:cNvPicPr>
            <a:picLocks noChangeAspect="1"/>
          </p:cNvPicPr>
          <p:nvPr/>
        </p:nvPicPr>
        <p:blipFill>
          <a:blip r:embed="rId2"/>
          <a:stretch>
            <a:fillRect/>
          </a:stretch>
        </p:blipFill>
        <p:spPr>
          <a:xfrm>
            <a:off x="8153400" y="136525"/>
            <a:ext cx="3864077" cy="2348361"/>
          </a:xfrm>
          <a:prstGeom prst="rect">
            <a:avLst/>
          </a:prstGeom>
        </p:spPr>
      </p:pic>
    </p:spTree>
    <p:extLst>
      <p:ext uri="{BB962C8B-B14F-4D97-AF65-F5344CB8AC3E}">
        <p14:creationId xmlns:p14="http://schemas.microsoft.com/office/powerpoint/2010/main" val="3794243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98CE5-7488-C5AE-6C87-EB61BA0D028C}"/>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0C778792-4FAD-5AC4-9F76-65BF5D573B3B}"/>
              </a:ext>
            </a:extLst>
          </p:cNvPr>
          <p:cNvSpPr>
            <a:spLocks noGrp="1"/>
          </p:cNvSpPr>
          <p:nvPr>
            <p:ph idx="1"/>
          </p:nvPr>
        </p:nvSpPr>
        <p:spPr>
          <a:xfrm>
            <a:off x="838200" y="1825625"/>
            <a:ext cx="5400368" cy="4351338"/>
          </a:xfrm>
        </p:spPr>
        <p:txBody>
          <a:bodyPr>
            <a:normAutofit fontScale="92500" lnSpcReduction="20000"/>
          </a:bodyPr>
          <a:lstStyle/>
          <a:p>
            <a:r>
              <a:rPr lang="en-IE" dirty="0"/>
              <a:t>Scalability: RCP</a:t>
            </a:r>
          </a:p>
          <a:p>
            <a:pPr lvl="1"/>
            <a:r>
              <a:rPr lang="en-IE" dirty="0"/>
              <a:t>Problem: Must store routes and compute routing decisions for every routers</a:t>
            </a:r>
          </a:p>
          <a:p>
            <a:pPr lvl="1"/>
            <a:r>
              <a:rPr lang="en-IE" dirty="0"/>
              <a:t>Potentially thousands of router</a:t>
            </a:r>
          </a:p>
          <a:p>
            <a:endParaRPr lang="en-IE" dirty="0"/>
          </a:p>
          <a:p>
            <a:r>
              <a:rPr lang="en-IE" dirty="0"/>
              <a:t>Eliminate redundancy</a:t>
            </a:r>
          </a:p>
          <a:p>
            <a:pPr lvl="1"/>
            <a:r>
              <a:rPr lang="en-IE" dirty="0"/>
              <a:t>Store a single copy of each route</a:t>
            </a:r>
          </a:p>
          <a:p>
            <a:pPr lvl="1"/>
            <a:r>
              <a:rPr lang="en-IE" dirty="0"/>
              <a:t>Avoid redundant computation</a:t>
            </a:r>
          </a:p>
          <a:p>
            <a:r>
              <a:rPr lang="en-IE" dirty="0"/>
              <a:t>Accelerate lookups</a:t>
            </a:r>
          </a:p>
          <a:p>
            <a:pPr lvl="1"/>
            <a:r>
              <a:rPr lang="en-IE" dirty="0"/>
              <a:t>Maintain indexes to identify affected routers</a:t>
            </a:r>
          </a:p>
          <a:p>
            <a:r>
              <a:rPr lang="en-IE" dirty="0"/>
              <a:t>Only perform BGP routing</a:t>
            </a:r>
          </a:p>
        </p:txBody>
      </p:sp>
      <p:sp>
        <p:nvSpPr>
          <p:cNvPr id="4" name="Footer Placeholder 3">
            <a:extLst>
              <a:ext uri="{FF2B5EF4-FFF2-40B4-BE49-F238E27FC236}">
                <a16:creationId xmlns:a16="http://schemas.microsoft.com/office/drawing/2014/main" id="{5DBC2F33-9295-3129-87DA-0F98B6E328F0}"/>
              </a:ext>
            </a:extLst>
          </p:cNvPr>
          <p:cNvSpPr>
            <a:spLocks noGrp="1"/>
          </p:cNvSpPr>
          <p:nvPr>
            <p:ph type="ftr" sz="quarter" idx="11"/>
          </p:nvPr>
        </p:nvSpPr>
        <p:spPr/>
        <p:txBody>
          <a:bodyPr/>
          <a:lstStyle/>
          <a:p>
            <a:r>
              <a:rPr lang="en-US"/>
              <a:t>Department of Computing © Saim Ghafoor 2025</a:t>
            </a:r>
            <a:endParaRPr lang="en-IE" dirty="0"/>
          </a:p>
        </p:txBody>
      </p:sp>
      <p:sp>
        <p:nvSpPr>
          <p:cNvPr id="5" name="Content Placeholder 2">
            <a:extLst>
              <a:ext uri="{FF2B5EF4-FFF2-40B4-BE49-F238E27FC236}">
                <a16:creationId xmlns:a16="http://schemas.microsoft.com/office/drawing/2014/main" id="{1031CC5F-984C-A37F-4644-0E0297685228}"/>
              </a:ext>
            </a:extLst>
          </p:cNvPr>
          <p:cNvSpPr txBox="1">
            <a:spLocks/>
          </p:cNvSpPr>
          <p:nvPr/>
        </p:nvSpPr>
        <p:spPr>
          <a:xfrm>
            <a:off x="6708058" y="1915319"/>
            <a:ext cx="5257800"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dirty="0"/>
              <a:t>Reliability</a:t>
            </a:r>
          </a:p>
          <a:p>
            <a:r>
              <a:rPr lang="en-IE" dirty="0"/>
              <a:t>Replicate RCPs </a:t>
            </a:r>
          </a:p>
          <a:p>
            <a:pPr lvl="1"/>
            <a:r>
              <a:rPr lang="en-IE" dirty="0"/>
              <a:t>Run multiple identical servers</a:t>
            </a:r>
          </a:p>
          <a:p>
            <a:r>
              <a:rPr lang="en-IE" dirty="0"/>
              <a:t>Run independent replicas</a:t>
            </a:r>
          </a:p>
          <a:p>
            <a:pPr lvl="1"/>
            <a:r>
              <a:rPr lang="en-IE" dirty="0"/>
              <a:t>Each replica has its own feed of routes</a:t>
            </a:r>
          </a:p>
          <a:p>
            <a:pPr lvl="1"/>
            <a:r>
              <a:rPr lang="en-IE" dirty="0"/>
              <a:t>Each replica receives the same </a:t>
            </a:r>
            <a:r>
              <a:rPr lang="en-IE" dirty="0" err="1"/>
              <a:t>inputes</a:t>
            </a:r>
            <a:r>
              <a:rPr lang="en-IE" dirty="0"/>
              <a:t> and runs the same routing algorithm</a:t>
            </a:r>
          </a:p>
          <a:p>
            <a:pPr lvl="1"/>
            <a:r>
              <a:rPr lang="en-IE" dirty="0"/>
              <a:t>No need for a consistency protocol if both replicas always see the same information</a:t>
            </a:r>
          </a:p>
          <a:p>
            <a:pPr lvl="1"/>
            <a:endParaRPr lang="en-IE" dirty="0"/>
          </a:p>
          <a:p>
            <a:r>
              <a:rPr lang="en-IE" dirty="0"/>
              <a:t>Route assignment must be consistent</a:t>
            </a:r>
          </a:p>
          <a:p>
            <a:pPr lvl="1"/>
            <a:r>
              <a:rPr lang="en-IE" dirty="0"/>
              <a:t>Even in presence of failures and partitions</a:t>
            </a:r>
          </a:p>
          <a:p>
            <a:pPr lvl="1"/>
            <a:r>
              <a:rPr lang="en-IE" dirty="0"/>
              <a:t>Flooding based IGP means each replica knows which partitions it connects to</a:t>
            </a:r>
          </a:p>
        </p:txBody>
      </p:sp>
      <p:pic>
        <p:nvPicPr>
          <p:cNvPr id="6" name="Picture 5">
            <a:extLst>
              <a:ext uri="{FF2B5EF4-FFF2-40B4-BE49-F238E27FC236}">
                <a16:creationId xmlns:a16="http://schemas.microsoft.com/office/drawing/2014/main" id="{B5E46F00-400E-F59F-8E9B-C007AF75A7D0}"/>
              </a:ext>
            </a:extLst>
          </p:cNvPr>
          <p:cNvPicPr>
            <a:picLocks noChangeAspect="1"/>
          </p:cNvPicPr>
          <p:nvPr/>
        </p:nvPicPr>
        <p:blipFill>
          <a:blip r:embed="rId2"/>
          <a:stretch>
            <a:fillRect/>
          </a:stretch>
        </p:blipFill>
        <p:spPr>
          <a:xfrm>
            <a:off x="9040760" y="17720"/>
            <a:ext cx="2782529" cy="2237133"/>
          </a:xfrm>
          <a:prstGeom prst="rect">
            <a:avLst/>
          </a:prstGeom>
        </p:spPr>
      </p:pic>
    </p:spTree>
    <p:extLst>
      <p:ext uri="{BB962C8B-B14F-4D97-AF65-F5344CB8AC3E}">
        <p14:creationId xmlns:p14="http://schemas.microsoft.com/office/powerpoint/2010/main" val="4007646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12456-10CE-CDF0-D117-1F06A32AAB53}"/>
              </a:ext>
            </a:extLst>
          </p:cNvPr>
          <p:cNvSpPr>
            <a:spLocks noGrp="1"/>
          </p:cNvSpPr>
          <p:nvPr>
            <p:ph type="title"/>
          </p:nvPr>
        </p:nvSpPr>
        <p:spPr/>
        <p:txBody>
          <a:bodyPr/>
          <a:lstStyle/>
          <a:p>
            <a:r>
              <a:rPr lang="en-IE" dirty="0"/>
              <a:t>4D network architecture</a:t>
            </a:r>
          </a:p>
        </p:txBody>
      </p:sp>
      <p:sp>
        <p:nvSpPr>
          <p:cNvPr id="3" name="Content Placeholder 2">
            <a:extLst>
              <a:ext uri="{FF2B5EF4-FFF2-40B4-BE49-F238E27FC236}">
                <a16:creationId xmlns:a16="http://schemas.microsoft.com/office/drawing/2014/main" id="{3850F40A-DA05-3EDF-34B6-3A827EFA0B2B}"/>
              </a:ext>
            </a:extLst>
          </p:cNvPr>
          <p:cNvSpPr>
            <a:spLocks noGrp="1"/>
          </p:cNvSpPr>
          <p:nvPr>
            <p:ph idx="1"/>
          </p:nvPr>
        </p:nvSpPr>
        <p:spPr/>
        <p:txBody>
          <a:bodyPr/>
          <a:lstStyle/>
          <a:p>
            <a:r>
              <a:rPr lang="en-IE" dirty="0"/>
              <a:t>The 4D Network Architecture</a:t>
            </a:r>
          </a:p>
          <a:p>
            <a:pPr lvl="1"/>
            <a:r>
              <a:rPr lang="en-IE" dirty="0"/>
              <a:t>Motivation</a:t>
            </a:r>
          </a:p>
          <a:p>
            <a:pPr lvl="1"/>
            <a:r>
              <a:rPr lang="en-IE" dirty="0"/>
              <a:t>Definitions</a:t>
            </a:r>
          </a:p>
          <a:p>
            <a:r>
              <a:rPr lang="en-IE" dirty="0"/>
              <a:t>How 4D Terminology relates to SDN Today?</a:t>
            </a:r>
          </a:p>
        </p:txBody>
      </p:sp>
      <p:sp>
        <p:nvSpPr>
          <p:cNvPr id="4" name="Footer Placeholder 3">
            <a:extLst>
              <a:ext uri="{FF2B5EF4-FFF2-40B4-BE49-F238E27FC236}">
                <a16:creationId xmlns:a16="http://schemas.microsoft.com/office/drawing/2014/main" id="{5FB1F39C-AB0D-1C27-5065-1CE33A45AC85}"/>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36942168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A9B67-FA11-4628-511F-6671C1999E1A}"/>
              </a:ext>
            </a:extLst>
          </p:cNvPr>
          <p:cNvSpPr>
            <a:spLocks noGrp="1"/>
          </p:cNvSpPr>
          <p:nvPr>
            <p:ph type="title"/>
          </p:nvPr>
        </p:nvSpPr>
        <p:spPr/>
        <p:txBody>
          <a:bodyPr/>
          <a:lstStyle/>
          <a:p>
            <a:endParaRPr lang="en-IE" dirty="0"/>
          </a:p>
        </p:txBody>
      </p:sp>
      <p:sp>
        <p:nvSpPr>
          <p:cNvPr id="3" name="Content Placeholder 2">
            <a:extLst>
              <a:ext uri="{FF2B5EF4-FFF2-40B4-BE49-F238E27FC236}">
                <a16:creationId xmlns:a16="http://schemas.microsoft.com/office/drawing/2014/main" id="{38D3B1D7-FF02-607F-17AC-2DF9AE7BDFD9}"/>
              </a:ext>
            </a:extLst>
          </p:cNvPr>
          <p:cNvSpPr>
            <a:spLocks noGrp="1"/>
          </p:cNvSpPr>
          <p:nvPr>
            <p:ph idx="1"/>
          </p:nvPr>
        </p:nvSpPr>
        <p:spPr>
          <a:xfrm>
            <a:off x="572729" y="1780234"/>
            <a:ext cx="4662948" cy="4351338"/>
          </a:xfrm>
        </p:spPr>
        <p:txBody>
          <a:bodyPr>
            <a:normAutofit lnSpcReduction="10000"/>
          </a:bodyPr>
          <a:lstStyle/>
          <a:p>
            <a:r>
              <a:rPr lang="en-IE" dirty="0"/>
              <a:t>Conventional IP Routers</a:t>
            </a:r>
          </a:p>
          <a:p>
            <a:pPr lvl="1"/>
            <a:r>
              <a:rPr lang="en-IE" dirty="0"/>
              <a:t>Management Plane</a:t>
            </a:r>
          </a:p>
          <a:p>
            <a:pPr lvl="2"/>
            <a:r>
              <a:rPr lang="en-IE" dirty="0"/>
              <a:t>Construct network wide view</a:t>
            </a:r>
          </a:p>
          <a:p>
            <a:pPr lvl="2"/>
            <a:r>
              <a:rPr lang="en-IE" dirty="0"/>
              <a:t>Configure the routers</a:t>
            </a:r>
          </a:p>
          <a:p>
            <a:pPr lvl="1"/>
            <a:r>
              <a:rPr lang="en-IE" dirty="0"/>
              <a:t>Control Plane</a:t>
            </a:r>
          </a:p>
          <a:p>
            <a:pPr lvl="2"/>
            <a:r>
              <a:rPr lang="en-IE" dirty="0"/>
              <a:t>Track topology changes</a:t>
            </a:r>
          </a:p>
          <a:p>
            <a:pPr lvl="2"/>
            <a:r>
              <a:rPr lang="en-IE" dirty="0"/>
              <a:t>Compute routes and install forwarding tables</a:t>
            </a:r>
          </a:p>
          <a:p>
            <a:pPr lvl="1"/>
            <a:r>
              <a:rPr lang="en-IE" dirty="0"/>
              <a:t>Data Plane</a:t>
            </a:r>
          </a:p>
          <a:p>
            <a:pPr lvl="1"/>
            <a:r>
              <a:rPr lang="en-IE" dirty="0"/>
              <a:t>Forwards, filter, buffer, mark and rate-limit </a:t>
            </a:r>
            <a:r>
              <a:rPr lang="en-IE" dirty="0" err="1"/>
              <a:t>Pkts</a:t>
            </a:r>
            <a:endParaRPr lang="en-IE" dirty="0"/>
          </a:p>
          <a:p>
            <a:pPr lvl="1"/>
            <a:r>
              <a:rPr lang="en-IE" dirty="0"/>
              <a:t>Collect traffic statistics</a:t>
            </a:r>
          </a:p>
        </p:txBody>
      </p:sp>
      <p:sp>
        <p:nvSpPr>
          <p:cNvPr id="4" name="Footer Placeholder 3">
            <a:extLst>
              <a:ext uri="{FF2B5EF4-FFF2-40B4-BE49-F238E27FC236}">
                <a16:creationId xmlns:a16="http://schemas.microsoft.com/office/drawing/2014/main" id="{002A1792-5E0C-30A6-C246-6A0B58E9E097}"/>
              </a:ext>
            </a:extLst>
          </p:cNvPr>
          <p:cNvSpPr>
            <a:spLocks noGrp="1"/>
          </p:cNvSpPr>
          <p:nvPr>
            <p:ph type="ftr" sz="quarter" idx="11"/>
          </p:nvPr>
        </p:nvSpPr>
        <p:spPr/>
        <p:txBody>
          <a:bodyPr/>
          <a:lstStyle/>
          <a:p>
            <a:r>
              <a:rPr lang="en-US"/>
              <a:t>Department of Computing © Saim Ghafoor 2025</a:t>
            </a:r>
            <a:endParaRPr lang="en-IE" dirty="0"/>
          </a:p>
        </p:txBody>
      </p:sp>
      <p:pic>
        <p:nvPicPr>
          <p:cNvPr id="2050" name="Picture 2" descr="Management, Control, and Data Planes in a Router">
            <a:extLst>
              <a:ext uri="{FF2B5EF4-FFF2-40B4-BE49-F238E27FC236}">
                <a16:creationId xmlns:a16="http://schemas.microsoft.com/office/drawing/2014/main" id="{FC138BEE-4DEC-1895-BB04-D2BC5500EF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5406" y="1851603"/>
            <a:ext cx="6329382" cy="3819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0245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29F0A-C882-0496-5268-B8C7E2DE393B}"/>
              </a:ext>
            </a:extLst>
          </p:cNvPr>
          <p:cNvSpPr>
            <a:spLocks noGrp="1"/>
          </p:cNvSpPr>
          <p:nvPr>
            <p:ph type="title"/>
          </p:nvPr>
        </p:nvSpPr>
        <p:spPr/>
        <p:txBody>
          <a:bodyPr/>
          <a:lstStyle/>
          <a:p>
            <a:r>
              <a:rPr lang="en-IE" dirty="0"/>
              <a:t>The 4D Planes</a:t>
            </a:r>
          </a:p>
        </p:txBody>
      </p:sp>
      <p:sp>
        <p:nvSpPr>
          <p:cNvPr id="3" name="Content Placeholder 2">
            <a:extLst>
              <a:ext uri="{FF2B5EF4-FFF2-40B4-BE49-F238E27FC236}">
                <a16:creationId xmlns:a16="http://schemas.microsoft.com/office/drawing/2014/main" id="{E439DBFC-501C-6C39-4524-135D1024C37D}"/>
              </a:ext>
            </a:extLst>
          </p:cNvPr>
          <p:cNvSpPr>
            <a:spLocks noGrp="1"/>
          </p:cNvSpPr>
          <p:nvPr>
            <p:ph idx="1"/>
          </p:nvPr>
        </p:nvSpPr>
        <p:spPr/>
        <p:txBody>
          <a:bodyPr>
            <a:normAutofit/>
          </a:bodyPr>
          <a:lstStyle/>
          <a:p>
            <a:r>
              <a:rPr lang="en-IE" dirty="0"/>
              <a:t>Decision: all management and control</a:t>
            </a:r>
          </a:p>
          <a:p>
            <a:pPr lvl="1"/>
            <a:r>
              <a:rPr lang="en-IE" dirty="0"/>
              <a:t>Functions that operate on view of entire network and network objectives</a:t>
            </a:r>
          </a:p>
          <a:p>
            <a:pPr lvl="2"/>
            <a:r>
              <a:rPr lang="en-IE" dirty="0"/>
              <a:t>Path selection and traffic engineering</a:t>
            </a:r>
          </a:p>
          <a:p>
            <a:pPr lvl="2"/>
            <a:r>
              <a:rPr lang="en-IE" dirty="0"/>
              <a:t>Reachability control and VPNs</a:t>
            </a:r>
          </a:p>
          <a:p>
            <a:r>
              <a:rPr lang="en-IE" dirty="0"/>
              <a:t>Dissemination: Communication to/from routers</a:t>
            </a:r>
          </a:p>
          <a:p>
            <a:pPr lvl="1"/>
            <a:r>
              <a:rPr lang="en-IE" dirty="0"/>
              <a:t>Functions that support creation of network wide view</a:t>
            </a:r>
          </a:p>
          <a:p>
            <a:pPr lvl="2"/>
            <a:r>
              <a:rPr lang="en-IE" dirty="0"/>
              <a:t>Topology discovery</a:t>
            </a:r>
          </a:p>
          <a:p>
            <a:pPr lvl="2"/>
            <a:r>
              <a:rPr lang="en-IE" dirty="0"/>
              <a:t>Report measurements, status</a:t>
            </a:r>
          </a:p>
          <a:p>
            <a:r>
              <a:rPr lang="en-IE" dirty="0"/>
              <a:t>Discovery: topology and traffic monitoring</a:t>
            </a:r>
          </a:p>
          <a:p>
            <a:r>
              <a:rPr lang="en-IE" dirty="0"/>
              <a:t>Data: traffic handling</a:t>
            </a:r>
          </a:p>
        </p:txBody>
      </p:sp>
      <p:sp>
        <p:nvSpPr>
          <p:cNvPr id="4" name="Footer Placeholder 3">
            <a:extLst>
              <a:ext uri="{FF2B5EF4-FFF2-40B4-BE49-F238E27FC236}">
                <a16:creationId xmlns:a16="http://schemas.microsoft.com/office/drawing/2014/main" id="{6F7A7FDF-A2E2-06D0-3C16-00CACF4163E6}"/>
              </a:ext>
            </a:extLst>
          </p:cNvPr>
          <p:cNvSpPr>
            <a:spLocks noGrp="1"/>
          </p:cNvSpPr>
          <p:nvPr>
            <p:ph type="ftr" sz="quarter" idx="11"/>
          </p:nvPr>
        </p:nvSpPr>
        <p:spPr/>
        <p:txBody>
          <a:bodyPr/>
          <a:lstStyle/>
          <a:p>
            <a:r>
              <a:rPr lang="en-US"/>
              <a:t>Department of Computing © Saim Ghafoor 2025</a:t>
            </a:r>
            <a:endParaRPr lang="en-IE" dirty="0"/>
          </a:p>
        </p:txBody>
      </p:sp>
      <p:pic>
        <p:nvPicPr>
          <p:cNvPr id="6" name="Picture 5">
            <a:extLst>
              <a:ext uri="{FF2B5EF4-FFF2-40B4-BE49-F238E27FC236}">
                <a16:creationId xmlns:a16="http://schemas.microsoft.com/office/drawing/2014/main" id="{DFCEE75D-E05F-32A8-34C8-1DF33B4E96E3}"/>
              </a:ext>
            </a:extLst>
          </p:cNvPr>
          <p:cNvPicPr>
            <a:picLocks noChangeAspect="1"/>
          </p:cNvPicPr>
          <p:nvPr/>
        </p:nvPicPr>
        <p:blipFill>
          <a:blip r:embed="rId2"/>
          <a:stretch>
            <a:fillRect/>
          </a:stretch>
        </p:blipFill>
        <p:spPr>
          <a:xfrm>
            <a:off x="6837833" y="187454"/>
            <a:ext cx="5203833" cy="2007106"/>
          </a:xfrm>
          <a:prstGeom prst="rect">
            <a:avLst/>
          </a:prstGeom>
        </p:spPr>
      </p:pic>
    </p:spTree>
    <p:extLst>
      <p:ext uri="{BB962C8B-B14F-4D97-AF65-F5344CB8AC3E}">
        <p14:creationId xmlns:p14="http://schemas.microsoft.com/office/powerpoint/2010/main" val="889801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EDD4E-8AD7-BECE-A7A4-702AE4C56A32}"/>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C51ECED0-1278-EDDA-4F88-0A4BA7FC4519}"/>
              </a:ext>
            </a:extLst>
          </p:cNvPr>
          <p:cNvSpPr>
            <a:spLocks noGrp="1"/>
          </p:cNvSpPr>
          <p:nvPr>
            <p:ph idx="1"/>
          </p:nvPr>
        </p:nvSpPr>
        <p:spPr/>
        <p:txBody>
          <a:bodyPr>
            <a:normAutofit fontScale="92500" lnSpcReduction="10000"/>
          </a:bodyPr>
          <a:lstStyle/>
          <a:p>
            <a:r>
              <a:rPr lang="en-IE" dirty="0"/>
              <a:t>Three Goals of 4D architecture</a:t>
            </a:r>
          </a:p>
          <a:p>
            <a:r>
              <a:rPr lang="en-IE" dirty="0"/>
              <a:t>Network level objectives</a:t>
            </a:r>
          </a:p>
          <a:p>
            <a:pPr lvl="1"/>
            <a:r>
              <a:rPr lang="en-IE" dirty="0"/>
              <a:t>Configure the network, not the routers</a:t>
            </a:r>
          </a:p>
          <a:p>
            <a:pPr lvl="1"/>
            <a:r>
              <a:rPr lang="en-IE" dirty="0"/>
              <a:t>Minimise the maximum link utilization</a:t>
            </a:r>
          </a:p>
          <a:p>
            <a:pPr lvl="1"/>
            <a:r>
              <a:rPr lang="en-IE" dirty="0"/>
              <a:t>Ensuring the connectivity under all layer 2 failures</a:t>
            </a:r>
          </a:p>
          <a:p>
            <a:r>
              <a:rPr lang="en-IE" dirty="0"/>
              <a:t>Network wide views</a:t>
            </a:r>
          </a:p>
          <a:p>
            <a:pPr lvl="1"/>
            <a:r>
              <a:rPr lang="en-IE" dirty="0"/>
              <a:t>Complete visibility to drive decision-making</a:t>
            </a:r>
          </a:p>
          <a:p>
            <a:pPr lvl="1"/>
            <a:r>
              <a:rPr lang="en-IE" dirty="0"/>
              <a:t>Traffic matrix, network topology, equipment</a:t>
            </a:r>
          </a:p>
          <a:p>
            <a:r>
              <a:rPr lang="en-IE" dirty="0"/>
              <a:t>Direct control</a:t>
            </a:r>
          </a:p>
          <a:p>
            <a:pPr lvl="1"/>
            <a:r>
              <a:rPr lang="en-IE" dirty="0"/>
              <a:t>Direct, sole control over data plane configuration</a:t>
            </a:r>
          </a:p>
          <a:p>
            <a:pPr lvl="1"/>
            <a:r>
              <a:rPr lang="en-IE" dirty="0"/>
              <a:t>Packet forwarding, filtering, marking, buffering</a:t>
            </a:r>
          </a:p>
        </p:txBody>
      </p:sp>
      <p:sp>
        <p:nvSpPr>
          <p:cNvPr id="4" name="Footer Placeholder 3">
            <a:extLst>
              <a:ext uri="{FF2B5EF4-FFF2-40B4-BE49-F238E27FC236}">
                <a16:creationId xmlns:a16="http://schemas.microsoft.com/office/drawing/2014/main" id="{05A04F21-7312-7DCB-5D7F-6FA3D08EBD45}"/>
              </a:ext>
            </a:extLst>
          </p:cNvPr>
          <p:cNvSpPr>
            <a:spLocks noGrp="1"/>
          </p:cNvSpPr>
          <p:nvPr>
            <p:ph type="ftr" sz="quarter" idx="11"/>
          </p:nvPr>
        </p:nvSpPr>
        <p:spPr/>
        <p:txBody>
          <a:bodyPr/>
          <a:lstStyle/>
          <a:p>
            <a:r>
              <a:rPr lang="en-US"/>
              <a:t>Department of Computing © Saim Ghafoor 2025</a:t>
            </a:r>
            <a:endParaRPr lang="en-IE" dirty="0"/>
          </a:p>
        </p:txBody>
      </p:sp>
      <p:pic>
        <p:nvPicPr>
          <p:cNvPr id="5" name="Picture 4">
            <a:extLst>
              <a:ext uri="{FF2B5EF4-FFF2-40B4-BE49-F238E27FC236}">
                <a16:creationId xmlns:a16="http://schemas.microsoft.com/office/drawing/2014/main" id="{03DB24AE-5B86-4FD0-29E9-4B6E2BD368EF}"/>
              </a:ext>
            </a:extLst>
          </p:cNvPr>
          <p:cNvPicPr>
            <a:picLocks noChangeAspect="1"/>
          </p:cNvPicPr>
          <p:nvPr/>
        </p:nvPicPr>
        <p:blipFill>
          <a:blip r:embed="rId2"/>
          <a:stretch>
            <a:fillRect/>
          </a:stretch>
        </p:blipFill>
        <p:spPr>
          <a:xfrm>
            <a:off x="6336283" y="775851"/>
            <a:ext cx="5855717" cy="2258536"/>
          </a:xfrm>
          <a:prstGeom prst="rect">
            <a:avLst/>
          </a:prstGeom>
        </p:spPr>
      </p:pic>
    </p:spTree>
    <p:extLst>
      <p:ext uri="{BB962C8B-B14F-4D97-AF65-F5344CB8AC3E}">
        <p14:creationId xmlns:p14="http://schemas.microsoft.com/office/powerpoint/2010/main" val="99250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5BF60-7293-95DC-20EE-12FB2BD94273}"/>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DBAFF81D-655D-48FE-AF24-1B6A6FD9DCA0}"/>
              </a:ext>
            </a:extLst>
          </p:cNvPr>
          <p:cNvSpPr>
            <a:spLocks noGrp="1"/>
          </p:cNvSpPr>
          <p:nvPr>
            <p:ph idx="1"/>
          </p:nvPr>
        </p:nvSpPr>
        <p:spPr>
          <a:xfrm>
            <a:off x="838200" y="1825625"/>
            <a:ext cx="4928419" cy="4351338"/>
          </a:xfrm>
        </p:spPr>
        <p:txBody>
          <a:bodyPr>
            <a:normAutofit fontScale="92500" lnSpcReduction="20000"/>
          </a:bodyPr>
          <a:lstStyle/>
          <a:p>
            <a:r>
              <a:rPr lang="en-IE" dirty="0"/>
              <a:t>Goal of 4D is to remove/minimise the conventional routing plane</a:t>
            </a:r>
          </a:p>
          <a:p>
            <a:r>
              <a:rPr lang="en-IE" dirty="0"/>
              <a:t>Faster innovation</a:t>
            </a:r>
          </a:p>
          <a:p>
            <a:pPr lvl="1"/>
            <a:r>
              <a:rPr lang="en-IE" dirty="0"/>
              <a:t>Remove dependence on vendors</a:t>
            </a:r>
          </a:p>
          <a:p>
            <a:r>
              <a:rPr lang="en-IE" dirty="0"/>
              <a:t>Simpler management systems</a:t>
            </a:r>
          </a:p>
          <a:p>
            <a:pPr lvl="1"/>
            <a:r>
              <a:rPr lang="en-IE" dirty="0"/>
              <a:t>No need to invert control plane operations</a:t>
            </a:r>
          </a:p>
          <a:p>
            <a:r>
              <a:rPr lang="en-IE" dirty="0"/>
              <a:t>Easier interoperability between vendors</a:t>
            </a:r>
          </a:p>
          <a:p>
            <a:r>
              <a:rPr lang="en-IE" dirty="0"/>
              <a:t>Simpler, cheaper routers</a:t>
            </a:r>
          </a:p>
          <a:p>
            <a:pPr lvl="1"/>
            <a:r>
              <a:rPr lang="en-IE" dirty="0"/>
              <a:t>Little or no software on the routers</a:t>
            </a:r>
          </a:p>
        </p:txBody>
      </p:sp>
      <p:sp>
        <p:nvSpPr>
          <p:cNvPr id="4" name="Footer Placeholder 3">
            <a:extLst>
              <a:ext uri="{FF2B5EF4-FFF2-40B4-BE49-F238E27FC236}">
                <a16:creationId xmlns:a16="http://schemas.microsoft.com/office/drawing/2014/main" id="{0CEFC5D5-228A-3D4E-EBAE-D0B3FB267C37}"/>
              </a:ext>
            </a:extLst>
          </p:cNvPr>
          <p:cNvSpPr>
            <a:spLocks noGrp="1"/>
          </p:cNvSpPr>
          <p:nvPr>
            <p:ph type="ftr" sz="quarter" idx="11"/>
          </p:nvPr>
        </p:nvSpPr>
        <p:spPr/>
        <p:txBody>
          <a:bodyPr/>
          <a:lstStyle/>
          <a:p>
            <a:r>
              <a:rPr lang="en-US"/>
              <a:t>Department of Computing © Saim Ghafoor 2025</a:t>
            </a:r>
            <a:endParaRPr lang="en-IE" dirty="0"/>
          </a:p>
        </p:txBody>
      </p:sp>
      <p:sp>
        <p:nvSpPr>
          <p:cNvPr id="5" name="Content Placeholder 2">
            <a:extLst>
              <a:ext uri="{FF2B5EF4-FFF2-40B4-BE49-F238E27FC236}">
                <a16:creationId xmlns:a16="http://schemas.microsoft.com/office/drawing/2014/main" id="{D08D887E-2580-F93B-81C7-7C2250A72AC5}"/>
              </a:ext>
            </a:extLst>
          </p:cNvPr>
          <p:cNvSpPr txBox="1">
            <a:spLocks/>
          </p:cNvSpPr>
          <p:nvPr/>
        </p:nvSpPr>
        <p:spPr>
          <a:xfrm>
            <a:off x="6548283" y="1870074"/>
            <a:ext cx="5220929" cy="279062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a:t>Removing the control plane from Routers</a:t>
            </a:r>
          </a:p>
          <a:p>
            <a:pPr lvl="1"/>
            <a:r>
              <a:rPr lang="en-IE"/>
              <a:t>Control software can run elsewhere</a:t>
            </a:r>
          </a:p>
          <a:p>
            <a:pPr lvl="1"/>
            <a:r>
              <a:rPr lang="en-IE"/>
              <a:t>State and computation is reasonable</a:t>
            </a:r>
          </a:p>
          <a:p>
            <a:pPr lvl="1"/>
            <a:r>
              <a:rPr lang="en-IE"/>
              <a:t>System overhead can be amortised</a:t>
            </a:r>
          </a:p>
          <a:p>
            <a:pPr lvl="1"/>
            <a:r>
              <a:rPr lang="en-IE"/>
              <a:t>Easier access to other information</a:t>
            </a:r>
          </a:p>
          <a:p>
            <a:pPr lvl="1"/>
            <a:r>
              <a:rPr lang="en-IE"/>
              <a:t>Some control can move to end hosts</a:t>
            </a:r>
          </a:p>
          <a:p>
            <a:endParaRPr lang="en-IE" dirty="0"/>
          </a:p>
        </p:txBody>
      </p:sp>
    </p:spTree>
    <p:extLst>
      <p:ext uri="{BB962C8B-B14F-4D97-AF65-F5344CB8AC3E}">
        <p14:creationId xmlns:p14="http://schemas.microsoft.com/office/powerpoint/2010/main" val="19297425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78668-EDC8-BCE4-49FD-907F302483DE}"/>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5A45910C-71D7-A241-7AB2-1228F09BD3DA}"/>
              </a:ext>
            </a:extLst>
          </p:cNvPr>
          <p:cNvSpPr>
            <a:spLocks noGrp="1"/>
          </p:cNvSpPr>
          <p:nvPr>
            <p:ph idx="1"/>
          </p:nvPr>
        </p:nvSpPr>
        <p:spPr/>
        <p:txBody>
          <a:bodyPr/>
          <a:lstStyle/>
          <a:p>
            <a:r>
              <a:rPr lang="en-IE" dirty="0"/>
              <a:t>SDN still have a control plane, but it's not what 4D called a control plane</a:t>
            </a:r>
          </a:p>
          <a:p>
            <a:r>
              <a:rPr lang="en-IE" dirty="0"/>
              <a:t>4D control plane is a distributed routing protocols</a:t>
            </a:r>
          </a:p>
          <a:p>
            <a:r>
              <a:rPr lang="en-IE" dirty="0"/>
              <a:t>What we refer to as control plane todays is the Decision Plane in 4D</a:t>
            </a:r>
          </a:p>
          <a:p>
            <a:r>
              <a:rPr lang="en-IE" dirty="0"/>
              <a:t>The dissemination plane lives on, but we call it a control channel</a:t>
            </a:r>
          </a:p>
          <a:p>
            <a:r>
              <a:rPr lang="en-IE" dirty="0"/>
              <a:t>In RCP dissemination plane is BGP</a:t>
            </a:r>
          </a:p>
          <a:p>
            <a:r>
              <a:rPr lang="en-IE" dirty="0"/>
              <a:t>In OpenFlow, its ‘</a:t>
            </a:r>
            <a:r>
              <a:rPr lang="en-IE" dirty="0" err="1"/>
              <a:t>secchan</a:t>
            </a:r>
            <a:r>
              <a:rPr lang="en-IE" dirty="0"/>
              <a:t>’</a:t>
            </a:r>
          </a:p>
        </p:txBody>
      </p:sp>
      <p:sp>
        <p:nvSpPr>
          <p:cNvPr id="4" name="Footer Placeholder 3">
            <a:extLst>
              <a:ext uri="{FF2B5EF4-FFF2-40B4-BE49-F238E27FC236}">
                <a16:creationId xmlns:a16="http://schemas.microsoft.com/office/drawing/2014/main" id="{28A2CB08-E48A-F582-1F0B-CAA2433EBA56}"/>
              </a:ext>
            </a:extLst>
          </p:cNvPr>
          <p:cNvSpPr>
            <a:spLocks noGrp="1"/>
          </p:cNvSpPr>
          <p:nvPr>
            <p:ph type="ftr" sz="quarter" idx="11"/>
          </p:nvPr>
        </p:nvSpPr>
        <p:spPr/>
        <p:txBody>
          <a:bodyPr/>
          <a:lstStyle/>
          <a:p>
            <a:r>
              <a:rPr lang="en-US"/>
              <a:t>Department of Computing © Saim Ghafoor 2025</a:t>
            </a:r>
            <a:endParaRPr lang="en-IE" dirty="0"/>
          </a:p>
        </p:txBody>
      </p:sp>
    </p:spTree>
    <p:extLst>
      <p:ext uri="{BB962C8B-B14F-4D97-AF65-F5344CB8AC3E}">
        <p14:creationId xmlns:p14="http://schemas.microsoft.com/office/powerpoint/2010/main" val="2262550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1916</Words>
  <Application>Microsoft Office PowerPoint</Application>
  <PresentationFormat>Widescreen</PresentationFormat>
  <Paragraphs>202</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Times New Roman</vt:lpstr>
      <vt:lpstr>Office Theme</vt:lpstr>
      <vt:lpstr>SDN and Wireless Network Security</vt:lpstr>
      <vt:lpstr>SDN Architecture</vt:lpstr>
      <vt:lpstr>Advantages/Disadvantages of SDN</vt:lpstr>
      <vt:lpstr>Planes</vt:lpstr>
      <vt:lpstr>PowerPoint Presentation</vt:lpstr>
      <vt:lpstr>How switch decides when packet enters a switch?</vt:lpstr>
      <vt:lpstr>SDN Controller</vt:lpstr>
      <vt:lpstr>PowerPoint Presentation</vt:lpstr>
      <vt:lpstr>PowerPoint Presentation</vt:lpstr>
      <vt:lpstr>What are the control and data planes</vt:lpstr>
      <vt:lpstr>Why separate the control and data planes?</vt:lpstr>
      <vt:lpstr>Opportunities: Where separation Helps</vt:lpstr>
      <vt:lpstr>PowerPoint Presentation</vt:lpstr>
      <vt:lpstr>Challenges of separating Control and Data plane</vt:lpstr>
      <vt:lpstr>Evolution of network programming</vt:lpstr>
      <vt:lpstr>Routing Control Platform (RCP)</vt:lpstr>
      <vt:lpstr>Benefits of RCP</vt:lpstr>
      <vt:lpstr>PowerPoint Presentation</vt:lpstr>
      <vt:lpstr>PowerPoint Presentation</vt:lpstr>
      <vt:lpstr>4D network architecture</vt:lpstr>
      <vt:lpstr>PowerPoint Presentation</vt:lpstr>
      <vt:lpstr>The 4D Planes</vt:lpstr>
      <vt:lpstr>PowerPoint Presentation</vt:lpstr>
      <vt:lpstr>PowerPoint Presentation</vt:lpstr>
      <vt:lpstr>PowerPoint Presentation</vt:lpstr>
    </vt:vector>
  </TitlesOfParts>
  <Company>LYIT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lyit</dc:creator>
  <cp:lastModifiedBy>Saim Ghafoor</cp:lastModifiedBy>
  <cp:revision>148</cp:revision>
  <dcterms:created xsi:type="dcterms:W3CDTF">2014-10-06T13:03:33Z</dcterms:created>
  <dcterms:modified xsi:type="dcterms:W3CDTF">2025-09-21T14:53:27Z</dcterms:modified>
</cp:coreProperties>
</file>