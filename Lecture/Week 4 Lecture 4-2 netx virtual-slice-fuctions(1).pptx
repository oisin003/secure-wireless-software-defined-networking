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34"/>
  </p:notesMasterIdLst>
  <p:sldIdLst>
    <p:sldId id="258" r:id="rId2"/>
    <p:sldId id="297" r:id="rId3"/>
    <p:sldId id="298" r:id="rId4"/>
    <p:sldId id="303" r:id="rId5"/>
    <p:sldId id="309" r:id="rId6"/>
    <p:sldId id="310" r:id="rId7"/>
    <p:sldId id="311" r:id="rId8"/>
    <p:sldId id="312" r:id="rId9"/>
    <p:sldId id="313" r:id="rId10"/>
    <p:sldId id="320" r:id="rId11"/>
    <p:sldId id="321" r:id="rId12"/>
    <p:sldId id="337" r:id="rId13"/>
    <p:sldId id="322" r:id="rId14"/>
    <p:sldId id="300" r:id="rId15"/>
    <p:sldId id="301" r:id="rId16"/>
    <p:sldId id="302" r:id="rId17"/>
    <p:sldId id="323" r:id="rId18"/>
    <p:sldId id="304" r:id="rId19"/>
    <p:sldId id="338" r:id="rId20"/>
    <p:sldId id="305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3" r:id="rId29"/>
    <p:sldId id="335" r:id="rId30"/>
    <p:sldId id="336" r:id="rId31"/>
    <p:sldId id="308" r:id="rId32"/>
    <p:sldId id="33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0723E1-C569-4C63-8520-7D8A25596C17}" v="3" dt="2025-10-13T11:41:41.010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m Ghafoor" userId="b484e196-97e0-4a37-9647-714f4ebb2ce2" providerId="ADAL" clId="{E52E7295-25D9-4BCF-AC40-6F1ABFBBCE9F}"/>
    <pc:docChg chg="undo custSel modSld">
      <pc:chgData name="Saim Ghafoor" userId="b484e196-97e0-4a37-9647-714f4ebb2ce2" providerId="ADAL" clId="{E52E7295-25D9-4BCF-AC40-6F1ABFBBCE9F}" dt="2024-10-13T13:01:36.695" v="47"/>
      <pc:docMkLst>
        <pc:docMk/>
      </pc:docMkLst>
      <pc:sldChg chg="modSp mod">
        <pc:chgData name="Saim Ghafoor" userId="b484e196-97e0-4a37-9647-714f4ebb2ce2" providerId="ADAL" clId="{E52E7295-25D9-4BCF-AC40-6F1ABFBBCE9F}" dt="2024-10-13T13:01:36.695" v="47"/>
        <pc:sldMkLst>
          <pc:docMk/>
          <pc:sldMk cId="1830763226" sldId="322"/>
        </pc:sldMkLst>
      </pc:sldChg>
    </pc:docChg>
  </pc:docChgLst>
  <pc:docChgLst>
    <pc:chgData name="Saim Ghafoor" userId="b484e196-97e0-4a37-9647-714f4ebb2ce2" providerId="ADAL" clId="{C30723E1-C569-4C63-8520-7D8A25596C17}"/>
    <pc:docChg chg="custSel addSld modSld">
      <pc:chgData name="Saim Ghafoor" userId="b484e196-97e0-4a37-9647-714f4ebb2ce2" providerId="ADAL" clId="{C30723E1-C569-4C63-8520-7D8A25596C17}" dt="2025-10-13T11:44:36.627" v="73" actId="20577"/>
      <pc:docMkLst>
        <pc:docMk/>
      </pc:docMkLst>
      <pc:sldChg chg="modSp mod">
        <pc:chgData name="Saim Ghafoor" userId="b484e196-97e0-4a37-9647-714f4ebb2ce2" providerId="ADAL" clId="{C30723E1-C569-4C63-8520-7D8A25596C17}" dt="2025-10-13T11:32:10.637" v="23" actId="20577"/>
        <pc:sldMkLst>
          <pc:docMk/>
          <pc:sldMk cId="1717202918" sldId="303"/>
        </pc:sldMkLst>
        <pc:spChg chg="mod">
          <ac:chgData name="Saim Ghafoor" userId="b484e196-97e0-4a37-9647-714f4ebb2ce2" providerId="ADAL" clId="{C30723E1-C569-4C63-8520-7D8A25596C17}" dt="2025-10-13T11:32:10.637" v="23" actId="20577"/>
          <ac:spMkLst>
            <pc:docMk/>
            <pc:sldMk cId="1717202918" sldId="303"/>
            <ac:spMk id="3" creationId="{B7493D97-2CB0-7AFB-1407-23017FA33AEB}"/>
          </ac:spMkLst>
        </pc:spChg>
      </pc:sldChg>
      <pc:sldChg chg="modSp mod">
        <pc:chgData name="Saim Ghafoor" userId="b484e196-97e0-4a37-9647-714f4ebb2ce2" providerId="ADAL" clId="{C30723E1-C569-4C63-8520-7D8A25596C17}" dt="2025-10-13T11:36:18.436" v="37" actId="20577"/>
        <pc:sldMkLst>
          <pc:docMk/>
          <pc:sldMk cId="3707694883" sldId="313"/>
        </pc:sldMkLst>
        <pc:spChg chg="mod">
          <ac:chgData name="Saim Ghafoor" userId="b484e196-97e0-4a37-9647-714f4ebb2ce2" providerId="ADAL" clId="{C30723E1-C569-4C63-8520-7D8A25596C17}" dt="2025-10-13T11:36:18.436" v="37" actId="20577"/>
          <ac:spMkLst>
            <pc:docMk/>
            <pc:sldMk cId="3707694883" sldId="313"/>
            <ac:spMk id="3" creationId="{F4762C1C-9F3D-C53D-AD7D-2D9A21C85337}"/>
          </ac:spMkLst>
        </pc:spChg>
      </pc:sldChg>
      <pc:sldChg chg="modSp mod">
        <pc:chgData name="Saim Ghafoor" userId="b484e196-97e0-4a37-9647-714f4ebb2ce2" providerId="ADAL" clId="{C30723E1-C569-4C63-8520-7D8A25596C17}" dt="2025-10-13T11:44:36.627" v="73" actId="20577"/>
        <pc:sldMkLst>
          <pc:docMk/>
          <pc:sldMk cId="891260757" sldId="327"/>
        </pc:sldMkLst>
        <pc:spChg chg="mod">
          <ac:chgData name="Saim Ghafoor" userId="b484e196-97e0-4a37-9647-714f4ebb2ce2" providerId="ADAL" clId="{C30723E1-C569-4C63-8520-7D8A25596C17}" dt="2025-10-13T11:44:36.627" v="73" actId="20577"/>
          <ac:spMkLst>
            <pc:docMk/>
            <pc:sldMk cId="891260757" sldId="327"/>
            <ac:spMk id="3" creationId="{5EC233DD-70D8-5B08-5013-55C435EDD736}"/>
          </ac:spMkLst>
        </pc:spChg>
      </pc:sldChg>
      <pc:sldChg chg="addSp delSp modSp new mod">
        <pc:chgData name="Saim Ghafoor" userId="b484e196-97e0-4a37-9647-714f4ebb2ce2" providerId="ADAL" clId="{C30723E1-C569-4C63-8520-7D8A25596C17}" dt="2025-10-13T11:41:32.839" v="48" actId="21"/>
        <pc:sldMkLst>
          <pc:docMk/>
          <pc:sldMk cId="312705495" sldId="337"/>
        </pc:sldMkLst>
        <pc:spChg chg="del">
          <ac:chgData name="Saim Ghafoor" userId="b484e196-97e0-4a37-9647-714f4ebb2ce2" providerId="ADAL" clId="{C30723E1-C569-4C63-8520-7D8A25596C17}" dt="2025-10-13T11:38:28.842" v="40" actId="478"/>
          <ac:spMkLst>
            <pc:docMk/>
            <pc:sldMk cId="312705495" sldId="337"/>
            <ac:spMk id="2" creationId="{1A8E6F77-FA45-E169-37C4-C282965D0616}"/>
          </ac:spMkLst>
        </pc:spChg>
        <pc:spChg chg="del">
          <ac:chgData name="Saim Ghafoor" userId="b484e196-97e0-4a37-9647-714f4ebb2ce2" providerId="ADAL" clId="{C30723E1-C569-4C63-8520-7D8A25596C17}" dt="2025-10-13T11:38:27.605" v="39" actId="478"/>
          <ac:spMkLst>
            <pc:docMk/>
            <pc:sldMk cId="312705495" sldId="337"/>
            <ac:spMk id="3" creationId="{716ABB33-3E3E-D70C-9D6B-A2D4ADD04148}"/>
          </ac:spMkLst>
        </pc:spChg>
        <pc:graphicFrameChg chg="add del mod modGraphic">
          <ac:chgData name="Saim Ghafoor" userId="b484e196-97e0-4a37-9647-714f4ebb2ce2" providerId="ADAL" clId="{C30723E1-C569-4C63-8520-7D8A25596C17}" dt="2025-10-13T11:41:32.839" v="48" actId="21"/>
          <ac:graphicFrameMkLst>
            <pc:docMk/>
            <pc:sldMk cId="312705495" sldId="337"/>
            <ac:graphicFrameMk id="4" creationId="{70F27E55-6DE9-E37E-8DFA-476C09B3C9EF}"/>
          </ac:graphicFrameMkLst>
        </pc:graphicFrameChg>
        <pc:graphicFrameChg chg="add mod modGraphic">
          <ac:chgData name="Saim Ghafoor" userId="b484e196-97e0-4a37-9647-714f4ebb2ce2" providerId="ADAL" clId="{C30723E1-C569-4C63-8520-7D8A25596C17}" dt="2025-10-13T11:41:31.031" v="47" actId="1076"/>
          <ac:graphicFrameMkLst>
            <pc:docMk/>
            <pc:sldMk cId="312705495" sldId="337"/>
            <ac:graphicFrameMk id="5" creationId="{72FFE075-89D0-6282-ADBA-23BD42A31386}"/>
          </ac:graphicFrameMkLst>
        </pc:graphicFrameChg>
      </pc:sldChg>
      <pc:sldChg chg="addSp delSp modSp new mod">
        <pc:chgData name="Saim Ghafoor" userId="b484e196-97e0-4a37-9647-714f4ebb2ce2" providerId="ADAL" clId="{C30723E1-C569-4C63-8520-7D8A25596C17}" dt="2025-10-13T11:41:47.052" v="53" actId="478"/>
        <pc:sldMkLst>
          <pc:docMk/>
          <pc:sldMk cId="4045079350" sldId="338"/>
        </pc:sldMkLst>
        <pc:spChg chg="del">
          <ac:chgData name="Saim Ghafoor" userId="b484e196-97e0-4a37-9647-714f4ebb2ce2" providerId="ADAL" clId="{C30723E1-C569-4C63-8520-7D8A25596C17}" dt="2025-10-13T11:41:47.052" v="53" actId="478"/>
          <ac:spMkLst>
            <pc:docMk/>
            <pc:sldMk cId="4045079350" sldId="338"/>
            <ac:spMk id="2" creationId="{E98BC4D0-C7BD-3A16-50D3-75DF4F8AF0EF}"/>
          </ac:spMkLst>
        </pc:spChg>
        <pc:spChg chg="del">
          <ac:chgData name="Saim Ghafoor" userId="b484e196-97e0-4a37-9647-714f4ebb2ce2" providerId="ADAL" clId="{C30723E1-C569-4C63-8520-7D8A25596C17}" dt="2025-10-13T11:41:45.953" v="52" actId="478"/>
          <ac:spMkLst>
            <pc:docMk/>
            <pc:sldMk cId="4045079350" sldId="338"/>
            <ac:spMk id="3" creationId="{A97E4AB8-3267-B762-DBC4-B0A1C68EA5C0}"/>
          </ac:spMkLst>
        </pc:spChg>
        <pc:graphicFrameChg chg="add mod">
          <ac:chgData name="Saim Ghafoor" userId="b484e196-97e0-4a37-9647-714f4ebb2ce2" providerId="ADAL" clId="{C30723E1-C569-4C63-8520-7D8A25596C17}" dt="2025-10-13T11:41:44.112" v="51" actId="1076"/>
          <ac:graphicFrameMkLst>
            <pc:docMk/>
            <pc:sldMk cId="4045079350" sldId="338"/>
            <ac:graphicFrameMk id="4" creationId="{70F27E55-6DE9-E37E-8DFA-476C09B3C9E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E251D-97B3-4F06-8608-3B1ADED79B1C}" type="datetimeFigureOut">
              <a:rPr lang="en-IE" smtClean="0"/>
              <a:t>13/10/2025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9E036-CB38-4818-B98A-A61A334C210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0373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0E0C-727F-40E4-AEA9-0C98C0D4B757}" type="datetime1">
              <a:rPr lang="en-IE" smtClean="0"/>
              <a:t>13/10/2025</a:t>
            </a:fld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32766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D31D-F399-433D-BC35-88366990CCDA}" type="datetime1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0386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92206-1DA0-43FB-847F-F2EEF9F3BEA6}" type="datetime1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6537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0CF5-2778-47FD-98AE-66D36E74F665}" type="datetime1">
              <a:rPr lang="en-IE" smtClean="0"/>
              <a:t>13/10/2025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13901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89317"/>
            <a:ext cx="10515600" cy="10013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4C06-9F6A-4810-AE29-76E82AAA9649}" type="datetime1">
              <a:rPr lang="en-IE" smtClean="0"/>
              <a:t>13/10/2025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5856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84BE-4E26-4007-812E-2D6CA097F9DA}" type="datetime1">
              <a:rPr lang="en-IE" smtClean="0"/>
              <a:t>13/10/2025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3211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8716-83FD-405E-B205-B8D6BFED5DB2}" type="datetime1">
              <a:rPr lang="en-IE" smtClean="0"/>
              <a:t>13/10/2025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99631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9198-077A-4D6D-ACAC-C795F571024B}" type="datetime1">
              <a:rPr lang="en-IE" smtClean="0"/>
              <a:t>13/10/2025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1443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2851D-1AA8-45B1-9AFC-D87F2E483D8D}" type="datetime1">
              <a:rPr lang="en-IE" smtClean="0"/>
              <a:t>13/10/2025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48759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D5556-BE2B-47E4-B3CA-D49E72FFC0AF}" type="datetime1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472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75249"/>
            <a:ext cx="2628900" cy="55017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75249"/>
            <a:ext cx="7734300" cy="55017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C136C-27CC-45C6-B881-1B495DD61E15}" type="datetime1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54958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58962"/>
            <a:ext cx="10515600" cy="93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5E22767-B8DF-49BB-9410-37680A0DA989}" type="datetime1">
              <a:rPr lang="en-IE" smtClean="0"/>
              <a:t>13/10/2025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Department of Computing © Saim Ghafoor 2024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DADDF82-8990-4558-84CF-42B3CAB7C69C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948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56520"/>
            <a:ext cx="9144000" cy="1376363"/>
          </a:xfrm>
        </p:spPr>
        <p:txBody>
          <a:bodyPr/>
          <a:lstStyle/>
          <a:p>
            <a:r>
              <a:rPr lang="en-IE" dirty="0"/>
              <a:t>SDN and WN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en-IE" dirty="0"/>
              <a:t>Week 4 Lecture 4-2</a:t>
            </a:r>
          </a:p>
          <a:p>
            <a:r>
              <a:rPr lang="en-IE" dirty="0"/>
              <a:t>Network virtualization, Network Slicing, Data centre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524000" y="303288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 err="1"/>
              <a:t>Saim</a:t>
            </a:r>
            <a:r>
              <a:rPr lang="en-IE" dirty="0"/>
              <a:t> </a:t>
            </a:r>
            <a:r>
              <a:rPr lang="en-IE" dirty="0" err="1"/>
              <a:t>Ghafoor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79140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8C8A9-B166-5DEE-3D81-6B7717065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network virtualization?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E953C-FF3F-3423-7E60-82C84D62E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Abstraction of the physical network</a:t>
            </a:r>
          </a:p>
          <a:p>
            <a:pPr lvl="1"/>
            <a:r>
              <a:rPr lang="en-IE" dirty="0"/>
              <a:t>Support for multiple logical networks running on a common shared physical substrate</a:t>
            </a:r>
          </a:p>
          <a:p>
            <a:pPr lvl="1"/>
            <a:r>
              <a:rPr lang="en-IE" dirty="0"/>
              <a:t>A container of network services</a:t>
            </a:r>
          </a:p>
          <a:p>
            <a:r>
              <a:rPr lang="en-IE" dirty="0"/>
              <a:t>Aspects of the network that can be virtualized </a:t>
            </a:r>
          </a:p>
          <a:p>
            <a:pPr lvl="1"/>
            <a:r>
              <a:rPr lang="en-IE" dirty="0"/>
              <a:t>Nodes: virtual machines</a:t>
            </a:r>
          </a:p>
          <a:p>
            <a:pPr lvl="1"/>
            <a:r>
              <a:rPr lang="en-IE" dirty="0"/>
              <a:t>Links: Tunnels (ethernet GRE)</a:t>
            </a:r>
          </a:p>
          <a:p>
            <a:pPr lvl="1"/>
            <a:r>
              <a:rPr lang="en-IE" dirty="0"/>
              <a:t>Storage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1FF395-1FE1-9B3F-EE08-A5DD03974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263" y="3826413"/>
            <a:ext cx="6728916" cy="303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44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240E-0562-33F2-1710-CB090F5CA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Motivation for network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8E86B-49D8-F057-D536-1DE6DFF4A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One size fits all in network infrastructure</a:t>
            </a:r>
          </a:p>
          <a:p>
            <a:r>
              <a:rPr lang="en-IE" dirty="0"/>
              <a:t>Cost</a:t>
            </a:r>
          </a:p>
          <a:p>
            <a:r>
              <a:rPr lang="en-IE" dirty="0"/>
              <a:t>Easy management and flexibility</a:t>
            </a:r>
          </a:p>
          <a:p>
            <a:r>
              <a:rPr lang="en-IE" dirty="0"/>
              <a:t>Rapid innovation</a:t>
            </a:r>
          </a:p>
          <a:p>
            <a:r>
              <a:rPr lang="en-IE" dirty="0"/>
              <a:t>New forms of network control</a:t>
            </a:r>
          </a:p>
          <a:p>
            <a:r>
              <a:rPr lang="en-IE" dirty="0"/>
              <a:t>Simplified programming and operations</a:t>
            </a:r>
          </a:p>
          <a:p>
            <a:endParaRPr lang="en-IE" dirty="0"/>
          </a:p>
          <a:p>
            <a:r>
              <a:rPr lang="en-IE" dirty="0"/>
              <a:t>SDN does not inherently abstract the details of the physical network</a:t>
            </a:r>
          </a:p>
          <a:p>
            <a:pPr lvl="1"/>
            <a:r>
              <a:rPr lang="en-IE" dirty="0"/>
              <a:t>SDN separates the control and data plane. NV helps SDN to achieve this.</a:t>
            </a:r>
          </a:p>
        </p:txBody>
      </p:sp>
    </p:spTree>
    <p:extLst>
      <p:ext uri="{BB962C8B-B14F-4D97-AF65-F5344CB8AC3E}">
        <p14:creationId xmlns:p14="http://schemas.microsoft.com/office/powerpoint/2010/main" val="729772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A1122-2CA7-B911-55EC-DA9360C2C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 Virtual Network Links: EGRE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93D97-2CB0-7AFB-1407-23017FA33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Ethernet GRE (EGRE) Tunnelling: Ethernet frames from virtual hosts are encapsulated in IP packets</a:t>
            </a:r>
          </a:p>
          <a:p>
            <a:pPr lvl="1"/>
            <a:r>
              <a:rPr lang="en-IE" dirty="0"/>
              <a:t>One way is to take Ethernet frames generated by applications and encapsulate them in IP packets.</a:t>
            </a:r>
          </a:p>
          <a:p>
            <a:pPr lvl="1"/>
            <a:r>
              <a:rPr lang="en-IE" dirty="0"/>
              <a:t>Two nodes have the appearance of being connected by a p2P ethernet link. In an actual connected </a:t>
            </a:r>
            <a:r>
              <a:rPr lang="en-IE" dirty="0" err="1"/>
              <a:t>multihop</a:t>
            </a:r>
            <a:r>
              <a:rPr lang="en-IE" dirty="0"/>
              <a:t> </a:t>
            </a:r>
          </a:p>
          <a:p>
            <a:r>
              <a:rPr lang="en-IE" dirty="0"/>
              <a:t>Other approaches: VXLAN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1FA382-16A8-D48E-5FBA-16488B37A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274" y="4001294"/>
            <a:ext cx="6161376" cy="237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202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8407C-D17A-0A32-F29F-E0A27AE46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0308"/>
            <a:ext cx="10515600" cy="931725"/>
          </a:xfrm>
        </p:spPr>
        <p:txBody>
          <a:bodyPr/>
          <a:lstStyle/>
          <a:p>
            <a:r>
              <a:rPr lang="en-IE" dirty="0" err="1"/>
              <a:t>FlowVisor</a:t>
            </a:r>
            <a:r>
              <a:rPr lang="en-IE" dirty="0"/>
              <a:t>: Virtualizing Network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16D4E-CFDC-4829-848A-BA95AE759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909" y="1372033"/>
            <a:ext cx="10515600" cy="4351338"/>
          </a:xfrm>
        </p:spPr>
        <p:txBody>
          <a:bodyPr/>
          <a:lstStyle/>
          <a:p>
            <a:r>
              <a:rPr lang="en-IE" dirty="0" err="1"/>
              <a:t>FlowVisor</a:t>
            </a:r>
            <a:r>
              <a:rPr lang="en-IE" dirty="0"/>
              <a:t> virtualizes network control by letting experimental traffic run in parallel on the production network with the real user and real production traffic</a:t>
            </a:r>
          </a:p>
          <a:p>
            <a:r>
              <a:rPr lang="en-IE" dirty="0"/>
              <a:t>User (D) can let different flows be controlled by different group of researchers</a:t>
            </a:r>
          </a:p>
          <a:p>
            <a:r>
              <a:rPr lang="en-IE" dirty="0"/>
              <a:t>Virtualization of control based on ‘flow space’(IP add, port, etc)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9503AA-E890-871D-5028-6C8698DD5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82" y="4006118"/>
            <a:ext cx="4738254" cy="285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85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D54CB-98A1-7057-7D20-86FC5BC4B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Rapid deployment of services: </a:t>
            </a:r>
            <a:r>
              <a:rPr lang="en-IE" dirty="0" err="1"/>
              <a:t>Nicira</a:t>
            </a:r>
            <a:r>
              <a:rPr lang="en-IE" dirty="0"/>
              <a:t> Network Virtualization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C4EA2-E62D-558A-FD2F-5B100412F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Deployment of new services (another application of network virtualization)</a:t>
            </a:r>
          </a:p>
          <a:p>
            <a:r>
              <a:rPr lang="en-IE" dirty="0"/>
              <a:t>Abstraction layer between hosts and underlying network</a:t>
            </a:r>
          </a:p>
          <a:p>
            <a:r>
              <a:rPr lang="en-IE" dirty="0" err="1"/>
              <a:t>OpenvSwitch</a:t>
            </a:r>
            <a:r>
              <a:rPr lang="en-IE" dirty="0"/>
              <a:t> in host hypervisors: abstraction layer</a:t>
            </a:r>
          </a:p>
          <a:p>
            <a:r>
              <a:rPr lang="en-IE" dirty="0"/>
              <a:t>Managed by distributed controller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04AA2A-0FA1-5C82-4674-38A9945FB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505" y="4181475"/>
            <a:ext cx="606742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358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B8AE0-7098-2C71-0845-2645B9258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Nicira</a:t>
            </a:r>
            <a:r>
              <a:rPr lang="en-IE" dirty="0"/>
              <a:t> NVP: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4AF9A-5EF1-0B37-D68B-41E6909A9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Dynamic workload placement</a:t>
            </a:r>
          </a:p>
          <a:p>
            <a:pPr lvl="1"/>
            <a:r>
              <a:rPr lang="en-IE" dirty="0"/>
              <a:t>Multi-tenant data </a:t>
            </a:r>
            <a:r>
              <a:rPr lang="en-IE" dirty="0" err="1"/>
              <a:t>centers</a:t>
            </a:r>
            <a:endParaRPr lang="en-IE" dirty="0"/>
          </a:p>
          <a:p>
            <a:pPr lvl="1"/>
            <a:r>
              <a:rPr lang="en-IE" dirty="0"/>
              <a:t>Creation of isolated virtual networks for each tenant</a:t>
            </a:r>
          </a:p>
          <a:p>
            <a:endParaRPr lang="en-IE" dirty="0"/>
          </a:p>
          <a:p>
            <a:r>
              <a:rPr lang="en-IE" dirty="0"/>
              <a:t>Dynamic security enforcement</a:t>
            </a:r>
          </a:p>
          <a:p>
            <a:pPr lvl="1"/>
            <a:r>
              <a:rPr lang="en-IE" dirty="0"/>
              <a:t>Central management of security policies</a:t>
            </a:r>
          </a:p>
          <a:p>
            <a:pPr lvl="1"/>
            <a:r>
              <a:rPr lang="en-IE" dirty="0"/>
              <a:t>Enforcement per virtual network</a:t>
            </a:r>
          </a:p>
          <a:p>
            <a:pPr lvl="1"/>
            <a:r>
              <a:rPr lang="en-IE" dirty="0"/>
              <a:t>Independence from VLAN limits</a:t>
            </a:r>
          </a:p>
        </p:txBody>
      </p:sp>
    </p:spTree>
    <p:extLst>
      <p:ext uri="{BB962C8B-B14F-4D97-AF65-F5344CB8AC3E}">
        <p14:creationId xmlns:p14="http://schemas.microsoft.com/office/powerpoint/2010/main" val="4002584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4F14-2B11-ED2B-7108-C5B880471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Dynamic Scaling of Resources: Amazon 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839A7-B675-4CB7-3046-1588ED044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53259"/>
          </a:xfrm>
        </p:spPr>
        <p:txBody>
          <a:bodyPr/>
          <a:lstStyle/>
          <a:p>
            <a:r>
              <a:rPr lang="en-IE" dirty="0"/>
              <a:t>Connect logically isolated VM instances to existing network</a:t>
            </a:r>
          </a:p>
          <a:p>
            <a:r>
              <a:rPr lang="en-IE" dirty="0"/>
              <a:t>Connection to existing infrastructure via VPN</a:t>
            </a:r>
          </a:p>
          <a:p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2D63C1-FD39-E452-41A8-CB0AE53F3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982189"/>
            <a:ext cx="5079855" cy="319477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09959D-B293-B441-73C0-B91CC83F2BFD}"/>
              </a:ext>
            </a:extLst>
          </p:cNvPr>
          <p:cNvSpPr txBox="1">
            <a:spLocks/>
          </p:cNvSpPr>
          <p:nvPr/>
        </p:nvSpPr>
        <p:spPr>
          <a:xfrm>
            <a:off x="558945" y="3209130"/>
            <a:ext cx="5727772" cy="28375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/>
              <a:t>Allows customers to define their own network, address space, etc</a:t>
            </a:r>
          </a:p>
          <a:p>
            <a:r>
              <a:rPr lang="en-IE" dirty="0"/>
              <a:t>Extend existing enterprise data </a:t>
            </a:r>
            <a:r>
              <a:rPr lang="en-IE" dirty="0" err="1"/>
              <a:t>center</a:t>
            </a:r>
            <a:endParaRPr lang="en-IE" dirty="0"/>
          </a:p>
          <a:p>
            <a:pPr lvl="1"/>
            <a:r>
              <a:rPr lang="en-IE" dirty="0"/>
              <a:t>VPN between Amazon VPC and data </a:t>
            </a:r>
            <a:r>
              <a:rPr lang="en-IE" dirty="0" err="1"/>
              <a:t>center</a:t>
            </a:r>
            <a:endParaRPr lang="en-IE" dirty="0"/>
          </a:p>
          <a:p>
            <a:r>
              <a:rPr lang="en-IE" dirty="0"/>
              <a:t>Applications/Benefits</a:t>
            </a:r>
          </a:p>
          <a:p>
            <a:pPr lvl="1"/>
            <a:r>
              <a:rPr lang="en-IE" dirty="0"/>
              <a:t>Dynamic Scaling</a:t>
            </a:r>
          </a:p>
          <a:p>
            <a:pPr lvl="1"/>
            <a:r>
              <a:rPr lang="en-IE" dirty="0"/>
              <a:t>Disaster recovery</a:t>
            </a:r>
          </a:p>
          <a:p>
            <a:pPr lvl="1"/>
            <a:r>
              <a:rPr lang="en-IE" dirty="0"/>
              <a:t>Manageability</a:t>
            </a:r>
          </a:p>
        </p:txBody>
      </p:sp>
    </p:spTree>
    <p:extLst>
      <p:ext uri="{BB962C8B-B14F-4D97-AF65-F5344CB8AC3E}">
        <p14:creationId xmlns:p14="http://schemas.microsoft.com/office/powerpoint/2010/main" val="891249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1D805-24CD-E2D5-13C1-C78E943D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Many other examples of </a:t>
            </a:r>
            <a:r>
              <a:rPr lang="en-IE" dirty="0" err="1"/>
              <a:t>Nw</a:t>
            </a:r>
            <a:r>
              <a:rPr lang="en-IE" dirty="0"/>
              <a:t>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2C1C-9F3D-C53D-AD7D-2D9A21C85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Wide-Area Virtual Networks</a:t>
            </a:r>
          </a:p>
          <a:p>
            <a:r>
              <a:rPr lang="en-IE" dirty="0"/>
              <a:t>Virtual ‘Network in a Box’</a:t>
            </a:r>
          </a:p>
          <a:p>
            <a:pPr lvl="1"/>
            <a:r>
              <a:rPr lang="en-IE" dirty="0"/>
              <a:t>Open </a:t>
            </a:r>
            <a:r>
              <a:rPr lang="en-IE" dirty="0" err="1"/>
              <a:t>vSwitch</a:t>
            </a:r>
            <a:r>
              <a:rPr lang="en-IE" dirty="0"/>
              <a:t>, Citrix, </a:t>
            </a:r>
            <a:r>
              <a:rPr lang="en-IE" dirty="0" err="1"/>
              <a:t>Vyatta</a:t>
            </a:r>
            <a:r>
              <a:rPr lang="en-IE" dirty="0"/>
              <a:t>, </a:t>
            </a:r>
            <a:r>
              <a:rPr lang="en-IE" dirty="0" err="1"/>
              <a:t>OpenSolaris</a:t>
            </a:r>
            <a:r>
              <a:rPr lang="en-IE" dirty="0"/>
              <a:t>, Microsoft Virtual Server</a:t>
            </a:r>
          </a:p>
          <a:p>
            <a:r>
              <a:rPr lang="en-IE" dirty="0"/>
              <a:t>Network functions virtualisation</a:t>
            </a:r>
          </a:p>
          <a:p>
            <a:pPr lvl="1"/>
            <a:r>
              <a:rPr lang="en-IE" dirty="0"/>
              <a:t>Unification of middlebox functions (firewalls, etc)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07694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56520"/>
            <a:ext cx="9144000" cy="1376363"/>
          </a:xfrm>
        </p:spPr>
        <p:txBody>
          <a:bodyPr/>
          <a:lstStyle/>
          <a:p>
            <a:r>
              <a:rPr lang="en-IE" dirty="0"/>
              <a:t>Network slicing</a:t>
            </a:r>
          </a:p>
        </p:txBody>
      </p:sp>
    </p:spTree>
    <p:extLst>
      <p:ext uri="{BB962C8B-B14F-4D97-AF65-F5344CB8AC3E}">
        <p14:creationId xmlns:p14="http://schemas.microsoft.com/office/powerpoint/2010/main" val="442584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28BC-7B04-2CD7-48BC-51FDC1702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Network 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1B09D-9148-7AEF-3D41-C3FA17BB9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Divides the production network into logical slices</a:t>
            </a:r>
          </a:p>
          <a:p>
            <a:pPr lvl="1"/>
            <a:r>
              <a:rPr lang="en-IE" dirty="0"/>
              <a:t>Each slice controls its own packet forwarding</a:t>
            </a:r>
          </a:p>
          <a:p>
            <a:pPr lvl="1"/>
            <a:r>
              <a:rPr lang="en-IE" dirty="0"/>
              <a:t>Users pick which slice controls their traffic</a:t>
            </a:r>
          </a:p>
          <a:p>
            <a:pPr lvl="1"/>
            <a:r>
              <a:rPr lang="en-IE" dirty="0"/>
              <a:t>Existing production services run in own slice</a:t>
            </a:r>
          </a:p>
          <a:p>
            <a:r>
              <a:rPr lang="en-IE" dirty="0"/>
              <a:t>Enforce strong isolation between slices</a:t>
            </a:r>
          </a:p>
          <a:p>
            <a:pPr lvl="1"/>
            <a:r>
              <a:rPr lang="en-IE" dirty="0"/>
              <a:t>Actions in one slice do not affect another</a:t>
            </a:r>
          </a:p>
          <a:p>
            <a:r>
              <a:rPr lang="en-IE" dirty="0"/>
              <a:t>Each slice can mirror a production network</a:t>
            </a:r>
          </a:p>
          <a:p>
            <a:pPr lvl="1"/>
            <a:r>
              <a:rPr lang="en-IE" dirty="0"/>
              <a:t>Production</a:t>
            </a:r>
          </a:p>
          <a:p>
            <a:pPr lvl="1"/>
            <a:r>
              <a:rPr lang="en-IE" dirty="0"/>
              <a:t>Testing</a:t>
            </a:r>
          </a:p>
          <a:p>
            <a:pPr lvl="1"/>
            <a:r>
              <a:rPr lang="en-IE" dirty="0"/>
              <a:t>Research </a:t>
            </a:r>
          </a:p>
        </p:txBody>
      </p:sp>
    </p:spTree>
    <p:extLst>
      <p:ext uri="{BB962C8B-B14F-4D97-AF65-F5344CB8AC3E}">
        <p14:creationId xmlns:p14="http://schemas.microsoft.com/office/powerpoint/2010/main" val="2613572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FFE075-89D0-6282-ADBA-23BD42A31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811952"/>
              </p:ext>
            </p:extLst>
          </p:nvPr>
        </p:nvGraphicFramePr>
        <p:xfrm>
          <a:off x="967393" y="1934564"/>
          <a:ext cx="10515600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848009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632080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77164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Visualization Idea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999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b="1"/>
                        <a:t>Infrastructure Layer</a:t>
                      </a:r>
                      <a:endParaRPr lang="en-I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Physical network (radio, servers, routers)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map of shared hardware nodes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127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b="1"/>
                        <a:t>Network Slice Layer</a:t>
                      </a:r>
                      <a:endParaRPr lang="en-I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Virtualized logical slices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Colored overlays (e.g., red for eMBB, blue for URLLC)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462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b="1" dirty="0"/>
                        <a:t>Service Layer</a:t>
                      </a:r>
                      <a:endParaRPr lang="en-I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Applications/services running on slices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Icons like video streaming, sensors, autonomous car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6519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705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1097A-055A-CB41-2263-DBBF04222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Add a Slicing Layer between planes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CB9F6-24AC-BDBE-0245-D9D26C9AB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Basic idea: Add a layer between control and data plane. So, each control slice believes that it owns the data path</a:t>
            </a:r>
          </a:p>
          <a:p>
            <a:r>
              <a:rPr lang="en-IE" dirty="0"/>
              <a:t>The slicing layer then has the responsibility of enforcing isolation between these slices</a:t>
            </a:r>
          </a:p>
          <a:p>
            <a:r>
              <a:rPr lang="en-IE" dirty="0"/>
              <a:t>Policies defined at the slicing layer control which slices should access or control over different parts of the data plane.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61E3C6-4204-FE03-61E4-B2AB40852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745" y="4482515"/>
            <a:ext cx="4904509" cy="233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63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A2AF7-83D6-DC24-5235-3CD2EC9AE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Slice the Network?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BA82A-FAAC-B3AF-EC1A-17DB371CD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Multiple administrative groups</a:t>
            </a:r>
          </a:p>
          <a:p>
            <a:pPr lvl="1"/>
            <a:r>
              <a:rPr lang="en-IE" dirty="0"/>
              <a:t>Different departments on a campus</a:t>
            </a:r>
          </a:p>
          <a:p>
            <a:r>
              <a:rPr lang="en-IE" dirty="0"/>
              <a:t>Multiple customers</a:t>
            </a:r>
          </a:p>
          <a:p>
            <a:pPr lvl="1"/>
            <a:r>
              <a:rPr lang="en-IE" dirty="0"/>
              <a:t>Tenants in a shared data </a:t>
            </a:r>
            <a:r>
              <a:rPr lang="en-IE" dirty="0" err="1"/>
              <a:t>center</a:t>
            </a:r>
            <a:endParaRPr lang="en-IE" dirty="0"/>
          </a:p>
          <a:p>
            <a:pPr lvl="1"/>
            <a:r>
              <a:rPr lang="en-IE" dirty="0"/>
              <a:t>Researchers on a shared infrastructure</a:t>
            </a:r>
          </a:p>
          <a:p>
            <a:r>
              <a:rPr lang="en-IE" dirty="0"/>
              <a:t>Experiments vs operational network</a:t>
            </a:r>
          </a:p>
          <a:p>
            <a:pPr lvl="1"/>
            <a:r>
              <a:rPr lang="en-IE" dirty="0"/>
              <a:t>Support research without breaking real services</a:t>
            </a:r>
          </a:p>
          <a:p>
            <a:r>
              <a:rPr lang="en-IE" dirty="0"/>
              <a:t>Expanding networks foot print</a:t>
            </a:r>
          </a:p>
          <a:p>
            <a:pPr lvl="1"/>
            <a:r>
              <a:rPr lang="en-IE" dirty="0"/>
              <a:t>Lease components in another carriers networks</a:t>
            </a:r>
          </a:p>
          <a:p>
            <a:r>
              <a:rPr lang="en-IE" dirty="0"/>
              <a:t>Multiple services or applications in one domain</a:t>
            </a:r>
          </a:p>
        </p:txBody>
      </p:sp>
    </p:spTree>
    <p:extLst>
      <p:ext uri="{BB962C8B-B14F-4D97-AF65-F5344CB8AC3E}">
        <p14:creationId xmlns:p14="http://schemas.microsoft.com/office/powerpoint/2010/main" val="857162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6F475-6C7B-E671-4BA1-FBBD5510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Slicing: Forwarding and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2B4F2-EBD2-7672-AB96-9D126D185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Data plane remains unmodified (no performance penalty)</a:t>
            </a:r>
          </a:p>
          <a:p>
            <a:r>
              <a:rPr lang="en-IE" dirty="0"/>
              <a:t>Policy: Specifies resource limits for each slice</a:t>
            </a:r>
          </a:p>
          <a:p>
            <a:pPr lvl="1"/>
            <a:r>
              <a:rPr lang="en-IE" dirty="0"/>
              <a:t>Link bandwidth</a:t>
            </a:r>
          </a:p>
          <a:p>
            <a:pPr lvl="1"/>
            <a:r>
              <a:rPr lang="en-IE" dirty="0"/>
              <a:t>Maximum number of forwarding rules</a:t>
            </a:r>
          </a:p>
          <a:p>
            <a:pPr lvl="1"/>
            <a:r>
              <a:rPr lang="en-IE" dirty="0"/>
              <a:t>Topology</a:t>
            </a:r>
          </a:p>
          <a:p>
            <a:pPr lvl="1"/>
            <a:r>
              <a:rPr lang="en-IE" dirty="0"/>
              <a:t>Fraction of switch/router CPU</a:t>
            </a:r>
          </a:p>
        </p:txBody>
      </p:sp>
    </p:spTree>
    <p:extLst>
      <p:ext uri="{BB962C8B-B14F-4D97-AF65-F5344CB8AC3E}">
        <p14:creationId xmlns:p14="http://schemas.microsoft.com/office/powerpoint/2010/main" val="4045901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B1D94-13DE-8CDB-7DB7-95DA967F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Flow Space: Which packets does the slice control?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D19E1-F877-6417-0C2E-814015885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One way to slicing a control is by using a concept </a:t>
            </a:r>
            <a:r>
              <a:rPr lang="en-IE" dirty="0" err="1"/>
              <a:t>FlowSpace</a:t>
            </a:r>
            <a:endParaRPr lang="en-IE" dirty="0"/>
          </a:p>
          <a:p>
            <a:r>
              <a:rPr lang="en-IE" dirty="0"/>
              <a:t>Slices can also be defined based on group of packets who shares one or more of the fields in common.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894822-AE58-A464-784F-8D14E7A95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619" y="2897218"/>
            <a:ext cx="6165272" cy="350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012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4A251-8707-3F45-D16C-E1BB9C0A2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Example: </a:t>
            </a:r>
            <a:r>
              <a:rPr lang="en-IE" dirty="0" err="1"/>
              <a:t>FlowVisor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909C2-0ACC-9124-6B92-E3A96C531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err="1"/>
              <a:t>FlowVisor</a:t>
            </a:r>
            <a:r>
              <a:rPr lang="en-IE" dirty="0"/>
              <a:t>: An </a:t>
            </a:r>
            <a:r>
              <a:rPr lang="en-IE" dirty="0" err="1"/>
              <a:t>OpenFLow</a:t>
            </a:r>
            <a:r>
              <a:rPr lang="en-IE" dirty="0"/>
              <a:t> controller that acts as a transparent proxy between OpenFlow switches and multiple </a:t>
            </a:r>
            <a:r>
              <a:rPr lang="en-IE" dirty="0" err="1"/>
              <a:t>OpenFLow</a:t>
            </a:r>
            <a:r>
              <a:rPr lang="en-IE" dirty="0"/>
              <a:t> controllers.</a:t>
            </a:r>
          </a:p>
          <a:p>
            <a:r>
              <a:rPr lang="en-IE" dirty="0"/>
              <a:t>Slices: </a:t>
            </a:r>
          </a:p>
          <a:p>
            <a:pPr lvl="1"/>
            <a:r>
              <a:rPr lang="en-IE" dirty="0"/>
              <a:t>any combination of switch ports (L1), </a:t>
            </a:r>
          </a:p>
          <a:p>
            <a:pPr lvl="1"/>
            <a:r>
              <a:rPr lang="en-IE" dirty="0" err="1"/>
              <a:t>src</a:t>
            </a:r>
            <a:r>
              <a:rPr lang="en-IE" dirty="0"/>
              <a:t>/</a:t>
            </a:r>
            <a:r>
              <a:rPr lang="en-IE" dirty="0" err="1"/>
              <a:t>dst</a:t>
            </a:r>
            <a:r>
              <a:rPr lang="en-IE" dirty="0"/>
              <a:t> ethernet address or type (L2), </a:t>
            </a:r>
          </a:p>
          <a:p>
            <a:pPr lvl="1"/>
            <a:r>
              <a:rPr lang="en-IE" dirty="0" err="1"/>
              <a:t>src</a:t>
            </a:r>
            <a:r>
              <a:rPr lang="en-IE" dirty="0"/>
              <a:t>/</a:t>
            </a:r>
            <a:r>
              <a:rPr lang="en-IE" dirty="0" err="1"/>
              <a:t>dst</a:t>
            </a:r>
            <a:r>
              <a:rPr lang="en-IE" dirty="0"/>
              <a:t> IP address or type (L3), and </a:t>
            </a:r>
          </a:p>
          <a:p>
            <a:pPr lvl="1"/>
            <a:r>
              <a:rPr lang="en-IE" dirty="0" err="1"/>
              <a:t>src</a:t>
            </a:r>
            <a:r>
              <a:rPr lang="en-IE" dirty="0"/>
              <a:t>/</a:t>
            </a:r>
            <a:r>
              <a:rPr lang="en-IE" dirty="0" err="1"/>
              <a:t>dst</a:t>
            </a:r>
            <a:r>
              <a:rPr lang="en-IE" dirty="0"/>
              <a:t> TCP/UDP port or ICMP code/type (L4)</a:t>
            </a:r>
          </a:p>
          <a:p>
            <a:r>
              <a:rPr lang="en-IE" dirty="0"/>
              <a:t>Enforces isolation between each slice</a:t>
            </a:r>
          </a:p>
        </p:txBody>
      </p:sp>
    </p:spTree>
    <p:extLst>
      <p:ext uri="{BB962C8B-B14F-4D97-AF65-F5344CB8AC3E}">
        <p14:creationId xmlns:p14="http://schemas.microsoft.com/office/powerpoint/2010/main" val="2149767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D8399-D04C-9BD9-A06E-E3752536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FlowVisor</a:t>
            </a:r>
            <a:r>
              <a:rPr lang="en-IE" dirty="0"/>
              <a:t> on OpenFlow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CC3AD-B763-8006-2365-875478E0D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err="1"/>
              <a:t>FlowVisor</a:t>
            </a:r>
            <a:r>
              <a:rPr lang="en-IE" dirty="0"/>
              <a:t> sits between multiple OF controllers (operating in control plane) and OF enabled switches (in </a:t>
            </a:r>
            <a:r>
              <a:rPr lang="en-IE" dirty="0" err="1"/>
              <a:t>dataplane</a:t>
            </a:r>
            <a:r>
              <a:rPr lang="en-IE" dirty="0"/>
              <a:t>)</a:t>
            </a:r>
          </a:p>
          <a:p>
            <a:r>
              <a:rPr lang="en-IE" dirty="0"/>
              <a:t>Performs different types of policy check</a:t>
            </a:r>
          </a:p>
          <a:p>
            <a:pPr lvl="1"/>
            <a:r>
              <a:rPr lang="en-IE" dirty="0"/>
              <a:t>Is this rule allowed?</a:t>
            </a:r>
          </a:p>
          <a:p>
            <a:pPr lvl="2"/>
            <a:r>
              <a:rPr lang="en-IE" dirty="0"/>
              <a:t>If that controller is allowed to install that rule in a switch</a:t>
            </a:r>
          </a:p>
          <a:p>
            <a:pPr lvl="1"/>
            <a:r>
              <a:rPr lang="en-IE" dirty="0"/>
              <a:t>Who controls this packet?</a:t>
            </a:r>
          </a:p>
          <a:p>
            <a:pPr lvl="2"/>
            <a:r>
              <a:rPr lang="en-IE" dirty="0"/>
              <a:t>Which controller controls a particular packet?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C59AAF-0776-2BF8-DCD7-FF2790789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413" y="2732809"/>
            <a:ext cx="4319587" cy="291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357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F27E55-6DE9-E37E-8DFA-476C09B3C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186900"/>
              </p:ext>
            </p:extLst>
          </p:nvPr>
        </p:nvGraphicFramePr>
        <p:xfrm>
          <a:off x="939401" y="2995454"/>
          <a:ext cx="10515600" cy="20116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5387909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033974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53407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Slice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Characteristics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52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eMBB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Enhanced Mobile Broadband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High throughput, video streaming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8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URLLC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Ultra-Reliable Low-Latency 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Mission-critical, low latency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713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mMTC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Massive Machine Type 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dirty="0"/>
                        <a:t>IoT devices, low power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6897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5079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4719-CAF6-3C5B-90ED-A4CDE165A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Examples: Ways to slice the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23EE-13BD-839E-BB2D-73A21A65A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By switch port</a:t>
            </a:r>
          </a:p>
          <a:p>
            <a:pPr lvl="1"/>
            <a:r>
              <a:rPr lang="en-IE" dirty="0"/>
              <a:t>Basically the same functionality as VLANs</a:t>
            </a:r>
          </a:p>
          <a:p>
            <a:r>
              <a:rPr lang="en-IE" dirty="0"/>
              <a:t>By application (TCP port)</a:t>
            </a:r>
          </a:p>
          <a:p>
            <a:pPr lvl="1"/>
            <a:r>
              <a:rPr lang="en-IE" dirty="0"/>
              <a:t>Would require some more complicated access control lists</a:t>
            </a:r>
          </a:p>
          <a:p>
            <a:pPr lvl="1"/>
            <a:r>
              <a:rPr lang="en-IE" dirty="0"/>
              <a:t>Dynamism possible a bit more difficult without SDN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2E5C0-C494-512A-5E84-8AB1FE1D2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619" y="4256702"/>
            <a:ext cx="6707548" cy="22822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49BE78-4703-8842-B7E7-6E6E07AF4B0E}"/>
              </a:ext>
            </a:extLst>
          </p:cNvPr>
          <p:cNvSpPr txBox="1"/>
          <p:nvPr/>
        </p:nvSpPr>
        <p:spPr>
          <a:xfrm>
            <a:off x="501445" y="4645742"/>
            <a:ext cx="3731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Applications:</a:t>
            </a:r>
          </a:p>
          <a:p>
            <a:r>
              <a:rPr lang="en-IE" dirty="0"/>
              <a:t>Testing</a:t>
            </a:r>
          </a:p>
          <a:p>
            <a:r>
              <a:rPr lang="en-IE" dirty="0"/>
              <a:t>Home networks and IoTs</a:t>
            </a:r>
          </a:p>
        </p:txBody>
      </p:sp>
    </p:spTree>
    <p:extLst>
      <p:ext uri="{BB962C8B-B14F-4D97-AF65-F5344CB8AC3E}">
        <p14:creationId xmlns:p14="http://schemas.microsoft.com/office/powerpoint/2010/main" val="4261163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B8C44-C01B-2D92-23B0-3D5135DD8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Multi-Tenant Data </a:t>
            </a:r>
            <a:r>
              <a:rPr lang="en-IE" dirty="0" err="1"/>
              <a:t>center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2BB91-4961-C03D-17F8-201C1EC94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Single physical data </a:t>
            </a:r>
            <a:r>
              <a:rPr lang="en-IE" dirty="0" err="1"/>
              <a:t>center</a:t>
            </a:r>
            <a:r>
              <a:rPr lang="en-IE" dirty="0"/>
              <a:t> shared by many tenant users</a:t>
            </a:r>
          </a:p>
          <a:p>
            <a:pPr lvl="1"/>
            <a:r>
              <a:rPr lang="en-IE" dirty="0"/>
              <a:t>Customers (Amazon)</a:t>
            </a:r>
          </a:p>
          <a:p>
            <a:pPr lvl="1"/>
            <a:r>
              <a:rPr lang="en-IE" dirty="0"/>
              <a:t>Applications/services (Mail, Search etc)</a:t>
            </a:r>
          </a:p>
          <a:p>
            <a:pPr lvl="1"/>
            <a:r>
              <a:rPr lang="en-IE" dirty="0"/>
              <a:t>Developers</a:t>
            </a:r>
          </a:p>
          <a:p>
            <a:r>
              <a:rPr lang="en-IE" dirty="0"/>
              <a:t>Challenges</a:t>
            </a:r>
          </a:p>
          <a:p>
            <a:pPr lvl="1"/>
            <a:r>
              <a:rPr lang="en-IE" dirty="0"/>
              <a:t>Workloads require different topologies, services</a:t>
            </a:r>
          </a:p>
          <a:p>
            <a:pPr lvl="1"/>
            <a:r>
              <a:rPr lang="en-IE" dirty="0"/>
              <a:t>Address space overlaps with physical network</a:t>
            </a:r>
          </a:p>
        </p:txBody>
      </p:sp>
    </p:spTree>
    <p:extLst>
      <p:ext uri="{BB962C8B-B14F-4D97-AF65-F5344CB8AC3E}">
        <p14:creationId xmlns:p14="http://schemas.microsoft.com/office/powerpoint/2010/main" val="447604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0FC29-5703-FB62-171E-0C08BC7A0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Multi-Tenant Data centre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F92F4-EB9E-0A6B-7B89-40E171933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Each host in the data </a:t>
            </a:r>
            <a:r>
              <a:rPr lang="en-IE" dirty="0" err="1"/>
              <a:t>center</a:t>
            </a:r>
            <a:r>
              <a:rPr lang="en-IE" dirty="0"/>
              <a:t> has multiple VMs</a:t>
            </a:r>
          </a:p>
          <a:p>
            <a:pPr lvl="1"/>
            <a:r>
              <a:rPr lang="en-IE" dirty="0"/>
              <a:t>Each host has a hypervisor with an internal switch</a:t>
            </a:r>
          </a:p>
          <a:p>
            <a:pPr lvl="1"/>
            <a:r>
              <a:rPr lang="en-IE" dirty="0"/>
              <a:t>Switch forwards to local VM or another hypervisor</a:t>
            </a:r>
          </a:p>
          <a:p>
            <a:endParaRPr lang="en-IE" dirty="0"/>
          </a:p>
          <a:p>
            <a:r>
              <a:rPr lang="en-IE" dirty="0"/>
              <a:t>Need: Network hypervisor to build right network abstractions for tenants</a:t>
            </a:r>
          </a:p>
          <a:p>
            <a:pPr lvl="1"/>
            <a:r>
              <a:rPr lang="en-IE" b="1" dirty="0"/>
              <a:t>Control Abstraction</a:t>
            </a:r>
            <a:r>
              <a:rPr lang="en-IE" dirty="0"/>
              <a:t>: Tenants define a set of logical network data-plane elements that they can control</a:t>
            </a:r>
          </a:p>
          <a:p>
            <a:pPr lvl="1"/>
            <a:r>
              <a:rPr lang="en-IE" b="1" dirty="0"/>
              <a:t>Packet abstraction</a:t>
            </a:r>
            <a:r>
              <a:rPr lang="en-IE" dirty="0"/>
              <a:t>: Packets sent by endpoints should see the same service as in a native network</a:t>
            </a:r>
          </a:p>
        </p:txBody>
      </p:sp>
    </p:spTree>
    <p:extLst>
      <p:ext uri="{BB962C8B-B14F-4D97-AF65-F5344CB8AC3E}">
        <p14:creationId xmlns:p14="http://schemas.microsoft.com/office/powerpoint/2010/main" val="2634490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7CEF1-A2F7-DE90-4006-2D3CC847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Implementing abstractions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233DD-70D8-5B08-5013-55C435EDD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27720"/>
          </a:xfrm>
        </p:spPr>
        <p:txBody>
          <a:bodyPr/>
          <a:lstStyle/>
          <a:p>
            <a:r>
              <a:rPr lang="en-IE" dirty="0"/>
              <a:t>Network hypervisor sets up tunnels between host hypervisors </a:t>
            </a:r>
          </a:p>
          <a:p>
            <a:pPr lvl="1"/>
            <a:r>
              <a:rPr lang="en-IE" dirty="0"/>
              <a:t>Multicast implemented as an overlay service</a:t>
            </a:r>
          </a:p>
          <a:p>
            <a:r>
              <a:rPr lang="en-IE" dirty="0"/>
              <a:t>Physical network sees IP packets</a:t>
            </a:r>
          </a:p>
          <a:p>
            <a:r>
              <a:rPr lang="en-IE" dirty="0"/>
              <a:t> Centralised SDN controller configures the hosts’ virtual switches</a:t>
            </a:r>
          </a:p>
          <a:p>
            <a:r>
              <a:rPr lang="en-IE" dirty="0"/>
              <a:t>Logical Datapath implemented entirely on the sending host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30B766-3317-D030-996A-6839B7F97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127" y="-31998"/>
            <a:ext cx="5146530" cy="185762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2E5832-8D7D-1A7C-DB05-A887DCDBCD95}"/>
              </a:ext>
            </a:extLst>
          </p:cNvPr>
          <p:cNvSpPr txBox="1">
            <a:spLocks/>
          </p:cNvSpPr>
          <p:nvPr/>
        </p:nvSpPr>
        <p:spPr>
          <a:xfrm>
            <a:off x="990601" y="4618470"/>
            <a:ext cx="9206345" cy="21030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b="1" dirty="0"/>
              <a:t>Implementing Logical Datapath</a:t>
            </a:r>
          </a:p>
          <a:p>
            <a:r>
              <a:rPr lang="en-IE" dirty="0"/>
              <a:t>Tunnels endpoints are virtual switches running on host hypervisors</a:t>
            </a:r>
          </a:p>
          <a:p>
            <a:pPr lvl="1"/>
            <a:r>
              <a:rPr lang="en-IE" dirty="0"/>
              <a:t>Implemented with open </a:t>
            </a:r>
            <a:r>
              <a:rPr lang="en-IE" dirty="0" err="1"/>
              <a:t>vSwitch</a:t>
            </a:r>
            <a:endParaRPr lang="en-IE" dirty="0"/>
          </a:p>
          <a:p>
            <a:r>
              <a:rPr lang="en-IE" dirty="0"/>
              <a:t>Controller cluster can</a:t>
            </a:r>
          </a:p>
          <a:p>
            <a:pPr lvl="1"/>
            <a:r>
              <a:rPr lang="en-IE" dirty="0"/>
              <a:t>Modify flow table entries</a:t>
            </a:r>
          </a:p>
          <a:p>
            <a:pPr lvl="1"/>
            <a:r>
              <a:rPr lang="en-IE" dirty="0"/>
              <a:t>Set up tunnels</a:t>
            </a:r>
          </a:p>
        </p:txBody>
      </p:sp>
    </p:spTree>
    <p:extLst>
      <p:ext uri="{BB962C8B-B14F-4D97-AF65-F5344CB8AC3E}">
        <p14:creationId xmlns:p14="http://schemas.microsoft.com/office/powerpoint/2010/main" val="891260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1AE6C-C1B6-6B64-DCC5-F78BB162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Controller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1FA12-C752-AB79-6DD9-25C67429E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Hypervisors and physical gateways provide the controller with location and topology information</a:t>
            </a:r>
          </a:p>
          <a:p>
            <a:r>
              <a:rPr lang="en-IE" dirty="0"/>
              <a:t>Service providers configure the controller</a:t>
            </a:r>
          </a:p>
          <a:p>
            <a:r>
              <a:rPr lang="en-IE" dirty="0"/>
              <a:t>Forwarding state pushed to OVS via OpenFlow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B37662-1FED-DABD-593F-9CE3E0586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269" y="4137599"/>
            <a:ext cx="7129462" cy="196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222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470D0-7859-80D0-9589-64669AF1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4CD87-C818-70FB-A9EE-7BB296636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Datapath design: Making software switching at end hosts fast</a:t>
            </a:r>
          </a:p>
          <a:p>
            <a:r>
              <a:rPr lang="en-IE" dirty="0"/>
              <a:t>Scaling the computation: computing the logical </a:t>
            </a:r>
            <a:r>
              <a:rPr lang="en-IE" dirty="0" err="1"/>
              <a:t>datapaths</a:t>
            </a:r>
            <a:r>
              <a:rPr lang="en-IE" dirty="0"/>
              <a:t> and tunnels</a:t>
            </a:r>
          </a:p>
        </p:txBody>
      </p:sp>
    </p:spTree>
    <p:extLst>
      <p:ext uri="{BB962C8B-B14F-4D97-AF65-F5344CB8AC3E}">
        <p14:creationId xmlns:p14="http://schemas.microsoft.com/office/powerpoint/2010/main" val="2268109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F72B7-9C6D-179B-857B-3C1EB070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Making data path fast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67B07-2730-B104-5191-009917628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13473" cy="4351338"/>
          </a:xfrm>
        </p:spPr>
        <p:txBody>
          <a:bodyPr/>
          <a:lstStyle/>
          <a:p>
            <a:r>
              <a:rPr lang="en-IE" dirty="0"/>
              <a:t>Exact match flows in kernel</a:t>
            </a:r>
          </a:p>
          <a:p>
            <a:pPr lvl="1"/>
            <a:r>
              <a:rPr lang="en-IE" dirty="0"/>
              <a:t>User space program matches on full flow table, installs exact match in the kernel</a:t>
            </a:r>
          </a:p>
          <a:p>
            <a:pPr lvl="1"/>
            <a:r>
              <a:rPr lang="en-IE" dirty="0"/>
              <a:t>Future packets for the same flow are matched in kernel</a:t>
            </a:r>
          </a:p>
          <a:p>
            <a:r>
              <a:rPr lang="en-IE" dirty="0"/>
              <a:t>Hardware offloading of encapsulated packets requires some additional tricks.</a:t>
            </a:r>
          </a:p>
          <a:p>
            <a:endParaRPr lang="en-I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459F48-EAFD-AF26-787B-FE562CE43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366" y="4300537"/>
            <a:ext cx="886777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80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5D3C4-6CE5-D71A-2823-16715213D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Scaling controller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4E863-168B-2B7A-7EBE-03C6F3ADB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Two layer distribution controller</a:t>
            </a:r>
          </a:p>
          <a:p>
            <a:pPr lvl="1"/>
            <a:r>
              <a:rPr lang="en-IE" dirty="0"/>
              <a:t>Logical controllers: Compute flows and tunnels for logical </a:t>
            </a:r>
            <a:r>
              <a:rPr lang="en-IE" dirty="0" err="1"/>
              <a:t>datapaths</a:t>
            </a:r>
            <a:endParaRPr lang="en-IE" dirty="0"/>
          </a:p>
          <a:p>
            <a:pPr lvl="1"/>
            <a:r>
              <a:rPr lang="en-IE" dirty="0"/>
              <a:t>Physical controllers: Communicate with hypervisors, gateways, and service nodes</a:t>
            </a:r>
          </a:p>
          <a:p>
            <a:r>
              <a:rPr lang="en-IE" dirty="0"/>
              <a:t>Logical controller avoids dealing with the full mesh of tunnels</a:t>
            </a:r>
          </a:p>
        </p:txBody>
      </p:sp>
    </p:spTree>
    <p:extLst>
      <p:ext uri="{BB962C8B-B14F-4D97-AF65-F5344CB8AC3E}">
        <p14:creationId xmlns:p14="http://schemas.microsoft.com/office/powerpoint/2010/main" val="940161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8C98E-AFB7-C4AA-CEF9-9C705573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Network Functions Virtualization?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B3F4E-1633-3CB3-65E3-BA4F3AECC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Network functions virtualization (NFV) is the replacement of network appliance hardware with virtual machines. The virtual machines use a hypervisor to run networking software and processes such as routing and load balancing.</a:t>
            </a:r>
          </a:p>
          <a:p>
            <a:endParaRPr lang="en-GB" dirty="0"/>
          </a:p>
          <a:p>
            <a:r>
              <a:rPr lang="en-IE" dirty="0"/>
              <a:t>A new approach for deploying middlebox functions on virtual appliances in the network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9338117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FF808-2304-715A-FB7C-C47B31B8D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network functions virtualization?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6B218-4DB4-1CD3-681E-E816B65FF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NFV allows for the separation of communication services from dedicated hardware, such as routers and firewalls. </a:t>
            </a:r>
          </a:p>
          <a:p>
            <a:r>
              <a:rPr lang="en-GB" dirty="0"/>
              <a:t>This separation means network operations can provide new services dynamically and without installing new hardware. </a:t>
            </a:r>
          </a:p>
          <a:p>
            <a:r>
              <a:rPr lang="en-GB" dirty="0"/>
              <a:t>Deploying network components with network functions virtualization takes hours instead of months like with traditional networking. </a:t>
            </a:r>
          </a:p>
          <a:p>
            <a:r>
              <a:rPr lang="en-GB" dirty="0"/>
              <a:t>The virtualized services can run on less expensive, generic servers instead of proprietary hardware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91637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873F5-93F3-63CC-A212-25D718723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does network functions virtualization work?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20C44-49F6-68B0-B9BC-DF4D1D8B5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Essentially, network functions virtualization replaces the functionality provided by individual hardware networking components. </a:t>
            </a:r>
          </a:p>
          <a:p>
            <a:r>
              <a:rPr lang="en-GB" dirty="0"/>
              <a:t>This means that virtual machines run software that accomplishes the same networking functions as the traditional hardware. </a:t>
            </a:r>
          </a:p>
          <a:p>
            <a:r>
              <a:rPr lang="en-GB" dirty="0"/>
              <a:t>Load balancing, routing and firewall security are all performed by software instead of hardware components. </a:t>
            </a:r>
          </a:p>
          <a:p>
            <a:r>
              <a:rPr lang="en-GB" dirty="0"/>
              <a:t>A hypervisor or software-defined networking controller allows network engineers to program all of the different segments of the virtual network, and even automate the provisioning of the network.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4032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9E614-30A9-21E8-DE25-AA0353B6E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D8AFF-9755-ACCB-3DB0-5EECCFA63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14800" cy="4351338"/>
          </a:xfrm>
        </p:spPr>
        <p:txBody>
          <a:bodyPr/>
          <a:lstStyle/>
          <a:p>
            <a:r>
              <a:rPr lang="en-IE" dirty="0"/>
              <a:t>Benefits</a:t>
            </a:r>
          </a:p>
          <a:p>
            <a:pPr lvl="1"/>
            <a:r>
              <a:rPr lang="en-IE" dirty="0"/>
              <a:t>Reduced Capex</a:t>
            </a:r>
          </a:p>
          <a:p>
            <a:pPr lvl="1"/>
            <a:r>
              <a:rPr lang="en-IE" dirty="0"/>
              <a:t>Reduced time to market</a:t>
            </a:r>
          </a:p>
          <a:p>
            <a:pPr lvl="1"/>
            <a:r>
              <a:rPr lang="en-IE" dirty="0"/>
              <a:t>Elastic scaling</a:t>
            </a:r>
          </a:p>
          <a:p>
            <a:pPr lvl="1"/>
            <a:r>
              <a:rPr lang="en-IE" dirty="0"/>
              <a:t>Targeted services</a:t>
            </a:r>
          </a:p>
          <a:p>
            <a:pPr lvl="1"/>
            <a:r>
              <a:rPr lang="en-IE" dirty="0"/>
              <a:t>Vendor neutrality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2C731E-A6FF-B023-73EB-D9587C6B3D5B}"/>
              </a:ext>
            </a:extLst>
          </p:cNvPr>
          <p:cNvSpPr txBox="1">
            <a:spLocks/>
          </p:cNvSpPr>
          <p:nvPr/>
        </p:nvSpPr>
        <p:spPr>
          <a:xfrm>
            <a:off x="6407727" y="1915319"/>
            <a:ext cx="46897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/>
              <a:t>Use cases</a:t>
            </a:r>
          </a:p>
          <a:p>
            <a:pPr lvl="1"/>
            <a:r>
              <a:rPr lang="en-IE" dirty="0"/>
              <a:t>Virtualized services for enterprises</a:t>
            </a:r>
          </a:p>
          <a:p>
            <a:pPr lvl="1"/>
            <a:r>
              <a:rPr lang="en-IE" dirty="0"/>
              <a:t>Virtual CDNs</a:t>
            </a:r>
          </a:p>
          <a:p>
            <a:pPr lvl="1"/>
            <a:r>
              <a:rPr lang="en-IE" dirty="0"/>
              <a:t>Virtualised mobile core networks</a:t>
            </a:r>
          </a:p>
          <a:p>
            <a:pPr lvl="1"/>
            <a:r>
              <a:rPr lang="en-IE" dirty="0"/>
              <a:t>Integrate production/testing</a:t>
            </a:r>
          </a:p>
        </p:txBody>
      </p:sp>
    </p:spTree>
    <p:extLst>
      <p:ext uri="{BB962C8B-B14F-4D97-AF65-F5344CB8AC3E}">
        <p14:creationId xmlns:p14="http://schemas.microsoft.com/office/powerpoint/2010/main" val="14362840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B773-02E5-AF01-4573-BB94DF05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Function Elements, not Middleboxes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9E1D7-1F6B-1412-D67A-99DA91216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WAN Optimizer = caching + Deduplication + compression + Encryption + Forward Error Correction + Rate Limiter</a:t>
            </a:r>
          </a:p>
          <a:p>
            <a:endParaRPr lang="en-IE" dirty="0"/>
          </a:p>
          <a:p>
            <a:r>
              <a:rPr lang="en-IE" dirty="0"/>
              <a:t>Application Firewall = IP defragmenter + Application Detection Engine + Logger + Blocker</a:t>
            </a:r>
          </a:p>
          <a:p>
            <a:endParaRPr lang="en-IE" dirty="0"/>
          </a:p>
          <a:p>
            <a:r>
              <a:rPr lang="en-IE" dirty="0"/>
              <a:t>Snort = IP Defragmenter + Pre-processing + Misuse Detection Engine + Logger</a:t>
            </a:r>
          </a:p>
        </p:txBody>
      </p:sp>
    </p:spTree>
    <p:extLst>
      <p:ext uri="{BB962C8B-B14F-4D97-AF65-F5344CB8AC3E}">
        <p14:creationId xmlns:p14="http://schemas.microsoft.com/office/powerpoint/2010/main" val="4033773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1518</Words>
  <Application>Microsoft Office PowerPoint</Application>
  <PresentationFormat>Widescreen</PresentationFormat>
  <Paragraphs>222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Times New Roman</vt:lpstr>
      <vt:lpstr>Office Theme</vt:lpstr>
      <vt:lpstr>SDN and WN security</vt:lpstr>
      <vt:lpstr>What is network virtualization?</vt:lpstr>
      <vt:lpstr>Motivation for network virtualization</vt:lpstr>
      <vt:lpstr>Example Virtual Network Links: EGRE</vt:lpstr>
      <vt:lpstr>FlowVisor: Virtualizing Network Control</vt:lpstr>
      <vt:lpstr>Rapid deployment of services: Nicira Network Virtualization Platform</vt:lpstr>
      <vt:lpstr>Nicira NVP: Applications</vt:lpstr>
      <vt:lpstr>Dynamic Scaling of Resources: Amazon VPN</vt:lpstr>
      <vt:lpstr>Many other examples of Nw Virtualization</vt:lpstr>
      <vt:lpstr>Network slicing</vt:lpstr>
      <vt:lpstr>Network Slicing</vt:lpstr>
      <vt:lpstr>PowerPoint Presentation</vt:lpstr>
      <vt:lpstr>Add a Slicing Layer between planes</vt:lpstr>
      <vt:lpstr>Why Slice the Network?</vt:lpstr>
      <vt:lpstr>Slicing: Forwarding and Policy</vt:lpstr>
      <vt:lpstr>Flow Space: Which packets does the slice control?</vt:lpstr>
      <vt:lpstr>Example: FlowVisor</vt:lpstr>
      <vt:lpstr>FlowVisor on OpenFlow</vt:lpstr>
      <vt:lpstr>PowerPoint Presentation</vt:lpstr>
      <vt:lpstr>Examples: Ways to slice the network</vt:lpstr>
      <vt:lpstr>Multi-Tenant Data center</vt:lpstr>
      <vt:lpstr>Multi-Tenant Data centre Architecture</vt:lpstr>
      <vt:lpstr>Implementing abstractions</vt:lpstr>
      <vt:lpstr>Controller structure</vt:lpstr>
      <vt:lpstr>Challenges</vt:lpstr>
      <vt:lpstr>Making data path fast</vt:lpstr>
      <vt:lpstr>Scaling controller computation</vt:lpstr>
      <vt:lpstr>What is Network Functions Virtualization?</vt:lpstr>
      <vt:lpstr>Why network functions virtualization?</vt:lpstr>
      <vt:lpstr>How does network functions virtualization work?</vt:lpstr>
      <vt:lpstr>PowerPoint Presentation</vt:lpstr>
      <vt:lpstr>Function Elements, not Middleboxes</vt:lpstr>
    </vt:vector>
  </TitlesOfParts>
  <Company>LYIT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lyit</dc:creator>
  <cp:lastModifiedBy>Saim Ghafoor</cp:lastModifiedBy>
  <cp:revision>108</cp:revision>
  <dcterms:created xsi:type="dcterms:W3CDTF">2014-10-06T13:03:33Z</dcterms:created>
  <dcterms:modified xsi:type="dcterms:W3CDTF">2025-10-13T11:44:40Z</dcterms:modified>
</cp:coreProperties>
</file>