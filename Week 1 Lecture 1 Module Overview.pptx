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4"/>
  </p:notesMasterIdLst>
  <p:sldIdLst>
    <p:sldId id="258" r:id="rId2"/>
    <p:sldId id="296" r:id="rId3"/>
    <p:sldId id="302" r:id="rId4"/>
    <p:sldId id="297" r:id="rId5"/>
    <p:sldId id="304" r:id="rId6"/>
    <p:sldId id="303" r:id="rId7"/>
    <p:sldId id="299" r:id="rId8"/>
    <p:sldId id="305" r:id="rId9"/>
    <p:sldId id="300" r:id="rId10"/>
    <p:sldId id="301" r:id="rId11"/>
    <p:sldId id="306" r:id="rId12"/>
    <p:sldId id="3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94F25-4776-4181-B55A-F885CBD77C79}" v="1" dt="2025-09-14T20:53:06.5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m Ghafoor" userId="b484e196-97e0-4a37-9647-714f4ebb2ce2" providerId="ADAL" clId="{4127E754-830A-4565-ACE1-A1A4AA8D651B}"/>
    <pc:docChg chg="modSld">
      <pc:chgData name="Saim Ghafoor" userId="b484e196-97e0-4a37-9647-714f4ebb2ce2" providerId="ADAL" clId="{4127E754-830A-4565-ACE1-A1A4AA8D651B}" dt="2024-09-13T09:22:09.936" v="32" actId="20577"/>
      <pc:docMkLst>
        <pc:docMk/>
      </pc:docMkLst>
      <pc:sldChg chg="modSp mod">
        <pc:chgData name="Saim Ghafoor" userId="b484e196-97e0-4a37-9647-714f4ebb2ce2" providerId="ADAL" clId="{4127E754-830A-4565-ACE1-A1A4AA8D651B}" dt="2024-09-13T09:19:59.704" v="13" actId="20577"/>
        <pc:sldMkLst>
          <pc:docMk/>
          <pc:sldMk cId="33631309" sldId="297"/>
        </pc:sldMkLst>
      </pc:sldChg>
      <pc:sldChg chg="modSp mod">
        <pc:chgData name="Saim Ghafoor" userId="b484e196-97e0-4a37-9647-714f4ebb2ce2" providerId="ADAL" clId="{4127E754-830A-4565-ACE1-A1A4AA8D651B}" dt="2024-09-13T09:22:09.936" v="32" actId="20577"/>
        <pc:sldMkLst>
          <pc:docMk/>
          <pc:sldMk cId="97173342" sldId="301"/>
        </pc:sldMkLst>
      </pc:sldChg>
    </pc:docChg>
  </pc:docChgLst>
  <pc:docChgLst>
    <pc:chgData name="Saim Ghafoor" userId="b484e196-97e0-4a37-9647-714f4ebb2ce2" providerId="ADAL" clId="{32E94F25-4776-4181-B55A-F885CBD77C79}"/>
    <pc:docChg chg="undo custSel delSld modSld">
      <pc:chgData name="Saim Ghafoor" userId="b484e196-97e0-4a37-9647-714f4ebb2ce2" providerId="ADAL" clId="{32E94F25-4776-4181-B55A-F885CBD77C79}" dt="2025-09-14T20:55:30.277" v="36" actId="20577"/>
      <pc:docMkLst>
        <pc:docMk/>
      </pc:docMkLst>
      <pc:sldChg chg="modSp del mod">
        <pc:chgData name="Saim Ghafoor" userId="b484e196-97e0-4a37-9647-714f4ebb2ce2" providerId="ADAL" clId="{32E94F25-4776-4181-B55A-F885CBD77C79}" dt="2025-09-14T20:54:57.987" v="15" actId="47"/>
        <pc:sldMkLst>
          <pc:docMk/>
          <pc:sldMk cId="898517565" sldId="298"/>
        </pc:sldMkLst>
        <pc:spChg chg="mod">
          <ac:chgData name="Saim Ghafoor" userId="b484e196-97e0-4a37-9647-714f4ebb2ce2" providerId="ADAL" clId="{32E94F25-4776-4181-B55A-F885CBD77C79}" dt="2025-09-14T20:54:51.115" v="14" actId="20577"/>
          <ac:spMkLst>
            <pc:docMk/>
            <pc:sldMk cId="898517565" sldId="298"/>
            <ac:spMk id="3" creationId="{3F0193C7-075F-8EAF-D929-320215656D6E}"/>
          </ac:spMkLst>
        </pc:spChg>
      </pc:sldChg>
      <pc:sldChg chg="modSp mod">
        <pc:chgData name="Saim Ghafoor" userId="b484e196-97e0-4a37-9647-714f4ebb2ce2" providerId="ADAL" clId="{32E94F25-4776-4181-B55A-F885CBD77C79}" dt="2025-09-14T20:55:30.277" v="36" actId="20577"/>
        <pc:sldMkLst>
          <pc:docMk/>
          <pc:sldMk cId="1076563149" sldId="299"/>
        </pc:sldMkLst>
        <pc:spChg chg="mod">
          <ac:chgData name="Saim Ghafoor" userId="b484e196-97e0-4a37-9647-714f4ebb2ce2" providerId="ADAL" clId="{32E94F25-4776-4181-B55A-F885CBD77C79}" dt="2025-09-14T20:55:30.277" v="36" actId="20577"/>
          <ac:spMkLst>
            <pc:docMk/>
            <pc:sldMk cId="1076563149" sldId="299"/>
            <ac:spMk id="3" creationId="{BA5A8797-33F7-19E8-86C4-CB7B7FD60490}"/>
          </ac:spMkLst>
        </pc:spChg>
      </pc:sldChg>
    </pc:docChg>
  </pc:docChgLst>
  <pc:docChgLst>
    <pc:chgData name="Saim Ghafoor" userId="b484e196-97e0-4a37-9647-714f4ebb2ce2" providerId="ADAL" clId="{64488F2C-FD25-47C1-BDF5-755D06D2FDCF}"/>
    <pc:docChg chg="modSld">
      <pc:chgData name="Saim Ghafoor" userId="b484e196-97e0-4a37-9647-714f4ebb2ce2" providerId="ADAL" clId="{64488F2C-FD25-47C1-BDF5-755D06D2FDCF}" dt="2024-09-16T11:49:09.830" v="5" actId="20577"/>
      <pc:docMkLst>
        <pc:docMk/>
      </pc:docMkLst>
      <pc:sldChg chg="modSp mod">
        <pc:chgData name="Saim Ghafoor" userId="b484e196-97e0-4a37-9647-714f4ebb2ce2" providerId="ADAL" clId="{64488F2C-FD25-47C1-BDF5-755D06D2FDCF}" dt="2024-09-16T11:49:09.830" v="5" actId="20577"/>
        <pc:sldMkLst>
          <pc:docMk/>
          <pc:sldMk cId="33631309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E251D-97B3-4F06-8608-3B1ADED79B1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9E036-CB38-4818-B98A-A61A334C210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373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3A37B-EEB7-4824-AA49-C6914D880201}" type="datetime1">
              <a:rPr lang="en-IE" smtClean="0"/>
              <a:t>14/09/2025</a:t>
            </a:fld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2766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BBAA-0E92-45B5-8422-C6F08C5649F7}" type="datetime1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386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7A604-B3AE-486B-9381-B9A7A18CFE75}" type="datetime1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6537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DC43-5065-4765-9C6B-22D254CA6108}" type="datetime1">
              <a:rPr lang="en-IE" smtClean="0"/>
              <a:t>14/09/2025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1390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9317"/>
            <a:ext cx="10515600" cy="10013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6E5E1-42B7-48AF-ACEA-03E6EE146000}" type="datetime1">
              <a:rPr lang="en-IE" smtClean="0"/>
              <a:t>14/09/2025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856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B45B5-6E40-46BA-9890-D1D2429E9ABF}" type="datetime1">
              <a:rPr lang="en-IE" smtClean="0"/>
              <a:t>14/09/2025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3211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586C-051C-4D93-90AE-672BA3A82BB2}" type="datetime1">
              <a:rPr lang="en-IE" smtClean="0"/>
              <a:t>14/09/2025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9963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B11BF-9499-4C00-938B-85CFD36973E9}" type="datetime1">
              <a:rPr lang="en-IE" smtClean="0"/>
              <a:t>14/09/2025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144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F4B02-23EE-4838-B8A7-F857661FEAF6}" type="datetime1">
              <a:rPr lang="en-IE" smtClean="0"/>
              <a:t>14/09/2025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875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A40FE-FEFA-4928-8157-C392763FE824}" type="datetime1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72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75249"/>
            <a:ext cx="2628900" cy="5501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75249"/>
            <a:ext cx="7734300" cy="5501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6DAC7-02CC-4710-AC54-0E19E7955E80}" type="datetime1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DDF82-8990-4558-84CF-42B3CAB7C69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495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58962"/>
            <a:ext cx="10515600" cy="93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D79CFE1-58FE-4783-8A7D-D031E15ECE96}" type="datetime1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DADDF82-8990-4558-84CF-42B3CAB7C69C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948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56520"/>
            <a:ext cx="9144000" cy="1376363"/>
          </a:xfrm>
        </p:spPr>
        <p:txBody>
          <a:bodyPr>
            <a:normAutofit fontScale="90000"/>
          </a:bodyPr>
          <a:lstStyle/>
          <a:p>
            <a:r>
              <a:rPr lang="en-IE" dirty="0"/>
              <a:t>Secure Infrastructure:</a:t>
            </a:r>
            <a:br>
              <a:rPr lang="en-IE" dirty="0"/>
            </a:br>
            <a:r>
              <a:rPr lang="en-IE" dirty="0"/>
              <a:t>SDN and Wireless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IE" dirty="0"/>
              <a:t>Lecture 0 </a:t>
            </a:r>
          </a:p>
          <a:p>
            <a:r>
              <a:rPr lang="en-IE"/>
              <a:t>Module Overview</a:t>
            </a:r>
            <a:endParaRPr lang="en-IE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524000" y="303288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 err="1"/>
              <a:t>Saim</a:t>
            </a:r>
            <a:r>
              <a:rPr lang="en-IE" dirty="0"/>
              <a:t> </a:t>
            </a:r>
            <a:r>
              <a:rPr lang="en-IE" dirty="0" err="1"/>
              <a:t>Ghafoor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7BF35-FB07-4DD9-8D67-22F2B33C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7914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Secure Infrastructure</a:t>
            </a:r>
          </a:p>
          <a:p>
            <a:pPr lvl="1"/>
            <a:r>
              <a:rPr lang="en-IE" dirty="0"/>
              <a:t>Secure conventional networks</a:t>
            </a:r>
          </a:p>
          <a:p>
            <a:pPr lvl="1"/>
            <a:r>
              <a:rPr lang="en-IE" dirty="0"/>
              <a:t>Secure Software defined networks</a:t>
            </a:r>
          </a:p>
          <a:p>
            <a:pPr lvl="1"/>
            <a:r>
              <a:rPr lang="en-IE" dirty="0"/>
              <a:t>Secure wireless communication 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6340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BD04-30B6-2A13-99D5-940511EC7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7BFC5-45FA-A6E8-265D-140A50D17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IE" sz="2400" dirty="0">
                <a:effectLst/>
                <a:ea typeface="Calibri" panose="020F0502020204030204" pitchFamily="34" charset="0"/>
              </a:rPr>
              <a:t>Design, analyse and implement wireless LAN communication, protocols, and architecture.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IE" sz="2400" dirty="0">
                <a:effectLst/>
                <a:ea typeface="Calibri" panose="020F0502020204030204" pitchFamily="34" charset="0"/>
              </a:rPr>
              <a:t>Design and understand security vulnerabilities, attacks, and mitigation techniques for wireless security.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IE" sz="2400" dirty="0">
                <a:effectLst/>
                <a:ea typeface="Calibri" panose="020F0502020204030204" pitchFamily="34" charset="0"/>
              </a:rPr>
              <a:t>Understanding the challenges of adopting software-defined network over the traditional network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IE" sz="2400" dirty="0">
                <a:effectLst/>
                <a:ea typeface="Calibri" panose="020F0502020204030204" pitchFamily="34" charset="0"/>
              </a:rPr>
              <a:t>Design and implement software-defined network and centralised controller with security considerations. 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IE" sz="2400" dirty="0">
                <a:effectLst/>
                <a:ea typeface="Calibri" panose="020F0502020204030204" pitchFamily="34" charset="0"/>
              </a:rPr>
              <a:t>Understand and analyse the architecture and design requirements of a software-defined network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1B471-4229-F60A-FC02-846D77AD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559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4230-BB60-5822-4C29-4324D7ADA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Software Defined Networking (SDN)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0D565-7C44-A27D-6C67-1E5E684C8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In this course, you will learn about SDN and how it is changing the way communications networks are managed, maintained, and secured.</a:t>
            </a:r>
          </a:p>
          <a:p>
            <a:r>
              <a:rPr lang="en-IE" dirty="0"/>
              <a:t>This module provides an introduction.</a:t>
            </a:r>
          </a:p>
          <a:p>
            <a:pPr lvl="1"/>
            <a:r>
              <a:rPr lang="en-IE" dirty="0"/>
              <a:t>Why this part on SDN is related to you and important?</a:t>
            </a:r>
          </a:p>
          <a:p>
            <a:pPr lvl="1"/>
            <a:r>
              <a:rPr lang="en-IE" dirty="0"/>
              <a:t>Learn about the motivation or origins of SDN</a:t>
            </a:r>
          </a:p>
          <a:p>
            <a:pPr lvl="1"/>
            <a:r>
              <a:rPr lang="en-IE" dirty="0"/>
              <a:t>Understand the current trends in SDN technologies</a:t>
            </a:r>
          </a:p>
          <a:p>
            <a:pPr lvl="1"/>
            <a:r>
              <a:rPr lang="en-IE" dirty="0"/>
              <a:t>Learn the types of networking problems SDN is useful at</a:t>
            </a:r>
          </a:p>
          <a:p>
            <a:pPr lvl="1"/>
            <a:r>
              <a:rPr lang="en-IE" dirty="0"/>
              <a:t>What are the use cases of SDN?</a:t>
            </a:r>
          </a:p>
          <a:p>
            <a:pPr lvl="1"/>
            <a:r>
              <a:rPr lang="en-IE" dirty="0"/>
              <a:t>How security can be provided using SDNs?</a:t>
            </a:r>
          </a:p>
          <a:p>
            <a:pPr lvl="1"/>
            <a:r>
              <a:rPr lang="en-IE" dirty="0"/>
              <a:t>Develop hands-on experience in applying SDN to different domains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4AB75-E170-E495-EFA6-619C95F22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31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EE8A-8A35-A984-434E-FE4725CF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Wireless Network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239A-8060-0312-66AA-5CD8892CC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Wireless LAN architecture and understanding</a:t>
            </a:r>
          </a:p>
          <a:p>
            <a:r>
              <a:rPr lang="en-IE" dirty="0"/>
              <a:t>Wireless LAN protocols</a:t>
            </a:r>
          </a:p>
          <a:p>
            <a:r>
              <a:rPr lang="en-IE" dirty="0"/>
              <a:t>Wireless technologies</a:t>
            </a:r>
          </a:p>
          <a:p>
            <a:r>
              <a:rPr lang="en-IE" dirty="0"/>
              <a:t>Wireless networks security</a:t>
            </a:r>
          </a:p>
          <a:p>
            <a:r>
              <a:rPr lang="en-IE" dirty="0"/>
              <a:t>Wireless network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FE9FE-81EE-B256-68D0-BCA66450F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61448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409D-0D67-8BC3-B495-F10E49ED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Conventional LAN/WAN networks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CCE04-8D9F-9412-20AC-B7E455197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>
                <a:solidFill>
                  <a:srgbClr val="FF0000"/>
                </a:solidFill>
              </a:rPr>
              <a:t>***Depending on time left</a:t>
            </a:r>
          </a:p>
          <a:p>
            <a:r>
              <a:rPr lang="en-IE" dirty="0"/>
              <a:t>You already have sufficient knowledge on LAN and its security.</a:t>
            </a:r>
          </a:p>
          <a:p>
            <a:r>
              <a:rPr lang="en-IE" dirty="0"/>
              <a:t>We will look at Firewalls, WAN protocols, and security audit essentials 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057FA-D0C4-236B-8B96-85C5390B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96946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34B1-2A84-9E5B-39DE-8AB90A09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A8797-33F7-19E8-86C4-CB7B7FD60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Pre-requisites</a:t>
            </a:r>
          </a:p>
          <a:p>
            <a:r>
              <a:rPr lang="en-IE" dirty="0"/>
              <a:t>Programming experience </a:t>
            </a:r>
          </a:p>
          <a:p>
            <a:pPr lvl="1"/>
            <a:r>
              <a:rPr lang="en-IE" dirty="0"/>
              <a:t>Python (mandatory)</a:t>
            </a:r>
          </a:p>
          <a:p>
            <a:r>
              <a:rPr lang="en-IE" dirty="0"/>
              <a:t>Computer networking understanding</a:t>
            </a:r>
          </a:p>
          <a:p>
            <a:pPr lvl="1"/>
            <a:r>
              <a:rPr lang="en-IE" dirty="0"/>
              <a:t>Experience with the Linux OS</a:t>
            </a:r>
          </a:p>
          <a:p>
            <a:pPr lvl="1"/>
            <a:r>
              <a:rPr lang="en-IE" dirty="0"/>
              <a:t>Experience with a VM environment</a:t>
            </a:r>
          </a:p>
          <a:p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D408E-04FA-5ADA-5F78-4FCAB70D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7656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DF74-9472-63A9-99DC-E31A5040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Indicative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02A63-3605-61A7-875A-598AAA108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1. Software designed network design and security</a:t>
            </a:r>
          </a:p>
          <a:p>
            <a:pPr marL="457200" lvl="1" indent="0">
              <a:buNone/>
            </a:pPr>
            <a:r>
              <a:rPr lang="en-GB" dirty="0"/>
              <a:t>•	Comparison with traditional networks, challenges, and opportunities</a:t>
            </a:r>
          </a:p>
          <a:p>
            <a:pPr marL="457200" lvl="1" indent="0">
              <a:buNone/>
            </a:pPr>
            <a:r>
              <a:rPr lang="en-GB" dirty="0"/>
              <a:t>•	SDN architecture and planes (Data, management, and control)</a:t>
            </a:r>
          </a:p>
          <a:p>
            <a:pPr marL="457200" lvl="1" indent="0">
              <a:buNone/>
            </a:pPr>
            <a:r>
              <a:rPr lang="en-GB" dirty="0"/>
              <a:t>•	Protocol design and service/traffic management</a:t>
            </a:r>
          </a:p>
          <a:p>
            <a:pPr marL="457200" lvl="1" indent="0">
              <a:buNone/>
            </a:pPr>
            <a:r>
              <a:rPr lang="en-GB" dirty="0"/>
              <a:t>•	Implementation of a software-defined network</a:t>
            </a:r>
          </a:p>
          <a:p>
            <a:pPr marL="457200" lvl="1" indent="0">
              <a:buNone/>
            </a:pPr>
            <a:r>
              <a:rPr lang="en-GB" dirty="0"/>
              <a:t>•	SDN security in wired and wireless networks</a:t>
            </a:r>
          </a:p>
          <a:p>
            <a:pPr marL="0" indent="0">
              <a:buNone/>
            </a:pPr>
            <a:r>
              <a:rPr lang="en-GB" dirty="0"/>
              <a:t>2. Wireless network design and security</a:t>
            </a:r>
          </a:p>
          <a:p>
            <a:pPr marL="457200" lvl="1" indent="0">
              <a:buNone/>
            </a:pPr>
            <a:r>
              <a:rPr lang="en-GB" dirty="0"/>
              <a:t>•	Wireless communication network design, architecture, and infrastructure</a:t>
            </a:r>
          </a:p>
          <a:p>
            <a:pPr marL="457200" lvl="1" indent="0">
              <a:buNone/>
            </a:pPr>
            <a:r>
              <a:rPr lang="en-GB" dirty="0"/>
              <a:t>•	Wireless communication protocols and discovery service</a:t>
            </a:r>
          </a:p>
          <a:p>
            <a:pPr marL="457200" lvl="1" indent="0">
              <a:buNone/>
            </a:pPr>
            <a:r>
              <a:rPr lang="en-GB" dirty="0"/>
              <a:t>•	Security vulnerabilities, attacks, mitigation techniques and privacy</a:t>
            </a:r>
          </a:p>
          <a:p>
            <a:pPr marL="457200" lvl="1" indent="0">
              <a:buNone/>
            </a:pPr>
            <a:r>
              <a:rPr lang="en-GB" dirty="0"/>
              <a:t>•	Implementation and management of WLAN security</a:t>
            </a:r>
          </a:p>
          <a:p>
            <a:pPr marL="457200" lvl="1" indent="0">
              <a:buNone/>
            </a:pPr>
            <a:r>
              <a:rPr lang="en-GB" dirty="0"/>
              <a:t>•	Wireless intrusion prevention systems and techniques</a:t>
            </a:r>
          </a:p>
          <a:p>
            <a:pPr marL="0" indent="0">
              <a:buNone/>
            </a:pPr>
            <a:r>
              <a:rPr lang="en-GB" dirty="0"/>
              <a:t>3. WAN networks security design (</a:t>
            </a:r>
            <a:r>
              <a:rPr lang="en-GB" dirty="0">
                <a:solidFill>
                  <a:srgbClr val="FF0000"/>
                </a:solidFill>
              </a:rPr>
              <a:t>depends on time</a:t>
            </a:r>
            <a:r>
              <a:rPr lang="en-GB" dirty="0"/>
              <a:t>)</a:t>
            </a:r>
          </a:p>
          <a:p>
            <a:pPr marL="457200" lvl="1" indent="0">
              <a:buNone/>
            </a:pPr>
            <a:r>
              <a:rPr lang="en-GB" dirty="0"/>
              <a:t>•	Firewall, DMZs</a:t>
            </a:r>
          </a:p>
          <a:p>
            <a:pPr marL="457200" lvl="1" indent="0">
              <a:buNone/>
            </a:pPr>
            <a:r>
              <a:rPr lang="en-GB" dirty="0"/>
              <a:t>•	BGP protocol</a:t>
            </a:r>
          </a:p>
          <a:p>
            <a:pPr marL="457200" lvl="1" indent="0">
              <a:buNone/>
            </a:pPr>
            <a:r>
              <a:rPr lang="en-GB" dirty="0"/>
              <a:t>•	Security Audit essentials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50C88-92D2-25FB-9846-21FC48995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08305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D653-4D97-44D6-6273-255AA6DD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Lectures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D1484-DFB7-1315-CD95-B117553AD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56273" cy="4351338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History and evolution of SDN</a:t>
            </a:r>
          </a:p>
          <a:p>
            <a:r>
              <a:rPr lang="en-IE" dirty="0"/>
              <a:t>Control and data plane separation</a:t>
            </a:r>
          </a:p>
          <a:p>
            <a:r>
              <a:rPr lang="en-IE" dirty="0"/>
              <a:t>Virtual networking</a:t>
            </a:r>
          </a:p>
          <a:p>
            <a:r>
              <a:rPr lang="en-IE" dirty="0"/>
              <a:t>SDN basics </a:t>
            </a:r>
          </a:p>
          <a:p>
            <a:pPr lvl="1"/>
            <a:r>
              <a:rPr lang="en-IE" dirty="0"/>
              <a:t>Architecture</a:t>
            </a:r>
          </a:p>
          <a:p>
            <a:pPr lvl="1"/>
            <a:r>
              <a:rPr lang="en-IE" dirty="0"/>
              <a:t>Control plane</a:t>
            </a:r>
          </a:p>
          <a:p>
            <a:pPr lvl="1"/>
            <a:r>
              <a:rPr lang="en-IE" dirty="0"/>
              <a:t>Data Plane</a:t>
            </a:r>
          </a:p>
          <a:p>
            <a:r>
              <a:rPr lang="en-IE" dirty="0"/>
              <a:t>Programming SDNs</a:t>
            </a:r>
          </a:p>
          <a:p>
            <a:r>
              <a:rPr lang="en-IE" dirty="0"/>
              <a:t>Use cases</a:t>
            </a:r>
          </a:p>
          <a:p>
            <a:r>
              <a:rPr lang="en-IE" dirty="0"/>
              <a:t>Security in SDNs </a:t>
            </a:r>
          </a:p>
          <a:p>
            <a:r>
              <a:rPr lang="en-IE" dirty="0"/>
              <a:t>Challenges in SDNs.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C5A73-C64E-4260-7505-8EA6841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BE91E-7A40-8D43-EE99-9E8F030EF6E3}"/>
              </a:ext>
            </a:extLst>
          </p:cNvPr>
          <p:cNvSpPr txBox="1"/>
          <p:nvPr/>
        </p:nvSpPr>
        <p:spPr>
          <a:xfrm>
            <a:off x="8473044" y="2800965"/>
            <a:ext cx="2445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You are expected to spend </a:t>
            </a:r>
            <a:r>
              <a:rPr lang="en-IE" dirty="0" err="1"/>
              <a:t>atleast</a:t>
            </a:r>
            <a:r>
              <a:rPr lang="en-IE" dirty="0"/>
              <a:t> 5-7 hours for this module every week</a:t>
            </a:r>
          </a:p>
        </p:txBody>
      </p:sp>
    </p:spTree>
    <p:extLst>
      <p:ext uri="{BB962C8B-B14F-4D97-AF65-F5344CB8AC3E}">
        <p14:creationId xmlns:p14="http://schemas.microsoft.com/office/powerpoint/2010/main" val="357999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1649-33F2-6756-3E39-F92E046C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Labs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2050-B46F-CEA0-590A-7D7F760A7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/>
              <a:t>SDN</a:t>
            </a:r>
          </a:p>
          <a:p>
            <a:pPr lvl="1"/>
            <a:r>
              <a:rPr lang="en-IE" dirty="0"/>
              <a:t>Mininet</a:t>
            </a:r>
          </a:p>
          <a:p>
            <a:pPr lvl="1"/>
            <a:r>
              <a:rPr lang="en-IE" dirty="0"/>
              <a:t>SDN in Datacentres</a:t>
            </a:r>
          </a:p>
          <a:p>
            <a:r>
              <a:rPr lang="en-IE" dirty="0"/>
              <a:t>Wireless</a:t>
            </a:r>
          </a:p>
          <a:p>
            <a:pPr lvl="1"/>
            <a:r>
              <a:rPr lang="en-IE" dirty="0"/>
              <a:t>Packet tracer or GNS3</a:t>
            </a:r>
          </a:p>
          <a:p>
            <a:r>
              <a:rPr lang="en-IE" dirty="0"/>
              <a:t>WAN</a:t>
            </a:r>
          </a:p>
          <a:p>
            <a:pPr lvl="1"/>
            <a:r>
              <a:rPr lang="en-IE" dirty="0"/>
              <a:t>Packet tracer or GNS3</a:t>
            </a:r>
          </a:p>
          <a:p>
            <a:pPr lvl="1"/>
            <a:endParaRPr lang="en-IE" dirty="0"/>
          </a:p>
          <a:p>
            <a:r>
              <a:rPr lang="en-IE" dirty="0"/>
              <a:t>Summary of labs</a:t>
            </a:r>
          </a:p>
          <a:p>
            <a:pPr lvl="1"/>
            <a:r>
              <a:rPr lang="en-IE" dirty="0"/>
              <a:t>Basic design and implementation</a:t>
            </a:r>
          </a:p>
          <a:p>
            <a:pPr lvl="1"/>
            <a:r>
              <a:rPr lang="en-IE" dirty="0"/>
              <a:t>Implementing and usage of protocols</a:t>
            </a:r>
          </a:p>
          <a:p>
            <a:pPr lvl="1"/>
            <a:r>
              <a:rPr lang="en-IE" dirty="0"/>
              <a:t>Security scenarios implementation and understanding</a:t>
            </a:r>
          </a:p>
          <a:p>
            <a:pPr lvl="1"/>
            <a:r>
              <a:rPr lang="en-IE" dirty="0"/>
              <a:t>Implementing a WAN network scenario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C2D85-5E02-B584-6E36-A5F7FF97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717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6D30-B6E3-8DAB-783E-BA0A0B40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Module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268D3-3765-EE49-8823-51AEE6FD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50% Course work</a:t>
            </a:r>
          </a:p>
          <a:p>
            <a:r>
              <a:rPr lang="en-IE" dirty="0"/>
              <a:t>50% Final exam</a:t>
            </a:r>
          </a:p>
          <a:p>
            <a:endParaRPr lang="en-IE" dirty="0"/>
          </a:p>
          <a:p>
            <a:r>
              <a:rPr lang="en-IE" dirty="0"/>
              <a:t>Course work marks distribution</a:t>
            </a:r>
          </a:p>
          <a:p>
            <a:pPr lvl="1"/>
            <a:r>
              <a:rPr lang="en-IE" dirty="0"/>
              <a:t>Quiz test = 20% (two quiz tests each of 10% marks )</a:t>
            </a:r>
          </a:p>
          <a:p>
            <a:pPr lvl="1"/>
            <a:r>
              <a:rPr lang="en-IE" dirty="0"/>
              <a:t>Assignment for SDN = 15%</a:t>
            </a:r>
          </a:p>
          <a:p>
            <a:pPr lvl="1"/>
            <a:r>
              <a:rPr lang="en-IE" dirty="0"/>
              <a:t>Assignment for Wireless and WAN = 15%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CBAF3-B48C-525A-697E-F6A0B01C8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5674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2504-35C8-BCBB-08C5-75848C30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733630"/>
          </a:xfrm>
        </p:spPr>
        <p:txBody>
          <a:bodyPr/>
          <a:lstStyle/>
          <a:p>
            <a:r>
              <a:rPr lang="en-IE" dirty="0"/>
              <a:t>Reading list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AD4F6A-9AB6-3C6C-7B94-CFA530BC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Computing © Saim Ghafoor 2025</a:t>
            </a:r>
            <a:endParaRPr lang="en-IE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F364E2-9CD6-D9BB-2E1E-2A1302A6E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03311"/>
              </p:ext>
            </p:extLst>
          </p:nvPr>
        </p:nvGraphicFramePr>
        <p:xfrm>
          <a:off x="838200" y="1120876"/>
          <a:ext cx="10931014" cy="5676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5127">
                  <a:extLst>
                    <a:ext uri="{9D8B030D-6E8A-4147-A177-3AD203B41FA5}">
                      <a16:colId xmlns:a16="http://schemas.microsoft.com/office/drawing/2014/main" val="3292569396"/>
                    </a:ext>
                  </a:extLst>
                </a:gridCol>
                <a:gridCol w="1037199">
                  <a:extLst>
                    <a:ext uri="{9D8B030D-6E8A-4147-A177-3AD203B41FA5}">
                      <a16:colId xmlns:a16="http://schemas.microsoft.com/office/drawing/2014/main" val="545199884"/>
                    </a:ext>
                  </a:extLst>
                </a:gridCol>
                <a:gridCol w="3601321">
                  <a:extLst>
                    <a:ext uri="{9D8B030D-6E8A-4147-A177-3AD203B41FA5}">
                      <a16:colId xmlns:a16="http://schemas.microsoft.com/office/drawing/2014/main" val="1561791161"/>
                    </a:ext>
                  </a:extLst>
                </a:gridCol>
                <a:gridCol w="2045108">
                  <a:extLst>
                    <a:ext uri="{9D8B030D-6E8A-4147-A177-3AD203B41FA5}">
                      <a16:colId xmlns:a16="http://schemas.microsoft.com/office/drawing/2014/main" val="2313457783"/>
                    </a:ext>
                  </a:extLst>
                </a:gridCol>
                <a:gridCol w="2212259">
                  <a:extLst>
                    <a:ext uri="{9D8B030D-6E8A-4147-A177-3AD203B41FA5}">
                      <a16:colId xmlns:a16="http://schemas.microsoft.com/office/drawing/2014/main" val="3924596950"/>
                    </a:ext>
                  </a:extLst>
                </a:gridCol>
              </a:tblGrid>
              <a:tr h="280221">
                <a:tc gridSpan="5"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tabLst>
                          <a:tab pos="2324100" algn="l"/>
                        </a:tabLst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Recommended Reading	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50386"/>
                  </a:ext>
                </a:extLst>
              </a:tr>
              <a:tr h="252247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ISBN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2756771"/>
                  </a:ext>
                </a:extLst>
              </a:tr>
              <a:tr h="814525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William Stallings</a:t>
                      </a:r>
                      <a:endParaRPr lang="en-IE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Foundations of Modern Networking: SDN, NFV, QoE, IoT, and Cloud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Addison-Wesley Professional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9780134175393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400692"/>
                  </a:ext>
                </a:extLst>
              </a:tr>
              <a:tr h="535801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Goransson, P; Black, C.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Defined Networks: A Comprehensive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Morgan Kaufmann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9780124166752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079426"/>
                  </a:ext>
                </a:extLst>
              </a:tr>
              <a:tr h="535801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O. Jorge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to wireless communications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Cengage Learning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9660572"/>
                  </a:ext>
                </a:extLst>
              </a:tr>
              <a:tr h="814525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Coleman, D. Westcott and B. Harkins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CWSP: Certified Wireless Security Professional Study Guide</a:t>
                      </a:r>
                      <a:endParaRPr lang="en-IE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Sybex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228949"/>
                  </a:ext>
                </a:extLst>
              </a:tr>
              <a:tr h="535801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Carpenter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CWSP Certified Wireless Security Professional Official Study Guide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Certitrek Publishing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2924457"/>
                  </a:ext>
                </a:extLst>
              </a:tr>
              <a:tr h="535801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Wrightson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network Security A Beginner’s Guide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McGraw-Hill Education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018378"/>
                  </a:ext>
                </a:extLst>
              </a:tr>
              <a:tr h="535801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Lammie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2016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CCNA Routing and Switching Study Guide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Sybex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978-1-119-28828-2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1429930"/>
                  </a:ext>
                </a:extLst>
              </a:tr>
              <a:tr h="535801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Santos, Stuppi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CCNA Security 210-260 Official Cert Guide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Cisco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978-1-58720-566-8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5321892"/>
                  </a:ext>
                </a:extLst>
              </a:tr>
              <a:tr h="252247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</a:pPr>
                      <a:r>
                        <a:rPr lang="en-IE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E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9009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40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756</Words>
  <Application>Microsoft Office PowerPoint</Application>
  <PresentationFormat>Widescreen</PresentationFormat>
  <Paragraphs>158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Secure Infrastructure: SDN and Wireless security</vt:lpstr>
      <vt:lpstr>Summary</vt:lpstr>
      <vt:lpstr>Learning outcomes</vt:lpstr>
      <vt:lpstr>Software Defined Networking (SDN)</vt:lpstr>
      <vt:lpstr>Wireless Network security</vt:lpstr>
      <vt:lpstr>Conventional LAN/WAN networks  </vt:lpstr>
      <vt:lpstr>PowerPoint Presentation</vt:lpstr>
      <vt:lpstr>Indicative contents</vt:lpstr>
      <vt:lpstr>Lectures contents</vt:lpstr>
      <vt:lpstr>Labs content</vt:lpstr>
      <vt:lpstr>Module Assessment</vt:lpstr>
      <vt:lpstr>Reading list</vt:lpstr>
    </vt:vector>
  </TitlesOfParts>
  <Company>LYIT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lyit</dc:creator>
  <cp:lastModifiedBy>Saim Ghafoor</cp:lastModifiedBy>
  <cp:revision>75</cp:revision>
  <dcterms:created xsi:type="dcterms:W3CDTF">2014-10-06T13:03:33Z</dcterms:created>
  <dcterms:modified xsi:type="dcterms:W3CDTF">2025-09-14T20:55:38Z</dcterms:modified>
</cp:coreProperties>
</file>