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notesMasterIdLst>
    <p:notesMasterId r:id="rId29"/>
  </p:notesMasterIdLst>
  <p:sldIdLst>
    <p:sldId id="258" r:id="rId2"/>
    <p:sldId id="296" r:id="rId3"/>
    <p:sldId id="300" r:id="rId4"/>
    <p:sldId id="297" r:id="rId5"/>
    <p:sldId id="301" r:id="rId6"/>
    <p:sldId id="302" r:id="rId7"/>
    <p:sldId id="303" r:id="rId8"/>
    <p:sldId id="304" r:id="rId9"/>
    <p:sldId id="327" r:id="rId10"/>
    <p:sldId id="307" r:id="rId11"/>
    <p:sldId id="298" r:id="rId12"/>
    <p:sldId id="305" r:id="rId13"/>
    <p:sldId id="306" r:id="rId14"/>
    <p:sldId id="308" r:id="rId15"/>
    <p:sldId id="309" r:id="rId16"/>
    <p:sldId id="310" r:id="rId17"/>
    <p:sldId id="311" r:id="rId18"/>
    <p:sldId id="315" r:id="rId19"/>
    <p:sldId id="314" r:id="rId20"/>
    <p:sldId id="332" r:id="rId21"/>
    <p:sldId id="329" r:id="rId22"/>
    <p:sldId id="324" r:id="rId23"/>
    <p:sldId id="330" r:id="rId24"/>
    <p:sldId id="323" r:id="rId25"/>
    <p:sldId id="326" r:id="rId26"/>
    <p:sldId id="331" r:id="rId27"/>
    <p:sldId id="31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1" d="100"/>
          <a:sy n="111" d="100"/>
        </p:scale>
        <p:origin x="594"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m Ghafoor" userId="b484e196-97e0-4a37-9647-714f4ebb2ce2" providerId="ADAL" clId="{2C6A3E51-120C-4BBE-ACB7-6D4B9B8733F3}"/>
    <pc:docChg chg="undo custSel addSld delSld modSld">
      <pc:chgData name="Saim Ghafoor" userId="b484e196-97e0-4a37-9647-714f4ebb2ce2" providerId="ADAL" clId="{2C6A3E51-120C-4BBE-ACB7-6D4B9B8733F3}" dt="2025-09-14T21:09:00.887" v="74" actId="6549"/>
      <pc:docMkLst>
        <pc:docMk/>
      </pc:docMkLst>
      <pc:sldChg chg="modSp mod">
        <pc:chgData name="Saim Ghafoor" userId="b484e196-97e0-4a37-9647-714f4ebb2ce2" providerId="ADAL" clId="{2C6A3E51-120C-4BBE-ACB7-6D4B9B8733F3}" dt="2025-09-14T21:09:00.887" v="74" actId="6549"/>
        <pc:sldMkLst>
          <pc:docMk/>
          <pc:sldMk cId="4063799049" sldId="323"/>
        </pc:sldMkLst>
      </pc:sldChg>
      <pc:sldChg chg="addSp modSp new mod">
        <pc:chgData name="Saim Ghafoor" userId="b484e196-97e0-4a37-9647-714f4ebb2ce2" providerId="ADAL" clId="{2C6A3E51-120C-4BBE-ACB7-6D4B9B8733F3}" dt="2025-09-14T21:07:08.590" v="72" actId="13822"/>
        <pc:sldMkLst>
          <pc:docMk/>
          <pc:sldMk cId="999882342" sldId="332"/>
        </pc:sldMkLst>
      </pc:sldChg>
      <pc:sldChg chg="addSp delSp modSp new del mod">
        <pc:chgData name="Saim Ghafoor" userId="b484e196-97e0-4a37-9647-714f4ebb2ce2" providerId="ADAL" clId="{2C6A3E51-120C-4BBE-ACB7-6D4B9B8733F3}" dt="2025-09-14T21:07:21.607" v="73" actId="47"/>
        <pc:sldMkLst>
          <pc:docMk/>
          <pc:sldMk cId="1125947907" sldId="333"/>
        </pc:sldMkLst>
      </pc:sldChg>
    </pc:docChg>
  </pc:docChgLst>
  <pc:docChgLst>
    <pc:chgData name="Oisin Gibson - STUDENT" userId="ed51d723-880b-49b1-825d-dc1bedda07ba" providerId="ADAL" clId="{3A233E14-CE3B-4CC4-9798-BB2E0E062992}"/>
    <pc:docChg chg="modSld">
      <pc:chgData name="Oisin Gibson - STUDENT" userId="ed51d723-880b-49b1-825d-dc1bedda07ba" providerId="ADAL" clId="{3A233E14-CE3B-4CC4-9798-BB2E0E062992}" dt="2025-10-21T08:41:28.142" v="2" actId="688"/>
      <pc:docMkLst>
        <pc:docMk/>
      </pc:docMkLst>
      <pc:sldChg chg="modSp mod">
        <pc:chgData name="Oisin Gibson - STUDENT" userId="ed51d723-880b-49b1-825d-dc1bedda07ba" providerId="ADAL" clId="{3A233E14-CE3B-4CC4-9798-BB2E0E062992}" dt="2025-10-21T08:30:17.448" v="0" actId="14100"/>
        <pc:sldMkLst>
          <pc:docMk/>
          <pc:sldMk cId="2220281673" sldId="324"/>
        </pc:sldMkLst>
        <pc:picChg chg="mod">
          <ac:chgData name="Oisin Gibson - STUDENT" userId="ed51d723-880b-49b1-825d-dc1bedda07ba" providerId="ADAL" clId="{3A233E14-CE3B-4CC4-9798-BB2E0E062992}" dt="2025-10-21T08:30:17.448" v="0" actId="14100"/>
          <ac:picMkLst>
            <pc:docMk/>
            <pc:sldMk cId="2220281673" sldId="324"/>
            <ac:picMk id="26" creationId="{00000000-0000-0000-0000-000000000000}"/>
          </ac:picMkLst>
        </pc:picChg>
      </pc:sldChg>
      <pc:sldChg chg="modSp mod">
        <pc:chgData name="Oisin Gibson - STUDENT" userId="ed51d723-880b-49b1-825d-dc1bedda07ba" providerId="ADAL" clId="{3A233E14-CE3B-4CC4-9798-BB2E0E062992}" dt="2025-10-21T08:41:28.142" v="2" actId="688"/>
        <pc:sldMkLst>
          <pc:docMk/>
          <pc:sldMk cId="2963992305" sldId="331"/>
        </pc:sldMkLst>
        <pc:spChg chg="mod">
          <ac:chgData name="Oisin Gibson - STUDENT" userId="ed51d723-880b-49b1-825d-dc1bedda07ba" providerId="ADAL" clId="{3A233E14-CE3B-4CC4-9798-BB2E0E062992}" dt="2025-10-21T08:41:28.142" v="2" actId="688"/>
          <ac:spMkLst>
            <pc:docMk/>
            <pc:sldMk cId="2963992305" sldId="331"/>
            <ac:spMk id="3" creationId="{43FD68FA-F3FF-297A-1163-CDE6324D64D3}"/>
          </ac:spMkLst>
        </pc:spChg>
      </pc:sldChg>
    </pc:docChg>
  </pc:docChgLst>
  <pc:docChgLst>
    <pc:chgData name="Saim Ghafoor" userId="b484e196-97e0-4a37-9647-714f4ebb2ce2" providerId="ADAL" clId="{B9A2E0E5-2FC5-402D-ABBD-BEAFC6EE04E0}"/>
    <pc:docChg chg="undo custSel addSld modSld">
      <pc:chgData name="Saim Ghafoor" userId="b484e196-97e0-4a37-9647-714f4ebb2ce2" providerId="ADAL" clId="{B9A2E0E5-2FC5-402D-ABBD-BEAFC6EE04E0}" dt="2024-09-16T12:06:31.843" v="129" actId="15"/>
      <pc:docMkLst>
        <pc:docMk/>
      </pc:docMkLst>
      <pc:sldChg chg="modSp new mod">
        <pc:chgData name="Saim Ghafoor" userId="b484e196-97e0-4a37-9647-714f4ebb2ce2" providerId="ADAL" clId="{B9A2E0E5-2FC5-402D-ABBD-BEAFC6EE04E0}" dt="2024-09-16T12:06:31.843" v="129" actId="15"/>
        <pc:sldMkLst>
          <pc:docMk/>
          <pc:sldMk cId="2963992305" sldId="331"/>
        </pc:sldMkLst>
      </pc:sldChg>
    </pc:docChg>
  </pc:docChgLst>
  <pc:docChgLst>
    <pc:chgData name="Saim Ghafoor" userId="b484e196-97e0-4a37-9647-714f4ebb2ce2" providerId="ADAL" clId="{CB1DE498-F9B8-4B8D-977D-C1AD5CA3E080}"/>
    <pc:docChg chg="custSel modSld">
      <pc:chgData name="Saim Ghafoor" userId="b484e196-97e0-4a37-9647-714f4ebb2ce2" providerId="ADAL" clId="{CB1DE498-F9B8-4B8D-977D-C1AD5CA3E080}" dt="2024-09-13T10:01:02.862" v="9" actId="478"/>
      <pc:docMkLst>
        <pc:docMk/>
      </pc:docMkLst>
      <pc:sldChg chg="addSp delSp modSp mod">
        <pc:chgData name="Saim Ghafoor" userId="b484e196-97e0-4a37-9647-714f4ebb2ce2" providerId="ADAL" clId="{CB1DE498-F9B8-4B8D-977D-C1AD5CA3E080}" dt="2024-09-13T09:55:49.969" v="2"/>
        <pc:sldMkLst>
          <pc:docMk/>
          <pc:sldMk cId="3410452510" sldId="297"/>
        </pc:sldMkLst>
      </pc:sldChg>
      <pc:sldChg chg="delSp mod">
        <pc:chgData name="Saim Ghafoor" userId="b484e196-97e0-4a37-9647-714f4ebb2ce2" providerId="ADAL" clId="{CB1DE498-F9B8-4B8D-977D-C1AD5CA3E080}" dt="2024-09-13T10:01:02.862" v="9" actId="478"/>
        <pc:sldMkLst>
          <pc:docMk/>
          <pc:sldMk cId="2220281673" sldId="324"/>
        </pc:sldMkLst>
      </pc:sldChg>
      <pc:sldChg chg="modSp mod">
        <pc:chgData name="Saim Ghafoor" userId="b484e196-97e0-4a37-9647-714f4ebb2ce2" providerId="ADAL" clId="{CB1DE498-F9B8-4B8D-977D-C1AD5CA3E080}" dt="2024-09-13T10:00:43.685" v="8" actId="20577"/>
        <pc:sldMkLst>
          <pc:docMk/>
          <pc:sldMk cId="3161962319" sldId="32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BE251D-97B3-4F06-8608-3B1ADED79B1C}" type="datetimeFigureOut">
              <a:rPr lang="en-IE" smtClean="0"/>
              <a:t>21/10/2025</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49E036-CB38-4818-B98A-A61A334C2102}" type="slidenum">
              <a:rPr lang="en-IE" smtClean="0"/>
              <a:t>‹#›</a:t>
            </a:fld>
            <a:endParaRPr lang="en-IE"/>
          </a:p>
        </p:txBody>
      </p:sp>
    </p:spTree>
    <p:extLst>
      <p:ext uri="{BB962C8B-B14F-4D97-AF65-F5344CB8AC3E}">
        <p14:creationId xmlns:p14="http://schemas.microsoft.com/office/powerpoint/2010/main" val="100373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IE"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p:cNvSpPr>
            <a:spLocks noGrp="1"/>
          </p:cNvSpPr>
          <p:nvPr>
            <p:ph type="dt" sz="half" idx="10"/>
          </p:nvPr>
        </p:nvSpPr>
        <p:spPr/>
        <p:txBody>
          <a:bodyPr/>
          <a:lstStyle/>
          <a:p>
            <a:fld id="{D7C9C549-C9E6-4449-ACB7-FE999DBE1F6E}" type="datetime1">
              <a:rPr lang="en-IE" smtClean="0"/>
              <a:t>21/10/2025</a:t>
            </a:fld>
            <a:endParaRPr lang="en-IE" dirty="0"/>
          </a:p>
        </p:txBody>
      </p:sp>
      <p:sp>
        <p:nvSpPr>
          <p:cNvPr id="5" name="Footer Placeholder 4"/>
          <p:cNvSpPr>
            <a:spLocks noGrp="1"/>
          </p:cNvSpPr>
          <p:nvPr>
            <p:ph type="ftr" sz="quarter" idx="11"/>
          </p:nvPr>
        </p:nvSpPr>
        <p:spPr/>
        <p:txBody>
          <a:bodyPr/>
          <a:lstStyle/>
          <a:p>
            <a:r>
              <a:rPr lang="en-US"/>
              <a:t>Department of Computing © Saim Ghafoor 2025</a:t>
            </a:r>
            <a:endParaRPr lang="en-IE" dirty="0"/>
          </a:p>
        </p:txBody>
      </p:sp>
      <p:sp>
        <p:nvSpPr>
          <p:cNvPr id="6" name="Slide Number Placeholder 5"/>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3832766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C5BC7EE6-6E9E-4241-8B50-9C798CFE119D}" type="datetime1">
              <a:rPr lang="en-IE" smtClean="0"/>
              <a:t>21/10/2025</a:t>
            </a:fld>
            <a:endParaRPr lang="en-IE"/>
          </a:p>
        </p:txBody>
      </p:sp>
      <p:sp>
        <p:nvSpPr>
          <p:cNvPr id="5" name="Footer Placeholder 4"/>
          <p:cNvSpPr>
            <a:spLocks noGrp="1"/>
          </p:cNvSpPr>
          <p:nvPr>
            <p:ph type="ftr" sz="quarter" idx="11"/>
          </p:nvPr>
        </p:nvSpPr>
        <p:spPr/>
        <p:txBody>
          <a:bodyPr/>
          <a:lstStyle/>
          <a:p>
            <a:r>
              <a:rPr lang="en-US"/>
              <a:t>Department of Computing © Saim Ghafoor 2025</a:t>
            </a:r>
            <a:endParaRPr lang="en-IE" dirty="0"/>
          </a:p>
        </p:txBody>
      </p:sp>
      <p:sp>
        <p:nvSpPr>
          <p:cNvPr id="6" name="Slide Number Placeholder 5"/>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4203863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IE"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91A0B6-226B-4D9B-AEA5-0554689CBE8D}" type="datetime1">
              <a:rPr lang="en-IE" smtClean="0"/>
              <a:t>21/10/2025</a:t>
            </a:fld>
            <a:endParaRPr lang="en-IE"/>
          </a:p>
        </p:txBody>
      </p:sp>
      <p:sp>
        <p:nvSpPr>
          <p:cNvPr id="5" name="Footer Placeholder 4"/>
          <p:cNvSpPr>
            <a:spLocks noGrp="1"/>
          </p:cNvSpPr>
          <p:nvPr>
            <p:ph type="ftr" sz="quarter" idx="11"/>
          </p:nvPr>
        </p:nvSpPr>
        <p:spPr/>
        <p:txBody>
          <a:bodyPr/>
          <a:lstStyle/>
          <a:p>
            <a:r>
              <a:rPr lang="en-US"/>
              <a:t>Department of Computing © Saim Ghafoor 2025</a:t>
            </a:r>
            <a:endParaRPr lang="en-IE" dirty="0"/>
          </a:p>
        </p:txBody>
      </p:sp>
      <p:sp>
        <p:nvSpPr>
          <p:cNvPr id="6" name="Slide Number Placeholder 5"/>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356537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p:cNvSpPr>
            <a:spLocks noGrp="1"/>
          </p:cNvSpPr>
          <p:nvPr>
            <p:ph type="dt" sz="half" idx="10"/>
          </p:nvPr>
        </p:nvSpPr>
        <p:spPr/>
        <p:txBody>
          <a:bodyPr/>
          <a:lstStyle/>
          <a:p>
            <a:fld id="{5280D750-EE4B-4773-8D88-6D59A42E49A0}" type="datetime1">
              <a:rPr lang="en-IE" smtClean="0"/>
              <a:t>21/10/2025</a:t>
            </a:fld>
            <a:endParaRPr lang="en-IE"/>
          </a:p>
        </p:txBody>
      </p:sp>
      <p:sp>
        <p:nvSpPr>
          <p:cNvPr id="6" name="Footer Placeholder 5"/>
          <p:cNvSpPr>
            <a:spLocks noGrp="1"/>
          </p:cNvSpPr>
          <p:nvPr>
            <p:ph type="ftr" sz="quarter" idx="11"/>
          </p:nvPr>
        </p:nvSpPr>
        <p:spPr/>
        <p:txBody>
          <a:bodyPr/>
          <a:lstStyle/>
          <a:p>
            <a:r>
              <a:rPr lang="en-US"/>
              <a:t>Department of Computing © Saim Ghafoor 2025</a:t>
            </a:r>
            <a:endParaRPr lang="en-IE" dirty="0"/>
          </a:p>
        </p:txBody>
      </p:sp>
      <p:sp>
        <p:nvSpPr>
          <p:cNvPr id="7" name="Slide Number Placeholder 6"/>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1813901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689317"/>
            <a:ext cx="10515600" cy="1001371"/>
          </a:xfrm>
        </p:spPr>
        <p:txBody>
          <a:bodyPr/>
          <a:lstStyle/>
          <a:p>
            <a:r>
              <a:rPr lang="en-US"/>
              <a:t>Click to edit Master title style</a:t>
            </a:r>
            <a:endParaRPr lang="en-I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p:cNvSpPr>
            <a:spLocks noGrp="1"/>
          </p:cNvSpPr>
          <p:nvPr>
            <p:ph type="dt" sz="half" idx="10"/>
          </p:nvPr>
        </p:nvSpPr>
        <p:spPr/>
        <p:txBody>
          <a:bodyPr/>
          <a:lstStyle/>
          <a:p>
            <a:fld id="{0406987E-A2D5-458C-8A23-50130E981602}" type="datetime1">
              <a:rPr lang="en-IE" smtClean="0"/>
              <a:t>21/10/2025</a:t>
            </a:fld>
            <a:endParaRPr lang="en-IE"/>
          </a:p>
        </p:txBody>
      </p:sp>
      <p:sp>
        <p:nvSpPr>
          <p:cNvPr id="8" name="Footer Placeholder 7"/>
          <p:cNvSpPr>
            <a:spLocks noGrp="1"/>
          </p:cNvSpPr>
          <p:nvPr>
            <p:ph type="ftr" sz="quarter" idx="11"/>
          </p:nvPr>
        </p:nvSpPr>
        <p:spPr/>
        <p:txBody>
          <a:bodyPr/>
          <a:lstStyle/>
          <a:p>
            <a:r>
              <a:rPr lang="en-US"/>
              <a:t>Department of Computing © Saim Ghafoor 2025</a:t>
            </a:r>
            <a:endParaRPr lang="en-IE" dirty="0"/>
          </a:p>
        </p:txBody>
      </p:sp>
      <p:sp>
        <p:nvSpPr>
          <p:cNvPr id="9" name="Slide Number Placeholder 8"/>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2058568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Date Placeholder 2"/>
          <p:cNvSpPr>
            <a:spLocks noGrp="1"/>
          </p:cNvSpPr>
          <p:nvPr>
            <p:ph type="dt" sz="half" idx="10"/>
          </p:nvPr>
        </p:nvSpPr>
        <p:spPr/>
        <p:txBody>
          <a:bodyPr/>
          <a:lstStyle/>
          <a:p>
            <a:fld id="{24D67637-F752-4868-997C-C57BCF6C457E}" type="datetime1">
              <a:rPr lang="en-IE" smtClean="0"/>
              <a:t>21/10/2025</a:t>
            </a:fld>
            <a:endParaRPr lang="en-IE"/>
          </a:p>
        </p:txBody>
      </p:sp>
      <p:sp>
        <p:nvSpPr>
          <p:cNvPr id="4" name="Footer Placeholder 3"/>
          <p:cNvSpPr>
            <a:spLocks noGrp="1"/>
          </p:cNvSpPr>
          <p:nvPr>
            <p:ph type="ftr" sz="quarter" idx="11"/>
          </p:nvPr>
        </p:nvSpPr>
        <p:spPr/>
        <p:txBody>
          <a:bodyPr/>
          <a:lstStyle/>
          <a:p>
            <a:r>
              <a:rPr lang="en-US"/>
              <a:t>Department of Computing © Saim Ghafoor 2025</a:t>
            </a:r>
            <a:endParaRPr lang="en-IE" dirty="0"/>
          </a:p>
        </p:txBody>
      </p:sp>
      <p:sp>
        <p:nvSpPr>
          <p:cNvPr id="5" name="Slide Number Placeholder 4"/>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3732119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88332E-3CA1-48E4-9BE6-8054781F350E}" type="datetime1">
              <a:rPr lang="en-IE" smtClean="0"/>
              <a:t>21/10/2025</a:t>
            </a:fld>
            <a:endParaRPr lang="en-IE"/>
          </a:p>
        </p:txBody>
      </p:sp>
      <p:sp>
        <p:nvSpPr>
          <p:cNvPr id="3" name="Footer Placeholder 2"/>
          <p:cNvSpPr>
            <a:spLocks noGrp="1"/>
          </p:cNvSpPr>
          <p:nvPr>
            <p:ph type="ftr" sz="quarter" idx="11"/>
          </p:nvPr>
        </p:nvSpPr>
        <p:spPr/>
        <p:txBody>
          <a:bodyPr/>
          <a:lstStyle/>
          <a:p>
            <a:r>
              <a:rPr lang="en-US"/>
              <a:t>Department of Computing © Saim Ghafoor 2025</a:t>
            </a:r>
            <a:endParaRPr lang="en-IE" dirty="0"/>
          </a:p>
        </p:txBody>
      </p:sp>
      <p:sp>
        <p:nvSpPr>
          <p:cNvPr id="4" name="Slide Number Placeholder 3"/>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3399631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987424"/>
            <a:ext cx="3932237" cy="1069975"/>
          </a:xfrm>
        </p:spPr>
        <p:txBody>
          <a:bodyPr anchor="b"/>
          <a:lstStyle>
            <a:lvl1pPr>
              <a:defRPr sz="3200"/>
            </a:lvl1pPr>
          </a:lstStyle>
          <a:p>
            <a:r>
              <a:rPr lang="en-US"/>
              <a:t>Click to edit Master title style</a:t>
            </a:r>
            <a:endParaRPr lang="en-I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4A3F6EF-3F03-433E-876D-5960BD3E4339}" type="datetime1">
              <a:rPr lang="en-IE" smtClean="0"/>
              <a:t>21/10/2025</a:t>
            </a:fld>
            <a:endParaRPr lang="en-IE"/>
          </a:p>
        </p:txBody>
      </p:sp>
      <p:sp>
        <p:nvSpPr>
          <p:cNvPr id="6" name="Footer Placeholder 5"/>
          <p:cNvSpPr>
            <a:spLocks noGrp="1"/>
          </p:cNvSpPr>
          <p:nvPr>
            <p:ph type="ftr" sz="quarter" idx="11"/>
          </p:nvPr>
        </p:nvSpPr>
        <p:spPr/>
        <p:txBody>
          <a:bodyPr/>
          <a:lstStyle/>
          <a:p>
            <a:r>
              <a:rPr lang="en-US"/>
              <a:t>Department of Computing © Saim Ghafoor 2025</a:t>
            </a:r>
            <a:endParaRPr lang="en-IE" dirty="0"/>
          </a:p>
        </p:txBody>
      </p:sp>
      <p:sp>
        <p:nvSpPr>
          <p:cNvPr id="7" name="Slide Number Placeholder 6"/>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1881443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987424"/>
            <a:ext cx="3932237" cy="1069975"/>
          </a:xfrm>
        </p:spPr>
        <p:txBody>
          <a:bodyPr anchor="b"/>
          <a:lstStyle>
            <a:lvl1pPr>
              <a:defRPr sz="3200"/>
            </a:lvl1pPr>
          </a:lstStyle>
          <a:p>
            <a:r>
              <a:rPr lang="en-US"/>
              <a:t>Click to edit Master title style</a:t>
            </a:r>
            <a:endParaRPr lang="en-I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DE7651-D6D3-403E-9373-42EDB3970033}" type="datetime1">
              <a:rPr lang="en-IE" smtClean="0"/>
              <a:t>21/10/2025</a:t>
            </a:fld>
            <a:endParaRPr lang="en-IE"/>
          </a:p>
        </p:txBody>
      </p:sp>
      <p:sp>
        <p:nvSpPr>
          <p:cNvPr id="6" name="Footer Placeholder 5"/>
          <p:cNvSpPr>
            <a:spLocks noGrp="1"/>
          </p:cNvSpPr>
          <p:nvPr>
            <p:ph type="ftr" sz="quarter" idx="11"/>
          </p:nvPr>
        </p:nvSpPr>
        <p:spPr/>
        <p:txBody>
          <a:bodyPr/>
          <a:lstStyle/>
          <a:p>
            <a:r>
              <a:rPr lang="en-US"/>
              <a:t>Department of Computing © Saim Ghafoor 2025</a:t>
            </a:r>
            <a:endParaRPr lang="en-IE" dirty="0"/>
          </a:p>
        </p:txBody>
      </p:sp>
      <p:sp>
        <p:nvSpPr>
          <p:cNvPr id="7" name="Slide Number Placeholder 6"/>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3648759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A4DE99D0-6B14-45D5-96AA-1DB4AB1D356A}" type="datetime1">
              <a:rPr lang="en-IE" smtClean="0"/>
              <a:t>21/10/2025</a:t>
            </a:fld>
            <a:endParaRPr lang="en-IE"/>
          </a:p>
        </p:txBody>
      </p:sp>
      <p:sp>
        <p:nvSpPr>
          <p:cNvPr id="5" name="Footer Placeholder 4"/>
          <p:cNvSpPr>
            <a:spLocks noGrp="1"/>
          </p:cNvSpPr>
          <p:nvPr>
            <p:ph type="ftr" sz="quarter" idx="11"/>
          </p:nvPr>
        </p:nvSpPr>
        <p:spPr/>
        <p:txBody>
          <a:bodyPr/>
          <a:lstStyle/>
          <a:p>
            <a:r>
              <a:rPr lang="en-US"/>
              <a:t>Department of Computing © Saim Ghafoor 2025</a:t>
            </a:r>
            <a:endParaRPr lang="en-IE" dirty="0"/>
          </a:p>
        </p:txBody>
      </p:sp>
      <p:sp>
        <p:nvSpPr>
          <p:cNvPr id="6" name="Slide Number Placeholder 5"/>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1047201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75249"/>
            <a:ext cx="2628900" cy="5501714"/>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838200" y="675249"/>
            <a:ext cx="7734300" cy="550171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A7763BF2-D8ED-4739-A67F-4DB58CDC4951}" type="datetime1">
              <a:rPr lang="en-IE" smtClean="0"/>
              <a:t>21/10/2025</a:t>
            </a:fld>
            <a:endParaRPr lang="en-IE"/>
          </a:p>
        </p:txBody>
      </p:sp>
      <p:sp>
        <p:nvSpPr>
          <p:cNvPr id="5" name="Footer Placeholder 4"/>
          <p:cNvSpPr>
            <a:spLocks noGrp="1"/>
          </p:cNvSpPr>
          <p:nvPr>
            <p:ph type="ftr" sz="quarter" idx="11"/>
          </p:nvPr>
        </p:nvSpPr>
        <p:spPr/>
        <p:txBody>
          <a:bodyPr/>
          <a:lstStyle/>
          <a:p>
            <a:r>
              <a:rPr lang="en-US"/>
              <a:t>Department of Computing © Saim Ghafoor 2025</a:t>
            </a:r>
            <a:endParaRPr lang="en-IE" dirty="0"/>
          </a:p>
        </p:txBody>
      </p:sp>
      <p:sp>
        <p:nvSpPr>
          <p:cNvPr id="6" name="Slide Number Placeholder 5"/>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2454958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758962"/>
            <a:ext cx="10515600" cy="931725"/>
          </a:xfrm>
          <a:prstGeom prst="rect">
            <a:avLst/>
          </a:prstGeom>
        </p:spPr>
        <p:txBody>
          <a:bodyPr vert="horz" lIns="91440" tIns="45720" rIns="91440" bIns="45720" rtlCol="0" anchor="ctr">
            <a:normAutofit/>
          </a:bodyPr>
          <a:lstStyle/>
          <a:p>
            <a:r>
              <a:rPr lang="en-US" dirty="0"/>
              <a:t>Click to edit Master title style</a:t>
            </a:r>
            <a:endParaRPr lang="en-IE"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cs typeface="Times New Roman" panose="02020603050405020304" pitchFamily="18" charset="0"/>
              </a:defRPr>
            </a:lvl1pPr>
          </a:lstStyle>
          <a:p>
            <a:fld id="{22CE19D1-34EC-418F-A4C6-297EED5E4EC5}" type="datetime1">
              <a:rPr lang="en-IE" smtClean="0"/>
              <a:t>21/10/2025</a:t>
            </a:fld>
            <a:endParaRPr lang="en-I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cs typeface="Times New Roman" panose="02020603050405020304" pitchFamily="18" charset="0"/>
              </a:defRPr>
            </a:lvl1pPr>
          </a:lstStyle>
          <a:p>
            <a:r>
              <a:rPr lang="en-US"/>
              <a:t>Department of Computing © Saim Ghafoor 2025</a:t>
            </a:r>
            <a:endParaRPr lang="en-IE"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cs typeface="Times New Roman" panose="02020603050405020304" pitchFamily="18" charset="0"/>
              </a:defRPr>
            </a:lvl1pPr>
          </a:lstStyle>
          <a:p>
            <a:fld id="{4DADDF82-8990-4558-84CF-42B3CAB7C69C}" type="slidenum">
              <a:rPr lang="en-IE" smtClean="0"/>
              <a:pPr/>
              <a:t>‹#›</a:t>
            </a:fld>
            <a:endParaRPr lang="en-IE"/>
          </a:p>
        </p:txBody>
      </p:sp>
    </p:spTree>
    <p:extLst>
      <p:ext uri="{BB962C8B-B14F-4D97-AF65-F5344CB8AC3E}">
        <p14:creationId xmlns:p14="http://schemas.microsoft.com/office/powerpoint/2010/main" val="3869486882"/>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14.jpe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tags" Target="../tags/tag2.xml"/><Relationship Id="rId16" Type="http://schemas.openxmlformats.org/officeDocument/2006/relationships/image" Target="../media/image17.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12.png"/><Relationship Id="rId5" Type="http://schemas.openxmlformats.org/officeDocument/2006/relationships/tags" Target="../tags/tag5.xml"/><Relationship Id="rId15" Type="http://schemas.openxmlformats.org/officeDocument/2006/relationships/image" Target="../media/image16.jpeg"/><Relationship Id="rId10" Type="http://schemas.openxmlformats.org/officeDocument/2006/relationships/image" Target="../media/image11.jpeg"/><Relationship Id="rId4" Type="http://schemas.openxmlformats.org/officeDocument/2006/relationships/tags" Target="../tags/tag4.xml"/><Relationship Id="rId9" Type="http://schemas.openxmlformats.org/officeDocument/2006/relationships/slideLayout" Target="../slideLayouts/slideLayout2.xml"/><Relationship Id="rId14"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56520"/>
            <a:ext cx="9144000" cy="1376363"/>
          </a:xfrm>
        </p:spPr>
        <p:txBody>
          <a:bodyPr/>
          <a:lstStyle/>
          <a:p>
            <a:r>
              <a:rPr lang="en-IE" dirty="0"/>
              <a:t>SDN and Wireless security</a:t>
            </a:r>
          </a:p>
        </p:txBody>
      </p:sp>
      <p:sp>
        <p:nvSpPr>
          <p:cNvPr id="3" name="Subtitle 2"/>
          <p:cNvSpPr>
            <a:spLocks noGrp="1"/>
          </p:cNvSpPr>
          <p:nvPr>
            <p:ph type="subTitle" idx="1"/>
          </p:nvPr>
        </p:nvSpPr>
        <p:spPr>
          <a:xfrm>
            <a:off x="1524000" y="4079875"/>
            <a:ext cx="9144000" cy="1655762"/>
          </a:xfrm>
        </p:spPr>
        <p:txBody>
          <a:bodyPr>
            <a:normAutofit/>
          </a:bodyPr>
          <a:lstStyle/>
          <a:p>
            <a:r>
              <a:rPr lang="en-IE" dirty="0"/>
              <a:t>Lecture 1 </a:t>
            </a:r>
          </a:p>
          <a:p>
            <a:r>
              <a:rPr lang="en-IE" dirty="0"/>
              <a:t>Intro to SDN</a:t>
            </a:r>
          </a:p>
        </p:txBody>
      </p:sp>
      <p:sp>
        <p:nvSpPr>
          <p:cNvPr id="4" name="Footer Placeholder 3"/>
          <p:cNvSpPr>
            <a:spLocks noGrp="1"/>
          </p:cNvSpPr>
          <p:nvPr>
            <p:ph type="ftr" sz="quarter" idx="11"/>
          </p:nvPr>
        </p:nvSpPr>
        <p:spPr/>
        <p:txBody>
          <a:bodyPr/>
          <a:lstStyle/>
          <a:p>
            <a:r>
              <a:rPr lang="en-US"/>
              <a:t>Department of Computing © Saim Ghafoor 2025</a:t>
            </a:r>
            <a:endParaRPr lang="en-IE" dirty="0"/>
          </a:p>
        </p:txBody>
      </p:sp>
      <p:sp>
        <p:nvSpPr>
          <p:cNvPr id="5" name="Subtitle 2"/>
          <p:cNvSpPr txBox="1">
            <a:spLocks/>
          </p:cNvSpPr>
          <p:nvPr/>
        </p:nvSpPr>
        <p:spPr>
          <a:xfrm>
            <a:off x="1524000" y="3032883"/>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E" dirty="0" err="1"/>
              <a:t>Saim</a:t>
            </a:r>
            <a:r>
              <a:rPr lang="en-IE" dirty="0"/>
              <a:t> </a:t>
            </a:r>
            <a:r>
              <a:rPr lang="en-IE" dirty="0" err="1"/>
              <a:t>Ghafoor</a:t>
            </a:r>
            <a:endParaRPr lang="en-IE" dirty="0"/>
          </a:p>
        </p:txBody>
      </p:sp>
    </p:spTree>
    <p:extLst>
      <p:ext uri="{BB962C8B-B14F-4D97-AF65-F5344CB8AC3E}">
        <p14:creationId xmlns:p14="http://schemas.microsoft.com/office/powerpoint/2010/main" val="979140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Traditional networks</a:t>
            </a:r>
          </a:p>
        </p:txBody>
      </p:sp>
      <p:sp>
        <p:nvSpPr>
          <p:cNvPr id="3" name="Content Placeholder 2"/>
          <p:cNvSpPr>
            <a:spLocks noGrp="1"/>
          </p:cNvSpPr>
          <p:nvPr>
            <p:ph idx="1"/>
          </p:nvPr>
        </p:nvSpPr>
        <p:spPr/>
        <p:txBody>
          <a:bodyPr>
            <a:normAutofit/>
          </a:bodyPr>
          <a:lstStyle/>
          <a:p>
            <a:r>
              <a:rPr lang="en-IE" dirty="0"/>
              <a:t>History</a:t>
            </a:r>
          </a:p>
          <a:p>
            <a:pPr lvl="1"/>
            <a:r>
              <a:rPr lang="en-IE" dirty="0"/>
              <a:t>Blackbox networking equipment</a:t>
            </a:r>
          </a:p>
          <a:p>
            <a:pPr lvl="1"/>
            <a:r>
              <a:rPr lang="en-IE" dirty="0"/>
              <a:t>Big name companies are managing and controlling the routing/switching devices</a:t>
            </a:r>
          </a:p>
          <a:p>
            <a:pPr lvl="1"/>
            <a:r>
              <a:rPr lang="en-IE" dirty="0"/>
              <a:t>Proprietary silicon chips</a:t>
            </a:r>
          </a:p>
          <a:p>
            <a:pPr lvl="1"/>
            <a:r>
              <a:rPr lang="en-IE" dirty="0"/>
              <a:t>Closed source operating system</a:t>
            </a:r>
          </a:p>
        </p:txBody>
      </p:sp>
      <p:sp>
        <p:nvSpPr>
          <p:cNvPr id="4" name="Footer Placeholder 3"/>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463403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7E654-AD8E-2D79-AAF6-06A5B8DF2592}"/>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60E1DE88-B09D-52A9-5927-5CB5F2E54666}"/>
              </a:ext>
            </a:extLst>
          </p:cNvPr>
          <p:cNvSpPr>
            <a:spLocks noGrp="1"/>
          </p:cNvSpPr>
          <p:nvPr>
            <p:ph idx="1"/>
          </p:nvPr>
        </p:nvSpPr>
        <p:spPr/>
        <p:txBody>
          <a:bodyPr/>
          <a:lstStyle/>
          <a:p>
            <a:r>
              <a:rPr lang="en-IE" dirty="0"/>
              <a:t>Technology was not designed keeping today in mind</a:t>
            </a:r>
          </a:p>
          <a:p>
            <a:pPr lvl="1"/>
            <a:r>
              <a:rPr lang="en-IE" dirty="0"/>
              <a:t>Massive scalability</a:t>
            </a:r>
          </a:p>
          <a:p>
            <a:pPr lvl="1"/>
            <a:r>
              <a:rPr lang="en-IE" dirty="0"/>
              <a:t>Multi tenant networks</a:t>
            </a:r>
          </a:p>
          <a:p>
            <a:pPr lvl="1"/>
            <a:r>
              <a:rPr lang="en-IE" dirty="0"/>
              <a:t>Virtualizations</a:t>
            </a:r>
          </a:p>
          <a:p>
            <a:pPr lvl="1"/>
            <a:r>
              <a:rPr lang="en-IE" dirty="0"/>
              <a:t>Cloud computing</a:t>
            </a:r>
          </a:p>
          <a:p>
            <a:pPr lvl="1"/>
            <a:r>
              <a:rPr lang="en-IE" dirty="0"/>
              <a:t>Mobility</a:t>
            </a:r>
          </a:p>
          <a:p>
            <a:endParaRPr lang="en-IE" dirty="0"/>
          </a:p>
        </p:txBody>
      </p:sp>
      <p:sp>
        <p:nvSpPr>
          <p:cNvPr id="4" name="Footer Placeholder 3">
            <a:extLst>
              <a:ext uri="{FF2B5EF4-FFF2-40B4-BE49-F238E27FC236}">
                <a16:creationId xmlns:a16="http://schemas.microsoft.com/office/drawing/2014/main" id="{E690A41C-585E-C205-51A7-5DD4AFEDF15A}"/>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2218436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93104-F09C-1300-1E63-B1F29D0D6BF0}"/>
              </a:ext>
            </a:extLst>
          </p:cNvPr>
          <p:cNvSpPr>
            <a:spLocks noGrp="1"/>
          </p:cNvSpPr>
          <p:nvPr>
            <p:ph type="title"/>
          </p:nvPr>
        </p:nvSpPr>
        <p:spPr/>
        <p:txBody>
          <a:bodyPr/>
          <a:lstStyle/>
          <a:p>
            <a:r>
              <a:rPr lang="en-IE" dirty="0"/>
              <a:t>Traditional network problems</a:t>
            </a:r>
          </a:p>
        </p:txBody>
      </p:sp>
      <p:sp>
        <p:nvSpPr>
          <p:cNvPr id="3" name="Content Placeholder 2">
            <a:extLst>
              <a:ext uri="{FF2B5EF4-FFF2-40B4-BE49-F238E27FC236}">
                <a16:creationId xmlns:a16="http://schemas.microsoft.com/office/drawing/2014/main" id="{4B42C7EA-71ED-A5C9-F9F2-90C910B17E21}"/>
              </a:ext>
            </a:extLst>
          </p:cNvPr>
          <p:cNvSpPr>
            <a:spLocks noGrp="1"/>
          </p:cNvSpPr>
          <p:nvPr>
            <p:ph idx="1"/>
          </p:nvPr>
        </p:nvSpPr>
        <p:spPr/>
        <p:txBody>
          <a:bodyPr/>
          <a:lstStyle/>
          <a:p>
            <a:r>
              <a:rPr lang="en-IE" dirty="0"/>
              <a:t>Protocols are box centric (inside router and switches)</a:t>
            </a:r>
          </a:p>
          <a:p>
            <a:pPr lvl="1"/>
            <a:r>
              <a:rPr lang="en-IE" dirty="0"/>
              <a:t>Difficult to configure correctly (consistency)</a:t>
            </a:r>
          </a:p>
          <a:p>
            <a:pPr lvl="1"/>
            <a:r>
              <a:rPr lang="en-IE" dirty="0"/>
              <a:t>Difficult to add new features (upgrades are needed)</a:t>
            </a:r>
          </a:p>
          <a:p>
            <a:pPr lvl="1"/>
            <a:r>
              <a:rPr lang="en-IE" dirty="0"/>
              <a:t>Difficult to debug</a:t>
            </a:r>
          </a:p>
        </p:txBody>
      </p:sp>
      <p:sp>
        <p:nvSpPr>
          <p:cNvPr id="4" name="Footer Placeholder 3">
            <a:extLst>
              <a:ext uri="{FF2B5EF4-FFF2-40B4-BE49-F238E27FC236}">
                <a16:creationId xmlns:a16="http://schemas.microsoft.com/office/drawing/2014/main" id="{16AEC7F8-6B75-B4B2-C7EE-9A62F212CFF6}"/>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3410452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FB413-A47C-8939-34FC-D267857611D8}"/>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9677D5D7-CE64-D7F6-EDD8-D255E627E7F6}"/>
              </a:ext>
            </a:extLst>
          </p:cNvPr>
          <p:cNvSpPr>
            <a:spLocks noGrp="1"/>
          </p:cNvSpPr>
          <p:nvPr>
            <p:ph idx="1"/>
          </p:nvPr>
        </p:nvSpPr>
        <p:spPr/>
        <p:txBody>
          <a:bodyPr/>
          <a:lstStyle/>
          <a:p>
            <a:r>
              <a:rPr lang="en-IE" dirty="0"/>
              <a:t>Closed systems (vendor hardware)</a:t>
            </a:r>
          </a:p>
          <a:p>
            <a:pPr lvl="1"/>
            <a:r>
              <a:rPr lang="en-IE" dirty="0"/>
              <a:t>Stuck with given interfaces (CLI, SNMP etc)</a:t>
            </a:r>
          </a:p>
          <a:p>
            <a:pPr lvl="1"/>
            <a:r>
              <a:rPr lang="en-IE" dirty="0"/>
              <a:t>Hard to meaningful collaborate</a:t>
            </a:r>
          </a:p>
          <a:p>
            <a:pPr lvl="1"/>
            <a:r>
              <a:rPr lang="en-IE" dirty="0"/>
              <a:t>Vendors hesitant to open up</a:t>
            </a:r>
          </a:p>
          <a:p>
            <a:pPr lvl="1"/>
            <a:r>
              <a:rPr lang="en-IE" dirty="0"/>
              <a:t>No way to add new feature by yourself</a:t>
            </a:r>
          </a:p>
          <a:p>
            <a:endParaRPr lang="en-IE" dirty="0"/>
          </a:p>
          <a:p>
            <a:endParaRPr lang="en-IE" dirty="0"/>
          </a:p>
        </p:txBody>
      </p:sp>
      <p:sp>
        <p:nvSpPr>
          <p:cNvPr id="4" name="Footer Placeholder 3">
            <a:extLst>
              <a:ext uri="{FF2B5EF4-FFF2-40B4-BE49-F238E27FC236}">
                <a16:creationId xmlns:a16="http://schemas.microsoft.com/office/drawing/2014/main" id="{8773CC7C-85AB-0CF2-C980-4A79F828FB0D}"/>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3806585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4DBBA-1087-5236-4B4E-5794AC94EF4B}"/>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7495706B-3493-2F6D-301D-3BB3E81321B3}"/>
              </a:ext>
            </a:extLst>
          </p:cNvPr>
          <p:cNvSpPr>
            <a:spLocks noGrp="1"/>
          </p:cNvSpPr>
          <p:nvPr>
            <p:ph idx="1"/>
          </p:nvPr>
        </p:nvSpPr>
        <p:spPr/>
        <p:txBody>
          <a:bodyPr/>
          <a:lstStyle/>
          <a:p>
            <a:r>
              <a:rPr lang="en-IE" dirty="0"/>
              <a:t>Design principles of Internet</a:t>
            </a:r>
          </a:p>
          <a:p>
            <a:pPr lvl="1"/>
            <a:r>
              <a:rPr lang="en-IE" dirty="0"/>
              <a:t>Simple</a:t>
            </a:r>
          </a:p>
          <a:p>
            <a:pPr lvl="1"/>
            <a:r>
              <a:rPr lang="en-IE" dirty="0"/>
              <a:t>Intelligent end-points</a:t>
            </a:r>
          </a:p>
          <a:p>
            <a:pPr lvl="1"/>
            <a:r>
              <a:rPr lang="en-IE" dirty="0"/>
              <a:t>Distributed control</a:t>
            </a:r>
          </a:p>
          <a:p>
            <a:pPr lvl="1"/>
            <a:r>
              <a:rPr lang="en-IE" dirty="0"/>
              <a:t>Results in huge complex network and hard to manage</a:t>
            </a:r>
          </a:p>
          <a:p>
            <a:pPr lvl="1"/>
            <a:r>
              <a:rPr lang="en-IE" dirty="0"/>
              <a:t>Billions of computers</a:t>
            </a:r>
          </a:p>
          <a:p>
            <a:pPr lvl="1"/>
            <a:r>
              <a:rPr lang="en-IE" dirty="0"/>
              <a:t>Tens of thousands of AS (asynchronous systems)</a:t>
            </a:r>
          </a:p>
          <a:p>
            <a:pPr lvl="1"/>
            <a:r>
              <a:rPr lang="en-IE" dirty="0"/>
              <a:t>Great business for selling routers	</a:t>
            </a:r>
          </a:p>
        </p:txBody>
      </p:sp>
      <p:sp>
        <p:nvSpPr>
          <p:cNvPr id="4" name="Footer Placeholder 3">
            <a:extLst>
              <a:ext uri="{FF2B5EF4-FFF2-40B4-BE49-F238E27FC236}">
                <a16:creationId xmlns:a16="http://schemas.microsoft.com/office/drawing/2014/main" id="{23CE2F11-E3F6-0B32-7BD1-124934883B69}"/>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3100612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58B66-EC8C-00C0-FFE6-88A4B07E619E}"/>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2CD6AA03-B073-0F4D-8613-A04E60D6D589}"/>
              </a:ext>
            </a:extLst>
          </p:cNvPr>
          <p:cNvSpPr>
            <a:spLocks noGrp="1"/>
          </p:cNvSpPr>
          <p:nvPr>
            <p:ph idx="1"/>
          </p:nvPr>
        </p:nvSpPr>
        <p:spPr/>
        <p:txBody>
          <a:bodyPr/>
          <a:lstStyle/>
          <a:p>
            <a:r>
              <a:rPr lang="en-IE" dirty="0"/>
              <a:t>Routers are complex.</a:t>
            </a:r>
          </a:p>
          <a:p>
            <a:r>
              <a:rPr lang="en-IE" dirty="0"/>
              <a:t>Not easily extended</a:t>
            </a:r>
          </a:p>
          <a:p>
            <a:r>
              <a:rPr lang="en-IE" dirty="0"/>
              <a:t>Topologies cannot be changed easily like load balancing cannot be applied easily.</a:t>
            </a:r>
          </a:p>
          <a:p>
            <a:r>
              <a:rPr lang="en-IE" dirty="0"/>
              <a:t>Hardware is stable but not flexible according to the runtime requirements. </a:t>
            </a:r>
          </a:p>
          <a:p>
            <a:r>
              <a:rPr lang="en-IE" dirty="0"/>
              <a:t>How to achieve optimal routing dynamically? Difficult with trad. </a:t>
            </a:r>
            <a:r>
              <a:rPr lang="en-IE" dirty="0" err="1"/>
              <a:t>Nwks</a:t>
            </a:r>
            <a:r>
              <a:rPr lang="en-IE" dirty="0"/>
              <a:t>.</a:t>
            </a:r>
          </a:p>
        </p:txBody>
      </p:sp>
      <p:sp>
        <p:nvSpPr>
          <p:cNvPr id="4" name="Footer Placeholder 3">
            <a:extLst>
              <a:ext uri="{FF2B5EF4-FFF2-40B4-BE49-F238E27FC236}">
                <a16:creationId xmlns:a16="http://schemas.microsoft.com/office/drawing/2014/main" id="{B7F54CE0-DD72-E770-5E32-7D25ED7D0940}"/>
              </a:ext>
            </a:extLst>
          </p:cNvPr>
          <p:cNvSpPr>
            <a:spLocks noGrp="1"/>
          </p:cNvSpPr>
          <p:nvPr>
            <p:ph type="ftr" sz="quarter" idx="11"/>
          </p:nvPr>
        </p:nvSpPr>
        <p:spPr/>
        <p:txBody>
          <a:bodyPr/>
          <a:lstStyle/>
          <a:p>
            <a:r>
              <a:rPr lang="en-US"/>
              <a:t>Department of Computing © Saim Ghafoor 2025</a:t>
            </a:r>
            <a:endParaRPr lang="en-IE" dirty="0"/>
          </a:p>
        </p:txBody>
      </p:sp>
      <p:pic>
        <p:nvPicPr>
          <p:cNvPr id="6" name="Picture 5">
            <a:extLst>
              <a:ext uri="{FF2B5EF4-FFF2-40B4-BE49-F238E27FC236}">
                <a16:creationId xmlns:a16="http://schemas.microsoft.com/office/drawing/2014/main" id="{66A63FBD-1607-3816-33BB-1E658839623E}"/>
              </a:ext>
            </a:extLst>
          </p:cNvPr>
          <p:cNvPicPr>
            <a:picLocks noChangeAspect="1"/>
          </p:cNvPicPr>
          <p:nvPr/>
        </p:nvPicPr>
        <p:blipFill>
          <a:blip r:embed="rId2"/>
          <a:stretch>
            <a:fillRect/>
          </a:stretch>
        </p:blipFill>
        <p:spPr>
          <a:xfrm>
            <a:off x="5208946" y="136525"/>
            <a:ext cx="6410325" cy="2524125"/>
          </a:xfrm>
          <a:prstGeom prst="rect">
            <a:avLst/>
          </a:prstGeom>
        </p:spPr>
      </p:pic>
    </p:spTree>
    <p:extLst>
      <p:ext uri="{BB962C8B-B14F-4D97-AF65-F5344CB8AC3E}">
        <p14:creationId xmlns:p14="http://schemas.microsoft.com/office/powerpoint/2010/main" val="983139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980AF-22B2-1BF6-A6BE-2D9657AB420C}"/>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C32FB1AF-F9D2-4917-04AA-C0766E2FFB3B}"/>
              </a:ext>
            </a:extLst>
          </p:cNvPr>
          <p:cNvSpPr>
            <a:spLocks noGrp="1"/>
          </p:cNvSpPr>
          <p:nvPr>
            <p:ph idx="1"/>
          </p:nvPr>
        </p:nvSpPr>
        <p:spPr/>
        <p:txBody>
          <a:bodyPr/>
          <a:lstStyle/>
          <a:p>
            <a:endParaRPr lang="en-IE"/>
          </a:p>
        </p:txBody>
      </p:sp>
      <p:sp>
        <p:nvSpPr>
          <p:cNvPr id="4" name="Footer Placeholder 3">
            <a:extLst>
              <a:ext uri="{FF2B5EF4-FFF2-40B4-BE49-F238E27FC236}">
                <a16:creationId xmlns:a16="http://schemas.microsoft.com/office/drawing/2014/main" id="{06CD7EAD-5FC4-2C32-B27E-5025B16415E4}"/>
              </a:ext>
            </a:extLst>
          </p:cNvPr>
          <p:cNvSpPr>
            <a:spLocks noGrp="1"/>
          </p:cNvSpPr>
          <p:nvPr>
            <p:ph type="ftr" sz="quarter" idx="11"/>
          </p:nvPr>
        </p:nvSpPr>
        <p:spPr/>
        <p:txBody>
          <a:bodyPr/>
          <a:lstStyle/>
          <a:p>
            <a:r>
              <a:rPr lang="en-US"/>
              <a:t>Department of Computing © Saim Ghafoor 2025</a:t>
            </a:r>
            <a:endParaRPr lang="en-IE" dirty="0"/>
          </a:p>
        </p:txBody>
      </p:sp>
      <p:pic>
        <p:nvPicPr>
          <p:cNvPr id="6" name="Picture 5">
            <a:extLst>
              <a:ext uri="{FF2B5EF4-FFF2-40B4-BE49-F238E27FC236}">
                <a16:creationId xmlns:a16="http://schemas.microsoft.com/office/drawing/2014/main" id="{4C9E3AA8-3118-6C9E-598B-859936A8C6CA}"/>
              </a:ext>
            </a:extLst>
          </p:cNvPr>
          <p:cNvPicPr>
            <a:picLocks noChangeAspect="1"/>
          </p:cNvPicPr>
          <p:nvPr/>
        </p:nvPicPr>
        <p:blipFill>
          <a:blip r:embed="rId2"/>
          <a:stretch>
            <a:fillRect/>
          </a:stretch>
        </p:blipFill>
        <p:spPr>
          <a:xfrm>
            <a:off x="138845" y="1082402"/>
            <a:ext cx="5824821" cy="37701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DE609FFF-5739-0DD7-84D4-20B05AF7E7AA}"/>
              </a:ext>
            </a:extLst>
          </p:cNvPr>
          <p:cNvPicPr>
            <a:picLocks noChangeAspect="1"/>
          </p:cNvPicPr>
          <p:nvPr/>
        </p:nvPicPr>
        <p:blipFill>
          <a:blip r:embed="rId3"/>
          <a:stretch>
            <a:fillRect/>
          </a:stretch>
        </p:blipFill>
        <p:spPr>
          <a:xfrm>
            <a:off x="6076208" y="1082402"/>
            <a:ext cx="5631189" cy="37701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92530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4FD74-F888-B0AC-6ADB-2E766F294862}"/>
              </a:ext>
            </a:extLst>
          </p:cNvPr>
          <p:cNvSpPr>
            <a:spLocks noGrp="1"/>
          </p:cNvSpPr>
          <p:nvPr>
            <p:ph type="title"/>
          </p:nvPr>
        </p:nvSpPr>
        <p:spPr/>
        <p:txBody>
          <a:bodyPr>
            <a:normAutofit/>
          </a:bodyPr>
          <a:lstStyle/>
          <a:p>
            <a:r>
              <a:rPr lang="en-IE" dirty="0"/>
              <a:t>What is Network virtualization?</a:t>
            </a:r>
          </a:p>
        </p:txBody>
      </p:sp>
      <p:sp>
        <p:nvSpPr>
          <p:cNvPr id="3" name="Content Placeholder 2">
            <a:extLst>
              <a:ext uri="{FF2B5EF4-FFF2-40B4-BE49-F238E27FC236}">
                <a16:creationId xmlns:a16="http://schemas.microsoft.com/office/drawing/2014/main" id="{76978DE3-435F-B3C8-2F38-A01EB12A5CF9}"/>
              </a:ext>
            </a:extLst>
          </p:cNvPr>
          <p:cNvSpPr>
            <a:spLocks noGrp="1"/>
          </p:cNvSpPr>
          <p:nvPr>
            <p:ph idx="1"/>
          </p:nvPr>
        </p:nvSpPr>
        <p:spPr/>
        <p:txBody>
          <a:bodyPr/>
          <a:lstStyle/>
          <a:p>
            <a:r>
              <a:rPr lang="en-IE" dirty="0"/>
              <a:t>Representation of one or more logical topologies on the same infrastructure</a:t>
            </a:r>
          </a:p>
          <a:p>
            <a:r>
              <a:rPr lang="en-IE" dirty="0"/>
              <a:t>Many different instantiations</a:t>
            </a:r>
          </a:p>
          <a:p>
            <a:pPr lvl="1"/>
            <a:r>
              <a:rPr lang="en-IE" dirty="0"/>
              <a:t>Virtual LANs (VLANs)</a:t>
            </a:r>
          </a:p>
          <a:p>
            <a:pPr lvl="1"/>
            <a:r>
              <a:rPr lang="en-IE" dirty="0"/>
              <a:t>Various technologies and testbeds</a:t>
            </a:r>
          </a:p>
          <a:p>
            <a:pPr lvl="1"/>
            <a:r>
              <a:rPr lang="en-IE" dirty="0"/>
              <a:t>Today we have VMWare, different cloud platforms</a:t>
            </a:r>
          </a:p>
        </p:txBody>
      </p:sp>
      <p:sp>
        <p:nvSpPr>
          <p:cNvPr id="4" name="Footer Placeholder 3">
            <a:extLst>
              <a:ext uri="{FF2B5EF4-FFF2-40B4-BE49-F238E27FC236}">
                <a16:creationId xmlns:a16="http://schemas.microsoft.com/office/drawing/2014/main" id="{7835F4F5-CF70-9420-C8C5-71D495234B20}"/>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438998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D8F1B-1702-B48C-070F-1DA5D384ED3A}"/>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5DE821B5-DF28-F591-9E2D-025E3176545A}"/>
              </a:ext>
            </a:extLst>
          </p:cNvPr>
          <p:cNvSpPr>
            <a:spLocks noGrp="1"/>
          </p:cNvSpPr>
          <p:nvPr>
            <p:ph idx="1"/>
          </p:nvPr>
        </p:nvSpPr>
        <p:spPr/>
        <p:txBody>
          <a:bodyPr>
            <a:normAutofit/>
          </a:bodyPr>
          <a:lstStyle/>
          <a:p>
            <a:r>
              <a:rPr lang="en-IE" dirty="0"/>
              <a:t>Benefits of Network virtualization</a:t>
            </a:r>
          </a:p>
          <a:p>
            <a:pPr lvl="1"/>
            <a:r>
              <a:rPr lang="en-IE" dirty="0"/>
              <a:t>Sharing: </a:t>
            </a:r>
          </a:p>
          <a:p>
            <a:pPr lvl="2"/>
            <a:r>
              <a:rPr lang="en-IE" dirty="0"/>
              <a:t>multiple logical routers on a single platform</a:t>
            </a:r>
          </a:p>
          <a:p>
            <a:pPr lvl="2"/>
            <a:r>
              <a:rPr lang="en-IE" dirty="0"/>
              <a:t>Resource isolation in CPU, memory, bandwidth, forwarding tables etc</a:t>
            </a:r>
          </a:p>
          <a:p>
            <a:pPr lvl="1"/>
            <a:r>
              <a:rPr lang="en-IE" dirty="0"/>
              <a:t>Customizability</a:t>
            </a:r>
          </a:p>
          <a:p>
            <a:pPr lvl="2"/>
            <a:r>
              <a:rPr lang="en-IE" dirty="0"/>
              <a:t>Customizable routing and forwarding software</a:t>
            </a:r>
          </a:p>
          <a:p>
            <a:pPr lvl="2"/>
            <a:r>
              <a:rPr lang="en-IE" dirty="0"/>
              <a:t>General purpose CPUs for the control plane</a:t>
            </a:r>
          </a:p>
          <a:p>
            <a:pPr lvl="2"/>
            <a:r>
              <a:rPr lang="en-IE" dirty="0"/>
              <a:t>Network processors and FPGAs for the data plane</a:t>
            </a:r>
          </a:p>
          <a:p>
            <a:pPr lvl="1"/>
            <a:endParaRPr lang="en-IE" dirty="0"/>
          </a:p>
          <a:p>
            <a:r>
              <a:rPr lang="en-IE" dirty="0"/>
              <a:t>Example: different sites with different routers shared between multiple parties may want different connectivity and topology requirements</a:t>
            </a:r>
          </a:p>
        </p:txBody>
      </p:sp>
      <p:sp>
        <p:nvSpPr>
          <p:cNvPr id="4" name="Footer Placeholder 3">
            <a:extLst>
              <a:ext uri="{FF2B5EF4-FFF2-40B4-BE49-F238E27FC236}">
                <a16:creationId xmlns:a16="http://schemas.microsoft.com/office/drawing/2014/main" id="{9C847C3B-5A71-3289-FBE6-0531BBAD1B94}"/>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3135962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6FC7D-88B9-BCFC-2D2F-D2EF39840587}"/>
              </a:ext>
            </a:extLst>
          </p:cNvPr>
          <p:cNvSpPr>
            <a:spLocks noGrp="1"/>
          </p:cNvSpPr>
          <p:nvPr>
            <p:ph type="title"/>
          </p:nvPr>
        </p:nvSpPr>
        <p:spPr/>
        <p:txBody>
          <a:bodyPr/>
          <a:lstStyle/>
          <a:p>
            <a:r>
              <a:rPr lang="en-IE" dirty="0"/>
              <a:t>Software defined networking</a:t>
            </a:r>
          </a:p>
        </p:txBody>
      </p:sp>
      <p:sp>
        <p:nvSpPr>
          <p:cNvPr id="3" name="Content Placeholder 2">
            <a:extLst>
              <a:ext uri="{FF2B5EF4-FFF2-40B4-BE49-F238E27FC236}">
                <a16:creationId xmlns:a16="http://schemas.microsoft.com/office/drawing/2014/main" id="{32D11EF3-5869-741A-9BF3-DDD005E09693}"/>
              </a:ext>
            </a:extLst>
          </p:cNvPr>
          <p:cNvSpPr>
            <a:spLocks noGrp="1"/>
          </p:cNvSpPr>
          <p:nvPr>
            <p:ph idx="1"/>
          </p:nvPr>
        </p:nvSpPr>
        <p:spPr/>
        <p:txBody>
          <a:bodyPr/>
          <a:lstStyle/>
          <a:p>
            <a:r>
              <a:rPr lang="en-IE" dirty="0"/>
              <a:t>SDN is a framework to allow network administrators to automatically and dynamically manage and control a large number of network devices, services, topology, traffic paths, and packet handling (quality of services) policies using high-level languages and APIs.</a:t>
            </a:r>
          </a:p>
          <a:p>
            <a:r>
              <a:rPr lang="en-IE" dirty="0"/>
              <a:t>Management includes provisioning, operating, monitoring, optimizing, and managing FCAPS (fault, configuration, accounting, performance, and security) in a multi-tenant environment. </a:t>
            </a:r>
          </a:p>
        </p:txBody>
      </p:sp>
      <p:sp>
        <p:nvSpPr>
          <p:cNvPr id="4" name="Footer Placeholder 3">
            <a:extLst>
              <a:ext uri="{FF2B5EF4-FFF2-40B4-BE49-F238E27FC236}">
                <a16:creationId xmlns:a16="http://schemas.microsoft.com/office/drawing/2014/main" id="{BE276B3B-B648-9719-09EB-8793B00AE26B}"/>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926999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1A531-F219-45B2-C484-42788A82D41D}"/>
              </a:ext>
            </a:extLst>
          </p:cNvPr>
          <p:cNvSpPr>
            <a:spLocks noGrp="1"/>
          </p:cNvSpPr>
          <p:nvPr>
            <p:ph type="title"/>
          </p:nvPr>
        </p:nvSpPr>
        <p:spPr/>
        <p:txBody>
          <a:bodyPr/>
          <a:lstStyle/>
          <a:p>
            <a:r>
              <a:rPr lang="en-IE" dirty="0"/>
              <a:t>SDN</a:t>
            </a:r>
          </a:p>
        </p:txBody>
      </p:sp>
      <p:sp>
        <p:nvSpPr>
          <p:cNvPr id="3" name="Content Placeholder 2">
            <a:extLst>
              <a:ext uri="{FF2B5EF4-FFF2-40B4-BE49-F238E27FC236}">
                <a16:creationId xmlns:a16="http://schemas.microsoft.com/office/drawing/2014/main" id="{C723B6C7-C646-757D-5403-CC8D56626C57}"/>
              </a:ext>
            </a:extLst>
          </p:cNvPr>
          <p:cNvSpPr>
            <a:spLocks noGrp="1"/>
          </p:cNvSpPr>
          <p:nvPr>
            <p:ph idx="1"/>
          </p:nvPr>
        </p:nvSpPr>
        <p:spPr/>
        <p:txBody>
          <a:bodyPr/>
          <a:lstStyle/>
          <a:p>
            <a:r>
              <a:rPr lang="en-IE" dirty="0"/>
              <a:t>A network in which the control plane is physically separate from the data plane.</a:t>
            </a:r>
          </a:p>
          <a:p>
            <a:r>
              <a:rPr lang="en-IE" dirty="0"/>
              <a:t>A single control plane controls several forwarding devices.</a:t>
            </a:r>
          </a:p>
          <a:p>
            <a:pPr lvl="1"/>
            <a:r>
              <a:rPr lang="en-IE" dirty="0"/>
              <a:t>Controls the network </a:t>
            </a:r>
            <a:r>
              <a:rPr lang="en-IE" dirty="0" err="1"/>
              <a:t>behavior</a:t>
            </a:r>
            <a:r>
              <a:rPr lang="en-IE" dirty="0"/>
              <a:t> from single high level control program</a:t>
            </a:r>
          </a:p>
          <a:p>
            <a:r>
              <a:rPr lang="en-IE" dirty="0"/>
              <a:t>Deployments to solve network management problems in real networks</a:t>
            </a:r>
          </a:p>
        </p:txBody>
      </p:sp>
      <p:sp>
        <p:nvSpPr>
          <p:cNvPr id="4" name="Footer Placeholder 3">
            <a:extLst>
              <a:ext uri="{FF2B5EF4-FFF2-40B4-BE49-F238E27FC236}">
                <a16:creationId xmlns:a16="http://schemas.microsoft.com/office/drawing/2014/main" id="{D9711D95-0A39-A5B3-2B8F-39A967B59CEA}"/>
              </a:ext>
            </a:extLst>
          </p:cNvPr>
          <p:cNvSpPr>
            <a:spLocks noGrp="1"/>
          </p:cNvSpPr>
          <p:nvPr>
            <p:ph type="ftr" sz="quarter" idx="11"/>
          </p:nvPr>
        </p:nvSpPr>
        <p:spPr/>
        <p:txBody>
          <a:bodyPr/>
          <a:lstStyle/>
          <a:p>
            <a:r>
              <a:rPr lang="en-US"/>
              <a:t>Department of Computing © Saim Ghafoor 2025</a:t>
            </a:r>
            <a:endParaRPr lang="en-IE" dirty="0"/>
          </a:p>
        </p:txBody>
      </p:sp>
      <p:graphicFrame>
        <p:nvGraphicFramePr>
          <p:cNvPr id="5" name="Table 5">
            <a:extLst>
              <a:ext uri="{FF2B5EF4-FFF2-40B4-BE49-F238E27FC236}">
                <a16:creationId xmlns:a16="http://schemas.microsoft.com/office/drawing/2014/main" id="{B3523A3B-8684-7D22-B97C-C4C4B83CC1B6}"/>
              </a:ext>
            </a:extLst>
          </p:cNvPr>
          <p:cNvGraphicFramePr>
            <a:graphicFrameLocks noGrp="1"/>
          </p:cNvGraphicFramePr>
          <p:nvPr>
            <p:extLst>
              <p:ext uri="{D42A27DB-BD31-4B8C-83A1-F6EECF244321}">
                <p14:modId xmlns:p14="http://schemas.microsoft.com/office/powerpoint/2010/main" val="4085703796"/>
              </p:ext>
            </p:extLst>
          </p:nvPr>
        </p:nvGraphicFramePr>
        <p:xfrm>
          <a:off x="1632527" y="4178798"/>
          <a:ext cx="8428182" cy="1920240"/>
        </p:xfrm>
        <a:graphic>
          <a:graphicData uri="http://schemas.openxmlformats.org/drawingml/2006/table">
            <a:tbl>
              <a:tblPr firstRow="1" bandRow="1">
                <a:tableStyleId>{5C22544A-7EE6-4342-B048-85BDC9FD1C3A}</a:tableStyleId>
              </a:tblPr>
              <a:tblGrid>
                <a:gridCol w="4214091">
                  <a:extLst>
                    <a:ext uri="{9D8B030D-6E8A-4147-A177-3AD203B41FA5}">
                      <a16:colId xmlns:a16="http://schemas.microsoft.com/office/drawing/2014/main" val="2660217303"/>
                    </a:ext>
                  </a:extLst>
                </a:gridCol>
                <a:gridCol w="4214091">
                  <a:extLst>
                    <a:ext uri="{9D8B030D-6E8A-4147-A177-3AD203B41FA5}">
                      <a16:colId xmlns:a16="http://schemas.microsoft.com/office/drawing/2014/main" val="1760105650"/>
                    </a:ext>
                  </a:extLst>
                </a:gridCol>
              </a:tblGrid>
              <a:tr h="260270">
                <a:tc gridSpan="2">
                  <a:txBody>
                    <a:bodyPr/>
                    <a:lstStyle/>
                    <a:p>
                      <a:pPr algn="ctr"/>
                      <a:r>
                        <a:rPr lang="en-IE" dirty="0">
                          <a:solidFill>
                            <a:schemeClr val="tx1"/>
                          </a:solidFill>
                        </a:rPr>
                        <a:t>Two parts to the infrastructure</a:t>
                      </a:r>
                    </a:p>
                  </a:txBody>
                  <a:tcPr/>
                </a:tc>
                <a:tc hMerge="1">
                  <a:txBody>
                    <a:bodyPr/>
                    <a:lstStyle/>
                    <a:p>
                      <a:endParaRPr lang="en-IE" dirty="0"/>
                    </a:p>
                  </a:txBody>
                  <a:tcPr/>
                </a:tc>
                <a:extLst>
                  <a:ext uri="{0D108BD9-81ED-4DB2-BD59-A6C34878D82A}">
                    <a16:rowId xmlns:a16="http://schemas.microsoft.com/office/drawing/2014/main" val="4279974635"/>
                  </a:ext>
                </a:extLst>
              </a:tr>
              <a:tr h="370840">
                <a:tc>
                  <a:txBody>
                    <a:bodyPr/>
                    <a:lstStyle/>
                    <a:p>
                      <a:r>
                        <a:rPr lang="en-IE" dirty="0"/>
                        <a:t>Control plane </a:t>
                      </a:r>
                    </a:p>
                  </a:txBody>
                  <a:tcPr/>
                </a:tc>
                <a:tc>
                  <a:txBody>
                    <a:bodyPr/>
                    <a:lstStyle/>
                    <a:p>
                      <a:r>
                        <a:rPr lang="en-IE" dirty="0"/>
                        <a:t>Controllers, apps</a:t>
                      </a:r>
                    </a:p>
                    <a:p>
                      <a:r>
                        <a:rPr lang="en-IE" dirty="0"/>
                        <a:t>Defines the logics like how to forward the traffic</a:t>
                      </a:r>
                    </a:p>
                  </a:txBody>
                  <a:tcPr/>
                </a:tc>
                <a:extLst>
                  <a:ext uri="{0D108BD9-81ED-4DB2-BD59-A6C34878D82A}">
                    <a16:rowId xmlns:a16="http://schemas.microsoft.com/office/drawing/2014/main" val="3343174498"/>
                  </a:ext>
                </a:extLst>
              </a:tr>
              <a:tr h="370840">
                <a:tc>
                  <a:txBody>
                    <a:bodyPr/>
                    <a:lstStyle/>
                    <a:p>
                      <a:r>
                        <a:rPr lang="en-IE" dirty="0"/>
                        <a:t>Data plane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Programmable switches</a:t>
                      </a:r>
                    </a:p>
                    <a:p>
                      <a:r>
                        <a:rPr lang="en-IE" dirty="0"/>
                        <a:t>Network devices that forwards the traffic</a:t>
                      </a:r>
                    </a:p>
                  </a:txBody>
                  <a:tcPr/>
                </a:tc>
                <a:extLst>
                  <a:ext uri="{0D108BD9-81ED-4DB2-BD59-A6C34878D82A}">
                    <a16:rowId xmlns:a16="http://schemas.microsoft.com/office/drawing/2014/main" val="2043449883"/>
                  </a:ext>
                </a:extLst>
              </a:tr>
            </a:tbl>
          </a:graphicData>
        </a:graphic>
      </p:graphicFrame>
    </p:spTree>
    <p:extLst>
      <p:ext uri="{BB962C8B-B14F-4D97-AF65-F5344CB8AC3E}">
        <p14:creationId xmlns:p14="http://schemas.microsoft.com/office/powerpoint/2010/main" val="3599809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E201B-5639-F35F-4F43-A8D661E5E0AA}"/>
              </a:ext>
            </a:extLst>
          </p:cNvPr>
          <p:cNvSpPr>
            <a:spLocks noGrp="1"/>
          </p:cNvSpPr>
          <p:nvPr>
            <p:ph type="title"/>
          </p:nvPr>
        </p:nvSpPr>
        <p:spPr/>
        <p:txBody>
          <a:bodyPr/>
          <a:lstStyle/>
          <a:p>
            <a:r>
              <a:rPr lang="en-IE" dirty="0"/>
              <a:t>Example</a:t>
            </a:r>
          </a:p>
        </p:txBody>
      </p:sp>
      <p:sp>
        <p:nvSpPr>
          <p:cNvPr id="3" name="Content Placeholder 2">
            <a:extLst>
              <a:ext uri="{FF2B5EF4-FFF2-40B4-BE49-F238E27FC236}">
                <a16:creationId xmlns:a16="http://schemas.microsoft.com/office/drawing/2014/main" id="{C1B0C397-23C9-C075-DCA7-DA657361E45C}"/>
              </a:ext>
            </a:extLst>
          </p:cNvPr>
          <p:cNvSpPr>
            <a:spLocks noGrp="1"/>
          </p:cNvSpPr>
          <p:nvPr>
            <p:ph idx="1"/>
          </p:nvPr>
        </p:nvSpPr>
        <p:spPr>
          <a:xfrm>
            <a:off x="838200" y="1825625"/>
            <a:ext cx="5815818" cy="4351338"/>
          </a:xfrm>
        </p:spPr>
        <p:txBody>
          <a:bodyPr/>
          <a:lstStyle/>
          <a:p>
            <a:r>
              <a:rPr lang="en-IE" dirty="0"/>
              <a:t>Router example</a:t>
            </a:r>
          </a:p>
          <a:p>
            <a:r>
              <a:rPr lang="en-IE" dirty="0"/>
              <a:t>Basic job of the router: receiving packets, checking the routing table, forwarding the packets out. </a:t>
            </a:r>
          </a:p>
          <a:p>
            <a:r>
              <a:rPr lang="en-IE" dirty="0"/>
              <a:t>In order to build the routing table, the router has to understand BGP, OSPF, RIP etc</a:t>
            </a:r>
          </a:p>
          <a:p>
            <a:r>
              <a:rPr lang="en-IE" dirty="0"/>
              <a:t>What about getting the router table from somewhere else?</a:t>
            </a:r>
          </a:p>
        </p:txBody>
      </p:sp>
      <p:sp>
        <p:nvSpPr>
          <p:cNvPr id="4" name="Footer Placeholder 3">
            <a:extLst>
              <a:ext uri="{FF2B5EF4-FFF2-40B4-BE49-F238E27FC236}">
                <a16:creationId xmlns:a16="http://schemas.microsoft.com/office/drawing/2014/main" id="{278A4596-0D58-4576-48E1-6F5EA77E58C2}"/>
              </a:ext>
            </a:extLst>
          </p:cNvPr>
          <p:cNvSpPr>
            <a:spLocks noGrp="1"/>
          </p:cNvSpPr>
          <p:nvPr>
            <p:ph type="ftr" sz="quarter" idx="11"/>
          </p:nvPr>
        </p:nvSpPr>
        <p:spPr/>
        <p:txBody>
          <a:bodyPr/>
          <a:lstStyle/>
          <a:p>
            <a:r>
              <a:rPr lang="en-US"/>
              <a:t>Department of Computing © Saim Ghafoor 2025</a:t>
            </a:r>
            <a:endParaRPr lang="en-IE" dirty="0"/>
          </a:p>
        </p:txBody>
      </p:sp>
      <p:pic>
        <p:nvPicPr>
          <p:cNvPr id="6" name="Picture 5">
            <a:extLst>
              <a:ext uri="{FF2B5EF4-FFF2-40B4-BE49-F238E27FC236}">
                <a16:creationId xmlns:a16="http://schemas.microsoft.com/office/drawing/2014/main" id="{73766E8C-6877-D7E6-A224-7F420CC0F9D5}"/>
              </a:ext>
            </a:extLst>
          </p:cNvPr>
          <p:cNvPicPr>
            <a:picLocks noChangeAspect="1"/>
          </p:cNvPicPr>
          <p:nvPr/>
        </p:nvPicPr>
        <p:blipFill>
          <a:blip r:embed="rId2"/>
          <a:stretch>
            <a:fillRect/>
          </a:stretch>
        </p:blipFill>
        <p:spPr>
          <a:xfrm>
            <a:off x="7381304" y="15120"/>
            <a:ext cx="4114800" cy="1891481"/>
          </a:xfrm>
          <a:prstGeom prst="rect">
            <a:avLst/>
          </a:prstGeom>
        </p:spPr>
      </p:pic>
      <p:pic>
        <p:nvPicPr>
          <p:cNvPr id="8" name="Picture 7">
            <a:extLst>
              <a:ext uri="{FF2B5EF4-FFF2-40B4-BE49-F238E27FC236}">
                <a16:creationId xmlns:a16="http://schemas.microsoft.com/office/drawing/2014/main" id="{0A268F1F-E737-C08E-6BF8-5219AB9920B2}"/>
              </a:ext>
            </a:extLst>
          </p:cNvPr>
          <p:cNvPicPr>
            <a:picLocks noChangeAspect="1"/>
          </p:cNvPicPr>
          <p:nvPr/>
        </p:nvPicPr>
        <p:blipFill>
          <a:blip r:embed="rId3"/>
          <a:stretch>
            <a:fillRect/>
          </a:stretch>
        </p:blipFill>
        <p:spPr>
          <a:xfrm>
            <a:off x="7729023" y="1985163"/>
            <a:ext cx="3767081" cy="2254269"/>
          </a:xfrm>
          <a:prstGeom prst="rect">
            <a:avLst/>
          </a:prstGeom>
        </p:spPr>
      </p:pic>
      <p:pic>
        <p:nvPicPr>
          <p:cNvPr id="10" name="Picture 9">
            <a:extLst>
              <a:ext uri="{FF2B5EF4-FFF2-40B4-BE49-F238E27FC236}">
                <a16:creationId xmlns:a16="http://schemas.microsoft.com/office/drawing/2014/main" id="{45F3A571-7711-B8BA-ABD3-A9451AC4C338}"/>
              </a:ext>
            </a:extLst>
          </p:cNvPr>
          <p:cNvPicPr>
            <a:picLocks noChangeAspect="1"/>
          </p:cNvPicPr>
          <p:nvPr/>
        </p:nvPicPr>
        <p:blipFill>
          <a:blip r:embed="rId4"/>
          <a:stretch>
            <a:fillRect/>
          </a:stretch>
        </p:blipFill>
        <p:spPr>
          <a:xfrm>
            <a:off x="7729023" y="4549574"/>
            <a:ext cx="3767082" cy="2213085"/>
          </a:xfrm>
          <a:prstGeom prst="rect">
            <a:avLst/>
          </a:prstGeom>
        </p:spPr>
      </p:pic>
    </p:spTree>
    <p:extLst>
      <p:ext uri="{BB962C8B-B14F-4D97-AF65-F5344CB8AC3E}">
        <p14:creationId xmlns:p14="http://schemas.microsoft.com/office/powerpoint/2010/main" val="3376749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7553A4-AF72-6D90-3FC8-9AD53031A342}"/>
              </a:ext>
            </a:extLst>
          </p:cNvPr>
          <p:cNvSpPr>
            <a:spLocks noGrp="1"/>
          </p:cNvSpPr>
          <p:nvPr>
            <p:ph idx="1"/>
          </p:nvPr>
        </p:nvSpPr>
        <p:spPr>
          <a:xfrm>
            <a:off x="217733" y="150832"/>
            <a:ext cx="3716594" cy="4351338"/>
          </a:xfrm>
        </p:spPr>
        <p:style>
          <a:lnRef idx="2">
            <a:schemeClr val="accent2"/>
          </a:lnRef>
          <a:fillRef idx="1">
            <a:schemeClr val="lt1"/>
          </a:fillRef>
          <a:effectRef idx="0">
            <a:schemeClr val="accent2"/>
          </a:effectRef>
          <a:fontRef idx="minor">
            <a:schemeClr val="dk1"/>
          </a:fontRef>
        </p:style>
        <p:txBody>
          <a:bodyPr>
            <a:normAutofit/>
          </a:bodyPr>
          <a:lstStyle/>
          <a:p>
            <a:r>
              <a:rPr lang="en-IE" dirty="0"/>
              <a:t>Data centre Architecture</a:t>
            </a:r>
          </a:p>
          <a:p>
            <a:pPr lvl="1"/>
            <a:r>
              <a:rPr lang="en-IE" dirty="0"/>
              <a:t>Core layer</a:t>
            </a:r>
          </a:p>
          <a:p>
            <a:pPr lvl="1"/>
            <a:r>
              <a:rPr lang="en-IE" dirty="0"/>
              <a:t>Aggregation layer</a:t>
            </a:r>
          </a:p>
          <a:p>
            <a:pPr lvl="1"/>
            <a:r>
              <a:rPr lang="en-IE" dirty="0"/>
              <a:t>Access layer</a:t>
            </a:r>
          </a:p>
          <a:p>
            <a:endParaRPr lang="en-IE" dirty="0"/>
          </a:p>
        </p:txBody>
      </p:sp>
      <p:sp>
        <p:nvSpPr>
          <p:cNvPr id="4" name="Footer Placeholder 3">
            <a:extLst>
              <a:ext uri="{FF2B5EF4-FFF2-40B4-BE49-F238E27FC236}">
                <a16:creationId xmlns:a16="http://schemas.microsoft.com/office/drawing/2014/main" id="{06399ACC-9C30-918D-03BA-E7633B821A2B}"/>
              </a:ext>
            </a:extLst>
          </p:cNvPr>
          <p:cNvSpPr>
            <a:spLocks noGrp="1"/>
          </p:cNvSpPr>
          <p:nvPr>
            <p:ph type="ftr" sz="quarter" idx="11"/>
          </p:nvPr>
        </p:nvSpPr>
        <p:spPr/>
        <p:txBody>
          <a:bodyPr/>
          <a:lstStyle/>
          <a:p>
            <a:r>
              <a:rPr lang="en-US"/>
              <a:t>Department of Computing © Saim Ghafoor 2025</a:t>
            </a:r>
            <a:endParaRPr lang="en-IE" dirty="0"/>
          </a:p>
        </p:txBody>
      </p:sp>
      <p:pic>
        <p:nvPicPr>
          <p:cNvPr id="6" name="Picture 5">
            <a:extLst>
              <a:ext uri="{FF2B5EF4-FFF2-40B4-BE49-F238E27FC236}">
                <a16:creationId xmlns:a16="http://schemas.microsoft.com/office/drawing/2014/main" id="{38B5BB38-7579-F67A-34C6-5D1E5F16DEF1}"/>
              </a:ext>
            </a:extLst>
          </p:cNvPr>
          <p:cNvPicPr>
            <a:picLocks noChangeAspect="1"/>
          </p:cNvPicPr>
          <p:nvPr/>
        </p:nvPicPr>
        <p:blipFill>
          <a:blip r:embed="rId2"/>
          <a:stretch>
            <a:fillRect/>
          </a:stretch>
        </p:blipFill>
        <p:spPr>
          <a:xfrm>
            <a:off x="6549738" y="3756111"/>
            <a:ext cx="3966976" cy="26002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26" name="Picture 2" descr="Xunfei Jiang">
            <a:extLst>
              <a:ext uri="{FF2B5EF4-FFF2-40B4-BE49-F238E27FC236}">
                <a16:creationId xmlns:a16="http://schemas.microsoft.com/office/drawing/2014/main" id="{B80DF9ED-9A45-9333-C054-49187177A87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46643" y="49904"/>
            <a:ext cx="8045357" cy="35910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28" name="Picture 4" descr="Typical intra data center network architecture. | Download Scientific  Diagram">
            <a:extLst>
              <a:ext uri="{FF2B5EF4-FFF2-40B4-BE49-F238E27FC236}">
                <a16:creationId xmlns:a16="http://schemas.microsoft.com/office/drawing/2014/main" id="{00A0353C-6F54-1436-ACEF-4B2F3A72E5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733" y="3202745"/>
            <a:ext cx="4356461" cy="34935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5775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22889-EC17-E5DA-1BC0-F133E57C7326}"/>
              </a:ext>
            </a:extLst>
          </p:cNvPr>
          <p:cNvSpPr>
            <a:spLocks noGrp="1"/>
          </p:cNvSpPr>
          <p:nvPr>
            <p:ph type="title"/>
          </p:nvPr>
        </p:nvSpPr>
        <p:spPr/>
        <p:txBody>
          <a:bodyPr/>
          <a:lstStyle/>
          <a:p>
            <a:r>
              <a:rPr lang="en-IE" dirty="0"/>
              <a:t>Where it came from</a:t>
            </a:r>
          </a:p>
        </p:txBody>
      </p:sp>
      <p:sp>
        <p:nvSpPr>
          <p:cNvPr id="3" name="Content Placeholder 2">
            <a:extLst>
              <a:ext uri="{FF2B5EF4-FFF2-40B4-BE49-F238E27FC236}">
                <a16:creationId xmlns:a16="http://schemas.microsoft.com/office/drawing/2014/main" id="{34AEB925-E7B4-39EE-5916-E73ABD585475}"/>
              </a:ext>
            </a:extLst>
          </p:cNvPr>
          <p:cNvSpPr>
            <a:spLocks noGrp="1"/>
          </p:cNvSpPr>
          <p:nvPr>
            <p:ph idx="1"/>
          </p:nvPr>
        </p:nvSpPr>
        <p:spPr/>
        <p:txBody>
          <a:bodyPr/>
          <a:lstStyle/>
          <a:p>
            <a:r>
              <a:rPr lang="en-IE" dirty="0"/>
              <a:t>Problems in the distributed configuration</a:t>
            </a:r>
          </a:p>
          <a:p>
            <a:pPr lvl="1"/>
            <a:r>
              <a:rPr lang="en-IE" dirty="0"/>
              <a:t>Buggy, unpredictable</a:t>
            </a:r>
          </a:p>
          <a:p>
            <a:pPr lvl="1"/>
            <a:endParaRPr lang="en-IE" dirty="0"/>
          </a:p>
          <a:p>
            <a:r>
              <a:rPr lang="en-IE" dirty="0"/>
              <a:t>It would be easier, if any centralised controller will dictate the decisions and the forwarding </a:t>
            </a:r>
            <a:r>
              <a:rPr lang="en-IE" dirty="0" err="1"/>
              <a:t>behavior</a:t>
            </a:r>
            <a:r>
              <a:rPr lang="en-IE" dirty="0"/>
              <a:t>. </a:t>
            </a:r>
          </a:p>
          <a:p>
            <a:pPr lvl="1"/>
            <a:endParaRPr lang="en-IE" dirty="0"/>
          </a:p>
          <a:p>
            <a:endParaRPr lang="en-IE" dirty="0"/>
          </a:p>
        </p:txBody>
      </p:sp>
      <p:sp>
        <p:nvSpPr>
          <p:cNvPr id="4" name="Footer Placeholder 3">
            <a:extLst>
              <a:ext uri="{FF2B5EF4-FFF2-40B4-BE49-F238E27FC236}">
                <a16:creationId xmlns:a16="http://schemas.microsoft.com/office/drawing/2014/main" id="{BA92972A-7BBD-3652-53C4-64E1FEFA612D}"/>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3345457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CDA80-3C09-EE38-21E3-DAB93A1E826F}"/>
              </a:ext>
            </a:extLst>
          </p:cNvPr>
          <p:cNvSpPr>
            <a:spLocks noGrp="1"/>
          </p:cNvSpPr>
          <p:nvPr>
            <p:ph type="title"/>
          </p:nvPr>
        </p:nvSpPr>
        <p:spPr/>
        <p:txBody>
          <a:bodyPr/>
          <a:lstStyle/>
          <a:p>
            <a:r>
              <a:rPr lang="en-IE" dirty="0"/>
              <a:t>Evolution</a:t>
            </a:r>
          </a:p>
        </p:txBody>
      </p:sp>
      <p:sp>
        <p:nvSpPr>
          <p:cNvPr id="3" name="Content Placeholder 2">
            <a:extLst>
              <a:ext uri="{FF2B5EF4-FFF2-40B4-BE49-F238E27FC236}">
                <a16:creationId xmlns:a16="http://schemas.microsoft.com/office/drawing/2014/main" id="{746C8152-A4F4-9EBB-BA62-209EEA07713D}"/>
              </a:ext>
            </a:extLst>
          </p:cNvPr>
          <p:cNvSpPr>
            <a:spLocks noGrp="1"/>
          </p:cNvSpPr>
          <p:nvPr>
            <p:ph idx="1"/>
          </p:nvPr>
        </p:nvSpPr>
        <p:spPr/>
        <p:txBody>
          <a:bodyPr/>
          <a:lstStyle/>
          <a:p>
            <a:r>
              <a:rPr lang="en-IE" dirty="0"/>
              <a:t>Routing architecture</a:t>
            </a:r>
          </a:p>
          <a:p>
            <a:r>
              <a:rPr lang="en-IE" dirty="0"/>
              <a:t>4D </a:t>
            </a:r>
          </a:p>
          <a:p>
            <a:r>
              <a:rPr lang="en-IE" dirty="0"/>
              <a:t>Open flow: In which high level controller could control the </a:t>
            </a:r>
            <a:r>
              <a:rPr lang="en-IE" dirty="0" err="1"/>
              <a:t>behavior</a:t>
            </a:r>
            <a:r>
              <a:rPr lang="en-IE" dirty="0"/>
              <a:t> of switches.</a:t>
            </a:r>
          </a:p>
        </p:txBody>
      </p:sp>
      <p:sp>
        <p:nvSpPr>
          <p:cNvPr id="4" name="Footer Placeholder 3">
            <a:extLst>
              <a:ext uri="{FF2B5EF4-FFF2-40B4-BE49-F238E27FC236}">
                <a16:creationId xmlns:a16="http://schemas.microsoft.com/office/drawing/2014/main" id="{9326A47A-4F1B-9957-5FB8-45C30C4C1E3A}"/>
              </a:ext>
            </a:extLst>
          </p:cNvPr>
          <p:cNvSpPr>
            <a:spLocks noGrp="1"/>
          </p:cNvSpPr>
          <p:nvPr>
            <p:ph type="ftr" sz="quarter" idx="11"/>
          </p:nvPr>
        </p:nvSpPr>
        <p:spPr/>
        <p:txBody>
          <a:bodyPr/>
          <a:lstStyle/>
          <a:p>
            <a:r>
              <a:rPr lang="en-US"/>
              <a:t>Department of Computing © Saim Ghafoor 2025</a:t>
            </a:r>
            <a:endParaRPr lang="en-IE" dirty="0"/>
          </a:p>
        </p:txBody>
      </p:sp>
      <p:pic>
        <p:nvPicPr>
          <p:cNvPr id="6" name="Picture 5">
            <a:extLst>
              <a:ext uri="{FF2B5EF4-FFF2-40B4-BE49-F238E27FC236}">
                <a16:creationId xmlns:a16="http://schemas.microsoft.com/office/drawing/2014/main" id="{5D06E871-F3E0-6467-DFE6-D5045C5FFE71}"/>
              </a:ext>
            </a:extLst>
          </p:cNvPr>
          <p:cNvPicPr>
            <a:picLocks noChangeAspect="1"/>
          </p:cNvPicPr>
          <p:nvPr/>
        </p:nvPicPr>
        <p:blipFill>
          <a:blip r:embed="rId2"/>
          <a:stretch>
            <a:fillRect/>
          </a:stretch>
        </p:blipFill>
        <p:spPr>
          <a:xfrm>
            <a:off x="9010283" y="349860"/>
            <a:ext cx="2752725" cy="2219325"/>
          </a:xfrm>
          <a:prstGeom prst="rect">
            <a:avLst/>
          </a:prstGeom>
        </p:spPr>
      </p:pic>
    </p:spTree>
    <p:extLst>
      <p:ext uri="{BB962C8B-B14F-4D97-AF65-F5344CB8AC3E}">
        <p14:creationId xmlns:p14="http://schemas.microsoft.com/office/powerpoint/2010/main" val="3110499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5E49C-F4D0-CA68-F692-F9203852340A}"/>
              </a:ext>
            </a:extLst>
          </p:cNvPr>
          <p:cNvSpPr>
            <a:spLocks noGrp="1"/>
          </p:cNvSpPr>
          <p:nvPr>
            <p:ph type="title"/>
          </p:nvPr>
        </p:nvSpPr>
        <p:spPr/>
        <p:txBody>
          <a:bodyPr/>
          <a:lstStyle/>
          <a:p>
            <a:r>
              <a:rPr lang="en-IE" dirty="0"/>
              <a:t>Advantages</a:t>
            </a:r>
          </a:p>
        </p:txBody>
      </p:sp>
      <p:sp>
        <p:nvSpPr>
          <p:cNvPr id="3" name="Content Placeholder 2">
            <a:extLst>
              <a:ext uri="{FF2B5EF4-FFF2-40B4-BE49-F238E27FC236}">
                <a16:creationId xmlns:a16="http://schemas.microsoft.com/office/drawing/2014/main" id="{0D4FAC3C-0459-3F36-FCE4-48024FDEBE30}"/>
              </a:ext>
            </a:extLst>
          </p:cNvPr>
          <p:cNvSpPr>
            <a:spLocks noGrp="1"/>
          </p:cNvSpPr>
          <p:nvPr>
            <p:ph idx="1"/>
          </p:nvPr>
        </p:nvSpPr>
        <p:spPr/>
        <p:txBody>
          <a:bodyPr/>
          <a:lstStyle/>
          <a:p>
            <a:r>
              <a:rPr lang="en-IE" dirty="0"/>
              <a:t>Easier to coordinate </a:t>
            </a:r>
            <a:r>
              <a:rPr lang="en-IE" dirty="0" err="1"/>
              <a:t>behavior</a:t>
            </a:r>
            <a:r>
              <a:rPr lang="en-IE" dirty="0"/>
              <a:t> among a network of devices</a:t>
            </a:r>
          </a:p>
          <a:p>
            <a:r>
              <a:rPr lang="en-IE" dirty="0"/>
              <a:t>Load balancing, security policies</a:t>
            </a:r>
          </a:p>
          <a:p>
            <a:r>
              <a:rPr lang="en-IE" dirty="0"/>
              <a:t>Easier to evolve – hard in conventional HW which are bundled devices</a:t>
            </a:r>
          </a:p>
          <a:p>
            <a:r>
              <a:rPr lang="en-IE" dirty="0"/>
              <a:t>Easier to monitor from a high place – to look what is going on</a:t>
            </a:r>
          </a:p>
          <a:p>
            <a:r>
              <a:rPr lang="en-IE" dirty="0"/>
              <a:t>Apply different CS approaches like programming, ML, mathematical models etc</a:t>
            </a:r>
          </a:p>
        </p:txBody>
      </p:sp>
      <p:sp>
        <p:nvSpPr>
          <p:cNvPr id="4" name="Footer Placeholder 3">
            <a:extLst>
              <a:ext uri="{FF2B5EF4-FFF2-40B4-BE49-F238E27FC236}">
                <a16:creationId xmlns:a16="http://schemas.microsoft.com/office/drawing/2014/main" id="{41B34ABC-265E-43C0-2D7E-6E4DA494AD51}"/>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470052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DE3A9-3508-57CE-ABF0-4179AD4C97DC}"/>
              </a:ext>
            </a:extLst>
          </p:cNvPr>
          <p:cNvSpPr>
            <a:spLocks noGrp="1"/>
          </p:cNvSpPr>
          <p:nvPr>
            <p:ph type="title"/>
          </p:nvPr>
        </p:nvSpPr>
        <p:spPr>
          <a:xfrm>
            <a:off x="838200" y="216780"/>
            <a:ext cx="10515600" cy="931725"/>
          </a:xfrm>
        </p:spPr>
        <p:txBody>
          <a:bodyPr/>
          <a:lstStyle/>
          <a:p>
            <a:endParaRPr lang="en-IE" dirty="0"/>
          </a:p>
        </p:txBody>
      </p:sp>
      <p:sp>
        <p:nvSpPr>
          <p:cNvPr id="3" name="Content Placeholder 2">
            <a:extLst>
              <a:ext uri="{FF2B5EF4-FFF2-40B4-BE49-F238E27FC236}">
                <a16:creationId xmlns:a16="http://schemas.microsoft.com/office/drawing/2014/main" id="{8201BACE-A0BD-EAFE-CEDA-84595AAD40DA}"/>
              </a:ext>
            </a:extLst>
          </p:cNvPr>
          <p:cNvSpPr>
            <a:spLocks noGrp="1"/>
          </p:cNvSpPr>
          <p:nvPr>
            <p:ph idx="1"/>
          </p:nvPr>
        </p:nvSpPr>
        <p:spPr>
          <a:xfrm>
            <a:off x="613117" y="1381986"/>
            <a:ext cx="5158154" cy="4351338"/>
          </a:xfrm>
        </p:spPr>
        <p:txBody>
          <a:bodyPr>
            <a:normAutofit fontScale="85000" lnSpcReduction="10000"/>
          </a:bodyPr>
          <a:lstStyle/>
          <a:p>
            <a:r>
              <a:rPr lang="en-IE" dirty="0"/>
              <a:t>Virtualization</a:t>
            </a:r>
          </a:p>
          <a:p>
            <a:pPr lvl="1"/>
            <a:r>
              <a:rPr lang="en-IE" dirty="0"/>
              <a:t>Without worrying about where it is physically located</a:t>
            </a:r>
          </a:p>
          <a:p>
            <a:pPr lvl="1"/>
            <a:r>
              <a:rPr lang="en-IE" dirty="0"/>
              <a:t>How much it is</a:t>
            </a:r>
          </a:p>
          <a:p>
            <a:pPr lvl="1"/>
            <a:r>
              <a:rPr lang="en-IE" dirty="0"/>
              <a:t>How it is organized</a:t>
            </a:r>
          </a:p>
          <a:p>
            <a:r>
              <a:rPr lang="en-IE" dirty="0"/>
              <a:t>Orchestration</a:t>
            </a:r>
          </a:p>
          <a:p>
            <a:pPr lvl="1"/>
            <a:r>
              <a:rPr lang="en-IE" dirty="0"/>
              <a:t>Should be able to control and manage thousands of devices with one command</a:t>
            </a:r>
          </a:p>
          <a:p>
            <a:r>
              <a:rPr lang="en-IE" dirty="0"/>
              <a:t>Programmable</a:t>
            </a:r>
          </a:p>
          <a:p>
            <a:pPr lvl="1"/>
            <a:r>
              <a:rPr lang="en-IE" dirty="0"/>
              <a:t>Should be able to change </a:t>
            </a:r>
            <a:r>
              <a:rPr lang="en-IE" dirty="0" err="1"/>
              <a:t>behavior</a:t>
            </a:r>
            <a:r>
              <a:rPr lang="en-IE" dirty="0"/>
              <a:t> on fly</a:t>
            </a:r>
          </a:p>
          <a:p>
            <a:r>
              <a:rPr lang="en-IE" dirty="0"/>
              <a:t>Dynamic Scaling</a:t>
            </a:r>
          </a:p>
          <a:p>
            <a:pPr lvl="1"/>
            <a:r>
              <a:rPr lang="en-IE" dirty="0"/>
              <a:t>Should be able to change size, quantity, capacity</a:t>
            </a:r>
          </a:p>
        </p:txBody>
      </p:sp>
      <p:sp>
        <p:nvSpPr>
          <p:cNvPr id="4" name="Footer Placeholder 3">
            <a:extLst>
              <a:ext uri="{FF2B5EF4-FFF2-40B4-BE49-F238E27FC236}">
                <a16:creationId xmlns:a16="http://schemas.microsoft.com/office/drawing/2014/main" id="{E85910ED-0517-C372-C964-44C3A26FF306}"/>
              </a:ext>
            </a:extLst>
          </p:cNvPr>
          <p:cNvSpPr>
            <a:spLocks noGrp="1"/>
          </p:cNvSpPr>
          <p:nvPr>
            <p:ph type="ftr" sz="quarter" idx="11"/>
          </p:nvPr>
        </p:nvSpPr>
        <p:spPr/>
        <p:txBody>
          <a:bodyPr/>
          <a:lstStyle/>
          <a:p>
            <a:r>
              <a:rPr lang="en-US"/>
              <a:t>Department of Computing © Saim Ghafoor 2025</a:t>
            </a:r>
            <a:endParaRPr lang="en-IE" dirty="0"/>
          </a:p>
        </p:txBody>
      </p:sp>
      <p:sp>
        <p:nvSpPr>
          <p:cNvPr id="5" name="Content Placeholder 2">
            <a:extLst>
              <a:ext uri="{FF2B5EF4-FFF2-40B4-BE49-F238E27FC236}">
                <a16:creationId xmlns:a16="http://schemas.microsoft.com/office/drawing/2014/main" id="{5E063FFC-7995-308A-F611-418321999E90}"/>
              </a:ext>
            </a:extLst>
          </p:cNvPr>
          <p:cNvSpPr txBox="1">
            <a:spLocks/>
          </p:cNvSpPr>
          <p:nvPr/>
        </p:nvSpPr>
        <p:spPr>
          <a:xfrm>
            <a:off x="6420730" y="758962"/>
            <a:ext cx="5367996" cy="5597387"/>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dirty="0"/>
              <a:t>Automation</a:t>
            </a:r>
          </a:p>
          <a:p>
            <a:pPr lvl="1"/>
            <a:r>
              <a:rPr lang="en-IE" dirty="0"/>
              <a:t>Lowers </a:t>
            </a:r>
            <a:r>
              <a:rPr lang="en-IE" dirty="0" err="1"/>
              <a:t>OpEx</a:t>
            </a:r>
            <a:endParaRPr lang="en-IE" dirty="0"/>
          </a:p>
          <a:p>
            <a:pPr lvl="1"/>
            <a:r>
              <a:rPr lang="en-IE" dirty="0"/>
              <a:t>Reduces manual involvement</a:t>
            </a:r>
          </a:p>
          <a:p>
            <a:pPr lvl="1"/>
            <a:r>
              <a:rPr lang="en-IE" dirty="0"/>
              <a:t>Troubleshooting, reduce downtime, policy enforcement</a:t>
            </a:r>
          </a:p>
          <a:p>
            <a:pPr lvl="1"/>
            <a:r>
              <a:rPr lang="en-IE" dirty="0"/>
              <a:t>Provisioning and segmentation of resources</a:t>
            </a:r>
          </a:p>
          <a:p>
            <a:pPr lvl="1"/>
            <a:r>
              <a:rPr lang="en-IE" dirty="0"/>
              <a:t>Add new workloads, sites, devices, and resources</a:t>
            </a:r>
          </a:p>
          <a:p>
            <a:r>
              <a:rPr lang="en-IE" dirty="0"/>
              <a:t>Visibility and Monitoring</a:t>
            </a:r>
          </a:p>
          <a:p>
            <a:r>
              <a:rPr lang="en-IE" dirty="0"/>
              <a:t>Performance</a:t>
            </a:r>
          </a:p>
          <a:p>
            <a:pPr lvl="1"/>
            <a:r>
              <a:rPr lang="en-IE" dirty="0"/>
              <a:t>Optimise network device utilization and performance</a:t>
            </a:r>
          </a:p>
          <a:p>
            <a:pPr lvl="1"/>
            <a:r>
              <a:rPr lang="en-IE" dirty="0"/>
              <a:t>Traffic engineering and bandwidth management</a:t>
            </a:r>
          </a:p>
          <a:p>
            <a:pPr lvl="1"/>
            <a:r>
              <a:rPr lang="en-IE" dirty="0"/>
              <a:t>Capacity optimization</a:t>
            </a:r>
          </a:p>
          <a:p>
            <a:pPr lvl="1"/>
            <a:r>
              <a:rPr lang="en-IE" dirty="0"/>
              <a:t>Load balancing</a:t>
            </a:r>
          </a:p>
          <a:p>
            <a:pPr lvl="1"/>
            <a:r>
              <a:rPr lang="en-IE" dirty="0"/>
              <a:t>High utilization</a:t>
            </a:r>
          </a:p>
          <a:p>
            <a:r>
              <a:rPr lang="en-IE" dirty="0"/>
              <a:t>Fast failure handling</a:t>
            </a:r>
          </a:p>
          <a:p>
            <a:r>
              <a:rPr lang="en-IE" dirty="0"/>
              <a:t>Multi tenancy</a:t>
            </a:r>
          </a:p>
          <a:p>
            <a:pPr lvl="1"/>
            <a:r>
              <a:rPr lang="en-IE" dirty="0"/>
              <a:t>Tenancies need complete control over their addresses, topology, routing, and security</a:t>
            </a:r>
          </a:p>
          <a:p>
            <a:r>
              <a:rPr lang="en-IE" dirty="0"/>
              <a:t>Service integration</a:t>
            </a:r>
          </a:p>
          <a:p>
            <a:pPr lvl="1"/>
            <a:r>
              <a:rPr lang="en-IE" dirty="0"/>
              <a:t>Load balancers</a:t>
            </a:r>
          </a:p>
          <a:p>
            <a:pPr lvl="1"/>
            <a:r>
              <a:rPr lang="en-IE" dirty="0"/>
              <a:t>Firewalls</a:t>
            </a:r>
          </a:p>
          <a:p>
            <a:pPr lvl="1"/>
            <a:r>
              <a:rPr lang="en-IE" dirty="0"/>
              <a:t>Intrusion detection Systems</a:t>
            </a:r>
          </a:p>
        </p:txBody>
      </p:sp>
    </p:spTree>
    <p:extLst>
      <p:ext uri="{BB962C8B-B14F-4D97-AF65-F5344CB8AC3E}">
        <p14:creationId xmlns:p14="http://schemas.microsoft.com/office/powerpoint/2010/main" val="4116463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38211-1CBC-03A8-9E93-0B42D7529AB8}"/>
              </a:ext>
            </a:extLst>
          </p:cNvPr>
          <p:cNvSpPr>
            <a:spLocks noGrp="1"/>
          </p:cNvSpPr>
          <p:nvPr>
            <p:ph type="title"/>
          </p:nvPr>
        </p:nvSpPr>
        <p:spPr/>
        <p:txBody>
          <a:bodyPr/>
          <a:lstStyle/>
          <a:p>
            <a:r>
              <a:rPr lang="en-IE" dirty="0"/>
              <a:t>SDN Applications</a:t>
            </a:r>
          </a:p>
        </p:txBody>
      </p:sp>
      <p:sp>
        <p:nvSpPr>
          <p:cNvPr id="3" name="Content Placeholder 2">
            <a:extLst>
              <a:ext uri="{FF2B5EF4-FFF2-40B4-BE49-F238E27FC236}">
                <a16:creationId xmlns:a16="http://schemas.microsoft.com/office/drawing/2014/main" id="{1EE9BD09-81E3-EE88-DCEB-815E638B9B09}"/>
              </a:ext>
            </a:extLst>
          </p:cNvPr>
          <p:cNvSpPr>
            <a:spLocks noGrp="1"/>
          </p:cNvSpPr>
          <p:nvPr>
            <p:ph idx="1"/>
          </p:nvPr>
        </p:nvSpPr>
        <p:spPr/>
        <p:txBody>
          <a:bodyPr/>
          <a:lstStyle/>
          <a:p>
            <a:r>
              <a:rPr lang="en-IE" dirty="0"/>
              <a:t>Data Centres</a:t>
            </a:r>
          </a:p>
          <a:p>
            <a:r>
              <a:rPr lang="en-IE" dirty="0"/>
              <a:t>Wide Area Backbone Networks</a:t>
            </a:r>
          </a:p>
          <a:p>
            <a:r>
              <a:rPr lang="en-IE" dirty="0"/>
              <a:t>Enterprise networks</a:t>
            </a:r>
          </a:p>
          <a:p>
            <a:r>
              <a:rPr lang="en-IE" dirty="0"/>
              <a:t>Internet exchange points</a:t>
            </a:r>
          </a:p>
          <a:p>
            <a:r>
              <a:rPr lang="en-IE" dirty="0"/>
              <a:t>Home networks</a:t>
            </a:r>
          </a:p>
          <a:p>
            <a:r>
              <a:rPr lang="en-IE" dirty="0"/>
              <a:t>Wireless networks</a:t>
            </a:r>
          </a:p>
          <a:p>
            <a:r>
              <a:rPr lang="en-IE" dirty="0"/>
              <a:t>Internet of Things</a:t>
            </a:r>
          </a:p>
          <a:p>
            <a:endParaRPr lang="en-IE" dirty="0"/>
          </a:p>
        </p:txBody>
      </p:sp>
      <p:sp>
        <p:nvSpPr>
          <p:cNvPr id="4" name="Footer Placeholder 3">
            <a:extLst>
              <a:ext uri="{FF2B5EF4-FFF2-40B4-BE49-F238E27FC236}">
                <a16:creationId xmlns:a16="http://schemas.microsoft.com/office/drawing/2014/main" id="{5B5A0C64-BB5D-D09C-EB37-44C0D9E2B94D}"/>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3584384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B89E2-01D6-E01B-C0B6-37E613618BD3}"/>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7E7575D5-92F1-2EEF-0345-B8449590A4E0}"/>
              </a:ext>
            </a:extLst>
          </p:cNvPr>
          <p:cNvSpPr>
            <a:spLocks noGrp="1"/>
          </p:cNvSpPr>
          <p:nvPr>
            <p:ph idx="1"/>
          </p:nvPr>
        </p:nvSpPr>
        <p:spPr>
          <a:xfrm>
            <a:off x="838200" y="1825625"/>
            <a:ext cx="4657531" cy="4351338"/>
          </a:xfrm>
        </p:spPr>
        <p:style>
          <a:lnRef idx="2">
            <a:schemeClr val="dk1"/>
          </a:lnRef>
          <a:fillRef idx="1">
            <a:schemeClr val="lt1"/>
          </a:fillRef>
          <a:effectRef idx="0">
            <a:schemeClr val="dk1"/>
          </a:effectRef>
          <a:fontRef idx="minor">
            <a:schemeClr val="dk1"/>
          </a:fontRef>
        </p:style>
        <p:txBody>
          <a:bodyPr>
            <a:normAutofit fontScale="70000" lnSpcReduction="20000"/>
          </a:bodyPr>
          <a:lstStyle/>
          <a:p>
            <a:r>
              <a:rPr lang="en-IE" b="1" dirty="0"/>
              <a:t>In Data Centres</a:t>
            </a:r>
          </a:p>
          <a:p>
            <a:pPr marL="0" indent="0">
              <a:buNone/>
            </a:pPr>
            <a:r>
              <a:rPr lang="en-IE" b="1" dirty="0"/>
              <a:t>Hyperscale operators (Google, Microsoft, Meta, Amazon):</a:t>
            </a:r>
            <a:r>
              <a:rPr lang="en-IE" dirty="0"/>
              <a:t> They’ve been using SDN in their private data centres for years to optimise east-west traffic, load balancing, and multi-tenant isolation. For example, Google’s </a:t>
            </a:r>
            <a:r>
              <a:rPr lang="en-IE" b="1" dirty="0"/>
              <a:t>B4 WAN</a:t>
            </a:r>
            <a:r>
              <a:rPr lang="en-IE" dirty="0"/>
              <a:t> and Microsoft’s </a:t>
            </a:r>
            <a:r>
              <a:rPr lang="en-IE" b="1" dirty="0"/>
              <a:t>VL2</a:t>
            </a:r>
            <a:r>
              <a:rPr lang="en-IE" dirty="0"/>
              <a:t> are SDN-based fabrics.</a:t>
            </a:r>
          </a:p>
          <a:p>
            <a:pPr marL="0" indent="0">
              <a:buNone/>
            </a:pPr>
            <a:r>
              <a:rPr lang="en-IE" b="1" dirty="0"/>
              <a:t>Enterprise data centres:</a:t>
            </a:r>
            <a:r>
              <a:rPr lang="en-IE" dirty="0"/>
              <a:t> Many enterprises use </a:t>
            </a:r>
            <a:r>
              <a:rPr lang="en-IE" b="1" dirty="0"/>
              <a:t>VMware NSX</a:t>
            </a:r>
            <a:r>
              <a:rPr lang="en-IE" dirty="0"/>
              <a:t>, </a:t>
            </a:r>
            <a:r>
              <a:rPr lang="en-IE" b="1" dirty="0"/>
              <a:t>Cisco ACI</a:t>
            </a:r>
            <a:r>
              <a:rPr lang="en-IE" dirty="0"/>
              <a:t>, or </a:t>
            </a:r>
            <a:r>
              <a:rPr lang="en-IE" b="1" dirty="0" err="1"/>
              <a:t>OpenDaylight</a:t>
            </a:r>
            <a:r>
              <a:rPr lang="en-IE" dirty="0"/>
              <a:t> to get centralised network control, </a:t>
            </a:r>
            <a:r>
              <a:rPr lang="en-IE" dirty="0" err="1"/>
              <a:t>microsegmentation</a:t>
            </a:r>
            <a:r>
              <a:rPr lang="en-IE" dirty="0"/>
              <a:t>, and network automation.</a:t>
            </a:r>
          </a:p>
          <a:p>
            <a:pPr marL="0" indent="0">
              <a:buNone/>
            </a:pPr>
            <a:r>
              <a:rPr lang="en-IE" b="1" dirty="0"/>
              <a:t>Network slicing and security:</a:t>
            </a:r>
            <a:r>
              <a:rPr lang="en-IE" dirty="0"/>
              <a:t> SDN allows granular control of traffic policies, especially for microservices-based workloads.</a:t>
            </a:r>
          </a:p>
          <a:p>
            <a:endParaRPr lang="en-IE" dirty="0"/>
          </a:p>
        </p:txBody>
      </p:sp>
      <p:sp>
        <p:nvSpPr>
          <p:cNvPr id="4" name="Footer Placeholder 3">
            <a:extLst>
              <a:ext uri="{FF2B5EF4-FFF2-40B4-BE49-F238E27FC236}">
                <a16:creationId xmlns:a16="http://schemas.microsoft.com/office/drawing/2014/main" id="{C332C246-5FA7-2034-DCCF-DB46774449C8}"/>
              </a:ext>
            </a:extLst>
          </p:cNvPr>
          <p:cNvSpPr>
            <a:spLocks noGrp="1"/>
          </p:cNvSpPr>
          <p:nvPr>
            <p:ph type="ftr" sz="quarter" idx="11"/>
          </p:nvPr>
        </p:nvSpPr>
        <p:spPr/>
        <p:txBody>
          <a:bodyPr/>
          <a:lstStyle/>
          <a:p>
            <a:r>
              <a:rPr lang="en-US"/>
              <a:t>Department of Computing © Saim Ghafoor 2025</a:t>
            </a:r>
            <a:endParaRPr lang="en-IE" dirty="0"/>
          </a:p>
        </p:txBody>
      </p:sp>
      <p:sp>
        <p:nvSpPr>
          <p:cNvPr id="5" name="Content Placeholder 2">
            <a:extLst>
              <a:ext uri="{FF2B5EF4-FFF2-40B4-BE49-F238E27FC236}">
                <a16:creationId xmlns:a16="http://schemas.microsoft.com/office/drawing/2014/main" id="{29E9C2F2-E758-98B9-9E31-0ACF56CFFF00}"/>
              </a:ext>
            </a:extLst>
          </p:cNvPr>
          <p:cNvSpPr txBox="1">
            <a:spLocks/>
          </p:cNvSpPr>
          <p:nvPr/>
        </p:nvSpPr>
        <p:spPr>
          <a:xfrm>
            <a:off x="6696271" y="2005012"/>
            <a:ext cx="4349620" cy="4351338"/>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b="1" dirty="0"/>
              <a:t>In Cloud</a:t>
            </a:r>
          </a:p>
          <a:p>
            <a:r>
              <a:rPr lang="en-IE" b="1" dirty="0"/>
              <a:t>Public cloud providers:</a:t>
            </a:r>
            <a:r>
              <a:rPr lang="en-IE" dirty="0"/>
              <a:t> AWS, Azure, and Google Cloud all use SDN under the hood to virtualise networking.</a:t>
            </a:r>
          </a:p>
          <a:p>
            <a:pPr lvl="1"/>
            <a:r>
              <a:rPr lang="en-IE" dirty="0"/>
              <a:t>AWS uses </a:t>
            </a:r>
            <a:r>
              <a:rPr lang="en-IE" b="1" dirty="0"/>
              <a:t>VPCs, security groups, and Transit Gateway</a:t>
            </a:r>
            <a:r>
              <a:rPr lang="en-IE" dirty="0"/>
              <a:t> implemented with SDN concepts.</a:t>
            </a:r>
          </a:p>
          <a:p>
            <a:pPr lvl="1"/>
            <a:r>
              <a:rPr lang="en-IE" dirty="0"/>
              <a:t>Azure’s </a:t>
            </a:r>
            <a:r>
              <a:rPr lang="en-IE" b="1" dirty="0"/>
              <a:t>Virtual Network (</a:t>
            </a:r>
            <a:r>
              <a:rPr lang="en-IE" b="1" dirty="0" err="1"/>
              <a:t>VNet</a:t>
            </a:r>
            <a:r>
              <a:rPr lang="en-IE" b="1" dirty="0"/>
              <a:t>)</a:t>
            </a:r>
            <a:r>
              <a:rPr lang="en-IE" dirty="0"/>
              <a:t> and Google Cloud’s </a:t>
            </a:r>
            <a:r>
              <a:rPr lang="en-IE" b="1" dirty="0"/>
              <a:t>VPC</a:t>
            </a:r>
            <a:r>
              <a:rPr lang="en-IE" dirty="0"/>
              <a:t> rely on SDN for programmable, multi-tenant isolation.</a:t>
            </a:r>
          </a:p>
          <a:p>
            <a:r>
              <a:rPr lang="en-IE" b="1" dirty="0"/>
              <a:t>Multi-cloud and hybrid setups:</a:t>
            </a:r>
            <a:r>
              <a:rPr lang="en-IE" dirty="0"/>
              <a:t> SDN controllers (like </a:t>
            </a:r>
            <a:r>
              <a:rPr lang="en-IE" b="1" dirty="0"/>
              <a:t>VMware NSX-T</a:t>
            </a:r>
            <a:r>
              <a:rPr lang="en-IE" dirty="0"/>
              <a:t> or </a:t>
            </a:r>
            <a:r>
              <a:rPr lang="en-IE" b="1" dirty="0"/>
              <a:t>Open </a:t>
            </a:r>
            <a:r>
              <a:rPr lang="en-IE" b="1" dirty="0" err="1"/>
              <a:t>vSwitch</a:t>
            </a:r>
            <a:r>
              <a:rPr lang="en-IE" dirty="0"/>
              <a:t>) make it possible to stretch networks across on-prem and cloud, crucial for hybrid deployments.</a:t>
            </a:r>
          </a:p>
          <a:p>
            <a:endParaRPr lang="en-IE" dirty="0"/>
          </a:p>
        </p:txBody>
      </p:sp>
    </p:spTree>
    <p:extLst>
      <p:ext uri="{BB962C8B-B14F-4D97-AF65-F5344CB8AC3E}">
        <p14:creationId xmlns:p14="http://schemas.microsoft.com/office/powerpoint/2010/main" val="999882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0D47C-846E-D0A5-873E-97483748F904}"/>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D784859D-C4F2-134C-F027-BE6BAA73C821}"/>
              </a:ext>
            </a:extLst>
          </p:cNvPr>
          <p:cNvSpPr>
            <a:spLocks noGrp="1"/>
          </p:cNvSpPr>
          <p:nvPr>
            <p:ph idx="1"/>
          </p:nvPr>
        </p:nvSpPr>
        <p:spPr/>
        <p:txBody>
          <a:bodyPr/>
          <a:lstStyle/>
          <a:p>
            <a:r>
              <a:rPr lang="en-IE" dirty="0"/>
              <a:t>Customised hardware</a:t>
            </a:r>
          </a:p>
          <a:p>
            <a:r>
              <a:rPr lang="en-IE" dirty="0"/>
              <a:t>Ethane </a:t>
            </a:r>
          </a:p>
          <a:p>
            <a:pPr lvl="1"/>
            <a:r>
              <a:rPr lang="en-IE" dirty="0"/>
              <a:t>Network architecture for the enterprise</a:t>
            </a:r>
          </a:p>
          <a:p>
            <a:pPr lvl="1"/>
            <a:r>
              <a:rPr lang="en-IE" dirty="0"/>
              <a:t>Direct enforcement of a single fine-grained network policy </a:t>
            </a:r>
          </a:p>
          <a:p>
            <a:pPr lvl="1"/>
            <a:r>
              <a:rPr lang="en-IE" dirty="0"/>
              <a:t>Domain controller computer flow table entries based in access control polices</a:t>
            </a:r>
          </a:p>
          <a:p>
            <a:pPr lvl="1"/>
            <a:r>
              <a:rPr lang="en-IE" dirty="0"/>
              <a:t>Custom switches: </a:t>
            </a:r>
            <a:r>
              <a:rPr lang="en-IE" dirty="0" err="1"/>
              <a:t>OpenWrt</a:t>
            </a:r>
            <a:r>
              <a:rPr lang="en-IE" dirty="0"/>
              <a:t>, </a:t>
            </a:r>
            <a:r>
              <a:rPr lang="en-IE" dirty="0" err="1"/>
              <a:t>NetFPGA</a:t>
            </a:r>
            <a:r>
              <a:rPr lang="en-IE" dirty="0"/>
              <a:t>, Linux</a:t>
            </a:r>
          </a:p>
          <a:p>
            <a:pPr lvl="1"/>
            <a:r>
              <a:rPr lang="en-IE" dirty="0"/>
              <a:t>Problem: Requires custom switches that support ethane protocol</a:t>
            </a:r>
          </a:p>
        </p:txBody>
      </p:sp>
      <p:sp>
        <p:nvSpPr>
          <p:cNvPr id="4" name="Footer Placeholder 3">
            <a:extLst>
              <a:ext uri="{FF2B5EF4-FFF2-40B4-BE49-F238E27FC236}">
                <a16:creationId xmlns:a16="http://schemas.microsoft.com/office/drawing/2014/main" id="{133D4734-273E-91CB-EE0B-52A310EC55AF}"/>
              </a:ext>
            </a:extLst>
          </p:cNvPr>
          <p:cNvSpPr>
            <a:spLocks noGrp="1"/>
          </p:cNvSpPr>
          <p:nvPr>
            <p:ph type="ftr" sz="quarter" idx="11"/>
          </p:nvPr>
        </p:nvSpPr>
        <p:spPr/>
        <p:txBody>
          <a:bodyPr/>
          <a:lstStyle/>
          <a:p>
            <a:r>
              <a:rPr lang="en-US"/>
              <a:t>Department of Computing © Saim Ghafoor 2025</a:t>
            </a:r>
            <a:endParaRPr lang="en-IE" dirty="0"/>
          </a:p>
        </p:txBody>
      </p:sp>
      <p:sp>
        <p:nvSpPr>
          <p:cNvPr id="5" name="TextBox 4">
            <a:extLst>
              <a:ext uri="{FF2B5EF4-FFF2-40B4-BE49-F238E27FC236}">
                <a16:creationId xmlns:a16="http://schemas.microsoft.com/office/drawing/2014/main" id="{0C8E5E0E-4533-EC6F-D2D7-54FDDA990A04}"/>
              </a:ext>
            </a:extLst>
          </p:cNvPr>
          <p:cNvSpPr txBox="1"/>
          <p:nvPr/>
        </p:nvSpPr>
        <p:spPr>
          <a:xfrm>
            <a:off x="526473" y="5195455"/>
            <a:ext cx="11139501" cy="1200329"/>
          </a:xfrm>
          <a:prstGeom prst="rect">
            <a:avLst/>
          </a:prstGeom>
          <a:noFill/>
        </p:spPr>
        <p:txBody>
          <a:bodyPr wrap="square" rtlCol="0">
            <a:spAutoFit/>
          </a:bodyPr>
          <a:lstStyle/>
          <a:p>
            <a:r>
              <a:rPr lang="en-IE" dirty="0"/>
              <a:t>What are we looking for?</a:t>
            </a:r>
          </a:p>
          <a:p>
            <a:r>
              <a:rPr lang="en-IE" dirty="0"/>
              <a:t>We are looking for something that gets us the best of both worlds: that could operate on existing protocols yet wouldn’t require customising the hardware.</a:t>
            </a:r>
          </a:p>
          <a:p>
            <a:r>
              <a:rPr lang="en-IE" dirty="0"/>
              <a:t>OpenFlow is the answer</a:t>
            </a:r>
          </a:p>
        </p:txBody>
      </p:sp>
    </p:spTree>
    <p:extLst>
      <p:ext uri="{BB962C8B-B14F-4D97-AF65-F5344CB8AC3E}">
        <p14:creationId xmlns:p14="http://schemas.microsoft.com/office/powerpoint/2010/main" val="3161962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838200" y="125132"/>
            <a:ext cx="10515600" cy="931725"/>
          </a:xfrm>
        </p:spPr>
        <p:txBody>
          <a:bodyPr/>
          <a:lstStyle/>
          <a:p>
            <a:r>
              <a:rPr lang="en-US" altLang="ko-KR" dirty="0"/>
              <a:t>Hardware-based OpenFlow Switches</a:t>
            </a:r>
            <a:endParaRPr lang="ko-KR" altLang="en-US" dirty="0"/>
          </a:p>
        </p:txBody>
      </p:sp>
      <p:sp>
        <p:nvSpPr>
          <p:cNvPr id="4" name="AutoShape 2"/>
          <p:cNvSpPr>
            <a:spLocks noChangeArrowheads="1"/>
          </p:cNvSpPr>
          <p:nvPr>
            <p:custDataLst>
              <p:tags r:id="rId1"/>
            </p:custDataLst>
          </p:nvPr>
        </p:nvSpPr>
        <p:spPr bwMode="gray">
          <a:xfrm>
            <a:off x="4800601" y="4720935"/>
            <a:ext cx="2519363" cy="1366838"/>
          </a:xfrm>
          <a:prstGeom prst="roundRect">
            <a:avLst>
              <a:gd name="adj" fmla="val 3907"/>
            </a:avLst>
          </a:prstGeom>
          <a:gradFill rotWithShape="0">
            <a:gsLst>
              <a:gs pos="0">
                <a:schemeClr val="bg1"/>
              </a:gs>
              <a:gs pos="100000">
                <a:schemeClr val="bg1">
                  <a:gamma/>
                  <a:shade val="86275"/>
                  <a:invGamma/>
                </a:schemeClr>
              </a:gs>
            </a:gsLst>
            <a:lin ang="5400000" scaled="1"/>
          </a:gradFill>
          <a:ln w="9525">
            <a:solidFill>
              <a:srgbClr val="969696"/>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72000" tIns="396000" rIns="72000" bIns="72000"/>
          <a:lstStyle/>
          <a:p>
            <a:pPr marL="136525" indent="-136525" eaLnBrk="0" hangingPunct="0">
              <a:lnSpc>
                <a:spcPct val="90000"/>
              </a:lnSpc>
              <a:spcBef>
                <a:spcPct val="10000"/>
              </a:spcBef>
              <a:buClr>
                <a:schemeClr val="tx2"/>
              </a:buClr>
              <a:buSzPct val="75000"/>
            </a:pPr>
            <a:endParaRPr lang="en-US" sz="1200">
              <a:latin typeface="Tele-GroteskNor" charset="0"/>
              <a:cs typeface="Times New Roman" charset="0"/>
            </a:endParaRPr>
          </a:p>
        </p:txBody>
      </p:sp>
      <p:sp>
        <p:nvSpPr>
          <p:cNvPr id="5" name="Auf der gleichen Seite des Rechtecks liegende Ecken abrunden 37"/>
          <p:cNvSpPr>
            <a:spLocks noChangeArrowheads="1"/>
          </p:cNvSpPr>
          <p:nvPr/>
        </p:nvSpPr>
        <p:spPr bwMode="auto">
          <a:xfrm>
            <a:off x="4800601" y="4649498"/>
            <a:ext cx="2519363" cy="360362"/>
          </a:xfrm>
          <a:prstGeom prst="round2SameRect">
            <a:avLst/>
          </a:prstGeom>
          <a:gradFill rotWithShape="1">
            <a:gsLst>
              <a:gs pos="0">
                <a:srgbClr val="BDBDBD"/>
              </a:gs>
              <a:gs pos="39999">
                <a:srgbClr val="404040"/>
              </a:gs>
              <a:gs pos="41000">
                <a:srgbClr val="000000"/>
              </a:gs>
              <a:gs pos="100000">
                <a:srgbClr val="080808"/>
              </a:gs>
            </a:gsLst>
            <a:lin ang="5400000" scaled="1"/>
          </a:gradFill>
          <a:ln w="9525" algn="ctr">
            <a:solidFill>
              <a:srgbClr val="333333"/>
            </a:solidFill>
            <a:round/>
            <a:headEnd/>
            <a:tailEnd/>
          </a:ln>
          <a:effectLst/>
        </p:spPr>
        <p:txBody>
          <a:bodyPr anchor="ctr"/>
          <a:lstStyle/>
          <a:p>
            <a:pPr algn="ctr">
              <a:lnSpc>
                <a:spcPct val="90000"/>
              </a:lnSpc>
            </a:pPr>
            <a:r>
              <a:rPr lang="en-GB" sz="1600">
                <a:solidFill>
                  <a:schemeClr val="bg1"/>
                </a:solidFill>
                <a:latin typeface="Tele-GroteskFet" charset="0"/>
              </a:rPr>
              <a:t>Ciena Coredirector</a:t>
            </a:r>
          </a:p>
        </p:txBody>
      </p:sp>
      <p:sp>
        <p:nvSpPr>
          <p:cNvPr id="6" name="AutoShape 4"/>
          <p:cNvSpPr>
            <a:spLocks noChangeArrowheads="1"/>
          </p:cNvSpPr>
          <p:nvPr>
            <p:custDataLst>
              <p:tags r:id="rId2"/>
            </p:custDataLst>
          </p:nvPr>
        </p:nvSpPr>
        <p:spPr bwMode="gray">
          <a:xfrm>
            <a:off x="7840663" y="2973099"/>
            <a:ext cx="2519362" cy="1366837"/>
          </a:xfrm>
          <a:prstGeom prst="roundRect">
            <a:avLst>
              <a:gd name="adj" fmla="val 3907"/>
            </a:avLst>
          </a:prstGeom>
          <a:gradFill rotWithShape="0">
            <a:gsLst>
              <a:gs pos="0">
                <a:schemeClr val="bg1"/>
              </a:gs>
              <a:gs pos="100000">
                <a:schemeClr val="bg1">
                  <a:gamma/>
                  <a:shade val="86275"/>
                  <a:invGamma/>
                </a:schemeClr>
              </a:gs>
            </a:gsLst>
            <a:lin ang="5400000" scaled="1"/>
          </a:gradFill>
          <a:ln w="9525">
            <a:solidFill>
              <a:srgbClr val="969696"/>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72000" tIns="396000" rIns="72000" bIns="72000"/>
          <a:lstStyle/>
          <a:p>
            <a:pPr marL="136525" indent="-136525" eaLnBrk="0" hangingPunct="0">
              <a:lnSpc>
                <a:spcPct val="90000"/>
              </a:lnSpc>
              <a:spcBef>
                <a:spcPct val="10000"/>
              </a:spcBef>
              <a:buClr>
                <a:schemeClr val="tx2"/>
              </a:buClr>
              <a:buSzPct val="75000"/>
            </a:pPr>
            <a:endParaRPr lang="en-US" sz="1200">
              <a:latin typeface="Tele-GroteskNor" charset="0"/>
              <a:cs typeface="Times New Roman" charset="0"/>
            </a:endParaRPr>
          </a:p>
        </p:txBody>
      </p:sp>
      <p:sp>
        <p:nvSpPr>
          <p:cNvPr id="7" name="AutoShape 5"/>
          <p:cNvSpPr>
            <a:spLocks noChangeArrowheads="1"/>
          </p:cNvSpPr>
          <p:nvPr>
            <p:custDataLst>
              <p:tags r:id="rId3"/>
            </p:custDataLst>
          </p:nvPr>
        </p:nvSpPr>
        <p:spPr bwMode="gray">
          <a:xfrm>
            <a:off x="4827588" y="1339560"/>
            <a:ext cx="2519362" cy="1366838"/>
          </a:xfrm>
          <a:prstGeom prst="roundRect">
            <a:avLst>
              <a:gd name="adj" fmla="val 3907"/>
            </a:avLst>
          </a:prstGeom>
          <a:gradFill rotWithShape="0">
            <a:gsLst>
              <a:gs pos="0">
                <a:schemeClr val="bg1"/>
              </a:gs>
              <a:gs pos="100000">
                <a:schemeClr val="bg1">
                  <a:gamma/>
                  <a:shade val="86275"/>
                  <a:invGamma/>
                </a:schemeClr>
              </a:gs>
            </a:gsLst>
            <a:lin ang="5400000" scaled="1"/>
          </a:gradFill>
          <a:ln w="9525">
            <a:solidFill>
              <a:srgbClr val="969696"/>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72000" tIns="396000" rIns="72000" bIns="72000"/>
          <a:lstStyle/>
          <a:p>
            <a:pPr marL="136525" indent="-136525" eaLnBrk="0" hangingPunct="0">
              <a:lnSpc>
                <a:spcPct val="90000"/>
              </a:lnSpc>
              <a:spcBef>
                <a:spcPct val="10000"/>
              </a:spcBef>
              <a:buClr>
                <a:schemeClr val="tx2"/>
              </a:buClr>
              <a:buSzPct val="75000"/>
            </a:pPr>
            <a:endParaRPr lang="en-US" sz="1200">
              <a:latin typeface="Tele-GroteskNor" charset="0"/>
              <a:cs typeface="Times New Roman" charset="0"/>
            </a:endParaRPr>
          </a:p>
        </p:txBody>
      </p:sp>
      <p:sp>
        <p:nvSpPr>
          <p:cNvPr id="8" name="Auf der gleichen Seite des Rechtecks liegende Ecken abrunden 37"/>
          <p:cNvSpPr>
            <a:spLocks noChangeArrowheads="1"/>
          </p:cNvSpPr>
          <p:nvPr/>
        </p:nvSpPr>
        <p:spPr bwMode="auto">
          <a:xfrm>
            <a:off x="4827588" y="1339561"/>
            <a:ext cx="2519362" cy="360363"/>
          </a:xfrm>
          <a:prstGeom prst="round2SameRect">
            <a:avLst/>
          </a:prstGeom>
          <a:gradFill rotWithShape="1">
            <a:gsLst>
              <a:gs pos="0">
                <a:srgbClr val="BDBDBD"/>
              </a:gs>
              <a:gs pos="39999">
                <a:srgbClr val="404040"/>
              </a:gs>
              <a:gs pos="41000">
                <a:srgbClr val="000000"/>
              </a:gs>
              <a:gs pos="100000">
                <a:srgbClr val="080808"/>
              </a:gs>
            </a:gsLst>
            <a:lin ang="5400000" scaled="1"/>
          </a:gradFill>
          <a:ln w="9525" algn="ctr">
            <a:solidFill>
              <a:srgbClr val="333333"/>
            </a:solidFill>
            <a:round/>
            <a:headEnd/>
            <a:tailEnd/>
          </a:ln>
          <a:effectLst/>
        </p:spPr>
        <p:txBody>
          <a:bodyPr anchor="ctr"/>
          <a:lstStyle/>
          <a:p>
            <a:pPr algn="ctr">
              <a:lnSpc>
                <a:spcPct val="90000"/>
              </a:lnSpc>
            </a:pPr>
            <a:r>
              <a:rPr lang="en-GB" sz="1600">
                <a:solidFill>
                  <a:schemeClr val="bg1"/>
                </a:solidFill>
                <a:latin typeface="Tele-GroteskFet" charset="0"/>
              </a:rPr>
              <a:t>NEC IP8800</a:t>
            </a:r>
          </a:p>
        </p:txBody>
      </p:sp>
      <p:sp>
        <p:nvSpPr>
          <p:cNvPr id="9" name="AutoShape 7"/>
          <p:cNvSpPr>
            <a:spLocks noChangeArrowheads="1"/>
          </p:cNvSpPr>
          <p:nvPr>
            <p:custDataLst>
              <p:tags r:id="rId4"/>
            </p:custDataLst>
          </p:nvPr>
        </p:nvSpPr>
        <p:spPr bwMode="gray">
          <a:xfrm>
            <a:off x="7840663" y="1350674"/>
            <a:ext cx="2519362" cy="1366837"/>
          </a:xfrm>
          <a:prstGeom prst="roundRect">
            <a:avLst>
              <a:gd name="adj" fmla="val 3907"/>
            </a:avLst>
          </a:prstGeom>
          <a:gradFill rotWithShape="0">
            <a:gsLst>
              <a:gs pos="0">
                <a:schemeClr val="bg1"/>
              </a:gs>
              <a:gs pos="100000">
                <a:schemeClr val="bg1">
                  <a:gamma/>
                  <a:shade val="86275"/>
                  <a:invGamma/>
                </a:schemeClr>
              </a:gs>
            </a:gsLst>
            <a:lin ang="5400000" scaled="1"/>
          </a:gradFill>
          <a:ln w="9525">
            <a:solidFill>
              <a:srgbClr val="969696"/>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72000" tIns="396000" rIns="72000" bIns="72000"/>
          <a:lstStyle/>
          <a:p>
            <a:pPr marL="136525" indent="-136525" eaLnBrk="0" hangingPunct="0">
              <a:lnSpc>
                <a:spcPct val="90000"/>
              </a:lnSpc>
              <a:spcBef>
                <a:spcPct val="10000"/>
              </a:spcBef>
              <a:buClr>
                <a:schemeClr val="tx2"/>
              </a:buClr>
              <a:buSzPct val="75000"/>
            </a:pPr>
            <a:endParaRPr lang="en-US" sz="1200">
              <a:latin typeface="Tele-GroteskNor" charset="0"/>
              <a:cs typeface="Times New Roman" charset="0"/>
            </a:endParaRPr>
          </a:p>
        </p:txBody>
      </p:sp>
      <p:sp>
        <p:nvSpPr>
          <p:cNvPr id="10" name="AutoShape 8"/>
          <p:cNvSpPr>
            <a:spLocks noChangeArrowheads="1"/>
          </p:cNvSpPr>
          <p:nvPr>
            <p:custDataLst>
              <p:tags r:id="rId5"/>
            </p:custDataLst>
          </p:nvPr>
        </p:nvSpPr>
        <p:spPr bwMode="gray">
          <a:xfrm>
            <a:off x="1831976" y="2961985"/>
            <a:ext cx="2519363" cy="1366838"/>
          </a:xfrm>
          <a:prstGeom prst="roundRect">
            <a:avLst>
              <a:gd name="adj" fmla="val 3907"/>
            </a:avLst>
          </a:prstGeom>
          <a:gradFill rotWithShape="0">
            <a:gsLst>
              <a:gs pos="0">
                <a:schemeClr val="bg1"/>
              </a:gs>
              <a:gs pos="100000">
                <a:schemeClr val="bg1">
                  <a:gamma/>
                  <a:shade val="86275"/>
                  <a:invGamma/>
                </a:schemeClr>
              </a:gs>
            </a:gsLst>
            <a:lin ang="5400000" scaled="1"/>
          </a:gradFill>
          <a:ln w="9525">
            <a:solidFill>
              <a:srgbClr val="969696"/>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72000" tIns="396000" rIns="72000" bIns="72000"/>
          <a:lstStyle/>
          <a:p>
            <a:pPr marL="136525" indent="-136525" eaLnBrk="0" hangingPunct="0">
              <a:lnSpc>
                <a:spcPct val="90000"/>
              </a:lnSpc>
              <a:spcBef>
                <a:spcPct val="10000"/>
              </a:spcBef>
              <a:buClr>
                <a:schemeClr val="tx2"/>
              </a:buClr>
              <a:buSzPct val="75000"/>
            </a:pPr>
            <a:endParaRPr lang="en-US" sz="1200">
              <a:latin typeface="Tele-GroteskNor" charset="0"/>
              <a:cs typeface="Times New Roman" charset="0"/>
            </a:endParaRPr>
          </a:p>
        </p:txBody>
      </p:sp>
      <p:sp>
        <p:nvSpPr>
          <p:cNvPr id="11" name="AutoShape 9"/>
          <p:cNvSpPr>
            <a:spLocks noChangeArrowheads="1"/>
          </p:cNvSpPr>
          <p:nvPr>
            <p:custDataLst>
              <p:tags r:id="rId6"/>
            </p:custDataLst>
          </p:nvPr>
        </p:nvSpPr>
        <p:spPr bwMode="gray">
          <a:xfrm>
            <a:off x="1831976" y="4649499"/>
            <a:ext cx="2519363" cy="1366837"/>
          </a:xfrm>
          <a:prstGeom prst="roundRect">
            <a:avLst>
              <a:gd name="adj" fmla="val 4528"/>
            </a:avLst>
          </a:prstGeom>
          <a:gradFill rotWithShape="0">
            <a:gsLst>
              <a:gs pos="0">
                <a:schemeClr val="bg1"/>
              </a:gs>
              <a:gs pos="100000">
                <a:schemeClr val="bg1">
                  <a:gamma/>
                  <a:shade val="86275"/>
                  <a:invGamma/>
                </a:schemeClr>
              </a:gs>
            </a:gsLst>
            <a:lin ang="5400000" scaled="1"/>
          </a:gradFill>
          <a:ln w="9525">
            <a:solidFill>
              <a:srgbClr val="969696"/>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72000" tIns="396000" rIns="72000" bIns="72000"/>
          <a:lstStyle/>
          <a:p>
            <a:pPr marL="136525" indent="-136525" eaLnBrk="0" hangingPunct="0">
              <a:lnSpc>
                <a:spcPct val="90000"/>
              </a:lnSpc>
              <a:spcBef>
                <a:spcPct val="10000"/>
              </a:spcBef>
              <a:buClr>
                <a:schemeClr val="tx2"/>
              </a:buClr>
              <a:buSzPct val="75000"/>
            </a:pPr>
            <a:endParaRPr lang="en-US" sz="1200">
              <a:latin typeface="Tele-GroteskNor" charset="0"/>
              <a:cs typeface="Times New Roman" charset="0"/>
            </a:endParaRPr>
          </a:p>
        </p:txBody>
      </p:sp>
      <p:pic>
        <p:nvPicPr>
          <p:cNvPr id="12" name="Picture 3"/>
          <p:cNvPicPr>
            <a:picLocks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343151" y="3322348"/>
            <a:ext cx="1497013" cy="984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pic>
        <p:nvPicPr>
          <p:cNvPr id="13" name="Picture 4"/>
          <p:cNvPicPr>
            <a:picLocks noChangeArrowheads="1"/>
          </p:cNvPicPr>
          <p:nvPr/>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013325" y="1777710"/>
            <a:ext cx="2146300" cy="839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sp>
        <p:nvSpPr>
          <p:cNvPr id="14" name="Rectangle 9"/>
          <p:cNvSpPr>
            <a:spLocks/>
          </p:cNvSpPr>
          <p:nvPr/>
        </p:nvSpPr>
        <p:spPr bwMode="auto">
          <a:xfrm>
            <a:off x="2590800" y="2317461"/>
            <a:ext cx="2286000" cy="422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40638" bIns="0"/>
          <a:lstStyle/>
          <a:p>
            <a:pPr marL="39688"/>
            <a:endParaRPr lang="en-US">
              <a:cs typeface="Times New Roman" charset="0"/>
            </a:endParaRPr>
          </a:p>
        </p:txBody>
      </p:sp>
      <p:pic>
        <p:nvPicPr>
          <p:cNvPr id="15" name="Picture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688388" y="3385849"/>
            <a:ext cx="736600" cy="911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round/>
                <a:headEnd/>
                <a:tailEnd/>
              </a14:hiddenLine>
            </a:ext>
          </a:extLst>
        </p:spPr>
      </p:pic>
      <p:pic>
        <p:nvPicPr>
          <p:cNvPr id="16" name="Picture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445500" y="1780886"/>
            <a:ext cx="1308100" cy="873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round/>
                <a:headEnd/>
                <a:tailEnd/>
              </a14:hiddenLine>
            </a:ext>
          </a:extLst>
        </p:spPr>
      </p:pic>
      <p:pic>
        <p:nvPicPr>
          <p:cNvPr id="17" name="Picture 14"/>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60575" y="5271798"/>
            <a:ext cx="2063750" cy="6334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round/>
                <a:headEnd/>
                <a:tailEnd/>
              </a14:hiddenLine>
            </a:ext>
          </a:extLst>
        </p:spPr>
      </p:pic>
      <p:sp>
        <p:nvSpPr>
          <p:cNvPr id="19" name="AutoShape 18"/>
          <p:cNvSpPr>
            <a:spLocks noChangeArrowheads="1"/>
          </p:cNvSpPr>
          <p:nvPr>
            <p:custDataLst>
              <p:tags r:id="rId7"/>
            </p:custDataLst>
          </p:nvPr>
        </p:nvSpPr>
        <p:spPr bwMode="gray">
          <a:xfrm>
            <a:off x="1831976" y="1339560"/>
            <a:ext cx="2519363" cy="1366838"/>
          </a:xfrm>
          <a:prstGeom prst="roundRect">
            <a:avLst>
              <a:gd name="adj" fmla="val 3907"/>
            </a:avLst>
          </a:prstGeom>
          <a:gradFill rotWithShape="0">
            <a:gsLst>
              <a:gs pos="0">
                <a:schemeClr val="bg1"/>
              </a:gs>
              <a:gs pos="100000">
                <a:schemeClr val="bg1">
                  <a:gamma/>
                  <a:shade val="86275"/>
                  <a:invGamma/>
                </a:schemeClr>
              </a:gs>
            </a:gsLst>
            <a:lin ang="5400000" scaled="1"/>
          </a:gradFill>
          <a:ln w="9525">
            <a:solidFill>
              <a:srgbClr val="969696"/>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72000" tIns="396000" rIns="72000" bIns="72000"/>
          <a:lstStyle/>
          <a:p>
            <a:pPr marL="136525" indent="-136525" eaLnBrk="0" hangingPunct="0">
              <a:lnSpc>
                <a:spcPct val="90000"/>
              </a:lnSpc>
              <a:spcBef>
                <a:spcPct val="10000"/>
              </a:spcBef>
              <a:buClr>
                <a:schemeClr val="tx2"/>
              </a:buClr>
              <a:buSzPct val="75000"/>
            </a:pPr>
            <a:endParaRPr lang="en-US" sz="1200">
              <a:latin typeface="Tele-GroteskNor" charset="0"/>
              <a:cs typeface="Times New Roman" charset="0"/>
            </a:endParaRPr>
          </a:p>
        </p:txBody>
      </p:sp>
      <p:pic>
        <p:nvPicPr>
          <p:cNvPr id="20" name="Picture 2"/>
          <p:cNvPicPr>
            <a:picLocks noChangeArrowheads="1"/>
          </p:cNvPicPr>
          <p:nvPr/>
        </p:nvPicPr>
        <p:blipFill>
          <a:blip r:embed="rId1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86039" y="1771361"/>
            <a:ext cx="1012825" cy="8937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sp>
        <p:nvSpPr>
          <p:cNvPr id="21" name="Auf der gleichen Seite des Rechtecks liegende Ecken abrunden 37"/>
          <p:cNvSpPr>
            <a:spLocks noChangeArrowheads="1"/>
          </p:cNvSpPr>
          <p:nvPr/>
        </p:nvSpPr>
        <p:spPr bwMode="auto">
          <a:xfrm>
            <a:off x="1831976" y="1339561"/>
            <a:ext cx="2519363" cy="360363"/>
          </a:xfrm>
          <a:prstGeom prst="round2SameRect">
            <a:avLst/>
          </a:prstGeom>
          <a:gradFill rotWithShape="1">
            <a:gsLst>
              <a:gs pos="0">
                <a:srgbClr val="BDBDBD"/>
              </a:gs>
              <a:gs pos="39999">
                <a:srgbClr val="404040"/>
              </a:gs>
              <a:gs pos="41000">
                <a:srgbClr val="000000"/>
              </a:gs>
              <a:gs pos="100000">
                <a:srgbClr val="080808"/>
              </a:gs>
            </a:gsLst>
            <a:lin ang="5400000" scaled="1"/>
          </a:gradFill>
          <a:ln w="9525" algn="ctr">
            <a:solidFill>
              <a:srgbClr val="333333"/>
            </a:solidFill>
            <a:round/>
            <a:headEnd/>
            <a:tailEnd/>
          </a:ln>
          <a:effectLst/>
        </p:spPr>
        <p:txBody>
          <a:bodyPr anchor="ctr"/>
          <a:lstStyle/>
          <a:p>
            <a:pPr algn="ctr">
              <a:lnSpc>
                <a:spcPct val="90000"/>
              </a:lnSpc>
            </a:pPr>
            <a:r>
              <a:rPr lang="en-GB" sz="1600">
                <a:solidFill>
                  <a:schemeClr val="bg1"/>
                </a:solidFill>
                <a:latin typeface="Tele-GroteskFet" charset="0"/>
              </a:rPr>
              <a:t>Juniper MX-series</a:t>
            </a:r>
          </a:p>
        </p:txBody>
      </p:sp>
      <p:sp>
        <p:nvSpPr>
          <p:cNvPr id="22" name="Auf der gleichen Seite des Rechtecks liegende Ecken abrunden 37"/>
          <p:cNvSpPr>
            <a:spLocks noChangeArrowheads="1"/>
          </p:cNvSpPr>
          <p:nvPr/>
        </p:nvSpPr>
        <p:spPr bwMode="auto">
          <a:xfrm>
            <a:off x="1831976" y="2961986"/>
            <a:ext cx="2519363" cy="360363"/>
          </a:xfrm>
          <a:prstGeom prst="round2SameRect">
            <a:avLst/>
          </a:prstGeom>
          <a:gradFill rotWithShape="1">
            <a:gsLst>
              <a:gs pos="0">
                <a:srgbClr val="BDBDBD"/>
              </a:gs>
              <a:gs pos="39999">
                <a:srgbClr val="404040"/>
              </a:gs>
              <a:gs pos="41000">
                <a:srgbClr val="000000"/>
              </a:gs>
              <a:gs pos="100000">
                <a:srgbClr val="080808"/>
              </a:gs>
            </a:gsLst>
            <a:lin ang="5400000" scaled="1"/>
          </a:gradFill>
          <a:ln w="9525" algn="ctr">
            <a:solidFill>
              <a:srgbClr val="333333"/>
            </a:solidFill>
            <a:round/>
            <a:headEnd/>
            <a:tailEnd/>
          </a:ln>
          <a:effectLst/>
        </p:spPr>
        <p:txBody>
          <a:bodyPr anchor="ctr"/>
          <a:lstStyle/>
          <a:p>
            <a:pPr algn="ctr">
              <a:lnSpc>
                <a:spcPct val="90000"/>
              </a:lnSpc>
            </a:pPr>
            <a:r>
              <a:rPr lang="en-GB" sz="1600">
                <a:solidFill>
                  <a:schemeClr val="bg1"/>
                </a:solidFill>
                <a:latin typeface="Tele-GroteskFet" charset="0"/>
              </a:rPr>
              <a:t>HP Procurve 5400</a:t>
            </a:r>
          </a:p>
        </p:txBody>
      </p:sp>
      <p:sp>
        <p:nvSpPr>
          <p:cNvPr id="23" name="Auf der gleichen Seite des Rechtecks liegende Ecken abrunden 37"/>
          <p:cNvSpPr>
            <a:spLocks noChangeArrowheads="1"/>
          </p:cNvSpPr>
          <p:nvPr/>
        </p:nvSpPr>
        <p:spPr bwMode="auto">
          <a:xfrm>
            <a:off x="1831976" y="4649498"/>
            <a:ext cx="2519363" cy="360362"/>
          </a:xfrm>
          <a:prstGeom prst="round2SameRect">
            <a:avLst/>
          </a:prstGeom>
          <a:gradFill rotWithShape="1">
            <a:gsLst>
              <a:gs pos="0">
                <a:srgbClr val="BDBDBD"/>
              </a:gs>
              <a:gs pos="39999">
                <a:srgbClr val="404040"/>
              </a:gs>
              <a:gs pos="41000">
                <a:srgbClr val="000000"/>
              </a:gs>
              <a:gs pos="100000">
                <a:srgbClr val="080808"/>
              </a:gs>
            </a:gsLst>
            <a:lin ang="5400000" scaled="1"/>
          </a:gradFill>
          <a:ln w="9525" algn="ctr">
            <a:solidFill>
              <a:srgbClr val="333333"/>
            </a:solidFill>
            <a:round/>
            <a:headEnd/>
            <a:tailEnd/>
          </a:ln>
          <a:effectLst/>
        </p:spPr>
        <p:txBody>
          <a:bodyPr anchor="ctr"/>
          <a:lstStyle/>
          <a:p>
            <a:pPr algn="ctr">
              <a:lnSpc>
                <a:spcPct val="90000"/>
              </a:lnSpc>
            </a:pPr>
            <a:r>
              <a:rPr lang="en-GB" sz="1600">
                <a:solidFill>
                  <a:schemeClr val="bg1"/>
                </a:solidFill>
                <a:latin typeface="Tele-GroteskFet" charset="0"/>
              </a:rPr>
              <a:t>Pronto 3240/3290</a:t>
            </a:r>
          </a:p>
        </p:txBody>
      </p:sp>
      <p:sp>
        <p:nvSpPr>
          <p:cNvPr id="24" name="Auf der gleichen Seite des Rechtecks liegende Ecken abrunden 37"/>
          <p:cNvSpPr>
            <a:spLocks noChangeArrowheads="1"/>
          </p:cNvSpPr>
          <p:nvPr/>
        </p:nvSpPr>
        <p:spPr bwMode="auto">
          <a:xfrm>
            <a:off x="7840663" y="1350673"/>
            <a:ext cx="2519362" cy="360362"/>
          </a:xfrm>
          <a:prstGeom prst="round2SameRect">
            <a:avLst/>
          </a:prstGeom>
          <a:gradFill rotWithShape="1">
            <a:gsLst>
              <a:gs pos="0">
                <a:srgbClr val="BDBDBD"/>
              </a:gs>
              <a:gs pos="39999">
                <a:srgbClr val="404040"/>
              </a:gs>
              <a:gs pos="41000">
                <a:srgbClr val="000000"/>
              </a:gs>
              <a:gs pos="100000">
                <a:srgbClr val="080808"/>
              </a:gs>
            </a:gsLst>
            <a:lin ang="5400000" scaled="1"/>
          </a:gradFill>
          <a:ln w="9525" algn="ctr">
            <a:solidFill>
              <a:srgbClr val="333333"/>
            </a:solidFill>
            <a:round/>
            <a:headEnd/>
            <a:tailEnd/>
          </a:ln>
          <a:effectLst/>
        </p:spPr>
        <p:txBody>
          <a:bodyPr anchor="ctr"/>
          <a:lstStyle/>
          <a:p>
            <a:pPr algn="ctr">
              <a:lnSpc>
                <a:spcPct val="90000"/>
              </a:lnSpc>
            </a:pPr>
            <a:r>
              <a:rPr lang="en-GB" sz="1600">
                <a:solidFill>
                  <a:schemeClr val="bg1"/>
                </a:solidFill>
                <a:latin typeface="Tele-GroteskFet" charset="0"/>
              </a:rPr>
              <a:t>WiMax (NEC)</a:t>
            </a:r>
          </a:p>
        </p:txBody>
      </p:sp>
      <p:sp>
        <p:nvSpPr>
          <p:cNvPr id="25" name="Auf der gleichen Seite des Rechtecks liegende Ecken abrunden 37"/>
          <p:cNvSpPr>
            <a:spLocks noChangeArrowheads="1"/>
          </p:cNvSpPr>
          <p:nvPr/>
        </p:nvSpPr>
        <p:spPr bwMode="auto">
          <a:xfrm>
            <a:off x="7840663" y="2973098"/>
            <a:ext cx="2519362" cy="360362"/>
          </a:xfrm>
          <a:prstGeom prst="round2SameRect">
            <a:avLst/>
          </a:prstGeom>
          <a:gradFill rotWithShape="1">
            <a:gsLst>
              <a:gs pos="0">
                <a:srgbClr val="BDBDBD"/>
              </a:gs>
              <a:gs pos="39999">
                <a:srgbClr val="404040"/>
              </a:gs>
              <a:gs pos="41000">
                <a:srgbClr val="000000"/>
              </a:gs>
              <a:gs pos="100000">
                <a:srgbClr val="080808"/>
              </a:gs>
            </a:gsLst>
            <a:lin ang="5400000" scaled="1"/>
          </a:gradFill>
          <a:ln w="9525" algn="ctr">
            <a:solidFill>
              <a:srgbClr val="333333"/>
            </a:solidFill>
            <a:round/>
            <a:headEnd/>
            <a:tailEnd/>
          </a:ln>
          <a:effectLst/>
        </p:spPr>
        <p:txBody>
          <a:bodyPr anchor="ctr"/>
          <a:lstStyle/>
          <a:p>
            <a:pPr algn="ctr">
              <a:lnSpc>
                <a:spcPct val="90000"/>
              </a:lnSpc>
            </a:pPr>
            <a:r>
              <a:rPr lang="en-GB" sz="1600" dirty="0">
                <a:solidFill>
                  <a:schemeClr val="bg1"/>
                </a:solidFill>
                <a:latin typeface="Tele-GroteskFet" charset="0"/>
              </a:rPr>
              <a:t>PC Engines</a:t>
            </a:r>
          </a:p>
        </p:txBody>
      </p:sp>
      <p:pic>
        <p:nvPicPr>
          <p:cNvPr id="26" name="Picture 25"/>
          <p:cNvPicPr>
            <a:picLocks noChangeAspect="1" noChangeArrowheads="1"/>
          </p:cNvPicPr>
          <p:nvPr/>
        </p:nvPicPr>
        <p:blipFill>
          <a:blip r:embed="rId1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592763" y="5009860"/>
            <a:ext cx="920180" cy="11509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7" name="AutoShape 26"/>
          <p:cNvSpPr>
            <a:spLocks noChangeArrowheads="1"/>
          </p:cNvSpPr>
          <p:nvPr>
            <p:custDataLst>
              <p:tags r:id="rId8"/>
            </p:custDataLst>
          </p:nvPr>
        </p:nvSpPr>
        <p:spPr bwMode="gray">
          <a:xfrm>
            <a:off x="4800601" y="2971510"/>
            <a:ext cx="2519363" cy="1366838"/>
          </a:xfrm>
          <a:prstGeom prst="roundRect">
            <a:avLst>
              <a:gd name="adj" fmla="val 4528"/>
            </a:avLst>
          </a:prstGeom>
          <a:gradFill rotWithShape="0">
            <a:gsLst>
              <a:gs pos="0">
                <a:schemeClr val="bg1"/>
              </a:gs>
              <a:gs pos="100000">
                <a:schemeClr val="bg1">
                  <a:gamma/>
                  <a:shade val="86275"/>
                  <a:invGamma/>
                </a:schemeClr>
              </a:gs>
            </a:gsLst>
            <a:lin ang="5400000" scaled="1"/>
          </a:gradFill>
          <a:ln w="9525">
            <a:solidFill>
              <a:srgbClr val="969696"/>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72000" tIns="396000" rIns="72000" bIns="72000"/>
          <a:lstStyle/>
          <a:p>
            <a:pPr marL="136525" indent="-136525" eaLnBrk="0" hangingPunct="0">
              <a:lnSpc>
                <a:spcPct val="90000"/>
              </a:lnSpc>
              <a:spcBef>
                <a:spcPct val="10000"/>
              </a:spcBef>
              <a:buClr>
                <a:schemeClr val="tx2"/>
              </a:buClr>
              <a:buSzPct val="75000"/>
            </a:pPr>
            <a:endParaRPr lang="en-US" sz="1200">
              <a:latin typeface="Tele-GroteskNor" charset="0"/>
              <a:cs typeface="Times New Roman" charset="0"/>
            </a:endParaRPr>
          </a:p>
        </p:txBody>
      </p:sp>
      <p:sp>
        <p:nvSpPr>
          <p:cNvPr id="28" name="Auf der gleichen Seite des Rechtecks liegende Ecken abrunden 37"/>
          <p:cNvSpPr>
            <a:spLocks noChangeArrowheads="1"/>
          </p:cNvSpPr>
          <p:nvPr/>
        </p:nvSpPr>
        <p:spPr bwMode="auto">
          <a:xfrm>
            <a:off x="4800601" y="2971511"/>
            <a:ext cx="2519363" cy="360363"/>
          </a:xfrm>
          <a:prstGeom prst="round2SameRect">
            <a:avLst/>
          </a:prstGeom>
          <a:gradFill rotWithShape="1">
            <a:gsLst>
              <a:gs pos="0">
                <a:srgbClr val="BDBDBD"/>
              </a:gs>
              <a:gs pos="39999">
                <a:srgbClr val="404040"/>
              </a:gs>
              <a:gs pos="41000">
                <a:srgbClr val="000000"/>
              </a:gs>
              <a:gs pos="100000">
                <a:srgbClr val="080808"/>
              </a:gs>
            </a:gsLst>
            <a:lin ang="5400000" scaled="1"/>
          </a:gradFill>
          <a:ln w="9525" algn="ctr">
            <a:solidFill>
              <a:srgbClr val="333333"/>
            </a:solidFill>
            <a:round/>
            <a:headEnd/>
            <a:tailEnd/>
          </a:ln>
          <a:effectLst/>
        </p:spPr>
        <p:txBody>
          <a:bodyPr anchor="ctr"/>
          <a:lstStyle/>
          <a:p>
            <a:pPr algn="ctr">
              <a:lnSpc>
                <a:spcPct val="90000"/>
              </a:lnSpc>
            </a:pPr>
            <a:r>
              <a:rPr lang="en-GB" sz="1600">
                <a:solidFill>
                  <a:schemeClr val="bg1"/>
                </a:solidFill>
                <a:latin typeface="Tele-GroteskFet" charset="0"/>
              </a:rPr>
              <a:t>Netgear 7324</a:t>
            </a:r>
          </a:p>
        </p:txBody>
      </p:sp>
      <p:pic>
        <p:nvPicPr>
          <p:cNvPr id="29" name="Picture 28"/>
          <p:cNvPicPr>
            <a:picLocks noChangeAspect="1" noChangeArrowheads="1"/>
          </p:cNvPicPr>
          <p:nvPr/>
        </p:nvPicPr>
        <p:blipFill>
          <a:blip r:embed="rId1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72038" y="3620798"/>
            <a:ext cx="2220912" cy="457200"/>
          </a:xfrm>
          <a:prstGeom prst="rect">
            <a:avLst/>
          </a:prstGeom>
          <a:noFill/>
          <a:extLst>
            <a:ext uri="{909E8E84-426E-40dd-AFC4-6F175D3DCCD1}">
              <a14:hiddenFill xmlns:a14="http://schemas.microsoft.com/office/drawing/2010/main" xmlns="">
                <a:solidFill>
                  <a:srgbClr val="FFFFFF"/>
                </a:solidFill>
              </a14:hiddenFill>
            </a:ext>
          </a:extLst>
        </p:spPr>
      </p:pic>
      <p:sp>
        <p:nvSpPr>
          <p:cNvPr id="3" name="Footer Placeholder 2">
            <a:extLst>
              <a:ext uri="{FF2B5EF4-FFF2-40B4-BE49-F238E27FC236}">
                <a16:creationId xmlns:a16="http://schemas.microsoft.com/office/drawing/2014/main" id="{836A4F6A-F033-528D-7783-2F50EE927B1E}"/>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2220281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4CEBD-FDD0-7125-DC51-8A540203050F}"/>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A80988C0-E79A-0A0D-4F0C-3B2E8CA991BB}"/>
              </a:ext>
            </a:extLst>
          </p:cNvPr>
          <p:cNvSpPr>
            <a:spLocks noGrp="1"/>
          </p:cNvSpPr>
          <p:nvPr>
            <p:ph idx="1"/>
          </p:nvPr>
        </p:nvSpPr>
        <p:spPr>
          <a:xfrm>
            <a:off x="838199" y="3428999"/>
            <a:ext cx="10725443" cy="3207801"/>
          </a:xfrm>
        </p:spPr>
        <p:txBody>
          <a:bodyPr>
            <a:normAutofit fontScale="85000" lnSpcReduction="20000"/>
          </a:bodyPr>
          <a:lstStyle/>
          <a:p>
            <a:r>
              <a:rPr lang="en-IE" dirty="0"/>
              <a:t>Open Hardware: OpenFlow </a:t>
            </a:r>
          </a:p>
          <a:p>
            <a:r>
              <a:rPr lang="en-IE" dirty="0"/>
              <a:t>Take the capabilities of existing hardware and open those up such that a standard control protocol could control the </a:t>
            </a:r>
            <a:r>
              <a:rPr lang="en-IE" dirty="0" err="1"/>
              <a:t>behavior</a:t>
            </a:r>
            <a:r>
              <a:rPr lang="en-IE" dirty="0"/>
              <a:t> of that hardware.</a:t>
            </a:r>
          </a:p>
          <a:p>
            <a:r>
              <a:rPr lang="en-IE" dirty="0"/>
              <a:t>In </a:t>
            </a:r>
            <a:r>
              <a:rPr lang="en-IE" dirty="0" err="1"/>
              <a:t>openflow</a:t>
            </a:r>
            <a:r>
              <a:rPr lang="en-IE" dirty="0"/>
              <a:t> a separate controller communicate with the switches flow table to install forwarding table entries into the switch that control the forwarding </a:t>
            </a:r>
            <a:r>
              <a:rPr lang="en-IE" dirty="0" err="1"/>
              <a:t>behavior</a:t>
            </a:r>
            <a:r>
              <a:rPr lang="en-IE" dirty="0"/>
              <a:t> of the network. </a:t>
            </a:r>
          </a:p>
          <a:p>
            <a:endParaRPr lang="en-IE" dirty="0"/>
          </a:p>
          <a:p>
            <a:r>
              <a:rPr lang="en-IE" dirty="0"/>
              <a:t>Problem: to convince the vendors to open the flow table so that it can be controlled from a separate controller. </a:t>
            </a:r>
          </a:p>
        </p:txBody>
      </p:sp>
      <p:sp>
        <p:nvSpPr>
          <p:cNvPr id="4" name="Footer Placeholder 3">
            <a:extLst>
              <a:ext uri="{FF2B5EF4-FFF2-40B4-BE49-F238E27FC236}">
                <a16:creationId xmlns:a16="http://schemas.microsoft.com/office/drawing/2014/main" id="{5724EB77-1C71-8927-AA52-F7EE1DC537B6}"/>
              </a:ext>
            </a:extLst>
          </p:cNvPr>
          <p:cNvSpPr>
            <a:spLocks noGrp="1"/>
          </p:cNvSpPr>
          <p:nvPr>
            <p:ph type="ftr" sz="quarter" idx="11"/>
          </p:nvPr>
        </p:nvSpPr>
        <p:spPr/>
        <p:txBody>
          <a:bodyPr/>
          <a:lstStyle/>
          <a:p>
            <a:r>
              <a:rPr lang="en-US"/>
              <a:t>Department of Computing © Saim Ghafoor 2025</a:t>
            </a:r>
            <a:endParaRPr lang="en-IE" dirty="0"/>
          </a:p>
        </p:txBody>
      </p:sp>
      <p:pic>
        <p:nvPicPr>
          <p:cNvPr id="1026" name="Picture 2" descr="OpenvSwitch and OpenFlow: What Are They, What's Their Relationship? | by  wanderlishan | Medium">
            <a:extLst>
              <a:ext uri="{FF2B5EF4-FFF2-40B4-BE49-F238E27FC236}">
                <a16:creationId xmlns:a16="http://schemas.microsoft.com/office/drawing/2014/main" id="{E9E94348-E72F-434B-0F04-17F47B7F437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33527" y="221200"/>
            <a:ext cx="4519873" cy="3208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9720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838200" y="23135"/>
            <a:ext cx="10515600" cy="931725"/>
          </a:xfrm>
        </p:spPr>
        <p:txBody>
          <a:bodyPr>
            <a:normAutofit/>
          </a:bodyPr>
          <a:lstStyle/>
          <a:p>
            <a:r>
              <a:rPr lang="en-US" altLang="ko-KR"/>
              <a:t>OpenFlow </a:t>
            </a:r>
            <a:r>
              <a:rPr lang="en-US" altLang="ko-KR" dirty="0"/>
              <a:t>Switches</a:t>
            </a:r>
            <a:endParaRPr lang="ko-KR" altLang="en-US" dirty="0"/>
          </a:p>
        </p:txBody>
      </p:sp>
      <p:sp>
        <p:nvSpPr>
          <p:cNvPr id="3" name="내용 개체 틀 2"/>
          <p:cNvSpPr>
            <a:spLocks noGrp="1"/>
          </p:cNvSpPr>
          <p:nvPr>
            <p:ph idx="1"/>
          </p:nvPr>
        </p:nvSpPr>
        <p:spPr>
          <a:xfrm>
            <a:off x="1017639" y="954860"/>
            <a:ext cx="10751574" cy="5602958"/>
          </a:xfrm>
        </p:spPr>
        <p:txBody>
          <a:bodyPr>
            <a:normAutofit/>
          </a:bodyPr>
          <a:lstStyle/>
          <a:p>
            <a:r>
              <a:rPr lang="en-US" altLang="ko-KR" sz="2400" dirty="0"/>
              <a:t>Hardware-based </a:t>
            </a:r>
            <a:r>
              <a:rPr lang="en-US" altLang="ko-KR" sz="2400" dirty="0" err="1"/>
              <a:t>OpenFlow</a:t>
            </a:r>
            <a:r>
              <a:rPr lang="en-US" altLang="ko-KR" sz="2400" dirty="0"/>
              <a:t> Switches</a:t>
            </a:r>
          </a:p>
          <a:p>
            <a:pPr lvl="1"/>
            <a:r>
              <a:rPr lang="en-US" altLang="ko-KR" sz="2000" dirty="0"/>
              <a:t>Commercial hardware switches with </a:t>
            </a:r>
            <a:r>
              <a:rPr lang="en-US" altLang="ko-KR" sz="2000" dirty="0" err="1"/>
              <a:t>OpenFlow</a:t>
            </a:r>
            <a:r>
              <a:rPr lang="en-US" altLang="ko-KR" sz="2000" dirty="0"/>
              <a:t> capability</a:t>
            </a:r>
          </a:p>
          <a:p>
            <a:pPr lvl="2"/>
            <a:r>
              <a:rPr lang="en-US" altLang="ko-KR" sz="1600" dirty="0"/>
              <a:t>Network abstraction is realized by firmware upgrading</a:t>
            </a:r>
          </a:p>
          <a:p>
            <a:pPr lvl="1"/>
            <a:r>
              <a:rPr lang="en-US" altLang="ko-KR" sz="2000" dirty="0"/>
              <a:t>Show high processing speed</a:t>
            </a:r>
          </a:p>
          <a:p>
            <a:pPr lvl="1"/>
            <a:r>
              <a:rPr lang="en-US" altLang="ko-KR" sz="2000" dirty="0"/>
              <a:t>Have space limitation on saving the flow table entries</a:t>
            </a:r>
          </a:p>
          <a:p>
            <a:pPr lvl="2"/>
            <a:r>
              <a:rPr lang="en-US" altLang="ko-KR" sz="1600" dirty="0"/>
              <a:t>Approximately store 1500 flow entries (due to expensive CAM)</a:t>
            </a:r>
          </a:p>
          <a:p>
            <a:pPr lvl="1"/>
            <a:r>
              <a:rPr lang="en-US" altLang="ko-KR" sz="2000" dirty="0"/>
              <a:t>Not easy to upgrade</a:t>
            </a:r>
          </a:p>
          <a:p>
            <a:pPr lvl="2"/>
            <a:r>
              <a:rPr lang="en-US" altLang="ko-KR" sz="1600" dirty="0"/>
              <a:t>Most switches only support </a:t>
            </a:r>
            <a:r>
              <a:rPr lang="en-US" altLang="ko-KR" sz="1600" dirty="0" err="1"/>
              <a:t>OpenFlow</a:t>
            </a:r>
            <a:r>
              <a:rPr lang="en-US" altLang="ko-KR" sz="1600" dirty="0"/>
              <a:t> up to version 1.0</a:t>
            </a:r>
          </a:p>
          <a:p>
            <a:r>
              <a:rPr lang="en-US" altLang="ko-KR" sz="2400" dirty="0"/>
              <a:t>Software-based </a:t>
            </a:r>
            <a:r>
              <a:rPr lang="en-US" altLang="ko-KR" sz="2400" dirty="0" err="1"/>
              <a:t>OpenFlow</a:t>
            </a:r>
            <a:r>
              <a:rPr lang="en-US" altLang="ko-KR" sz="2400" dirty="0"/>
              <a:t> Switches</a:t>
            </a:r>
          </a:p>
          <a:p>
            <a:pPr lvl="1"/>
            <a:r>
              <a:rPr lang="en-US" altLang="ko-KR" sz="2000" dirty="0" err="1"/>
              <a:t>OpenFlow</a:t>
            </a:r>
            <a:r>
              <a:rPr lang="en-US" altLang="ko-KR" sz="2000" dirty="0"/>
              <a:t> enabled software switch (runs on x86 commodity computer)</a:t>
            </a:r>
          </a:p>
          <a:p>
            <a:pPr lvl="1"/>
            <a:r>
              <a:rPr lang="en-US" altLang="ko-KR" sz="2000" dirty="0"/>
              <a:t>Performance is relatively low</a:t>
            </a:r>
          </a:p>
          <a:p>
            <a:pPr lvl="1"/>
            <a:r>
              <a:rPr lang="en-US" altLang="ko-KR" sz="2000" dirty="0"/>
              <a:t>Store large amount of flow entries with bound (theoretically)</a:t>
            </a:r>
          </a:p>
          <a:p>
            <a:pPr lvl="1"/>
            <a:r>
              <a:rPr lang="en-US" altLang="ko-KR" sz="2000" dirty="0"/>
              <a:t>Under active development, support most recent </a:t>
            </a:r>
            <a:r>
              <a:rPr lang="en-US" altLang="ko-KR" sz="2000" dirty="0" err="1"/>
              <a:t>OpenFlow</a:t>
            </a:r>
            <a:r>
              <a:rPr lang="en-US" altLang="ko-KR" sz="2000" dirty="0"/>
              <a:t> spec.</a:t>
            </a:r>
            <a:endParaRPr lang="en-US" altLang="ko-KR" sz="1600" dirty="0"/>
          </a:p>
          <a:p>
            <a:r>
              <a:rPr lang="en-US" altLang="ko-KR" sz="2400" dirty="0"/>
              <a:t>Hybrid </a:t>
            </a:r>
            <a:r>
              <a:rPr lang="en-US" altLang="ko-KR" sz="2400" dirty="0" err="1"/>
              <a:t>OpenFlow</a:t>
            </a:r>
            <a:r>
              <a:rPr lang="en-US" altLang="ko-KR" sz="2400" dirty="0"/>
              <a:t> Switch</a:t>
            </a:r>
          </a:p>
          <a:p>
            <a:pPr lvl="1"/>
            <a:r>
              <a:rPr lang="en-US" altLang="ko-KR" sz="2000" dirty="0"/>
              <a:t>A virtual switch with specialized hardware device</a:t>
            </a:r>
          </a:p>
          <a:p>
            <a:pPr lvl="1"/>
            <a:r>
              <a:rPr lang="en-US" altLang="ko-KR" sz="2000" dirty="0"/>
              <a:t>Much faster than software-based switches</a:t>
            </a:r>
          </a:p>
        </p:txBody>
      </p:sp>
      <p:sp>
        <p:nvSpPr>
          <p:cNvPr id="4" name="Footer Placeholder 3">
            <a:extLst>
              <a:ext uri="{FF2B5EF4-FFF2-40B4-BE49-F238E27FC236}">
                <a16:creationId xmlns:a16="http://schemas.microsoft.com/office/drawing/2014/main" id="{AC5261AB-8E62-12F0-625F-57CE371DD50F}"/>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4063799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838200" y="23133"/>
            <a:ext cx="10515600" cy="931725"/>
          </a:xfrm>
        </p:spPr>
        <p:txBody>
          <a:bodyPr>
            <a:normAutofit/>
          </a:bodyPr>
          <a:lstStyle/>
          <a:p>
            <a:r>
              <a:rPr lang="en-US" altLang="ko-KR" dirty="0"/>
              <a:t>Software-based OpenFlow Switches</a:t>
            </a:r>
            <a:endParaRPr lang="ko-KR" altLang="en-US" dirty="0"/>
          </a:p>
        </p:txBody>
      </p:sp>
      <p:sp>
        <p:nvSpPr>
          <p:cNvPr id="3" name="내용 개체 틀 2"/>
          <p:cNvSpPr>
            <a:spLocks noGrp="1"/>
          </p:cNvSpPr>
          <p:nvPr>
            <p:ph idx="1"/>
          </p:nvPr>
        </p:nvSpPr>
        <p:spPr>
          <a:xfrm>
            <a:off x="838200" y="1176085"/>
            <a:ext cx="10754032" cy="5492123"/>
          </a:xfrm>
        </p:spPr>
        <p:txBody>
          <a:bodyPr>
            <a:normAutofit/>
          </a:bodyPr>
          <a:lstStyle/>
          <a:p>
            <a:r>
              <a:rPr lang="en-US" altLang="ko-KR" sz="2400" dirty="0" err="1"/>
              <a:t>OpenvSwitch</a:t>
            </a:r>
            <a:r>
              <a:rPr lang="en-US" altLang="ko-KR" sz="2400" dirty="0"/>
              <a:t> (OVS)</a:t>
            </a:r>
          </a:p>
          <a:p>
            <a:pPr lvl="1"/>
            <a:r>
              <a:rPr lang="en-US" altLang="ko-KR" sz="2000" dirty="0"/>
              <a:t>Overview</a:t>
            </a:r>
          </a:p>
          <a:p>
            <a:pPr lvl="2"/>
            <a:r>
              <a:rPr lang="en-US" altLang="ko-KR" sz="1600" dirty="0"/>
              <a:t>A virtual switch or Virtual Ethernet Bridge (VEB)</a:t>
            </a:r>
          </a:p>
          <a:p>
            <a:pPr lvl="2"/>
            <a:r>
              <a:rPr lang="en-US" altLang="ko-KR" sz="1600" dirty="0"/>
              <a:t>User-space: configuration, control</a:t>
            </a:r>
          </a:p>
          <a:p>
            <a:pPr lvl="2"/>
            <a:r>
              <a:rPr lang="en-US" altLang="ko-KR" sz="1600" dirty="0"/>
              <a:t>Kernel-space: </a:t>
            </a:r>
            <a:r>
              <a:rPr lang="en-US" altLang="ko-KR" sz="1600" dirty="0" err="1"/>
              <a:t>datapath</a:t>
            </a:r>
            <a:r>
              <a:rPr lang="en-US" altLang="ko-KR" sz="1600" dirty="0"/>
              <a:t> (included in main Linux kernel from v3.3)</a:t>
            </a:r>
          </a:p>
          <a:p>
            <a:pPr lvl="1"/>
            <a:r>
              <a:rPr lang="en-US" altLang="ko-KR" sz="2000" dirty="0"/>
              <a:t>Features</a:t>
            </a:r>
          </a:p>
          <a:p>
            <a:pPr lvl="2"/>
            <a:r>
              <a:rPr lang="en-US" altLang="ko-KR" sz="1600" b="1" dirty="0"/>
              <a:t>Support </a:t>
            </a:r>
            <a:r>
              <a:rPr lang="en-US" altLang="ko-KR" sz="1600" b="1" dirty="0" err="1"/>
              <a:t>OpenFlow</a:t>
            </a:r>
            <a:r>
              <a:rPr lang="en-US" altLang="ko-KR" sz="1600" b="1" dirty="0"/>
              <a:t> protocol</a:t>
            </a:r>
          </a:p>
          <a:p>
            <a:pPr lvl="2"/>
            <a:r>
              <a:rPr lang="en-US" altLang="ko-KR" sz="1600" dirty="0"/>
              <a:t>Support multiple tunneling protocols</a:t>
            </a:r>
          </a:p>
          <a:p>
            <a:pPr lvl="3"/>
            <a:r>
              <a:rPr lang="en-US" altLang="ko-KR" sz="1400" dirty="0" err="1"/>
              <a:t>VxLAN</a:t>
            </a:r>
            <a:r>
              <a:rPr lang="en-US" altLang="ko-KR" sz="1400" dirty="0"/>
              <a:t>, Ethernet over GRE, IPsec, GRE over IPsec</a:t>
            </a:r>
          </a:p>
          <a:p>
            <a:pPr lvl="2"/>
            <a:r>
              <a:rPr lang="en-US" altLang="ko-KR" sz="1600" dirty="0"/>
              <a:t>Fine-grained </a:t>
            </a:r>
            <a:r>
              <a:rPr lang="en-US" altLang="ko-KR" sz="1600" dirty="0" err="1"/>
              <a:t>QoS</a:t>
            </a:r>
            <a:endParaRPr lang="en-US" altLang="ko-KR" sz="1600" dirty="0"/>
          </a:p>
          <a:p>
            <a:pPr lvl="1"/>
            <a:r>
              <a:rPr lang="en-US" altLang="ko-KR" sz="2000" dirty="0"/>
              <a:t>Main components</a:t>
            </a:r>
          </a:p>
          <a:p>
            <a:pPr lvl="2"/>
            <a:r>
              <a:rPr lang="en-US" altLang="ko-KR" sz="1600" b="1" dirty="0" err="1"/>
              <a:t>ovs-vswitchd</a:t>
            </a:r>
            <a:r>
              <a:rPr lang="en-US" altLang="ko-KR" sz="1600" dirty="0"/>
              <a:t>: a daemon that implements the switch</a:t>
            </a:r>
          </a:p>
          <a:p>
            <a:pPr lvl="2"/>
            <a:r>
              <a:rPr lang="en-US" altLang="ko-KR" sz="1600" b="1" dirty="0" err="1"/>
              <a:t>ovsdb</a:t>
            </a:r>
            <a:r>
              <a:rPr lang="en-US" altLang="ko-KR" sz="1600" b="1" dirty="0"/>
              <a:t>-server</a:t>
            </a:r>
            <a:r>
              <a:rPr lang="en-US" altLang="ko-KR" sz="1600" dirty="0"/>
              <a:t>: lightweight database server that </a:t>
            </a:r>
            <a:r>
              <a:rPr lang="en-US" altLang="ko-KR" sz="1600" dirty="0" err="1"/>
              <a:t>ovs-vswitch</a:t>
            </a:r>
            <a:r>
              <a:rPr lang="en-US" altLang="ko-KR" sz="1600" dirty="0"/>
              <a:t> queries to</a:t>
            </a:r>
          </a:p>
          <a:p>
            <a:pPr lvl="2"/>
            <a:r>
              <a:rPr lang="en-US" altLang="ko-KR" sz="1600" b="1" dirty="0" err="1"/>
              <a:t>ovs-vsctl</a:t>
            </a:r>
            <a:r>
              <a:rPr lang="en-US" altLang="ko-KR" sz="1600" dirty="0"/>
              <a:t>: a utility for querying and updating the </a:t>
            </a:r>
            <a:r>
              <a:rPr lang="en-US" altLang="ko-KR" sz="1600" dirty="0" err="1"/>
              <a:t>config</a:t>
            </a:r>
            <a:r>
              <a:rPr lang="en-US" altLang="ko-KR" sz="1600" dirty="0"/>
              <a:t>. of </a:t>
            </a:r>
            <a:r>
              <a:rPr lang="en-US" altLang="ko-KR" sz="1600" dirty="0" err="1"/>
              <a:t>ovs-vswitchd</a:t>
            </a:r>
            <a:endParaRPr lang="en-US" altLang="ko-KR" sz="1600" dirty="0"/>
          </a:p>
          <a:p>
            <a:pPr lvl="2"/>
            <a:r>
              <a:rPr lang="en-US" altLang="ko-KR" sz="1600" b="1" dirty="0" err="1"/>
              <a:t>ovs-dpctl</a:t>
            </a:r>
            <a:r>
              <a:rPr lang="en-US" altLang="ko-KR" sz="1600" dirty="0"/>
              <a:t>: a tool for configuring and monitoring the switch kernel module</a:t>
            </a:r>
          </a:p>
          <a:p>
            <a:pPr lvl="2"/>
            <a:r>
              <a:rPr lang="en-US" altLang="ko-KR" sz="1600" b="1" dirty="0" err="1">
                <a:solidFill>
                  <a:srgbClr val="FF0000"/>
                </a:solidFill>
              </a:rPr>
              <a:t>ovs-ofctl</a:t>
            </a:r>
            <a:r>
              <a:rPr lang="en-US" altLang="ko-KR" sz="1600" dirty="0"/>
              <a:t>: a tool for monitoring and administering </a:t>
            </a:r>
            <a:r>
              <a:rPr lang="en-US" altLang="ko-KR" sz="1600" dirty="0" err="1"/>
              <a:t>OpenFlow</a:t>
            </a:r>
            <a:r>
              <a:rPr lang="en-US" altLang="ko-KR" sz="1600" dirty="0"/>
              <a:t> switches</a:t>
            </a:r>
          </a:p>
          <a:p>
            <a:pPr lvl="2"/>
            <a:r>
              <a:rPr lang="en-US" altLang="ko-KR" sz="1600" b="1" dirty="0" err="1">
                <a:solidFill>
                  <a:srgbClr val="FF0000"/>
                </a:solidFill>
              </a:rPr>
              <a:t>ovs</a:t>
            </a:r>
            <a:r>
              <a:rPr lang="en-US" altLang="ko-KR" sz="1600" b="1" dirty="0">
                <a:solidFill>
                  <a:srgbClr val="FF0000"/>
                </a:solidFill>
              </a:rPr>
              <a:t>-controller</a:t>
            </a:r>
            <a:r>
              <a:rPr lang="en-US" altLang="ko-KR" sz="1600" dirty="0"/>
              <a:t>: a simple </a:t>
            </a:r>
            <a:r>
              <a:rPr lang="en-US" altLang="ko-KR" sz="1600" dirty="0" err="1"/>
              <a:t>OpenFlow</a:t>
            </a:r>
            <a:r>
              <a:rPr lang="en-US" altLang="ko-KR" sz="1600" dirty="0"/>
              <a:t> controller reference implementation</a:t>
            </a:r>
          </a:p>
          <a:p>
            <a:pPr lvl="2"/>
            <a:r>
              <a:rPr lang="en-US" altLang="ko-KR" sz="1600" b="1" dirty="0" err="1"/>
              <a:t>openvswitch.ko</a:t>
            </a:r>
            <a:r>
              <a:rPr lang="en-US" altLang="ko-KR" sz="1600" dirty="0"/>
              <a:t>: </a:t>
            </a:r>
            <a:r>
              <a:rPr lang="en-US" altLang="ko-KR" sz="1600" dirty="0" err="1"/>
              <a:t>OpenvSwitch</a:t>
            </a:r>
            <a:r>
              <a:rPr lang="en-US" altLang="ko-KR" sz="1600" dirty="0"/>
              <a:t> switching </a:t>
            </a:r>
            <a:r>
              <a:rPr lang="en-US" altLang="ko-KR" sz="1600" dirty="0" err="1"/>
              <a:t>datapath</a:t>
            </a:r>
            <a:endParaRPr lang="en-US" altLang="ko-KR" sz="1600" dirty="0"/>
          </a:p>
          <a:p>
            <a:pPr lvl="1"/>
            <a:endParaRPr lang="ko-KR" altLang="en-US" sz="2000" dirty="0"/>
          </a:p>
        </p:txBody>
      </p:sp>
      <p:pic>
        <p:nvPicPr>
          <p:cNvPr id="1026" name="Picture 2" descr="Open vSwit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6950" y="1456304"/>
            <a:ext cx="1466850" cy="9525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96E5C7FE-4C84-5E59-9403-764830CCF6CC}"/>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2681580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B82CC-7CC2-AC9A-5F54-4BFBCD247FCB}"/>
              </a:ext>
            </a:extLst>
          </p:cNvPr>
          <p:cNvSpPr>
            <a:spLocks noGrp="1"/>
          </p:cNvSpPr>
          <p:nvPr>
            <p:ph type="title"/>
          </p:nvPr>
        </p:nvSpPr>
        <p:spPr/>
        <p:txBody>
          <a:bodyPr/>
          <a:lstStyle/>
          <a:p>
            <a:r>
              <a:rPr lang="en-GB" dirty="0"/>
              <a:t>Types of SDN</a:t>
            </a:r>
          </a:p>
        </p:txBody>
      </p:sp>
      <p:sp>
        <p:nvSpPr>
          <p:cNvPr id="3" name="Content Placeholder 2">
            <a:extLst>
              <a:ext uri="{FF2B5EF4-FFF2-40B4-BE49-F238E27FC236}">
                <a16:creationId xmlns:a16="http://schemas.microsoft.com/office/drawing/2014/main" id="{43FD68FA-F3FF-297A-1163-CDE6324D64D3}"/>
              </a:ext>
            </a:extLst>
          </p:cNvPr>
          <p:cNvSpPr>
            <a:spLocks noGrp="1"/>
          </p:cNvSpPr>
          <p:nvPr>
            <p:ph idx="1"/>
          </p:nvPr>
        </p:nvSpPr>
        <p:spPr>
          <a:xfrm>
            <a:off x="838200" y="1825625"/>
            <a:ext cx="10515600" cy="4351338"/>
          </a:xfrm>
        </p:spPr>
        <p:txBody>
          <a:bodyPr>
            <a:normAutofit fontScale="92500" lnSpcReduction="20000"/>
          </a:bodyPr>
          <a:lstStyle/>
          <a:p>
            <a:r>
              <a:rPr lang="en-GB" dirty="0"/>
              <a:t>Open SDN: </a:t>
            </a:r>
          </a:p>
          <a:p>
            <a:pPr lvl="1"/>
            <a:r>
              <a:rPr lang="en-US" dirty="0"/>
              <a:t>Open SDN uses open-source technologies to implement the SDN ecosystem. OpenFlow protocol is often used to control the communication between the controller and the physical and virtual devices on the data plane.</a:t>
            </a:r>
            <a:endParaRPr lang="en-GB" dirty="0"/>
          </a:p>
          <a:p>
            <a:r>
              <a:rPr lang="en-GB" dirty="0"/>
              <a:t>API-based SDN: </a:t>
            </a:r>
          </a:p>
          <a:p>
            <a:pPr lvl="1"/>
            <a:r>
              <a:rPr lang="en-US" dirty="0"/>
              <a:t>API SDN uses application programming interfaces (APIs) to control the movement of data on the network. APIs provide the means to program the behavior of the SDN controller and network devices.</a:t>
            </a:r>
            <a:endParaRPr lang="en-GB" dirty="0"/>
          </a:p>
          <a:p>
            <a:r>
              <a:rPr lang="en-GB" dirty="0"/>
              <a:t>Hybrid Model: </a:t>
            </a:r>
          </a:p>
          <a:p>
            <a:pPr lvl="1"/>
            <a:r>
              <a:rPr lang="en-US" dirty="0"/>
              <a:t>Hybrid Model SDN combines the elements of software-defined networking with traditional networking protocols.</a:t>
            </a:r>
            <a:endParaRPr lang="en-GB" dirty="0"/>
          </a:p>
          <a:p>
            <a:r>
              <a:rPr lang="en-GB" dirty="0"/>
              <a:t>Overlay SDN (hypervisor-based): </a:t>
            </a:r>
          </a:p>
          <a:p>
            <a:pPr lvl="1"/>
            <a:r>
              <a:rPr lang="en-US" dirty="0"/>
              <a:t>SDN overlay refers to a networking approach that creates a virtual overlay on top of an existing physical network infrastructure.</a:t>
            </a:r>
            <a:endParaRPr lang="en-GB" dirty="0"/>
          </a:p>
        </p:txBody>
      </p:sp>
      <p:sp>
        <p:nvSpPr>
          <p:cNvPr id="4" name="Footer Placeholder 3">
            <a:extLst>
              <a:ext uri="{FF2B5EF4-FFF2-40B4-BE49-F238E27FC236}">
                <a16:creationId xmlns:a16="http://schemas.microsoft.com/office/drawing/2014/main" id="{94B339AD-9A8F-395E-8643-D1D09B79857F}"/>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29639923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A1EA2-57D1-6693-9219-9280871EC746}"/>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274588B9-1F05-A957-E944-5234D167B35D}"/>
              </a:ext>
            </a:extLst>
          </p:cNvPr>
          <p:cNvSpPr>
            <a:spLocks noGrp="1"/>
          </p:cNvSpPr>
          <p:nvPr>
            <p:ph idx="1"/>
          </p:nvPr>
        </p:nvSpPr>
        <p:spPr/>
        <p:txBody>
          <a:bodyPr/>
          <a:lstStyle/>
          <a:p>
            <a:r>
              <a:rPr lang="en-IE" dirty="0"/>
              <a:t>In conclusion:</a:t>
            </a:r>
          </a:p>
          <a:p>
            <a:pPr lvl="1"/>
            <a:r>
              <a:rPr lang="en-IE" dirty="0"/>
              <a:t>The control and data plane should be decoupled </a:t>
            </a:r>
          </a:p>
          <a:p>
            <a:pPr lvl="1"/>
            <a:r>
              <a:rPr lang="en-IE" dirty="0"/>
              <a:t>Using existing protocols makes deployment easier</a:t>
            </a:r>
          </a:p>
          <a:p>
            <a:pPr lvl="1"/>
            <a:r>
              <a:rPr lang="en-IE" dirty="0"/>
              <a:t>Open hardware allows decoupling of control</a:t>
            </a:r>
          </a:p>
          <a:p>
            <a:pPr lvl="1"/>
            <a:endParaRPr lang="en-IE" dirty="0"/>
          </a:p>
          <a:p>
            <a:r>
              <a:rPr lang="en-IE" dirty="0"/>
              <a:t>The interest in SDN has increased over the past 10 years and many ideas have evolved since its proposal in 2009.</a:t>
            </a:r>
          </a:p>
          <a:p>
            <a:endParaRPr lang="en-IE" dirty="0"/>
          </a:p>
          <a:p>
            <a:r>
              <a:rPr lang="en-IE" dirty="0"/>
              <a:t>Is </a:t>
            </a:r>
            <a:r>
              <a:rPr lang="en-IE" dirty="0" err="1"/>
              <a:t>OpenFLow</a:t>
            </a:r>
            <a:r>
              <a:rPr lang="en-IE" dirty="0"/>
              <a:t> an SDN? No, OF is just an instantiation of SDN.</a:t>
            </a:r>
          </a:p>
          <a:p>
            <a:pPr lvl="1"/>
            <a:endParaRPr lang="en-IE" dirty="0"/>
          </a:p>
          <a:p>
            <a:endParaRPr lang="en-IE" dirty="0"/>
          </a:p>
        </p:txBody>
      </p:sp>
      <p:sp>
        <p:nvSpPr>
          <p:cNvPr id="4" name="Footer Placeholder 3">
            <a:extLst>
              <a:ext uri="{FF2B5EF4-FFF2-40B4-BE49-F238E27FC236}">
                <a16:creationId xmlns:a16="http://schemas.microsoft.com/office/drawing/2014/main" id="{9859C39A-28BF-7EA0-22F9-19031742B563}"/>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20651767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aoQ8efiM60O.AltFLYq0l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aoQ8efiM60O.AltFLYq0l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aoQ8efiM60O.AltFLYq0l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aoQ8efiM60O.AltFLYq0l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aoQ8efiM60O.AltFLYq0l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aoQ8efiM60O.AltFLYq0l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aoQ8efiM60O.AltFLYq0l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aoQ8efiM60O.AltFLYq0lA"/>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TotalTime>
  <Words>1728</Words>
  <Application>Microsoft Office PowerPoint</Application>
  <PresentationFormat>Widescreen</PresentationFormat>
  <Paragraphs>245</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Tele-GroteskFet</vt:lpstr>
      <vt:lpstr>Tele-GroteskNor</vt:lpstr>
      <vt:lpstr>Times New Roman</vt:lpstr>
      <vt:lpstr>Office Theme</vt:lpstr>
      <vt:lpstr>SDN and Wireless security</vt:lpstr>
      <vt:lpstr>Traditional networks</vt:lpstr>
      <vt:lpstr>PowerPoint Presentation</vt:lpstr>
      <vt:lpstr>Traditional network problems</vt:lpstr>
      <vt:lpstr>PowerPoint Presentation</vt:lpstr>
      <vt:lpstr>PowerPoint Presentation</vt:lpstr>
      <vt:lpstr>PowerPoint Presentation</vt:lpstr>
      <vt:lpstr>PowerPoint Presentation</vt:lpstr>
      <vt:lpstr>What is Network virtualization?</vt:lpstr>
      <vt:lpstr>PowerPoint Presentation</vt:lpstr>
      <vt:lpstr>Software defined networking</vt:lpstr>
      <vt:lpstr>SDN</vt:lpstr>
      <vt:lpstr>Example</vt:lpstr>
      <vt:lpstr>PowerPoint Presentation</vt:lpstr>
      <vt:lpstr>Where it came from</vt:lpstr>
      <vt:lpstr>Evolution</vt:lpstr>
      <vt:lpstr>Advantages</vt:lpstr>
      <vt:lpstr>PowerPoint Presentation</vt:lpstr>
      <vt:lpstr>SDN Applications</vt:lpstr>
      <vt:lpstr>PowerPoint Presentation</vt:lpstr>
      <vt:lpstr>PowerPoint Presentation</vt:lpstr>
      <vt:lpstr>Hardware-based OpenFlow Switches</vt:lpstr>
      <vt:lpstr>PowerPoint Presentation</vt:lpstr>
      <vt:lpstr>OpenFlow Switches</vt:lpstr>
      <vt:lpstr>Software-based OpenFlow Switches</vt:lpstr>
      <vt:lpstr>Types of SDN</vt:lpstr>
      <vt:lpstr>PowerPoint Presentation</vt:lpstr>
    </vt:vector>
  </TitlesOfParts>
  <Company>LYIT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lyit</dc:creator>
  <cp:lastModifiedBy>Oisin Gibson - STUDENT</cp:lastModifiedBy>
  <cp:revision>103</cp:revision>
  <dcterms:created xsi:type="dcterms:W3CDTF">2014-10-06T13:03:33Z</dcterms:created>
  <dcterms:modified xsi:type="dcterms:W3CDTF">2025-10-21T08:41:39Z</dcterms:modified>
</cp:coreProperties>
</file>